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4.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5.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4" r:id="rId1"/>
    <p:sldMasterId id="2147483731" r:id="rId2"/>
  </p:sldMasterIdLst>
  <p:notesMasterIdLst>
    <p:notesMasterId r:id="rId65"/>
  </p:notesMasterIdLst>
  <p:handoutMasterIdLst>
    <p:handoutMasterId r:id="rId66"/>
  </p:handoutMasterIdLst>
  <p:sldIdLst>
    <p:sldId id="321" r:id="rId3"/>
    <p:sldId id="320" r:id="rId4"/>
    <p:sldId id="299" r:id="rId5"/>
    <p:sldId id="301" r:id="rId6"/>
    <p:sldId id="302" r:id="rId7"/>
    <p:sldId id="303" r:id="rId8"/>
    <p:sldId id="304" r:id="rId9"/>
    <p:sldId id="306" r:id="rId10"/>
    <p:sldId id="307" r:id="rId11"/>
    <p:sldId id="310" r:id="rId12"/>
    <p:sldId id="308" r:id="rId13"/>
    <p:sldId id="317" r:id="rId14"/>
    <p:sldId id="316" r:id="rId15"/>
    <p:sldId id="311" r:id="rId16"/>
    <p:sldId id="318" r:id="rId17"/>
    <p:sldId id="312" r:id="rId18"/>
    <p:sldId id="313" r:id="rId19"/>
    <p:sldId id="314" r:id="rId20"/>
    <p:sldId id="315" r:id="rId21"/>
    <p:sldId id="322" r:id="rId22"/>
    <p:sldId id="323" r:id="rId23"/>
    <p:sldId id="324" r:id="rId24"/>
    <p:sldId id="325" r:id="rId25"/>
    <p:sldId id="326" r:id="rId26"/>
    <p:sldId id="305" r:id="rId27"/>
    <p:sldId id="327" r:id="rId28"/>
    <p:sldId id="328" r:id="rId29"/>
    <p:sldId id="329" r:id="rId30"/>
    <p:sldId id="330" r:id="rId31"/>
    <p:sldId id="361" r:id="rId32"/>
    <p:sldId id="332" r:id="rId33"/>
    <p:sldId id="333" r:id="rId34"/>
    <p:sldId id="334" r:id="rId35"/>
    <p:sldId id="335" r:id="rId36"/>
    <p:sldId id="336" r:id="rId37"/>
    <p:sldId id="337" r:id="rId38"/>
    <p:sldId id="338" r:id="rId39"/>
    <p:sldId id="319" r:id="rId40"/>
    <p:sldId id="339" r:id="rId41"/>
    <p:sldId id="340" r:id="rId42"/>
    <p:sldId id="341" r:id="rId43"/>
    <p:sldId id="342" r:id="rId44"/>
    <p:sldId id="347" r:id="rId45"/>
    <p:sldId id="343" r:id="rId46"/>
    <p:sldId id="344" r:id="rId47"/>
    <p:sldId id="345" r:id="rId48"/>
    <p:sldId id="348" r:id="rId49"/>
    <p:sldId id="349" r:id="rId50"/>
    <p:sldId id="350" r:id="rId51"/>
    <p:sldId id="351" r:id="rId52"/>
    <p:sldId id="352" r:id="rId53"/>
    <p:sldId id="353" r:id="rId54"/>
    <p:sldId id="354" r:id="rId55"/>
    <p:sldId id="355" r:id="rId56"/>
    <p:sldId id="309" r:id="rId57"/>
    <p:sldId id="356" r:id="rId58"/>
    <p:sldId id="357" r:id="rId59"/>
    <p:sldId id="358" r:id="rId60"/>
    <p:sldId id="359" r:id="rId61"/>
    <p:sldId id="360" r:id="rId62"/>
    <p:sldId id="362" r:id="rId63"/>
    <p:sldId id="269" r:id="rId64"/>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 id="3" name="YeMinchao" initials="Y" lastIdx="0" clrIdx="2">
    <p:extLst>
      <p:ext uri="{19B8F6BF-5375-455C-9EA6-DF929625EA0E}">
        <p15:presenceInfo xmlns:p15="http://schemas.microsoft.com/office/powerpoint/2012/main" userId="YeMincha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B27C6"/>
    <a:srgbClr val="0066FF"/>
    <a:srgbClr val="5596CD"/>
    <a:srgbClr val="FF9900"/>
    <a:srgbClr val="FFC369"/>
    <a:srgbClr val="54A5BF"/>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72" y="188"/>
      </p:cViewPr>
      <p:guideLst>
        <p:guide orient="horz" pos="2160"/>
        <p:guide pos="384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F70D14B-145E-493C-ABA3-519542B385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0D453277-F6FC-4D10-90CB-6A0992FCC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DB20EC-4783-4CCF-A673-D729B7FCED1E}" type="datetimeFigureOut">
              <a:rPr lang="zh-CN" altLang="en-US" smtClean="0"/>
              <a:t>2025/2/21</a:t>
            </a:fld>
            <a:endParaRPr lang="zh-CN" altLang="en-US"/>
          </a:p>
        </p:txBody>
      </p:sp>
      <p:sp>
        <p:nvSpPr>
          <p:cNvPr id="4" name="页脚占位符 3">
            <a:extLst>
              <a:ext uri="{FF2B5EF4-FFF2-40B4-BE49-F238E27FC236}">
                <a16:creationId xmlns:a16="http://schemas.microsoft.com/office/drawing/2014/main" id="{DCBAD922-6660-48B4-99A9-4E044BAF399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7E2829C-176B-4D15-B982-721BDCDE17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B5F9CC-9A65-4D6C-BE76-1EF509336094}" type="slidenum">
              <a:rPr lang="zh-CN" altLang="en-US" smtClean="0"/>
              <a:t>‹#›</a:t>
            </a:fld>
            <a:endParaRPr lang="zh-CN" altLang="en-US"/>
          </a:p>
        </p:txBody>
      </p:sp>
    </p:spTree>
    <p:extLst>
      <p:ext uri="{BB962C8B-B14F-4D97-AF65-F5344CB8AC3E}">
        <p14:creationId xmlns:p14="http://schemas.microsoft.com/office/powerpoint/2010/main" val="2983224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538048-F63A-4A4D-9D00-3E4A08633E52}" type="datetimeFigureOut">
              <a:rPr lang="en-US" smtClean="0"/>
              <a:t>2/21/2025</a:t>
            </a:fld>
            <a:endParaRPr 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2E95F0-DD99-4637-B6CC-2CB7A5EF22EA}" type="slidenum">
              <a:rPr lang="en-US" smtClean="0"/>
              <a:t>‹#›</a:t>
            </a:fld>
            <a:endParaRPr lang="en-US"/>
          </a:p>
        </p:txBody>
      </p:sp>
    </p:spTree>
    <p:extLst>
      <p:ext uri="{BB962C8B-B14F-4D97-AF65-F5344CB8AC3E}">
        <p14:creationId xmlns:p14="http://schemas.microsoft.com/office/powerpoint/2010/main" val="2488983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同学，你好！欢迎同学们选修《麻醉学进展》这门课程。我是主讲老师</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，来自浙江大学医学院附属第二医院麻醉手术部。首先我将讲述一下麻醉学概述中的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麻醉学的起源和发展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D98C8E83-7467-4844-86B0-1E72CB4E1334}"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718843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同学，你好！欢迎同学们选修《麻醉学进展》这门课程。我是主讲老师</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，来自浙江大学医学院附属第二医院麻醉手术部。首先我将讲述一下麻醉学概述中的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麻醉学的起源和发展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D98C8E83-7467-4844-86B0-1E72CB4E1334}" type="slidenum">
              <a:rPr lang="zh-CN" altLang="en-US" smtClean="0">
                <a:solidFill>
                  <a:prstClr val="black"/>
                </a:solidFill>
              </a:rPr>
              <a:pPr/>
              <a:t>3</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同学，你好！欢迎同学们选修《麻醉学进展》这门课程。我是主讲老师</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，来自浙江大学医学院附属第二医院麻醉手术部。首先我将讲述一下麻醉学概述中的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麻醉学的起源和发展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D98C8E83-7467-4844-86B0-1E72CB4E1334}" type="slidenum">
              <a:rPr lang="zh-CN" altLang="en-US" smtClean="0">
                <a:solidFill>
                  <a:prstClr val="black"/>
                </a:solidFill>
              </a:rPr>
              <a:pPr/>
              <a:t>20</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同学，你好！欢迎同学们选修《麻醉学进展》这门课程。我是主讲老师</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，来自浙江大学医学院附属第二医院麻醉手术部。首先我将讲述一下麻醉学概述中的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麻醉学的起源和发展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8C8E83-7467-4844-86B0-1E72CB4E133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同学，你好！欢迎同学们选修《麻醉学进展》这门课程。我是主讲老师</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，来自浙江大学医学院附属第二医院麻醉手术部。首先我将讲述一下麻醉学概述中的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麻醉学的起源和发展</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8C8E83-7467-4844-86B0-1E72CB4E133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3.png"/><Relationship Id="rId4" Type="http://schemas.openxmlformats.org/officeDocument/2006/relationships/tags" Target="../tags/tag17.xml"/><Relationship Id="rId9"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3.png"/><Relationship Id="rId4" Type="http://schemas.openxmlformats.org/officeDocument/2006/relationships/tags" Target="../tags/tag24.xml"/><Relationship Id="rId9"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日期占位符 15"/>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17" name="页脚占位符 16"/>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solidFill>
                <a:srgbClr val="000000">
                  <a:tint val="75000"/>
                </a:srgbClr>
              </a:solidFill>
            </a:endParaRPr>
          </a:p>
        </p:txBody>
      </p:sp>
      <p:sp>
        <p:nvSpPr>
          <p:cNvPr id="18" name="灯片编号占位符 17"/>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
        <p:nvSpPr>
          <p:cNvPr id="3" name="副标题 3"/>
          <p:cNvSpPr>
            <a:spLocks noGrp="1"/>
          </p:cNvSpPr>
          <p:nvPr>
            <p:ph type="subTitle" idx="3" hasCustomPrompt="1"/>
            <p:custDataLst>
              <p:tags r:id="rId1"/>
            </p:custDataLst>
          </p:nvPr>
        </p:nvSpPr>
        <p:spPr>
          <a:xfrm>
            <a:off x="1652270" y="3649345"/>
            <a:ext cx="8890000" cy="669290"/>
          </a:xfrm>
        </p:spPr>
        <p:txBody>
          <a:bodyPr vert="horz" wrap="square" lIns="0" tIns="0" rIns="0" bIns="0" rtlCol="0" anchor="t" anchorCtr="0">
            <a:normAutofit/>
          </a:bodyPr>
          <a:lstStyle>
            <a:lvl1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kumimoji="0" lang="zh-CN" altLang="en-US" sz="3600" b="0" i="0" u="none" strike="noStrike" kern="1200" cap="none" spc="200" normalizeH="0" baseline="0" noProof="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LnTx/>
                <a:uFillTx/>
                <a:latin typeface="Arial" panose="020B0604020202020204" pitchFamily="34" charset="0"/>
                <a:ea typeface="微软雅黑" panose="020B0503020204020204" charset="-122"/>
                <a:cs typeface="微软雅黑" panose="020B0503020204020204" charset="-122"/>
                <a:sym typeface="+mn-ea"/>
              </a:defRPr>
            </a:lvl1pPr>
            <a:lvl2pPr marL="457200" indent="0" algn="ctr" defTabSz="914400" rtl="0" eaLnBrk="1" fontAlgn="auto" latinLnBrk="0" hangingPunct="1">
              <a:lnSpc>
                <a:spcPct val="12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2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2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r>
              <a:rPr>
                <a:sym typeface="+mn-ea"/>
              </a:rPr>
              <a:t>单击此处编辑副标题</a:t>
            </a:r>
          </a:p>
        </p:txBody>
      </p:sp>
      <p:sp>
        <p:nvSpPr>
          <p:cNvPr id="4" name="标题 4"/>
          <p:cNvSpPr>
            <a:spLocks noGrp="1"/>
          </p:cNvSpPr>
          <p:nvPr>
            <p:ph type="ctrTitle" idx="2" hasCustomPrompt="1"/>
            <p:custDataLst>
              <p:tags r:id="rId2"/>
            </p:custDataLst>
          </p:nvPr>
        </p:nvSpPr>
        <p:spPr>
          <a:xfrm>
            <a:off x="1652270" y="2227797"/>
            <a:ext cx="8890064" cy="1112520"/>
          </a:xfrm>
        </p:spPr>
        <p:txBody>
          <a:bodyPr vert="horz" wrap="square" lIns="0" tIns="0" rIns="0" bIns="0" rtlCol="0" anchor="b" anchorCtr="0">
            <a:normAutofit lnSpcReduction="10000"/>
          </a:bodyPr>
          <a:lstStyle>
            <a:lvl1pPr marL="0" marR="0" algn="ctr" defTabSz="914400" rtl="0" eaLnBrk="1" fontAlgn="auto" latinLnBrk="0" hangingPunct="1">
              <a:lnSpc>
                <a:spcPct val="100000"/>
              </a:lnSpc>
              <a:spcBef>
                <a:spcPct val="0"/>
              </a:spcBef>
              <a:buClrTx/>
              <a:buSzTx/>
              <a:buFontTx/>
              <a:buNone/>
              <a:defRPr kumimoji="0" lang="zh-CN" altLang="en-US" sz="7225" b="1" i="0" u="none" strike="noStrike" kern="1200" cap="none" spc="700" normalizeH="0" baseline="0" noProof="1" dirty="0">
                <a:solidFill>
                  <a:schemeClr val="dk1">
                    <a:lumMod val="85000"/>
                    <a:lumOff val="15000"/>
                  </a:schemeClr>
                </a:solidFill>
                <a:uFillTx/>
                <a:latin typeface="Arial" panose="020B0604020202020204" pitchFamily="34" charset="0"/>
                <a:ea typeface="汉仪旗黑-85S" panose="00020600040101010101" pitchFamily="18" charset="-122"/>
                <a:cs typeface="+mj-cs"/>
              </a:defRPr>
            </a:lvl1pPr>
          </a:lstStyle>
          <a:p>
            <a:pPr lvl="0"/>
            <a:r>
              <a:rPr>
                <a:sym typeface="+mn-ea"/>
              </a:rPr>
              <a:t>编辑标题</a:t>
            </a:r>
          </a:p>
        </p:txBody>
      </p:sp>
      <p:cxnSp>
        <p:nvCxnSpPr>
          <p:cNvPr id="5" name="直接连接符 4"/>
          <p:cNvCxnSpPr/>
          <p:nvPr userDrawn="1"/>
        </p:nvCxnSpPr>
        <p:spPr>
          <a:xfrm>
            <a:off x="1655445" y="3486150"/>
            <a:ext cx="8909050" cy="0"/>
          </a:xfrm>
          <a:prstGeom prst="line">
            <a:avLst/>
          </a:prstGeom>
          <a:ln w="19050">
            <a:solidFill>
              <a:srgbClr val="DEDEDE"/>
            </a:solidFill>
          </a:ln>
        </p:spPr>
        <p:style>
          <a:lnRef idx="1">
            <a:schemeClr val="accent1"/>
          </a:lnRef>
          <a:fillRef idx="0">
            <a:schemeClr val="accent1"/>
          </a:fillRef>
          <a:effectRef idx="0">
            <a:schemeClr val="accent1"/>
          </a:effectRef>
          <a:fontRef idx="minor">
            <a:schemeClr val="tx1"/>
          </a:fontRef>
        </p:style>
      </p:cxnSp>
      <p:sp>
        <p:nvSpPr>
          <p:cNvPr id="6" name="椭圆 5"/>
          <p:cNvSpPr/>
          <p:nvPr userDrawn="1"/>
        </p:nvSpPr>
        <p:spPr>
          <a:xfrm>
            <a:off x="6036310" y="3401695"/>
            <a:ext cx="168275" cy="168275"/>
          </a:xfrm>
          <a:prstGeom prst="ellipse">
            <a:avLst/>
          </a:prstGeom>
          <a:solidFill>
            <a:schemeClr val="bg1"/>
          </a:solidFill>
          <a:ln>
            <a:solidFill>
              <a:srgbClr val="DED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1" name="圆角矩形 10"/>
          <p:cNvSpPr/>
          <p:nvPr userDrawn="1"/>
        </p:nvSpPr>
        <p:spPr>
          <a:xfrm>
            <a:off x="3362960" y="4785995"/>
            <a:ext cx="2502535" cy="387985"/>
          </a:xfrm>
          <a:prstGeom prst="roundRect">
            <a:avLst/>
          </a:prstGeom>
          <a:solidFill>
            <a:schemeClr val="bg1"/>
          </a:solidFill>
          <a:ln>
            <a:solidFill>
              <a:srgbClr val="DED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中国计量大学</a:t>
            </a:r>
          </a:p>
        </p:txBody>
      </p:sp>
    </p:spTree>
    <p:extLst>
      <p:ext uri="{BB962C8B-B14F-4D97-AF65-F5344CB8AC3E}">
        <p14:creationId xmlns:p14="http://schemas.microsoft.com/office/powerpoint/2010/main" val="145088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925" y="400685"/>
            <a:ext cx="10852150" cy="553085"/>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nvPr>
        </p:nvSpPr>
        <p:spPr>
          <a:xfrm>
            <a:off x="669925" y="1137920"/>
            <a:ext cx="10852150" cy="5203190"/>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2185428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925" y="443230"/>
            <a:ext cx="10852150" cy="475615"/>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nvPr>
        </p:nvSpPr>
        <p:spPr>
          <a:xfrm>
            <a:off x="669925" y="1137920"/>
            <a:ext cx="5377180" cy="5203190"/>
          </a:xfrm>
        </p:spPr>
        <p:txBody>
          <a:bodyPr vert="horz" lIns="90170" tIns="46990" rIns="90170" bIns="46990" rtlCol="0">
            <a:normAutofit/>
          </a:bodyPr>
          <a:lstStyle>
            <a:lvl1pPr marL="228600" marR="0" lvl="0" indent="-228600" algn="l" defTabSz="914400" rtl="0" eaLnBrk="1" fontAlgn="auto" latinLnBrk="0" hangingPunct="1">
              <a:lnSpc>
                <a:spcPct val="100000"/>
              </a:lnSpc>
              <a:spcBef>
                <a:spcPts val="0"/>
              </a:spcBef>
              <a:spcAft>
                <a:spcPts val="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0" i="0" u="none" strike="noStrike" kern="1200" cap="none" spc="150" normalizeH="0" baseline="0" noProof="1" dirty="0">
                <a:solidFill>
                  <a:schemeClr val="tx1"/>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9" name="内容占位符 8"/>
          <p:cNvSpPr>
            <a:spLocks noGrp="1"/>
          </p:cNvSpPr>
          <p:nvPr>
            <p:ph idx="13"/>
          </p:nvPr>
        </p:nvSpPr>
        <p:spPr>
          <a:xfrm>
            <a:off x="6111875" y="1126490"/>
            <a:ext cx="5410200" cy="5203190"/>
          </a:xfrm>
        </p:spPr>
        <p:txBody>
          <a:bodyPr vert="horz" lIns="90170" tIns="46990" rIns="90170" bIns="46990" rtlCol="0">
            <a:normAutofit/>
          </a:bodyPr>
          <a:lstStyle>
            <a:lvl1pPr marL="228600" marR="0" lvl="0" indent="-228600" algn="l" defTabSz="914400" rtl="0" eaLnBrk="1" fontAlgn="auto" latinLnBrk="0" hangingPunct="1">
              <a:lnSpc>
                <a:spcPct val="100000"/>
              </a:lnSpc>
              <a:spcBef>
                <a:spcPts val="0"/>
              </a:spcBef>
              <a:spcAft>
                <a:spcPts val="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0" i="0" u="none" strike="noStrike" kern="1200" cap="none" spc="150" normalizeH="0" baseline="0" noProof="1" dirty="0">
                <a:solidFill>
                  <a:schemeClr val="tx1"/>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Tree>
    <p:extLst>
      <p:ext uri="{BB962C8B-B14F-4D97-AF65-F5344CB8AC3E}">
        <p14:creationId xmlns:p14="http://schemas.microsoft.com/office/powerpoint/2010/main" val="61406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图片25"/>
          <p:cNvPicPr>
            <a:picLocks noChangeAspect="1"/>
          </p:cNvPicPr>
          <p:nvPr userDrawn="1">
            <p:custDataLst>
              <p:tags r:id="rId1"/>
            </p:custDataLst>
          </p:nvPr>
        </p:nvPicPr>
        <p:blipFill>
          <a:blip r:embed="rId3"/>
          <a:stretch>
            <a:fillRect/>
          </a:stretch>
        </p:blipFill>
        <p:spPr>
          <a:xfrm>
            <a:off x="11471910" y="0"/>
            <a:ext cx="720090" cy="720090"/>
          </a:xfrm>
          <a:prstGeom prst="rect">
            <a:avLst/>
          </a:prstGeom>
        </p:spPr>
      </p:pic>
    </p:spTree>
    <p:extLst>
      <p:ext uri="{BB962C8B-B14F-4D97-AF65-F5344CB8AC3E}">
        <p14:creationId xmlns:p14="http://schemas.microsoft.com/office/powerpoint/2010/main" val="2510266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solidFill>
                <a:srgbClr val="000000">
                  <a:tint val="75000"/>
                </a:srgbClr>
              </a:solidFill>
            </a:endParaRPr>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723670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8" name="页脚占位符 7"/>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solidFill>
                <a:srgbClr val="000000">
                  <a:tint val="75000"/>
                </a:srgbClr>
              </a:solidFill>
            </a:endParaRPr>
          </a:p>
        </p:txBody>
      </p:sp>
      <p:sp>
        <p:nvSpPr>
          <p:cNvPr id="9" name="灯片编号占位符 8"/>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3956689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片 7"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solidFill>
                  <a:srgbClr val="000000">
                    <a:tint val="75000"/>
                  </a:srgbClr>
                </a:solidFill>
              </a:rPr>
              <a:pPr/>
              <a:t>2025/2/21</a:t>
            </a:fld>
            <a:endParaRPr lang="zh-CN" altLang="en-US" dirty="0">
              <a:solidFill>
                <a:srgbClr val="000000">
                  <a:tint val="75000"/>
                </a:srgbClr>
              </a:solidFill>
            </a:endParaRPr>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solidFill>
                <a:srgbClr val="000000">
                  <a:tint val="75000"/>
                </a:srgbClr>
              </a:solidFill>
            </a:endParaRPr>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3808311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2" name="图片 1"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solidFill>
                <a:srgbClr val="000000">
                  <a:tint val="75000"/>
                </a:srgbClr>
              </a:solidFill>
            </a:endParaRPr>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
        <p:nvSpPr>
          <p:cNvPr id="7" name="内容占位符 6"/>
          <p:cNvSpPr>
            <a:spLocks noGrp="1"/>
          </p:cNvSpPr>
          <p:nvPr>
            <p:ph sz="quarter" idx="13"/>
          </p:nvPr>
        </p:nvSpPr>
        <p:spPr>
          <a:xfrm>
            <a:off x="669930" y="952508"/>
            <a:ext cx="10852237" cy="5388907"/>
          </a:xfrm>
        </p:spPr>
        <p:txBody>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766211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8" name="图片 7" descr="图片26"/>
          <p:cNvPicPr>
            <a:picLocks noChangeAspect="1"/>
          </p:cNvPicPr>
          <p:nvPr>
            <p:custDataLst>
              <p:tags r:id="rId1"/>
            </p:custDataLst>
          </p:nvPr>
        </p:nvPicPr>
        <p:blipFill>
          <a:blip r:embed="rId9"/>
          <a:stretch>
            <a:fillRect/>
          </a:stretch>
        </p:blipFill>
        <p:spPr>
          <a:xfrm>
            <a:off x="10436061" y="-10801"/>
            <a:ext cx="1753527" cy="1753527"/>
          </a:xfrm>
          <a:prstGeom prst="rect">
            <a:avLst/>
          </a:prstGeom>
        </p:spPr>
      </p:pic>
      <p:pic>
        <p:nvPicPr>
          <p:cNvPr id="6" name="图片 5" descr="图片25"/>
          <p:cNvPicPr>
            <a:picLocks noChangeAspect="1"/>
          </p:cNvPicPr>
          <p:nvPr>
            <p:custDataLst>
              <p:tags r:id="rId2"/>
            </p:custDataLst>
          </p:nvPr>
        </p:nvPicPr>
        <p:blipFill>
          <a:blip r:embed="rId10"/>
          <a:stretch>
            <a:fillRect/>
          </a:stretch>
        </p:blipFill>
        <p:spPr>
          <a:xfrm>
            <a:off x="0" y="5104461"/>
            <a:ext cx="1753527" cy="1753527"/>
          </a:xfrm>
          <a:prstGeom prst="rect">
            <a:avLst/>
          </a:prstGeom>
        </p:spPr>
      </p:pic>
      <p:sp>
        <p:nvSpPr>
          <p:cNvPr id="2" name="标题 1"/>
          <p:cNvSpPr>
            <a:spLocks noGrp="1"/>
          </p:cNvSpPr>
          <p:nvPr>
            <p:ph type="title" hasCustomPrompt="1"/>
            <p:custDataLst>
              <p:tags r:id="rId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solidFill>
                <a:srgbClr val="000000">
                  <a:tint val="75000"/>
                </a:srgbClr>
              </a:solidFill>
            </a:endParaRPr>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197496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4C17889-7F4F-4468-9749-CDB7CA8FB84F}" type="datetime1">
              <a:rPr lang="zh-CN" altLang="en-US" smtClean="0">
                <a:solidFill>
                  <a:prstClr val="black">
                    <a:tint val="75000"/>
                  </a:prstClr>
                </a:solidFill>
              </a:rPr>
              <a:pPr/>
              <a:t>2025/2/21</a:t>
            </a:fld>
            <a:endParaRPr lang="zh-CN" altLang="en-US" dirty="0">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dirty="0">
              <a:solidFill>
                <a:prstClr val="black">
                  <a:tint val="75000"/>
                </a:prstClr>
              </a:solidFill>
            </a:endParaRPr>
          </a:p>
        </p:txBody>
      </p:sp>
      <p:sp>
        <p:nvSpPr>
          <p:cNvPr id="6" name="灯片编号占位符 5"/>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0208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腰带">
    <p:spTree>
      <p:nvGrpSpPr>
        <p:cNvPr id="1" name=""/>
        <p:cNvGrpSpPr/>
        <p:nvPr/>
      </p:nvGrpSpPr>
      <p:grpSpPr>
        <a:xfrm>
          <a:off x="0" y="0"/>
          <a:ext cx="0" cy="0"/>
          <a:chOff x="0" y="0"/>
          <a:chExt cx="0" cy="0"/>
        </a:xfrm>
      </p:grpSpPr>
      <p:pic>
        <p:nvPicPr>
          <p:cNvPr id="8" name="图片 7" descr="图片26"/>
          <p:cNvPicPr>
            <a:picLocks noChangeAspect="1"/>
          </p:cNvPicPr>
          <p:nvPr>
            <p:custDataLst>
              <p:tags r:id="rId1"/>
            </p:custDataLst>
          </p:nvPr>
        </p:nvPicPr>
        <p:blipFill>
          <a:blip r:embed="rId9"/>
          <a:stretch>
            <a:fillRect/>
          </a:stretch>
        </p:blipFill>
        <p:spPr>
          <a:xfrm>
            <a:off x="10436061" y="-10801"/>
            <a:ext cx="1753527" cy="1753527"/>
          </a:xfrm>
          <a:prstGeom prst="rect">
            <a:avLst/>
          </a:prstGeom>
        </p:spPr>
      </p:pic>
      <p:pic>
        <p:nvPicPr>
          <p:cNvPr id="6" name="图片 5" descr="图片25"/>
          <p:cNvPicPr>
            <a:picLocks noChangeAspect="1"/>
          </p:cNvPicPr>
          <p:nvPr>
            <p:custDataLst>
              <p:tags r:id="rId2"/>
            </p:custDataLst>
          </p:nvPr>
        </p:nvPicPr>
        <p:blipFill>
          <a:blip r:embed="rId10"/>
          <a:stretch>
            <a:fillRect/>
          </a:stretch>
        </p:blipFill>
        <p:spPr>
          <a:xfrm>
            <a:off x="0" y="5104461"/>
            <a:ext cx="1753527" cy="1753527"/>
          </a:xfrm>
          <a:prstGeom prst="rect">
            <a:avLst/>
          </a:prstGeom>
        </p:spPr>
      </p:pic>
      <p:sp>
        <p:nvSpPr>
          <p:cNvPr id="2" name="标题 1"/>
          <p:cNvSpPr>
            <a:spLocks noGrp="1"/>
          </p:cNvSpPr>
          <p:nvPr>
            <p:ph type="title" hasCustomPrompt="1"/>
            <p:custDataLst>
              <p:tags r:id="rId3"/>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2025/2/21</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4052233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pic>
        <p:nvPicPr>
          <p:cNvPr id="8" name="图片 7"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2" name="标题 1"/>
          <p:cNvSpPr>
            <a:spLocks noGrp="1"/>
          </p:cNvSpPr>
          <p:nvPr>
            <p:ph type="title"/>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t>2025/2/21</a:t>
            </a:fld>
            <a:endParaRPr lang="zh-CN" altLang="en-US" dirty="0"/>
          </a:p>
        </p:txBody>
      </p:sp>
      <p:sp>
        <p:nvSpPr>
          <p:cNvPr id="6" name="页脚占位符 5"/>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pic>
        <p:nvPicPr>
          <p:cNvPr id="2" name="图片 1" descr="图片25"/>
          <p:cNvPicPr>
            <a:picLocks noChangeAspect="1"/>
          </p:cNvPicPr>
          <p:nvPr>
            <p:custDataLst>
              <p:tags r:id="rId1"/>
            </p:custDataLst>
          </p:nvPr>
        </p:nvPicPr>
        <p:blipFill>
          <a:blip r:embed="rId3"/>
          <a:stretch>
            <a:fillRect/>
          </a:stretch>
        </p:blipFill>
        <p:spPr>
          <a:xfrm>
            <a:off x="11471910" y="6137910"/>
            <a:ext cx="720090" cy="720090"/>
          </a:xfrm>
          <a:prstGeom prst="rect">
            <a:avLst/>
          </a:prstGeom>
        </p:spPr>
      </p:pic>
      <p:sp>
        <p:nvSpPr>
          <p:cNvPr id="3" name="日期占位符 2"/>
          <p:cNvSpPr>
            <a:spLocks noGrp="1"/>
          </p:cNvSpPr>
          <p:nvPr>
            <p:ph type="dt" sz="half" idx="10"/>
          </p:nvPr>
        </p:nvSpPr>
        <p:spPr/>
        <p:txBody>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t>2025/2/21</a:t>
            </a:fld>
            <a:endParaRPr lang="zh-CN" altLang="en-US"/>
          </a:p>
        </p:txBody>
      </p:sp>
      <p:sp>
        <p:nvSpPr>
          <p:cNvPr id="4" name="页脚占位符 3"/>
          <p:cNvSpPr>
            <a:spLocks noGrp="1"/>
          </p:cNvSpPr>
          <p:nvPr>
            <p:ph type="ftr" sz="quarter" idx="11"/>
          </p:nvPr>
        </p:nvSpPr>
        <p:spPr/>
        <p:txBody>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nvPr>
        </p:nvSpPr>
        <p:spPr/>
        <p:txBody>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69930" y="952508"/>
            <a:ext cx="10852237" cy="5388907"/>
          </a:xfrm>
        </p:spPr>
        <p:txBody>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p>
            <a:endParaRPr lang="zh-CN" altLang="en-US" dirty="0">
              <a:solidFill>
                <a:srgbClr val="000000">
                  <a:tint val="75000"/>
                </a:srgbClr>
              </a:solidFill>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14431841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pic>
        <p:nvPicPr>
          <p:cNvPr id="7" name="图片 6" descr="图片25">
            <a:extLst>
              <a:ext uri="{FF2B5EF4-FFF2-40B4-BE49-F238E27FC236}">
                <a16:creationId xmlns:a16="http://schemas.microsoft.com/office/drawing/2014/main" id="{2E24335B-A487-A6E2-A69A-D12C4C41DEBB}"/>
              </a:ext>
            </a:extLst>
          </p:cNvPr>
          <p:cNvPicPr>
            <a:picLocks noChangeAspect="1"/>
          </p:cNvPicPr>
          <p:nvPr userDrawn="1">
            <p:custDataLst>
              <p:tags r:id="rId1"/>
            </p:custDataLst>
          </p:nvPr>
        </p:nvPicPr>
        <p:blipFill>
          <a:blip r:embed="rId3"/>
          <a:stretch>
            <a:fillRect/>
          </a:stretch>
        </p:blipFill>
        <p:spPr>
          <a:xfrm>
            <a:off x="11471910" y="6137910"/>
            <a:ext cx="720090" cy="720090"/>
          </a:xfrm>
          <a:prstGeom prst="rect">
            <a:avLst/>
          </a:prstGeom>
        </p:spPr>
      </p:pic>
    </p:spTree>
    <p:extLst>
      <p:ext uri="{BB962C8B-B14F-4D97-AF65-F5344CB8AC3E}">
        <p14:creationId xmlns:p14="http://schemas.microsoft.com/office/powerpoint/2010/main" val="671447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846"/>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57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p>
            <a:endParaRPr lang="zh-CN" altLang="en-US" dirty="0">
              <a:solidFill>
                <a:srgbClr val="000000">
                  <a:tint val="75000"/>
                </a:srgbClr>
              </a:solidFill>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1987057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000000">
                  <a:tint val="75000"/>
                </a:srgbClr>
              </a:solidFill>
            </a:endParaRPr>
          </a:p>
        </p:txBody>
      </p:sp>
      <p:sp>
        <p:nvSpPr>
          <p:cNvPr id="7" name="灯片编号占位符 6"/>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942430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3"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8" name="页脚占位符 7"/>
          <p:cNvSpPr>
            <a:spLocks noGrp="1"/>
          </p:cNvSpPr>
          <p:nvPr>
            <p:ph type="ftr" sz="quarter" idx="11"/>
          </p:nvPr>
        </p:nvSpPr>
        <p:spPr/>
        <p:txBody>
          <a:bodyPr/>
          <a:lstStyle/>
          <a:p>
            <a:endParaRPr lang="zh-CN" altLang="en-US">
              <a:solidFill>
                <a:srgbClr val="000000">
                  <a:tint val="75000"/>
                </a:srgbClr>
              </a:solidFill>
            </a:endParaRPr>
          </a:p>
        </p:txBody>
      </p:sp>
      <p:sp>
        <p:nvSpPr>
          <p:cNvPr id="9" name="灯片编号占位符 8"/>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103492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4" name="页脚占位符 3"/>
          <p:cNvSpPr>
            <a:spLocks noGrp="1"/>
          </p:cNvSpPr>
          <p:nvPr>
            <p:ph type="ftr" sz="quarter" idx="11"/>
          </p:nvPr>
        </p:nvSpPr>
        <p:spPr/>
        <p:txBody>
          <a:bodyPr/>
          <a:lstStyle/>
          <a:p>
            <a:endParaRPr lang="zh-CN" altLang="en-US" dirty="0">
              <a:solidFill>
                <a:srgbClr val="000000">
                  <a:tint val="75000"/>
                </a:srgbClr>
              </a:solidFill>
            </a:endParaRPr>
          </a:p>
        </p:txBody>
      </p:sp>
      <p:sp>
        <p:nvSpPr>
          <p:cNvPr id="5" name="灯片编号占位符 4"/>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26655789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3" name="页脚占位符 2"/>
          <p:cNvSpPr>
            <a:spLocks noGrp="1"/>
          </p:cNvSpPr>
          <p:nvPr>
            <p:ph type="ftr" sz="quarter" idx="11"/>
          </p:nvPr>
        </p:nvSpPr>
        <p:spPr/>
        <p:txBody>
          <a:bodyPr/>
          <a:lstStyle/>
          <a:p>
            <a:endParaRPr lang="zh-CN" altLang="en-US" dirty="0">
              <a:solidFill>
                <a:srgbClr val="000000">
                  <a:tint val="75000"/>
                </a:srgbClr>
              </a:solidFill>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2811485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533"/>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6" name="页脚占位符 5"/>
          <p:cNvSpPr>
            <a:spLocks noGrp="1"/>
          </p:cNvSpPr>
          <p:nvPr>
            <p:ph type="ftr" sz="quarter" idx="11"/>
          </p:nvPr>
        </p:nvSpPr>
        <p:spPr/>
        <p:txBody>
          <a:bodyPr/>
          <a:lstStyle/>
          <a:p>
            <a:endParaRPr lang="zh-CN" altLang="en-US" dirty="0">
              <a:solidFill>
                <a:srgbClr val="000000">
                  <a:tint val="75000"/>
                </a:srgbClr>
              </a:solidFill>
            </a:endParaRPr>
          </a:p>
        </p:txBody>
      </p:sp>
      <p:sp>
        <p:nvSpPr>
          <p:cNvPr id="7" name="灯片编号占位符 6"/>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3896336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53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solidFill>
                  <a:srgbClr val="000000">
                    <a:tint val="75000"/>
                  </a:srgbClr>
                </a:solidFill>
              </a:rPr>
              <a:pPr/>
              <a:t>2025/2/21</a:t>
            </a:fld>
            <a:endParaRPr lang="zh-CN" altLang="en-US" dirty="0">
              <a:solidFill>
                <a:srgbClr val="000000">
                  <a:tint val="75000"/>
                </a:srgbClr>
              </a:solidFill>
            </a:endParaRPr>
          </a:p>
        </p:txBody>
      </p:sp>
      <p:sp>
        <p:nvSpPr>
          <p:cNvPr id="6" name="页脚占位符 5"/>
          <p:cNvSpPr>
            <a:spLocks noGrp="1"/>
          </p:cNvSpPr>
          <p:nvPr>
            <p:ph type="ftr" sz="quarter" idx="11"/>
          </p:nvPr>
        </p:nvSpPr>
        <p:spPr/>
        <p:txBody>
          <a:bodyPr/>
          <a:lstStyle/>
          <a:p>
            <a:endParaRPr lang="zh-CN" altLang="en-US" dirty="0">
              <a:solidFill>
                <a:srgbClr val="000000">
                  <a:tint val="75000"/>
                </a:srgbClr>
              </a:solidFill>
            </a:endParaRPr>
          </a:p>
        </p:txBody>
      </p:sp>
      <p:sp>
        <p:nvSpPr>
          <p:cNvPr id="7" name="灯片编号占位符 6"/>
          <p:cNvSpPr>
            <a:spLocks noGrp="1"/>
          </p:cNvSpPr>
          <p:nvPr>
            <p:ph type="sldNum" sz="quarter" idx="12"/>
          </p:nvPr>
        </p:nvSpPr>
        <p:spPr/>
        <p:txBody>
          <a:bodyPr/>
          <a:lstStyle/>
          <a:p>
            <a:fld id="{FABC47A4-756D-490B-A52F-7D9E2C9FC05F}"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6945372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p>
            <a:endParaRPr lang="zh-CN" altLang="en-US" dirty="0">
              <a:solidFill>
                <a:srgbClr val="000000">
                  <a:tint val="75000"/>
                </a:srgbClr>
              </a:solidFill>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14848333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3"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11"/>
          </p:nvPr>
        </p:nvSpPr>
        <p:spPr/>
        <p:txBody>
          <a:bodyPr/>
          <a:lstStyle/>
          <a:p>
            <a:endParaRPr lang="zh-CN" altLang="en-US" dirty="0">
              <a:solidFill>
                <a:srgbClr val="000000">
                  <a:tint val="75000"/>
                </a:srgbClr>
              </a:solidFill>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Tree>
    <p:extLst>
      <p:ext uri="{BB962C8B-B14F-4D97-AF65-F5344CB8AC3E}">
        <p14:creationId xmlns:p14="http://schemas.microsoft.com/office/powerpoint/2010/main" val="3019941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ags" Target="../tags/tag30.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69925" y="443230"/>
            <a:ext cx="10852150" cy="534035"/>
          </a:xfrm>
          <a:prstGeom prst="rect">
            <a:avLst/>
          </a:prstGeom>
        </p:spPr>
        <p:txBody>
          <a:bodyPr vert="horz" wrap="square" lIns="90170" tIns="46990" rIns="90170" bIns="4699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69925" y="1130300"/>
            <a:ext cx="10852150" cy="5219700"/>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3"/>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solidFill>
                <a:srgbClr val="000000">
                  <a:tint val="75000"/>
                </a:srgbClr>
              </a:solidFill>
            </a:endParaRPr>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extLst>
      <p:ext uri="{BB962C8B-B14F-4D97-AF65-F5344CB8AC3E}">
        <p14:creationId xmlns:p14="http://schemas.microsoft.com/office/powerpoint/2010/main" val="264846275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17" r:id="rId10"/>
    <p:sldLayoutId id="2147483730" r:id="rId11"/>
    <p:sldLayoutId id="2147483655" r:id="rId12"/>
    <p:sldLayoutId id="2147483656" r:id="rId13"/>
  </p:sldLayoutIdLst>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3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sz="3200" b="1" u="none" strike="noStrike" kern="1200" cap="none" spc="150" normalizeH="0" baseline="0">
          <a:solidFill>
            <a:schemeClr val="tx1"/>
          </a:solidFill>
          <a:uFillTx/>
          <a:latin typeface="楷体" panose="02010609060101010101" charset="-122"/>
          <a:ea typeface="楷体" panose="02010609060101010101" charset="-122"/>
          <a:cs typeface="+mn-cs"/>
        </a:defRPr>
      </a:lvl2pPr>
      <a:lvl3pPr marL="1143000" indent="-228600" algn="l" defTabSz="914400" rtl="0" eaLnBrk="1" fontAlgn="auto" latinLnBrk="0" hangingPunct="1">
        <a:lnSpc>
          <a:spcPct val="100000"/>
        </a:lnSpc>
        <a:spcBef>
          <a:spcPts val="0"/>
        </a:spcBef>
        <a:spcAft>
          <a:spcPts val="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45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FBDFE-C587-4B4C-A407-44438C67B59E}" type="datetimeFigureOut">
              <a:rPr lang="zh-CN" altLang="en-US" smtClean="0">
                <a:solidFill>
                  <a:srgbClr val="000000">
                    <a:tint val="75000"/>
                  </a:srgbClr>
                </a:solidFill>
              </a:rPr>
              <a:pPr/>
              <a:t>2025/2/21</a:t>
            </a:fld>
            <a:endParaRPr lang="zh-CN" altLang="en-US">
              <a:solidFill>
                <a:srgbClr val="000000">
                  <a:tint val="75000"/>
                </a:srgbClr>
              </a:solidFill>
            </a:endParaRPr>
          </a:p>
        </p:txBody>
      </p:sp>
      <p:sp>
        <p:nvSpPr>
          <p:cNvPr id="5" name="页脚占位符 4"/>
          <p:cNvSpPr>
            <a:spLocks noGrp="1"/>
          </p:cNvSpPr>
          <p:nvPr>
            <p:ph type="ftr" sz="quarter" idx="3"/>
          </p:nvPr>
        </p:nvSpPr>
        <p:spPr>
          <a:xfrm>
            <a:off x="4038600" y="635645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solidFill>
                <a:srgbClr val="000000">
                  <a:tint val="75000"/>
                </a:srgbClr>
              </a:solidFill>
            </a:endParaRPr>
          </a:p>
        </p:txBody>
      </p:sp>
      <p:sp>
        <p:nvSpPr>
          <p:cNvPr id="6" name="灯片编号占位符 5"/>
          <p:cNvSpPr>
            <a:spLocks noGrp="1"/>
          </p:cNvSpPr>
          <p:nvPr>
            <p:ph type="sldNum" sz="quarter" idx="4"/>
          </p:nvPr>
        </p:nvSpPr>
        <p:spPr>
          <a:xfrm>
            <a:off x="8610600" y="635645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AE70B2-8BF9-45C0-BB95-33D1B9D3A854}" type="slidenum">
              <a:rPr lang="zh-CN" altLang="en-US" smtClean="0">
                <a:solidFill>
                  <a:srgbClr val="000000">
                    <a:tint val="75000"/>
                  </a:srgbClr>
                </a:solidFill>
              </a:rPr>
              <a:pPr/>
              <a:t>‹#›</a:t>
            </a:fld>
            <a:endParaRPr lang="zh-CN" altLang="en-US" dirty="0">
              <a:solidFill>
                <a:srgbClr val="000000">
                  <a:tint val="75000"/>
                </a:srgbClr>
              </a:solidFill>
            </a:endParaRPr>
          </a:p>
        </p:txBody>
      </p:sp>
      <p:sp>
        <p:nvSpPr>
          <p:cNvPr id="7" name="KSO_TEMPLATE" hidden="1">
            <a:extLst>
              <a:ext uri="{FF2B5EF4-FFF2-40B4-BE49-F238E27FC236}">
                <a16:creationId xmlns:a16="http://schemas.microsoft.com/office/drawing/2014/main" id="{B41828C1-CFF6-41F5-34D2-12806C482A29}"/>
              </a:ext>
            </a:extLst>
          </p:cNvPr>
          <p:cNvSpPr/>
          <p:nvPr userDrawn="1">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Tree>
    <p:extLst>
      <p:ext uri="{BB962C8B-B14F-4D97-AF65-F5344CB8AC3E}">
        <p14:creationId xmlns:p14="http://schemas.microsoft.com/office/powerpoint/2010/main" val="113543029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17.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436914" y="1389743"/>
            <a:ext cx="9144000" cy="2387600"/>
          </a:xfrm>
        </p:spPr>
        <p:txBody>
          <a:bodyPr>
            <a:normAutofit/>
          </a:bodyPr>
          <a:lstStyle/>
          <a:p>
            <a:pPr>
              <a:lnSpc>
                <a:spcPct val="200000"/>
              </a:lnSpc>
            </a:pPr>
            <a:r>
              <a:rPr lang="zh-CN" altLang="en-US" dirty="0">
                <a:latin typeface="微软雅黑" panose="020B0503020204020204" pitchFamily="34" charset="-122"/>
                <a:ea typeface="微软雅黑" panose="020B0503020204020204" pitchFamily="34" charset="-122"/>
              </a:rPr>
              <a:t>函数</a:t>
            </a: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1</a:t>
            </a:fld>
            <a:endParaRPr lang="zh-CN" altLang="en-US">
              <a:solidFill>
                <a:prstClr val="black">
                  <a:tint val="75000"/>
                </a:prstClr>
              </a:solidFill>
            </a:endParaRPr>
          </a:p>
        </p:txBody>
      </p:sp>
    </p:spTree>
    <p:extLst>
      <p:ext uri="{BB962C8B-B14F-4D97-AF65-F5344CB8AC3E}">
        <p14:creationId xmlns:p14="http://schemas.microsoft.com/office/powerpoint/2010/main" val="183049881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2</a:t>
            </a:fld>
            <a:endParaRPr lang="zh-CN" altLang="en-US">
              <a:solidFill>
                <a:prstClr val="black">
                  <a:tint val="75000"/>
                </a:prstClr>
              </a:solidFill>
            </a:endParaRPr>
          </a:p>
        </p:txBody>
      </p:sp>
      <p:pic>
        <p:nvPicPr>
          <p:cNvPr id="2" name="图片 1">
            <a:extLst>
              <a:ext uri="{FF2B5EF4-FFF2-40B4-BE49-F238E27FC236}">
                <a16:creationId xmlns:a16="http://schemas.microsoft.com/office/drawing/2014/main" id="{E94411FC-867B-D252-7DEB-4E6CBA06AF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6298" y="1720849"/>
            <a:ext cx="5948800" cy="4356101"/>
          </a:xfrm>
          <a:prstGeom prst="rect">
            <a:avLst/>
          </a:prstGeom>
        </p:spPr>
      </p:pic>
    </p:spTree>
    <p:extLst>
      <p:ext uri="{BB962C8B-B14F-4D97-AF65-F5344CB8AC3E}">
        <p14:creationId xmlns:p14="http://schemas.microsoft.com/office/powerpoint/2010/main" val="3361293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36914" y="1389743"/>
            <a:ext cx="9144000" cy="2387600"/>
          </a:xfrm>
        </p:spPr>
        <p:txBody>
          <a:bodyPr>
            <a:normAutofit fontScale="90000"/>
          </a:bodyPr>
          <a:lstStyle/>
          <a:p>
            <a:pPr>
              <a:lnSpc>
                <a:spcPct val="200000"/>
              </a:lnSpc>
            </a:pPr>
            <a:r>
              <a:rPr lang="zh-CN" altLang="en-US" dirty="0">
                <a:latin typeface="微软雅黑" panose="020B0503020204020204" pitchFamily="34" charset="-122"/>
                <a:ea typeface="微软雅黑" panose="020B0503020204020204" pitchFamily="34" charset="-122"/>
              </a:rPr>
              <a:t>函数</a:t>
            </a:r>
            <a:br>
              <a:rPr lang="en-US" altLang="zh-CN" dirty="0">
                <a:latin typeface="微软雅黑" panose="020B0503020204020204" pitchFamily="34" charset="-122"/>
                <a:ea typeface="微软雅黑" panose="020B0503020204020204" pitchFamily="34" charset="-122"/>
              </a:rPr>
            </a:br>
            <a:r>
              <a:rPr lang="en-US" altLang="zh-CN" sz="4900" dirty="0">
                <a:latin typeface="微软雅黑" panose="020B0503020204020204" pitchFamily="34" charset="-122"/>
                <a:ea typeface="微软雅黑" panose="020B0503020204020204" pitchFamily="34" charset="-122"/>
              </a:rPr>
              <a:t>4.1 </a:t>
            </a:r>
            <a:r>
              <a:rPr lang="zh-CN" altLang="en-US" sz="4900" dirty="0">
                <a:latin typeface="微软雅黑" panose="020B0503020204020204" pitchFamily="34" charset="-122"/>
                <a:ea typeface="微软雅黑" panose="020B0503020204020204" pitchFamily="34" charset="-122"/>
              </a:rPr>
              <a:t>函数的定义与调用</a:t>
            </a: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3</a:t>
            </a:fld>
            <a:endParaRPr lang="zh-CN" altLang="en-US">
              <a:solidFill>
                <a:prstClr val="black">
                  <a:tint val="75000"/>
                </a:prstClr>
              </a:solidFill>
            </a:endParaRPr>
          </a:p>
        </p:txBody>
      </p:sp>
    </p:spTree>
    <p:extLst>
      <p:ext uri="{BB962C8B-B14F-4D97-AF65-F5344CB8AC3E}">
        <p14:creationId xmlns:p14="http://schemas.microsoft.com/office/powerpoint/2010/main" val="63370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4</a:t>
            </a:fld>
            <a:endParaRPr lang="zh-CN" altLang="en-US">
              <a:solidFill>
                <a:prstClr val="black">
                  <a:tint val="75000"/>
                </a:prstClr>
              </a:solidFill>
            </a:endParaRPr>
          </a:p>
        </p:txBody>
      </p:sp>
      <p:pic>
        <p:nvPicPr>
          <p:cNvPr id="2" name="图片 1">
            <a:extLst>
              <a:ext uri="{FF2B5EF4-FFF2-40B4-BE49-F238E27FC236}">
                <a16:creationId xmlns:a16="http://schemas.microsoft.com/office/drawing/2014/main" id="{C1FAB9EE-6B45-B3FF-D247-9B2DE63DDC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19300" y="1470024"/>
            <a:ext cx="6083300" cy="4119489"/>
          </a:xfrm>
          <a:prstGeom prst="rect">
            <a:avLst/>
          </a:prstGeom>
        </p:spPr>
      </p:pic>
    </p:spTree>
    <p:extLst>
      <p:ext uri="{BB962C8B-B14F-4D97-AF65-F5344CB8AC3E}">
        <p14:creationId xmlns:p14="http://schemas.microsoft.com/office/powerpoint/2010/main" val="87167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函数的概念</a:t>
            </a:r>
            <a:endParaRPr lang="en-US" altLang="zh-CN" dirty="0"/>
          </a:p>
        </p:txBody>
      </p:sp>
      <p:sp>
        <p:nvSpPr>
          <p:cNvPr id="3" name="内容占位符 2"/>
          <p:cNvSpPr>
            <a:spLocks noGrp="1"/>
          </p:cNvSpPr>
          <p:nvPr>
            <p:ph idx="1"/>
          </p:nvPr>
        </p:nvSpPr>
        <p:spPr>
          <a:xfrm>
            <a:off x="669925" y="1142365"/>
            <a:ext cx="10636704" cy="5203190"/>
          </a:xfrm>
        </p:spPr>
        <p:txBody>
          <a:bodyPr>
            <a:normAutofit/>
          </a:bodyPr>
          <a:lstStyle/>
          <a:p>
            <a:r>
              <a:rPr lang="zh-CN" altLang="en-US" dirty="0"/>
              <a:t>什么是函数</a:t>
            </a:r>
            <a:endParaRPr lang="en-US" altLang="zh-CN" dirty="0"/>
          </a:p>
          <a:p>
            <a:pPr lvl="1"/>
            <a:r>
              <a:rPr lang="zh-CN" altLang="en-US" dirty="0"/>
              <a:t>函数是一组可重复使用的代码块，用于执行特定任务或完成特定的操作。</a:t>
            </a:r>
            <a:endParaRPr lang="en-US" altLang="zh-CN" dirty="0"/>
          </a:p>
          <a:p>
            <a:r>
              <a:rPr lang="zh-CN" altLang="en-US" dirty="0"/>
              <a:t>函数的作用</a:t>
            </a:r>
            <a:endParaRPr lang="en-US" altLang="zh-CN" dirty="0"/>
          </a:p>
          <a:p>
            <a:pPr lvl="1"/>
            <a:r>
              <a:rPr lang="zh-CN" altLang="en-US" dirty="0"/>
              <a:t>能够将程序划分为更小、更可管理、可复用的模块，从而使代码更加清晰、可读性更强，便于维护和扩展。</a:t>
            </a:r>
            <a:endParaRPr lang="en-US" altLang="zh-CN" dirty="0"/>
          </a:p>
        </p:txBody>
      </p:sp>
    </p:spTree>
    <p:custDataLst>
      <p:tags r:id="rId1"/>
    </p:custDataLst>
    <p:extLst>
      <p:ext uri="{BB962C8B-B14F-4D97-AF65-F5344CB8AC3E}">
        <p14:creationId xmlns:p14="http://schemas.microsoft.com/office/powerpoint/2010/main" val="210721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695" y="600710"/>
            <a:ext cx="5625465" cy="1209040"/>
          </a:xfrm>
          <a:prstGeom prst="rect">
            <a:avLst/>
          </a:prstGeom>
        </p:spPr>
      </p:pic>
      <p:sp>
        <p:nvSpPr>
          <p:cNvPr id="10" name="文本框 9"/>
          <p:cNvSpPr txBox="1"/>
          <p:nvPr/>
        </p:nvSpPr>
        <p:spPr>
          <a:xfrm>
            <a:off x="3168650" y="803275"/>
            <a:ext cx="6310630" cy="464185"/>
          </a:xfrm>
          <a:prstGeom prst="rect">
            <a:avLst/>
          </a:prstGeom>
          <a:noFill/>
        </p:spPr>
        <p:txBody>
          <a:bodyPr wrap="square" rtlCol="0">
            <a:noAutofit/>
          </a:bodyPr>
          <a:lstStyle/>
          <a:p>
            <a:pPr algn="ctr"/>
            <a:r>
              <a:rPr lang="zh-CN" altLang="en-US" sz="4500" dirty="0">
                <a:solidFill>
                  <a:prstClr val="white"/>
                </a:solidFill>
                <a:latin typeface="锐字潮牌真言简2.0免费 大粗" panose="02020300000000000000" charset="-122"/>
                <a:ea typeface="锐字潮牌真言简2.0免费 大粗" panose="02020300000000000000" charset="-122"/>
                <a:cs typeface="锐字潮牌真言简2.0免费 大粗" panose="02020300000000000000" charset="-122"/>
              </a:rPr>
              <a:t>函数实例</a:t>
            </a:r>
          </a:p>
        </p:txBody>
      </p:sp>
      <p:pic>
        <p:nvPicPr>
          <p:cNvPr id="7" name="图片 6" descr="未标1题-1"/>
          <p:cNvPicPr>
            <a:picLocks noChangeAspect="1"/>
          </p:cNvPicPr>
          <p:nvPr/>
        </p:nvPicPr>
        <p:blipFill>
          <a:blip r:embed="rId4"/>
          <a:stretch>
            <a:fillRect/>
          </a:stretch>
        </p:blipFill>
        <p:spPr>
          <a:xfrm>
            <a:off x="601345" y="1618615"/>
            <a:ext cx="802640" cy="600075"/>
          </a:xfrm>
          <a:prstGeom prst="rect">
            <a:avLst/>
          </a:prstGeom>
        </p:spPr>
      </p:pic>
      <p:sp>
        <p:nvSpPr>
          <p:cNvPr id="8" name="内容占位符 2"/>
          <p:cNvSpPr txBox="1">
            <a:spLocks/>
          </p:cNvSpPr>
          <p:nvPr/>
        </p:nvSpPr>
        <p:spPr>
          <a:xfrm>
            <a:off x="1243584" y="1618615"/>
            <a:ext cx="10643616" cy="4722494"/>
          </a:xfrm>
          <a:prstGeom prst="rect">
            <a:avLst/>
          </a:prstGeo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altLang="zh-CN" sz="2400" dirty="0">
                <a:solidFill>
                  <a:srgbClr val="000000"/>
                </a:solidFill>
              </a:rPr>
              <a:t>【</a:t>
            </a:r>
            <a:r>
              <a:rPr lang="zh-CN" altLang="en-US" sz="2400" dirty="0">
                <a:solidFill>
                  <a:srgbClr val="000000"/>
                </a:solidFill>
              </a:rPr>
              <a:t>函数</a:t>
            </a:r>
            <a:r>
              <a:rPr sz="2400" dirty="0">
                <a:solidFill>
                  <a:srgbClr val="000000"/>
                </a:solidFill>
              </a:rPr>
              <a:t>实例</a:t>
            </a:r>
            <a:r>
              <a:rPr lang="en-US" altLang="zh-CN" sz="2400" dirty="0">
                <a:solidFill>
                  <a:srgbClr val="000000"/>
                </a:solidFill>
              </a:rPr>
              <a:t>】</a:t>
            </a:r>
            <a:r>
              <a:rPr lang="zh-CN" altLang="en-US" sz="2400" dirty="0">
                <a:solidFill>
                  <a:srgbClr val="000000"/>
                </a:solidFill>
              </a:rPr>
              <a:t>编写一个函数</a:t>
            </a:r>
            <a:r>
              <a:rPr lang="en-US" altLang="zh-CN" sz="2400" dirty="0">
                <a:solidFill>
                  <a:srgbClr val="000000"/>
                </a:solidFill>
              </a:rPr>
              <a:t>f(x)</a:t>
            </a:r>
            <a:r>
              <a:rPr sz="2400" dirty="0">
                <a:solidFill>
                  <a:srgbClr val="000000"/>
                </a:solidFill>
              </a:rPr>
              <a:t>，</a:t>
            </a:r>
            <a:r>
              <a:rPr lang="zh-CN" altLang="en-US" sz="2400" dirty="0">
                <a:solidFill>
                  <a:srgbClr val="000000"/>
                </a:solidFill>
              </a:rPr>
              <a:t>计算</a:t>
            </a:r>
            <a:r>
              <a:rPr lang="en-US" altLang="zh-CN" sz="2400" dirty="0">
                <a:solidFill>
                  <a:srgbClr val="000000"/>
                </a:solidFill>
              </a:rPr>
              <a:t>2x+5</a:t>
            </a:r>
            <a:r>
              <a:rPr lang="zh-CN" altLang="en-US" sz="2400" dirty="0">
                <a:solidFill>
                  <a:srgbClr val="000000"/>
                </a:solidFill>
              </a:rPr>
              <a:t>。并通过输入的</a:t>
            </a:r>
            <a:r>
              <a:rPr lang="en-US" altLang="zh-CN" sz="2400" dirty="0">
                <a:solidFill>
                  <a:srgbClr val="000000"/>
                </a:solidFill>
              </a:rPr>
              <a:t>x</a:t>
            </a:r>
            <a:r>
              <a:rPr lang="zh-CN" altLang="en-US" sz="2400" dirty="0">
                <a:solidFill>
                  <a:srgbClr val="000000"/>
                </a:solidFill>
              </a:rPr>
              <a:t>，输出计算结果。</a:t>
            </a:r>
          </a:p>
          <a:p>
            <a:pPr marL="0" indent="0">
              <a:buFont typeface="Arial" panose="020B0604020202020204" pitchFamily="34" charset="0"/>
              <a:buNone/>
              <a:defRPr/>
            </a:pPr>
            <a:endParaRPr lang="en-US" altLang="zh-CN" sz="4000" dirty="0">
              <a:solidFill>
                <a:srgbClr val="000000"/>
              </a:solidFill>
            </a:endParaRPr>
          </a:p>
        </p:txBody>
      </p:sp>
      <p:sp>
        <p:nvSpPr>
          <p:cNvPr id="9" name="文本框 8">
            <a:extLst>
              <a:ext uri="{FF2B5EF4-FFF2-40B4-BE49-F238E27FC236}">
                <a16:creationId xmlns:a16="http://schemas.microsoft.com/office/drawing/2014/main" id="{7A42927D-1932-405E-9534-0069BB2CD45A}"/>
              </a:ext>
            </a:extLst>
          </p:cNvPr>
          <p:cNvSpPr txBox="1"/>
          <p:nvPr/>
        </p:nvSpPr>
        <p:spPr>
          <a:xfrm>
            <a:off x="2486025" y="2370791"/>
            <a:ext cx="8915400" cy="3970318"/>
          </a:xfrm>
          <a:prstGeom prst="rect">
            <a:avLst/>
          </a:prstGeom>
          <a:noFill/>
        </p:spPr>
        <p:txBody>
          <a:bodyPr wrap="square" numCol="2">
            <a:spAutoFit/>
          </a:bodyPr>
          <a:lstStyle/>
          <a:p>
            <a:pPr>
              <a:defRPr/>
            </a:pPr>
            <a:r>
              <a:rPr lang="en-US" altLang="zh-CN" sz="2800" dirty="0">
                <a:solidFill>
                  <a:srgbClr val="000000"/>
                </a:solidFill>
                <a:latin typeface="Arial" panose="020B0604020202020204" pitchFamily="34" charset="0"/>
                <a:cs typeface="Arial" panose="020B0604020202020204" pitchFamily="34" charset="0"/>
              </a:rPr>
              <a:t>#include &lt;</a:t>
            </a:r>
            <a:r>
              <a:rPr lang="en-US" altLang="zh-CN" sz="2800" dirty="0" err="1">
                <a:solidFill>
                  <a:srgbClr val="000000"/>
                </a:solidFill>
                <a:latin typeface="Arial" panose="020B0604020202020204" pitchFamily="34" charset="0"/>
                <a:cs typeface="Arial" panose="020B0604020202020204" pitchFamily="34" charset="0"/>
              </a:rPr>
              <a:t>stdio.h</a:t>
            </a:r>
            <a:r>
              <a:rPr lang="en-US" altLang="zh-CN" sz="2800" dirty="0">
                <a:solidFill>
                  <a:srgbClr val="000000"/>
                </a:solidFill>
                <a:latin typeface="Arial" panose="020B0604020202020204" pitchFamily="34" charset="0"/>
                <a:cs typeface="Arial" panose="020B0604020202020204" pitchFamily="34" charset="0"/>
              </a:rPr>
              <a:t>&gt;</a:t>
            </a:r>
          </a:p>
          <a:p>
            <a:pPr>
              <a:defRPr/>
            </a:pPr>
            <a:r>
              <a:rPr lang="en-US" altLang="zh-CN" sz="2800" dirty="0">
                <a:solidFill>
                  <a:srgbClr val="000000"/>
                </a:solidFill>
                <a:latin typeface="Arial" panose="020B0604020202020204" pitchFamily="34" charset="0"/>
                <a:cs typeface="Arial" panose="020B0604020202020204" pitchFamily="34" charset="0"/>
              </a:rPr>
              <a:t>double f(double x);</a:t>
            </a:r>
          </a:p>
          <a:p>
            <a:pPr>
              <a:defRPr/>
            </a:pPr>
            <a:endParaRPr lang="en-US" altLang="zh-CN" sz="2800" dirty="0">
              <a:solidFill>
                <a:srgbClr val="000000"/>
              </a:solidFill>
              <a:latin typeface="Arial" panose="020B0604020202020204" pitchFamily="34" charset="0"/>
              <a:cs typeface="Arial" panose="020B0604020202020204" pitchFamily="34" charset="0"/>
            </a:endParaRPr>
          </a:p>
          <a:p>
            <a:pPr>
              <a:defRPr/>
            </a:pPr>
            <a:r>
              <a:rPr lang="en-US" altLang="zh-CN" sz="2800" dirty="0">
                <a:solidFill>
                  <a:srgbClr val="000000"/>
                </a:solidFill>
                <a:latin typeface="Arial" panose="020B0604020202020204" pitchFamily="34" charset="0"/>
                <a:cs typeface="Arial" panose="020B0604020202020204" pitchFamily="34" charset="0"/>
              </a:rPr>
              <a:t>int main(void) {</a:t>
            </a:r>
          </a:p>
          <a:p>
            <a:pPr>
              <a:defRPr/>
            </a:pPr>
            <a:r>
              <a:rPr lang="en-US" altLang="zh-CN" sz="2800" dirty="0">
                <a:solidFill>
                  <a:srgbClr val="000000"/>
                </a:solidFill>
                <a:latin typeface="Arial" panose="020B0604020202020204" pitchFamily="34" charset="0"/>
                <a:cs typeface="Arial" panose="020B0604020202020204" pitchFamily="34" charset="0"/>
              </a:rPr>
              <a:t>      double x, y;</a:t>
            </a:r>
          </a:p>
          <a:p>
            <a:pPr>
              <a:defRPr/>
            </a:pPr>
            <a:r>
              <a:rPr lang="en-US" altLang="zh-CN" sz="2800" dirty="0">
                <a:solidFill>
                  <a:srgbClr val="000000"/>
                </a:solidFill>
                <a:latin typeface="Arial" panose="020B0604020202020204" pitchFamily="34" charset="0"/>
                <a:cs typeface="Arial" panose="020B0604020202020204" pitchFamily="34" charset="0"/>
              </a:rPr>
              <a:t>      </a:t>
            </a:r>
            <a:r>
              <a:rPr lang="en-US" altLang="zh-CN" sz="2800" dirty="0" err="1">
                <a:solidFill>
                  <a:srgbClr val="000000"/>
                </a:solidFill>
                <a:latin typeface="Arial" panose="020B0604020202020204" pitchFamily="34" charset="0"/>
                <a:cs typeface="Arial" panose="020B0604020202020204" pitchFamily="34" charset="0"/>
              </a:rPr>
              <a:t>scanf</a:t>
            </a:r>
            <a:r>
              <a:rPr lang="en-US" altLang="zh-CN" sz="2800" dirty="0">
                <a:solidFill>
                  <a:srgbClr val="000000"/>
                </a:solidFill>
                <a:latin typeface="Arial" panose="020B0604020202020204" pitchFamily="34" charset="0"/>
                <a:cs typeface="Arial" panose="020B0604020202020204" pitchFamily="34" charset="0"/>
              </a:rPr>
              <a:t>("%</a:t>
            </a:r>
            <a:r>
              <a:rPr lang="en-US" altLang="zh-CN" sz="2800" dirty="0" err="1">
                <a:solidFill>
                  <a:srgbClr val="000000"/>
                </a:solidFill>
                <a:latin typeface="Arial" panose="020B0604020202020204" pitchFamily="34" charset="0"/>
                <a:cs typeface="Arial" panose="020B0604020202020204" pitchFamily="34" charset="0"/>
              </a:rPr>
              <a:t>lf</a:t>
            </a:r>
            <a:r>
              <a:rPr lang="en-US" altLang="zh-CN" sz="2800" dirty="0">
                <a:solidFill>
                  <a:srgbClr val="000000"/>
                </a:solidFill>
                <a:latin typeface="Arial" panose="020B0604020202020204" pitchFamily="34" charset="0"/>
                <a:cs typeface="Arial" panose="020B0604020202020204" pitchFamily="34" charset="0"/>
              </a:rPr>
              <a:t>", &amp;x);</a:t>
            </a:r>
          </a:p>
          <a:p>
            <a:pPr>
              <a:defRPr/>
            </a:pPr>
            <a:r>
              <a:rPr lang="en-US" altLang="zh-CN" sz="2800" dirty="0">
                <a:solidFill>
                  <a:srgbClr val="000000"/>
                </a:solidFill>
                <a:latin typeface="Arial" panose="020B0604020202020204" pitchFamily="34" charset="0"/>
                <a:cs typeface="Arial" panose="020B0604020202020204" pitchFamily="34" charset="0"/>
              </a:rPr>
              <a:t>      y = f(x);</a:t>
            </a:r>
          </a:p>
          <a:p>
            <a:pPr>
              <a:defRPr/>
            </a:pPr>
            <a:r>
              <a:rPr lang="en-US" altLang="zh-CN" sz="2800" dirty="0">
                <a:solidFill>
                  <a:srgbClr val="000000"/>
                </a:solidFill>
                <a:latin typeface="Arial" panose="020B0604020202020204" pitchFamily="34" charset="0"/>
                <a:cs typeface="Arial" panose="020B0604020202020204" pitchFamily="34" charset="0"/>
              </a:rPr>
              <a:t>      </a:t>
            </a:r>
            <a:r>
              <a:rPr lang="en-US" altLang="zh-CN" sz="2800" dirty="0" err="1">
                <a:solidFill>
                  <a:srgbClr val="000000"/>
                </a:solidFill>
                <a:latin typeface="Arial" panose="020B0604020202020204" pitchFamily="34" charset="0"/>
                <a:cs typeface="Arial" panose="020B0604020202020204" pitchFamily="34" charset="0"/>
              </a:rPr>
              <a:t>printf</a:t>
            </a:r>
            <a:r>
              <a:rPr lang="en-US" altLang="zh-CN" sz="2800" dirty="0">
                <a:solidFill>
                  <a:srgbClr val="000000"/>
                </a:solidFill>
                <a:latin typeface="Arial" panose="020B0604020202020204" pitchFamily="34" charset="0"/>
                <a:cs typeface="Arial" panose="020B0604020202020204" pitchFamily="34" charset="0"/>
              </a:rPr>
              <a:t>("f(x)=%f\n", y);</a:t>
            </a:r>
          </a:p>
          <a:p>
            <a:pPr>
              <a:defRPr/>
            </a:pPr>
            <a:r>
              <a:rPr lang="en-US" altLang="zh-CN" sz="2800" dirty="0">
                <a:solidFill>
                  <a:srgbClr val="000000"/>
                </a:solidFill>
                <a:latin typeface="Arial" panose="020B0604020202020204" pitchFamily="34" charset="0"/>
                <a:cs typeface="Arial" panose="020B0604020202020204" pitchFamily="34" charset="0"/>
              </a:rPr>
              <a:t>}</a:t>
            </a:r>
          </a:p>
          <a:p>
            <a:pPr>
              <a:defRPr/>
            </a:pPr>
            <a:endParaRPr lang="en-US" altLang="zh-CN" sz="2800" dirty="0">
              <a:solidFill>
                <a:srgbClr val="000000"/>
              </a:solidFill>
              <a:latin typeface="Arial" panose="020B0604020202020204" pitchFamily="34" charset="0"/>
              <a:cs typeface="Arial" panose="020B0604020202020204" pitchFamily="34" charset="0"/>
            </a:endParaRPr>
          </a:p>
          <a:p>
            <a:pPr>
              <a:defRPr/>
            </a:pPr>
            <a:r>
              <a:rPr lang="en-US" altLang="zh-CN" sz="2800" dirty="0">
                <a:solidFill>
                  <a:srgbClr val="000000"/>
                </a:solidFill>
                <a:latin typeface="Arial" panose="020B0604020202020204" pitchFamily="34" charset="0"/>
                <a:cs typeface="Arial" panose="020B0604020202020204" pitchFamily="34" charset="0"/>
              </a:rPr>
              <a:t>double f(double x) {</a:t>
            </a:r>
          </a:p>
          <a:p>
            <a:pPr>
              <a:defRPr/>
            </a:pPr>
            <a:r>
              <a:rPr lang="en-US" altLang="zh-CN" sz="2800" dirty="0">
                <a:solidFill>
                  <a:srgbClr val="000000"/>
                </a:solidFill>
                <a:latin typeface="Arial" panose="020B0604020202020204" pitchFamily="34" charset="0"/>
                <a:cs typeface="Arial" panose="020B0604020202020204" pitchFamily="34" charset="0"/>
              </a:rPr>
              <a:t>       double y = 2 * x + 5;</a:t>
            </a:r>
          </a:p>
          <a:p>
            <a:pPr>
              <a:defRPr/>
            </a:pPr>
            <a:r>
              <a:rPr lang="en-US" altLang="zh-CN" sz="2800" dirty="0">
                <a:solidFill>
                  <a:srgbClr val="000000"/>
                </a:solidFill>
                <a:latin typeface="Arial" panose="020B0604020202020204" pitchFamily="34" charset="0"/>
                <a:cs typeface="Arial" panose="020B0604020202020204" pitchFamily="34" charset="0"/>
              </a:rPr>
              <a:t>       return y;</a:t>
            </a:r>
          </a:p>
          <a:p>
            <a:pPr>
              <a:defRPr/>
            </a:pPr>
            <a:r>
              <a:rPr lang="en-US" altLang="zh-CN" sz="280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124201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4.1.1 </a:t>
            </a:r>
            <a:r>
              <a:rPr lang="zh-CN" altLang="en-US" dirty="0">
                <a:sym typeface="+mn-ea"/>
              </a:rPr>
              <a:t>函数</a:t>
            </a:r>
            <a:r>
              <a:rPr lang="zh-CN" altLang="en-US" dirty="0"/>
              <a:t>定义</a:t>
            </a:r>
          </a:p>
        </p:txBody>
      </p:sp>
      <p:sp>
        <p:nvSpPr>
          <p:cNvPr id="3" name="内容占位符 2"/>
          <p:cNvSpPr>
            <a:spLocks noGrp="1"/>
          </p:cNvSpPr>
          <p:nvPr>
            <p:ph idx="1"/>
          </p:nvPr>
        </p:nvSpPr>
        <p:spPr>
          <a:xfrm>
            <a:off x="314325" y="1163319"/>
            <a:ext cx="10852150" cy="5499947"/>
          </a:xfrm>
        </p:spPr>
        <p:txBody>
          <a:bodyPr>
            <a:normAutofit/>
          </a:bodyPr>
          <a:lstStyle/>
          <a:p>
            <a:pPr marL="0" lvl="1" indent="0">
              <a:lnSpc>
                <a:spcPct val="110000"/>
              </a:lnSpc>
              <a:spcAft>
                <a:spcPts val="1000"/>
              </a:spcAft>
              <a:buNone/>
            </a:pPr>
            <a:r>
              <a:rPr lang="zh-CN" altLang="en-US" sz="2500" b="0" dirty="0">
                <a:solidFill>
                  <a:schemeClr val="tx1"/>
                </a:solidFill>
                <a:latin typeface="Arial" panose="020B0604020202020204" pitchFamily="34" charset="0"/>
                <a:ea typeface="微软雅黑" panose="020B0503020204020204" charset="-122"/>
              </a:rPr>
              <a:t>语法格式：</a:t>
            </a: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r>
              <a:rPr lang="zh-CN" altLang="en-US" sz="2500" b="0" dirty="0">
                <a:solidFill>
                  <a:srgbClr val="FFC000"/>
                </a:solidFill>
                <a:latin typeface="Arial" panose="020B0604020202020204" pitchFamily="34" charset="0"/>
                <a:ea typeface="微软雅黑" panose="020B0503020204020204" charset="-122"/>
              </a:rPr>
              <a:t>函数类型</a:t>
            </a:r>
            <a:r>
              <a:rPr lang="zh-CN" altLang="en-US" sz="2500" b="0" dirty="0">
                <a:solidFill>
                  <a:schemeClr val="tx1"/>
                </a:solidFill>
                <a:latin typeface="Arial" panose="020B0604020202020204" pitchFamily="34" charset="0"/>
                <a:ea typeface="微软雅黑" panose="020B0503020204020204" charset="-122"/>
              </a:rPr>
              <a:t> </a:t>
            </a:r>
            <a:r>
              <a:rPr lang="zh-CN" altLang="en-US" sz="2500" b="0" dirty="0">
                <a:solidFill>
                  <a:srgbClr val="00B050"/>
                </a:solidFill>
                <a:latin typeface="Arial" panose="020B0604020202020204" pitchFamily="34" charset="0"/>
                <a:ea typeface="微软雅黑" panose="020B0503020204020204" charset="-122"/>
              </a:rPr>
              <a:t>函数名</a:t>
            </a:r>
            <a:r>
              <a:rPr lang="en-US" altLang="zh-CN" sz="2500" b="0" dirty="0">
                <a:solidFill>
                  <a:srgbClr val="7030A0"/>
                </a:solidFill>
                <a:latin typeface="Arial" panose="020B0604020202020204" pitchFamily="34" charset="0"/>
                <a:ea typeface="微软雅黑" panose="020B0503020204020204" charset="-122"/>
              </a:rPr>
              <a:t>(</a:t>
            </a:r>
            <a:r>
              <a:rPr lang="zh-CN" altLang="en-US" sz="2500" b="0" dirty="0">
                <a:solidFill>
                  <a:srgbClr val="7030A0"/>
                </a:solidFill>
                <a:latin typeface="Arial" panose="020B0604020202020204" pitchFamily="34" charset="0"/>
                <a:ea typeface="微软雅黑" panose="020B0503020204020204" charset="-122"/>
              </a:rPr>
              <a:t>形参表</a:t>
            </a:r>
            <a:r>
              <a:rPr lang="en-US" altLang="zh-CN" sz="2500" b="0" dirty="0">
                <a:solidFill>
                  <a:srgbClr val="7030A0"/>
                </a:solidFill>
                <a:latin typeface="Arial" panose="020B0604020202020204" pitchFamily="34" charset="0"/>
                <a:ea typeface="微软雅黑" panose="020B0503020204020204" charset="-122"/>
              </a:rPr>
              <a:t>)</a:t>
            </a:r>
            <a:r>
              <a:rPr lang="en-US" altLang="zh-CN" sz="2500" b="0" dirty="0">
                <a:solidFill>
                  <a:srgbClr val="00B0F0"/>
                </a:solidFill>
                <a:latin typeface="Arial" panose="020B0604020202020204" pitchFamily="34" charset="0"/>
                <a:ea typeface="微软雅黑" panose="020B0503020204020204" charset="-122"/>
              </a:rPr>
              <a:t> {</a:t>
            </a:r>
          </a:p>
          <a:p>
            <a:pPr marL="457200" lvl="1" indent="0">
              <a:buNone/>
            </a:pPr>
            <a:r>
              <a:rPr lang="en-US" altLang="zh-CN" sz="2500" b="0" dirty="0">
                <a:solidFill>
                  <a:srgbClr val="00B0F0"/>
                </a:solidFill>
                <a:latin typeface="Arial" panose="020B0604020202020204" pitchFamily="34" charset="0"/>
                <a:ea typeface="微软雅黑" panose="020B0503020204020204" charset="-122"/>
              </a:rPr>
              <a:t>      </a:t>
            </a:r>
            <a:r>
              <a:rPr lang="zh-CN" altLang="en-US" sz="2500" b="0" dirty="0">
                <a:solidFill>
                  <a:srgbClr val="00B0F0"/>
                </a:solidFill>
                <a:latin typeface="Arial" panose="020B0604020202020204" pitchFamily="34" charset="0"/>
                <a:ea typeface="微软雅黑" panose="020B0503020204020204" charset="-122"/>
              </a:rPr>
              <a:t>函数体（具体实现）</a:t>
            </a:r>
            <a:endParaRPr lang="en-US" altLang="zh-CN" sz="2500" b="0" dirty="0">
              <a:solidFill>
                <a:srgbClr val="00B0F0"/>
              </a:solidFill>
              <a:latin typeface="Arial" panose="020B0604020202020204" pitchFamily="34" charset="0"/>
              <a:ea typeface="微软雅黑" panose="020B0503020204020204" charset="-122"/>
            </a:endParaRPr>
          </a:p>
          <a:p>
            <a:pPr marL="457200" lvl="1" indent="0">
              <a:buNone/>
            </a:pPr>
            <a:r>
              <a:rPr lang="en-US" altLang="zh-CN" sz="2500" b="0" dirty="0">
                <a:solidFill>
                  <a:srgbClr val="00B0F0"/>
                </a:solidFill>
                <a:latin typeface="Arial" panose="020B0604020202020204" pitchFamily="34" charset="0"/>
                <a:ea typeface="微软雅黑" panose="020B0503020204020204" charset="-122"/>
              </a:rPr>
              <a:t>}</a:t>
            </a:r>
            <a:endParaRPr lang="zh-CN" altLang="en-US" sz="2500" b="0" dirty="0">
              <a:solidFill>
                <a:srgbClr val="00B0F0"/>
              </a:solidFill>
              <a:latin typeface="Arial" panose="020B0604020202020204" pitchFamily="34" charset="0"/>
              <a:ea typeface="微软雅黑" panose="020B0503020204020204" charset="-122"/>
            </a:endParaRPr>
          </a:p>
          <a:p>
            <a:pPr lvl="1"/>
            <a:r>
              <a:rPr lang="zh-CN" altLang="en-US" sz="2800" dirty="0">
                <a:solidFill>
                  <a:srgbClr val="FFC000"/>
                </a:solidFill>
              </a:rPr>
              <a:t>函数类型</a:t>
            </a:r>
            <a:r>
              <a:rPr lang="zh-CN" altLang="en-US" sz="2800" dirty="0"/>
              <a:t>（返回值类型） － 函数返回值的类型，无返回值使用</a:t>
            </a:r>
            <a:r>
              <a:rPr lang="en-US" altLang="zh-CN" sz="2800" dirty="0"/>
              <a:t>void</a:t>
            </a:r>
            <a:r>
              <a:rPr lang="zh-CN" altLang="en-US" sz="2800" dirty="0"/>
              <a:t>。</a:t>
            </a:r>
          </a:p>
          <a:p>
            <a:pPr lvl="1"/>
            <a:r>
              <a:rPr lang="zh-CN" altLang="en-US" sz="2800" dirty="0">
                <a:solidFill>
                  <a:srgbClr val="00B050"/>
                </a:solidFill>
              </a:rPr>
              <a:t>函数名</a:t>
            </a:r>
            <a:r>
              <a:rPr lang="zh-CN" altLang="en-US" sz="2800" dirty="0"/>
              <a:t>－用户根据标识符的命名规则命名。</a:t>
            </a:r>
          </a:p>
          <a:p>
            <a:pPr lvl="1"/>
            <a:r>
              <a:rPr lang="zh-CN" altLang="en-US" sz="2800" dirty="0">
                <a:solidFill>
                  <a:srgbClr val="7030A0"/>
                </a:solidFill>
              </a:rPr>
              <a:t>形参表</a:t>
            </a:r>
            <a:r>
              <a:rPr lang="zh-CN" altLang="en-US" sz="2800" dirty="0"/>
              <a:t>－该函数各个形式参数（简称形参）的</a:t>
            </a:r>
            <a:r>
              <a:rPr lang="zh-CN" altLang="en-US" sz="2800" dirty="0">
                <a:solidFill>
                  <a:srgbClr val="FF0000"/>
                </a:solidFill>
              </a:rPr>
              <a:t>类型</a:t>
            </a:r>
            <a:r>
              <a:rPr lang="zh-CN" altLang="en-US" sz="2800" dirty="0"/>
              <a:t>和</a:t>
            </a:r>
            <a:r>
              <a:rPr lang="zh-CN" altLang="en-US" sz="2800" dirty="0">
                <a:solidFill>
                  <a:srgbClr val="FF0000"/>
                </a:solidFill>
              </a:rPr>
              <a:t>变量名称</a:t>
            </a:r>
            <a:r>
              <a:rPr lang="zh-CN" altLang="en-US" sz="2800" dirty="0"/>
              <a:t>，多个形参使用逗号分隔。无需形参可以为空，也可以写</a:t>
            </a:r>
            <a:r>
              <a:rPr lang="en-US" altLang="zh-CN" sz="2800" dirty="0"/>
              <a:t>void</a:t>
            </a:r>
            <a:r>
              <a:rPr lang="zh-CN" altLang="en-US" sz="2800" dirty="0"/>
              <a:t>。</a:t>
            </a:r>
            <a:endParaRPr lang="en-US" altLang="zh-CN" sz="2800" dirty="0"/>
          </a:p>
          <a:p>
            <a:pPr lvl="1"/>
            <a:r>
              <a:rPr lang="zh-CN" altLang="en-US" sz="2800" dirty="0">
                <a:solidFill>
                  <a:srgbClr val="00B0F0"/>
                </a:solidFill>
              </a:rPr>
              <a:t>函数体</a:t>
            </a:r>
            <a:r>
              <a:rPr lang="zh-CN" altLang="en-US" sz="2800" dirty="0"/>
              <a:t>－函数中的变量声明和可执行语句。</a:t>
            </a:r>
            <a:endParaRPr lang="en-US" altLang="zh-CN" sz="2800" dirty="0"/>
          </a:p>
        </p:txBody>
      </p:sp>
      <p:sp>
        <p:nvSpPr>
          <p:cNvPr id="5" name="Text Box 6"/>
          <p:cNvSpPr txBox="1">
            <a:spLocks noChangeArrowheads="1"/>
          </p:cNvSpPr>
          <p:nvPr/>
        </p:nvSpPr>
        <p:spPr bwMode="auto">
          <a:xfrm>
            <a:off x="5091619" y="400685"/>
            <a:ext cx="3598334" cy="2308324"/>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zh-CN" altLang="en-US" sz="2400" kern="0" dirty="0">
                <a:solidFill>
                  <a:schemeClr val="tx1"/>
                </a:solidFill>
                <a:cs typeface="Times New Roman" pitchFamily="18" charset="0"/>
              </a:rPr>
              <a:t>有参函数</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rgbClr val="FFC000"/>
                </a:solidFill>
                <a:cs typeface="Times New Roman" pitchFamily="18" charset="0"/>
              </a:rPr>
              <a:t>int</a:t>
            </a:r>
            <a:r>
              <a:rPr lang="en-US" altLang="zh-CN" sz="2400" kern="0" dirty="0">
                <a:solidFill>
                  <a:schemeClr val="tx1"/>
                </a:solidFill>
                <a:cs typeface="Times New Roman" pitchFamily="18" charset="0"/>
              </a:rPr>
              <a:t> </a:t>
            </a:r>
            <a:r>
              <a:rPr lang="en-US" altLang="zh-CN" sz="2400" kern="0" dirty="0">
                <a:solidFill>
                  <a:srgbClr val="00B050"/>
                </a:solidFill>
                <a:cs typeface="Times New Roman" pitchFamily="18" charset="0"/>
              </a:rPr>
              <a:t>max</a:t>
            </a:r>
            <a:r>
              <a:rPr lang="en-US" altLang="zh-CN" sz="2400" kern="0" dirty="0">
                <a:solidFill>
                  <a:srgbClr val="7030A0"/>
                </a:solidFill>
                <a:cs typeface="Times New Roman" pitchFamily="18" charset="0"/>
              </a:rPr>
              <a:t>(int x, int y) </a:t>
            </a:r>
            <a:r>
              <a:rPr lang="en-US" altLang="zh-CN" sz="2400" kern="0" dirty="0">
                <a:solidFill>
                  <a:srgbClr val="00B0F0"/>
                </a:solidFill>
                <a:cs typeface="Times New Roman" pitchFamily="18" charset="0"/>
              </a:rPr>
              <a:t>{</a:t>
            </a: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       int z;</a:t>
            </a: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       z = x &gt; y ? x : y;</a:t>
            </a: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       return z; // </a:t>
            </a:r>
            <a:r>
              <a:rPr lang="zh-CN" altLang="en-US" sz="2400" kern="0" dirty="0">
                <a:solidFill>
                  <a:srgbClr val="00B0F0"/>
                </a:solidFill>
                <a:cs typeface="Times New Roman" pitchFamily="18" charset="0"/>
              </a:rPr>
              <a:t>返回语句</a:t>
            </a:r>
            <a:endParaRPr lang="en-US" altLang="zh-CN" sz="2400" kern="0" dirty="0">
              <a:solidFill>
                <a:srgbClr val="00B0F0"/>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a:t>
            </a:r>
          </a:p>
        </p:txBody>
      </p:sp>
      <p:sp>
        <p:nvSpPr>
          <p:cNvPr id="12" name="Text Box 6">
            <a:extLst>
              <a:ext uri="{FF2B5EF4-FFF2-40B4-BE49-F238E27FC236}">
                <a16:creationId xmlns:a16="http://schemas.microsoft.com/office/drawing/2014/main" id="{27284DBF-6D9F-4F02-B695-A22E9C40B284}"/>
              </a:ext>
            </a:extLst>
          </p:cNvPr>
          <p:cNvSpPr txBox="1">
            <a:spLocks noChangeArrowheads="1"/>
          </p:cNvSpPr>
          <p:nvPr/>
        </p:nvSpPr>
        <p:spPr bwMode="auto">
          <a:xfrm>
            <a:off x="8758890" y="402121"/>
            <a:ext cx="3251200" cy="1569660"/>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zh-CN" altLang="en-US" sz="2400" kern="0" dirty="0">
                <a:solidFill>
                  <a:schemeClr val="tx1"/>
                </a:solidFill>
                <a:cs typeface="Times New Roman" pitchFamily="18" charset="0"/>
              </a:rPr>
              <a:t>无参函数</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rgbClr val="FFC000"/>
                </a:solidFill>
                <a:cs typeface="Times New Roman" pitchFamily="18" charset="0"/>
              </a:rPr>
              <a:t>void</a:t>
            </a:r>
            <a:r>
              <a:rPr lang="en-US" altLang="zh-CN" sz="2400" kern="0" dirty="0">
                <a:solidFill>
                  <a:schemeClr val="tx1"/>
                </a:solidFill>
                <a:cs typeface="Times New Roman" pitchFamily="18" charset="0"/>
              </a:rPr>
              <a:t> </a:t>
            </a:r>
            <a:r>
              <a:rPr lang="en-US" altLang="zh-CN" sz="2400" kern="0" dirty="0" err="1">
                <a:solidFill>
                  <a:srgbClr val="00B050"/>
                </a:solidFill>
                <a:cs typeface="Times New Roman" pitchFamily="18" charset="0"/>
              </a:rPr>
              <a:t>print_stars</a:t>
            </a:r>
            <a:r>
              <a:rPr lang="en-US" altLang="zh-CN" sz="2400" kern="0" dirty="0">
                <a:solidFill>
                  <a:srgbClr val="7030A0"/>
                </a:solidFill>
                <a:cs typeface="Times New Roman" pitchFamily="18" charset="0"/>
              </a:rPr>
              <a:t>(void) </a:t>
            </a:r>
            <a:r>
              <a:rPr lang="en-US" altLang="zh-CN" sz="2400" kern="0" dirty="0">
                <a:solidFill>
                  <a:srgbClr val="00B0F0"/>
                </a:solidFill>
                <a:cs typeface="Times New Roman" pitchFamily="18" charset="0"/>
              </a:rPr>
              <a:t>{</a:t>
            </a: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       </a:t>
            </a:r>
            <a:r>
              <a:rPr lang="en-US" altLang="zh-CN" sz="2400" kern="0" dirty="0" err="1">
                <a:solidFill>
                  <a:srgbClr val="00B0F0"/>
                </a:solidFill>
                <a:cs typeface="Times New Roman" pitchFamily="18" charset="0"/>
              </a:rPr>
              <a:t>printf</a:t>
            </a:r>
            <a:r>
              <a:rPr lang="en-US" altLang="zh-CN" sz="2400" kern="0" dirty="0">
                <a:solidFill>
                  <a:srgbClr val="00B0F0"/>
                </a:solidFill>
                <a:cs typeface="Times New Roman" pitchFamily="18" charset="0"/>
              </a:rPr>
              <a:t>("****\n");</a:t>
            </a:r>
          </a:p>
          <a:p>
            <a:pPr eaLnBrk="1" fontAlgn="base" hangingPunct="1">
              <a:spcBef>
                <a:spcPct val="0"/>
              </a:spcBef>
              <a:spcAft>
                <a:spcPct val="0"/>
              </a:spcAft>
              <a:buClrTx/>
              <a:buSzTx/>
              <a:buFontTx/>
              <a:buNone/>
              <a:defRPr/>
            </a:pPr>
            <a:r>
              <a:rPr lang="en-US" altLang="zh-CN" sz="2400" kern="0" dirty="0">
                <a:solidFill>
                  <a:srgbClr val="00B0F0"/>
                </a:solidFill>
                <a:cs typeface="Times New Roman" pitchFamily="18" charset="0"/>
              </a:rPr>
              <a:t>}</a:t>
            </a:r>
          </a:p>
        </p:txBody>
      </p:sp>
    </p:spTree>
    <p:custDataLst>
      <p:tags r:id="rId1"/>
    </p:custDataLst>
    <p:extLst>
      <p:ext uri="{BB962C8B-B14F-4D97-AF65-F5344CB8AC3E}">
        <p14:creationId xmlns:p14="http://schemas.microsoft.com/office/powerpoint/2010/main" val="143866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4.1.1 </a:t>
            </a:r>
            <a:r>
              <a:rPr lang="zh-CN" altLang="en-US" dirty="0">
                <a:sym typeface="+mn-ea"/>
              </a:rPr>
              <a:t>函数</a:t>
            </a:r>
            <a:r>
              <a:rPr lang="zh-CN" altLang="en-US" dirty="0"/>
              <a:t>定义</a:t>
            </a:r>
          </a:p>
        </p:txBody>
      </p:sp>
      <p:sp>
        <p:nvSpPr>
          <p:cNvPr id="3" name="内容占位符 2"/>
          <p:cNvSpPr>
            <a:spLocks noGrp="1"/>
          </p:cNvSpPr>
          <p:nvPr>
            <p:ph idx="1"/>
          </p:nvPr>
        </p:nvSpPr>
        <p:spPr>
          <a:xfrm>
            <a:off x="139700" y="957368"/>
            <a:ext cx="11912600" cy="5731299"/>
          </a:xfrm>
        </p:spPr>
        <p:txBody>
          <a:bodyPr>
            <a:noAutofit/>
          </a:bodyPr>
          <a:lstStyle/>
          <a:p>
            <a:pPr lvl="1"/>
            <a:r>
              <a:rPr lang="zh-CN" altLang="en-US" sz="2800" dirty="0"/>
              <a:t>返回语句：</a:t>
            </a:r>
            <a:endParaRPr lang="en-US" altLang="zh-CN" sz="2800" dirty="0"/>
          </a:p>
          <a:p>
            <a:pPr lvl="2">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形式</a:t>
            </a:r>
            <a:r>
              <a:rPr lang="en-US" altLang="zh-CN" sz="2800" b="1" dirty="0">
                <a:solidFill>
                  <a:schemeClr val="accent2">
                    <a:lumMod val="50000"/>
                  </a:schemeClr>
                </a:solidFill>
                <a:latin typeface="楷体" panose="02010609060101010101" charset="-122"/>
                <a:ea typeface="楷体" panose="02010609060101010101" charset="-122"/>
              </a:rPr>
              <a:t>	return </a:t>
            </a:r>
            <a:r>
              <a:rPr lang="zh-CN" altLang="en-US" sz="2800" b="1" dirty="0">
                <a:solidFill>
                  <a:schemeClr val="accent2">
                    <a:lumMod val="50000"/>
                  </a:schemeClr>
                </a:solidFill>
                <a:latin typeface="楷体" panose="02010609060101010101" charset="-122"/>
                <a:ea typeface="楷体" panose="02010609060101010101" charset="-122"/>
              </a:rPr>
              <a:t>表达式</a:t>
            </a:r>
            <a:r>
              <a:rPr lang="en-US" altLang="zh-CN" sz="2800" b="1" dirty="0">
                <a:solidFill>
                  <a:schemeClr val="accent2">
                    <a:lumMod val="50000"/>
                  </a:schemeClr>
                </a:solidFill>
                <a:latin typeface="楷体" panose="02010609060101010101" charset="-122"/>
                <a:ea typeface="楷体" panose="02010609060101010101" charset="-122"/>
              </a:rPr>
              <a:t>;</a:t>
            </a:r>
            <a:endParaRPr lang="zh-CN" altLang="en-US" sz="2800" b="1" dirty="0">
              <a:solidFill>
                <a:schemeClr val="accent2">
                  <a:lumMod val="50000"/>
                </a:schemeClr>
              </a:solidFill>
              <a:latin typeface="楷体" panose="02010609060101010101" charset="-122"/>
              <a:ea typeface="楷体" panose="02010609060101010101" charset="-122"/>
            </a:endParaRPr>
          </a:p>
          <a:p>
            <a:pPr marL="914400" lvl="2" indent="0">
              <a:lnSpc>
                <a:spcPct val="100000"/>
              </a:lnSpc>
              <a:buNone/>
            </a:pPr>
            <a:r>
              <a:rPr lang="zh-CN" altLang="en-US" sz="2800" b="1" dirty="0">
                <a:solidFill>
                  <a:schemeClr val="accent2">
                    <a:lumMod val="50000"/>
                  </a:schemeClr>
                </a:solidFill>
                <a:latin typeface="楷体" panose="02010609060101010101" charset="-122"/>
                <a:ea typeface="楷体" panose="02010609060101010101" charset="-122"/>
              </a:rPr>
              <a:t>   或</a:t>
            </a:r>
            <a:r>
              <a:rPr lang="en-US" altLang="zh-CN" sz="2800" b="1" dirty="0">
                <a:solidFill>
                  <a:schemeClr val="accent2">
                    <a:lumMod val="50000"/>
                  </a:schemeClr>
                </a:solidFill>
                <a:latin typeface="楷体" panose="02010609060101010101" charset="-122"/>
                <a:ea typeface="楷体" panose="02010609060101010101" charset="-122"/>
              </a:rPr>
              <a:t>	return (</a:t>
            </a:r>
            <a:r>
              <a:rPr lang="zh-CN" altLang="en-US" sz="2800" b="1" dirty="0">
                <a:solidFill>
                  <a:schemeClr val="accent2">
                    <a:lumMod val="50000"/>
                  </a:schemeClr>
                </a:solidFill>
                <a:latin typeface="楷体" panose="02010609060101010101" charset="-122"/>
                <a:ea typeface="楷体" panose="02010609060101010101" charset="-122"/>
              </a:rPr>
              <a:t>表达式</a:t>
            </a:r>
            <a:r>
              <a:rPr lang="en-US" altLang="zh-CN" sz="2800" b="1" dirty="0">
                <a:solidFill>
                  <a:schemeClr val="accent2">
                    <a:lumMod val="50000"/>
                  </a:schemeClr>
                </a:solidFill>
                <a:latin typeface="楷体" panose="02010609060101010101" charset="-122"/>
                <a:ea typeface="楷体" panose="02010609060101010101" charset="-122"/>
              </a:rPr>
              <a:t>);</a:t>
            </a:r>
          </a:p>
          <a:p>
            <a:pPr marL="914400" lvl="2" indent="0">
              <a:lnSpc>
                <a:spcPct val="100000"/>
              </a:lnSpc>
              <a:buNone/>
            </a:pPr>
            <a:r>
              <a:rPr lang="en-US" altLang="zh-CN" sz="2800" b="1" dirty="0">
                <a:solidFill>
                  <a:schemeClr val="accent2">
                    <a:lumMod val="50000"/>
                  </a:schemeClr>
                </a:solidFill>
                <a:latin typeface="楷体" panose="02010609060101010101" charset="-122"/>
                <a:ea typeface="楷体" panose="02010609060101010101" charset="-122"/>
              </a:rPr>
              <a:t>   </a:t>
            </a:r>
            <a:r>
              <a:rPr lang="zh-CN" altLang="en-US" sz="2800" b="1" dirty="0">
                <a:solidFill>
                  <a:schemeClr val="accent2">
                    <a:lumMod val="50000"/>
                  </a:schemeClr>
                </a:solidFill>
                <a:latin typeface="楷体" panose="02010609060101010101" charset="-122"/>
                <a:ea typeface="楷体" panose="02010609060101010101" charset="-122"/>
              </a:rPr>
              <a:t>或</a:t>
            </a:r>
            <a:r>
              <a:rPr lang="en-US" altLang="zh-CN" sz="2800" b="1" dirty="0">
                <a:solidFill>
                  <a:schemeClr val="accent2">
                    <a:lumMod val="50000"/>
                  </a:schemeClr>
                </a:solidFill>
                <a:latin typeface="楷体" panose="02010609060101010101" charset="-122"/>
                <a:ea typeface="楷体" panose="02010609060101010101" charset="-122"/>
              </a:rPr>
              <a:t>	return; // </a:t>
            </a:r>
            <a:r>
              <a:rPr lang="zh-CN" altLang="en-US" sz="2800" b="1" dirty="0">
                <a:solidFill>
                  <a:schemeClr val="accent2">
                    <a:lumMod val="50000"/>
                  </a:schemeClr>
                </a:solidFill>
                <a:latin typeface="楷体" panose="02010609060101010101" charset="-122"/>
                <a:ea typeface="楷体" panose="02010609060101010101" charset="-122"/>
              </a:rPr>
              <a:t>用于</a:t>
            </a:r>
            <a:r>
              <a:rPr lang="en-US" altLang="zh-CN" sz="2800" b="1" dirty="0">
                <a:solidFill>
                  <a:schemeClr val="accent2">
                    <a:lumMod val="50000"/>
                  </a:schemeClr>
                </a:solidFill>
                <a:latin typeface="楷体" panose="02010609060101010101" charset="-122"/>
                <a:ea typeface="楷体" panose="02010609060101010101" charset="-122"/>
              </a:rPr>
              <a:t>void</a:t>
            </a:r>
            <a:r>
              <a:rPr lang="zh-CN" altLang="en-US" sz="2800" b="1" dirty="0">
                <a:solidFill>
                  <a:schemeClr val="accent2">
                    <a:lumMod val="50000"/>
                  </a:schemeClr>
                </a:solidFill>
                <a:latin typeface="楷体" panose="02010609060101010101" charset="-122"/>
                <a:ea typeface="楷体" panose="02010609060101010101" charset="-122"/>
              </a:rPr>
              <a:t>返回值的函数</a:t>
            </a:r>
            <a:endParaRPr lang="en-US" altLang="zh-CN" sz="2800" b="1" dirty="0">
              <a:solidFill>
                <a:schemeClr val="accent2">
                  <a:lumMod val="50000"/>
                </a:schemeClr>
              </a:solidFill>
              <a:latin typeface="楷体" panose="02010609060101010101" charset="-122"/>
              <a:ea typeface="楷体" panose="02010609060101010101" charset="-122"/>
            </a:endParaRPr>
          </a:p>
          <a:p>
            <a:pPr lvl="2">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功能：使程序控制从被调用函数返回到调用处，同时带回返回值。</a:t>
            </a:r>
          </a:p>
          <a:p>
            <a:pPr lvl="2">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说明：</a:t>
            </a:r>
          </a:p>
          <a:p>
            <a:pPr lvl="3">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函数体中可有多个</a:t>
            </a:r>
            <a:r>
              <a:rPr lang="en-US" altLang="zh-CN" sz="2800" b="1" dirty="0">
                <a:solidFill>
                  <a:schemeClr val="accent2">
                    <a:lumMod val="50000"/>
                  </a:schemeClr>
                </a:solidFill>
                <a:latin typeface="楷体" panose="02010609060101010101" charset="-122"/>
                <a:ea typeface="楷体" panose="02010609060101010101" charset="-122"/>
              </a:rPr>
              <a:t>return</a:t>
            </a:r>
            <a:r>
              <a:rPr lang="zh-CN" altLang="en-US" sz="2800" b="1" dirty="0">
                <a:solidFill>
                  <a:schemeClr val="accent2">
                    <a:lumMod val="50000"/>
                  </a:schemeClr>
                </a:solidFill>
                <a:latin typeface="楷体" panose="02010609060101010101" charset="-122"/>
                <a:ea typeface="楷体" panose="02010609060101010101" charset="-122"/>
              </a:rPr>
              <a:t>语句，执行路径中遇到第一个</a:t>
            </a:r>
            <a:r>
              <a:rPr lang="en-US" altLang="zh-CN" sz="2800" b="1" dirty="0">
                <a:solidFill>
                  <a:schemeClr val="accent2">
                    <a:lumMod val="50000"/>
                  </a:schemeClr>
                </a:solidFill>
                <a:latin typeface="楷体" panose="02010609060101010101" charset="-122"/>
                <a:ea typeface="楷体" panose="02010609060101010101" charset="-122"/>
              </a:rPr>
              <a:t>return</a:t>
            </a:r>
            <a:r>
              <a:rPr lang="zh-CN" altLang="en-US" sz="2800" b="1" dirty="0">
                <a:solidFill>
                  <a:schemeClr val="accent2">
                    <a:lumMod val="50000"/>
                  </a:schemeClr>
                </a:solidFill>
                <a:latin typeface="楷体" panose="02010609060101010101" charset="-122"/>
                <a:ea typeface="楷体" panose="02010609060101010101" charset="-122"/>
              </a:rPr>
              <a:t>语句立即返回。</a:t>
            </a:r>
          </a:p>
          <a:p>
            <a:pPr lvl="3">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无返回值的函数，可以明确定义为空类型</a:t>
            </a:r>
            <a:r>
              <a:rPr lang="en-US" altLang="zh-CN" sz="2800" b="1" dirty="0">
                <a:solidFill>
                  <a:schemeClr val="accent2">
                    <a:lumMod val="50000"/>
                  </a:schemeClr>
                </a:solidFill>
                <a:latin typeface="楷体" panose="02010609060101010101" charset="-122"/>
                <a:ea typeface="楷体" panose="02010609060101010101" charset="-122"/>
              </a:rPr>
              <a:t>void</a:t>
            </a:r>
            <a:r>
              <a:rPr lang="zh-CN" altLang="en-US" sz="2800" b="1" dirty="0">
                <a:solidFill>
                  <a:schemeClr val="accent2">
                    <a:lumMod val="50000"/>
                  </a:schemeClr>
                </a:solidFill>
                <a:latin typeface="楷体" panose="02010609060101010101" charset="-122"/>
                <a:ea typeface="楷体" panose="02010609060101010101" charset="-122"/>
              </a:rPr>
              <a:t>。若无</a:t>
            </a:r>
            <a:r>
              <a:rPr lang="en-US" altLang="zh-CN" sz="2800" b="1" dirty="0">
                <a:solidFill>
                  <a:schemeClr val="accent2">
                    <a:lumMod val="50000"/>
                  </a:schemeClr>
                </a:solidFill>
                <a:latin typeface="楷体" panose="02010609060101010101" charset="-122"/>
                <a:ea typeface="楷体" panose="02010609060101010101" charset="-122"/>
              </a:rPr>
              <a:t>return</a:t>
            </a:r>
            <a:r>
              <a:rPr lang="zh-CN" altLang="en-US" sz="2800" b="1" dirty="0">
                <a:solidFill>
                  <a:schemeClr val="accent2">
                    <a:lumMod val="50000"/>
                  </a:schemeClr>
                </a:solidFill>
                <a:latin typeface="楷体" panose="02010609060101010101" charset="-122"/>
                <a:ea typeface="楷体" panose="02010609060101010101" charset="-122"/>
              </a:rPr>
              <a:t>语句，遇函数体结束时，自动返回。</a:t>
            </a:r>
            <a:endParaRPr lang="en-US" altLang="zh-CN" sz="2800" b="1" dirty="0">
              <a:solidFill>
                <a:schemeClr val="accent2">
                  <a:lumMod val="50000"/>
                </a:schemeClr>
              </a:solidFill>
              <a:latin typeface="楷体" panose="02010609060101010101" charset="-122"/>
              <a:ea typeface="楷体" panose="02010609060101010101" charset="-122"/>
            </a:endParaRPr>
          </a:p>
          <a:p>
            <a:pPr lvl="3">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返回值不为</a:t>
            </a:r>
            <a:r>
              <a:rPr lang="en-US" altLang="zh-CN" sz="2800" b="1" dirty="0">
                <a:solidFill>
                  <a:schemeClr val="accent2">
                    <a:lumMod val="50000"/>
                  </a:schemeClr>
                </a:solidFill>
                <a:latin typeface="楷体" panose="02010609060101010101" charset="-122"/>
                <a:ea typeface="楷体" panose="02010609060101010101" charset="-122"/>
              </a:rPr>
              <a:t>void</a:t>
            </a:r>
            <a:r>
              <a:rPr lang="zh-CN" altLang="en-US" sz="2800" b="1" dirty="0">
                <a:solidFill>
                  <a:schemeClr val="accent2">
                    <a:lumMod val="50000"/>
                  </a:schemeClr>
                </a:solidFill>
                <a:latin typeface="楷体" panose="02010609060101010101" charset="-122"/>
                <a:ea typeface="楷体" panose="02010609060101010101" charset="-122"/>
              </a:rPr>
              <a:t>的函数，函数体中必须有</a:t>
            </a:r>
            <a:r>
              <a:rPr lang="en-US" altLang="zh-CN" sz="2800" b="1" dirty="0">
                <a:solidFill>
                  <a:schemeClr val="accent2">
                    <a:lumMod val="50000"/>
                  </a:schemeClr>
                </a:solidFill>
                <a:latin typeface="楷体" panose="02010609060101010101" charset="-122"/>
                <a:ea typeface="楷体" panose="02010609060101010101" charset="-122"/>
              </a:rPr>
              <a:t>return</a:t>
            </a:r>
            <a:r>
              <a:rPr lang="zh-CN" altLang="en-US" sz="2800" b="1" dirty="0">
                <a:solidFill>
                  <a:schemeClr val="accent2">
                    <a:lumMod val="50000"/>
                  </a:schemeClr>
                </a:solidFill>
                <a:latin typeface="楷体" panose="02010609060101010101" charset="-122"/>
                <a:ea typeface="楷体" panose="02010609060101010101" charset="-122"/>
              </a:rPr>
              <a:t>语句。</a:t>
            </a:r>
          </a:p>
        </p:txBody>
      </p:sp>
    </p:spTree>
    <p:custDataLst>
      <p:tags r:id="rId1"/>
    </p:custDataLst>
    <p:extLst>
      <p:ext uri="{BB962C8B-B14F-4D97-AF65-F5344CB8AC3E}">
        <p14:creationId xmlns:p14="http://schemas.microsoft.com/office/powerpoint/2010/main" val="4133487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4.1.2 </a:t>
            </a:r>
            <a:r>
              <a:rPr lang="zh-CN" altLang="en-US" dirty="0">
                <a:sym typeface="+mn-ea"/>
              </a:rPr>
              <a:t>函数调用</a:t>
            </a:r>
            <a:endParaRPr lang="zh-CN" altLang="en-US" dirty="0"/>
          </a:p>
        </p:txBody>
      </p:sp>
      <p:sp>
        <p:nvSpPr>
          <p:cNvPr id="3" name="内容占位符 2"/>
          <p:cNvSpPr>
            <a:spLocks noGrp="1"/>
          </p:cNvSpPr>
          <p:nvPr>
            <p:ph idx="1"/>
          </p:nvPr>
        </p:nvSpPr>
        <p:spPr>
          <a:xfrm>
            <a:off x="314325" y="1163319"/>
            <a:ext cx="10852150" cy="5499947"/>
          </a:xfrm>
        </p:spPr>
        <p:txBody>
          <a:bodyPr>
            <a:normAutofit fontScale="92500" lnSpcReduction="10000"/>
          </a:bodyPr>
          <a:lstStyle/>
          <a:p>
            <a:pPr marL="0" lvl="1" indent="0">
              <a:lnSpc>
                <a:spcPct val="110000"/>
              </a:lnSpc>
              <a:spcAft>
                <a:spcPts val="1000"/>
              </a:spcAft>
              <a:buNone/>
            </a:pPr>
            <a:r>
              <a:rPr lang="zh-CN" altLang="en-US" sz="2500" b="0" dirty="0">
                <a:solidFill>
                  <a:schemeClr val="tx1"/>
                </a:solidFill>
                <a:latin typeface="Arial" panose="020B0604020202020204" pitchFamily="34" charset="0"/>
                <a:ea typeface="微软雅黑" panose="020B0503020204020204" charset="-122"/>
              </a:rPr>
              <a:t>语法格式：</a:t>
            </a: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r>
              <a:rPr lang="zh-CN" altLang="en-US" sz="2500" b="0" dirty="0">
                <a:solidFill>
                  <a:srgbClr val="00B050"/>
                </a:solidFill>
                <a:latin typeface="Arial" panose="020B0604020202020204" pitchFamily="34" charset="0"/>
                <a:ea typeface="微软雅黑" panose="020B0503020204020204" charset="-122"/>
              </a:rPr>
              <a:t>函数名</a:t>
            </a:r>
            <a:r>
              <a:rPr lang="en-US" altLang="zh-CN" sz="2500" b="0" dirty="0">
                <a:solidFill>
                  <a:srgbClr val="7030A0"/>
                </a:solidFill>
                <a:latin typeface="Arial" panose="020B0604020202020204" pitchFamily="34" charset="0"/>
                <a:ea typeface="微软雅黑" panose="020B0503020204020204" charset="-122"/>
              </a:rPr>
              <a:t>(</a:t>
            </a:r>
            <a:r>
              <a:rPr lang="zh-CN" altLang="en-US" sz="2500" b="0" dirty="0">
                <a:solidFill>
                  <a:srgbClr val="7030A0"/>
                </a:solidFill>
                <a:latin typeface="Arial" panose="020B0604020202020204" pitchFamily="34" charset="0"/>
                <a:ea typeface="微软雅黑" panose="020B0503020204020204" charset="-122"/>
              </a:rPr>
              <a:t>实参表</a:t>
            </a:r>
            <a:r>
              <a:rPr lang="en-US" altLang="zh-CN" sz="2500" b="0" dirty="0">
                <a:solidFill>
                  <a:srgbClr val="7030A0"/>
                </a:solidFill>
                <a:latin typeface="Arial" panose="020B0604020202020204" pitchFamily="34" charset="0"/>
                <a:ea typeface="微软雅黑" panose="020B0503020204020204" charset="-122"/>
              </a:rPr>
              <a:t>)</a:t>
            </a:r>
            <a:r>
              <a:rPr lang="en-US" altLang="zh-CN" sz="2500" b="0" dirty="0">
                <a:solidFill>
                  <a:schemeClr val="tx1"/>
                </a:solidFill>
                <a:latin typeface="Arial" panose="020B0604020202020204" pitchFamily="34" charset="0"/>
                <a:ea typeface="微软雅黑" panose="020B0503020204020204" charset="-122"/>
              </a:rPr>
              <a:t>;</a:t>
            </a: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r>
              <a:rPr lang="zh-CN" altLang="en-US" sz="2800" dirty="0"/>
              <a:t>说明：</a:t>
            </a:r>
          </a:p>
          <a:p>
            <a:pPr lvl="1"/>
            <a:r>
              <a:rPr lang="zh-CN" altLang="en-US" sz="2800" dirty="0"/>
              <a:t>实参表放入实际参数（简称实参）。</a:t>
            </a:r>
            <a:endParaRPr lang="en-US" altLang="zh-CN" sz="2800" dirty="0"/>
          </a:p>
          <a:p>
            <a:pPr lvl="1"/>
            <a:r>
              <a:rPr lang="zh-CN" altLang="en-US" sz="2800" dirty="0"/>
              <a:t>如果有多个实参，使用逗号分隔。</a:t>
            </a:r>
            <a:endParaRPr lang="en-US" altLang="zh-CN" sz="2800" dirty="0"/>
          </a:p>
          <a:p>
            <a:pPr lvl="1"/>
            <a:r>
              <a:rPr lang="zh-CN" altLang="en-US" sz="2800" dirty="0"/>
              <a:t>无实参的，实参表仅留一对空括号。</a:t>
            </a:r>
            <a:endParaRPr lang="en-US" altLang="zh-CN" sz="2800" dirty="0"/>
          </a:p>
          <a:p>
            <a:pPr lvl="1"/>
            <a:r>
              <a:rPr lang="zh-CN" altLang="en-US" sz="2800" dirty="0"/>
              <a:t>实参与形参个数相等，类型一致，按顺序一一对应。</a:t>
            </a:r>
          </a:p>
          <a:p>
            <a:pPr lvl="1"/>
            <a:r>
              <a:rPr lang="zh-CN" altLang="en-US" sz="2800" dirty="0"/>
              <a:t>实参表若有多个实参，其求值顺序因系统而定。</a:t>
            </a:r>
            <a:endParaRPr lang="en-US" altLang="zh-CN" sz="2800" dirty="0"/>
          </a:p>
          <a:p>
            <a:pPr marL="914400" lvl="2" indent="0">
              <a:buNone/>
            </a:pPr>
            <a:r>
              <a:rPr lang="zh-CN" altLang="en-US" sz="2200" b="1" dirty="0">
                <a:solidFill>
                  <a:srgbClr val="FF0000"/>
                </a:solidFill>
                <a:latin typeface="楷体" panose="02010609060101010101" charset="-122"/>
                <a:ea typeface="楷体" panose="02010609060101010101" charset="-122"/>
              </a:rPr>
              <a:t>不能对实参表的求值顺序做任何假设，不允许写</a:t>
            </a:r>
            <a:r>
              <a:rPr lang="en-US" altLang="zh-CN" sz="2200" b="1" dirty="0">
                <a:solidFill>
                  <a:srgbClr val="FF0000"/>
                </a:solidFill>
                <a:latin typeface="楷体" panose="02010609060101010101" charset="-122"/>
                <a:ea typeface="楷体" panose="02010609060101010101" charset="-122"/>
              </a:rPr>
              <a:t>f(</a:t>
            </a:r>
            <a:r>
              <a:rPr lang="en-US" altLang="zh-CN" sz="2200" b="1" dirty="0" err="1">
                <a:solidFill>
                  <a:srgbClr val="FF0000"/>
                </a:solidFill>
                <a:latin typeface="楷体" panose="02010609060101010101" charset="-122"/>
                <a:ea typeface="楷体" panose="02010609060101010101" charset="-122"/>
              </a:rPr>
              <a:t>i</a:t>
            </a:r>
            <a:r>
              <a:rPr lang="en-US" altLang="zh-CN" sz="2200" b="1" dirty="0">
                <a:solidFill>
                  <a:srgbClr val="FF0000"/>
                </a:solidFill>
                <a:latin typeface="楷体" panose="02010609060101010101" charset="-122"/>
                <a:ea typeface="楷体" panose="02010609060101010101" charset="-122"/>
              </a:rPr>
              <a:t>,++</a:t>
            </a:r>
            <a:r>
              <a:rPr lang="en-US" altLang="zh-CN" sz="2200" b="1" dirty="0" err="1">
                <a:solidFill>
                  <a:srgbClr val="FF0000"/>
                </a:solidFill>
                <a:latin typeface="楷体" panose="02010609060101010101" charset="-122"/>
                <a:ea typeface="楷体" panose="02010609060101010101" charset="-122"/>
              </a:rPr>
              <a:t>i</a:t>
            </a:r>
            <a:r>
              <a:rPr lang="en-US" altLang="zh-CN" sz="2200" b="1" dirty="0">
                <a:solidFill>
                  <a:srgbClr val="FF0000"/>
                </a:solidFill>
                <a:latin typeface="楷体" panose="02010609060101010101" charset="-122"/>
                <a:ea typeface="楷体" panose="02010609060101010101" charset="-122"/>
              </a:rPr>
              <a:t>)</a:t>
            </a:r>
            <a:r>
              <a:rPr lang="zh-CN" altLang="en-US" sz="2200" b="1" dirty="0">
                <a:solidFill>
                  <a:srgbClr val="FF0000"/>
                </a:solidFill>
                <a:latin typeface="楷体" panose="02010609060101010101" charset="-122"/>
                <a:ea typeface="楷体" panose="02010609060101010101" charset="-122"/>
              </a:rPr>
              <a:t>这样的代码。</a:t>
            </a:r>
            <a:endParaRPr lang="en-US" altLang="zh-CN" sz="2200" b="1" dirty="0">
              <a:solidFill>
                <a:srgbClr val="FF0000"/>
              </a:solidFill>
              <a:latin typeface="楷体" panose="02010609060101010101" charset="-122"/>
              <a:ea typeface="楷体" panose="02010609060101010101" charset="-122"/>
            </a:endParaRPr>
          </a:p>
          <a:p>
            <a:pPr lvl="1"/>
            <a:r>
              <a:rPr lang="zh-CN" altLang="en-US" sz="2800" dirty="0"/>
              <a:t>有返回值的函数，可以在调用时将返回值赋值给变量。</a:t>
            </a: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p:txBody>
      </p:sp>
      <p:sp>
        <p:nvSpPr>
          <p:cNvPr id="5" name="Text Box 6"/>
          <p:cNvSpPr txBox="1">
            <a:spLocks noChangeArrowheads="1"/>
          </p:cNvSpPr>
          <p:nvPr/>
        </p:nvSpPr>
        <p:spPr bwMode="auto">
          <a:xfrm>
            <a:off x="926704" y="2203165"/>
            <a:ext cx="3598334" cy="461665"/>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z = </a:t>
            </a:r>
            <a:r>
              <a:rPr lang="en-US" altLang="zh-CN" sz="2400" kern="0" dirty="0">
                <a:solidFill>
                  <a:srgbClr val="00B050"/>
                </a:solidFill>
                <a:cs typeface="Times New Roman" pitchFamily="18" charset="0"/>
              </a:rPr>
              <a:t>max</a:t>
            </a:r>
            <a:r>
              <a:rPr lang="en-US" altLang="zh-CN" sz="2400" kern="0" dirty="0">
                <a:solidFill>
                  <a:srgbClr val="7030A0"/>
                </a:solidFill>
                <a:cs typeface="Times New Roman" pitchFamily="18" charset="0"/>
              </a:rPr>
              <a:t>(x, y)</a:t>
            </a:r>
            <a:r>
              <a:rPr lang="en-US" altLang="zh-CN" sz="2400" kern="0" dirty="0">
                <a:solidFill>
                  <a:schemeClr val="tx1"/>
                </a:solidFill>
                <a:cs typeface="Times New Roman" pitchFamily="18" charset="0"/>
              </a:rPr>
              <a:t>;</a:t>
            </a:r>
          </a:p>
        </p:txBody>
      </p:sp>
      <p:sp>
        <p:nvSpPr>
          <p:cNvPr id="12" name="Text Box 6">
            <a:extLst>
              <a:ext uri="{FF2B5EF4-FFF2-40B4-BE49-F238E27FC236}">
                <a16:creationId xmlns:a16="http://schemas.microsoft.com/office/drawing/2014/main" id="{27284DBF-6D9F-4F02-B695-A22E9C40B284}"/>
              </a:ext>
            </a:extLst>
          </p:cNvPr>
          <p:cNvSpPr txBox="1">
            <a:spLocks noChangeArrowheads="1"/>
          </p:cNvSpPr>
          <p:nvPr/>
        </p:nvSpPr>
        <p:spPr bwMode="auto">
          <a:xfrm>
            <a:off x="4985017" y="2203059"/>
            <a:ext cx="2964128" cy="461665"/>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err="1">
                <a:solidFill>
                  <a:srgbClr val="00B050"/>
                </a:solidFill>
                <a:cs typeface="Times New Roman" pitchFamily="18" charset="0"/>
              </a:rPr>
              <a:t>print_stars</a:t>
            </a:r>
            <a:r>
              <a:rPr lang="en-US" altLang="zh-CN" sz="2400" kern="0" dirty="0">
                <a:solidFill>
                  <a:srgbClr val="7030A0"/>
                </a:solidFill>
                <a:cs typeface="Times New Roman" pitchFamily="18" charset="0"/>
              </a:rPr>
              <a:t>()</a:t>
            </a:r>
            <a:r>
              <a:rPr lang="en-US" altLang="zh-CN" sz="2400" kern="0" dirty="0">
                <a:solidFill>
                  <a:schemeClr val="tx1"/>
                </a:solidFill>
                <a:cs typeface="Times New Roman" pitchFamily="18" charset="0"/>
              </a:rPr>
              <a:t>;</a:t>
            </a:r>
          </a:p>
        </p:txBody>
      </p:sp>
    </p:spTree>
    <p:custDataLst>
      <p:tags r:id="rId1"/>
    </p:custDataLst>
    <p:extLst>
      <p:ext uri="{BB962C8B-B14F-4D97-AF65-F5344CB8AC3E}">
        <p14:creationId xmlns:p14="http://schemas.microsoft.com/office/powerpoint/2010/main" val="243304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4.1.3 </a:t>
            </a:r>
            <a:r>
              <a:rPr lang="zh-CN" altLang="en-US" dirty="0">
                <a:sym typeface="+mn-ea"/>
              </a:rPr>
              <a:t>函数声明</a:t>
            </a:r>
            <a:endParaRPr lang="zh-CN" altLang="en-US" dirty="0"/>
          </a:p>
        </p:txBody>
      </p:sp>
      <p:sp>
        <p:nvSpPr>
          <p:cNvPr id="3" name="内容占位符 2"/>
          <p:cNvSpPr>
            <a:spLocks noGrp="1"/>
          </p:cNvSpPr>
          <p:nvPr>
            <p:ph idx="1"/>
          </p:nvPr>
        </p:nvSpPr>
        <p:spPr>
          <a:xfrm>
            <a:off x="314324" y="1163319"/>
            <a:ext cx="11207751" cy="5499947"/>
          </a:xfrm>
        </p:spPr>
        <p:txBody>
          <a:bodyPr>
            <a:normAutofit lnSpcReduction="10000"/>
          </a:bodyPr>
          <a:lstStyle/>
          <a:p>
            <a:pPr marL="0" lvl="1" indent="0">
              <a:lnSpc>
                <a:spcPct val="110000"/>
              </a:lnSpc>
              <a:spcAft>
                <a:spcPts val="1000"/>
              </a:spcAft>
              <a:buNone/>
            </a:pPr>
            <a:r>
              <a:rPr lang="zh-CN" altLang="en-US" sz="2500" b="0" dirty="0">
                <a:solidFill>
                  <a:schemeClr val="tx1"/>
                </a:solidFill>
                <a:latin typeface="Arial" panose="020B0604020202020204" pitchFamily="34" charset="0"/>
                <a:ea typeface="微软雅黑" panose="020B0503020204020204" charset="-122"/>
              </a:rPr>
              <a:t>语法格式：</a:t>
            </a: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r>
              <a:rPr lang="zh-CN" altLang="en-US" sz="2500" b="0" dirty="0">
                <a:solidFill>
                  <a:srgbClr val="FFC000"/>
                </a:solidFill>
                <a:latin typeface="Arial" panose="020B0604020202020204" pitchFamily="34" charset="0"/>
                <a:ea typeface="微软雅黑" panose="020B0503020204020204" charset="-122"/>
              </a:rPr>
              <a:t>函数类型</a:t>
            </a:r>
            <a:r>
              <a:rPr lang="zh-CN" altLang="en-US" sz="2500" b="0" dirty="0">
                <a:solidFill>
                  <a:schemeClr val="tx1"/>
                </a:solidFill>
                <a:latin typeface="Arial" panose="020B0604020202020204" pitchFamily="34" charset="0"/>
                <a:ea typeface="微软雅黑" panose="020B0503020204020204" charset="-122"/>
              </a:rPr>
              <a:t> </a:t>
            </a:r>
            <a:r>
              <a:rPr lang="zh-CN" altLang="en-US" sz="2500" b="0" dirty="0">
                <a:solidFill>
                  <a:srgbClr val="00B050"/>
                </a:solidFill>
                <a:latin typeface="Arial" panose="020B0604020202020204" pitchFamily="34" charset="0"/>
                <a:ea typeface="微软雅黑" panose="020B0503020204020204" charset="-122"/>
              </a:rPr>
              <a:t>函数名</a:t>
            </a:r>
            <a:r>
              <a:rPr lang="en-US" altLang="zh-CN" sz="2500" b="0" dirty="0">
                <a:solidFill>
                  <a:srgbClr val="7030A0"/>
                </a:solidFill>
                <a:latin typeface="Arial" panose="020B0604020202020204" pitchFamily="34" charset="0"/>
                <a:ea typeface="微软雅黑" panose="020B0503020204020204" charset="-122"/>
              </a:rPr>
              <a:t>(</a:t>
            </a:r>
            <a:r>
              <a:rPr lang="zh-CN" altLang="en-US" sz="2500" b="0" dirty="0">
                <a:solidFill>
                  <a:srgbClr val="7030A0"/>
                </a:solidFill>
                <a:latin typeface="Arial" panose="020B0604020202020204" pitchFamily="34" charset="0"/>
                <a:ea typeface="微软雅黑" panose="020B0503020204020204" charset="-122"/>
              </a:rPr>
              <a:t>形参表</a:t>
            </a:r>
            <a:r>
              <a:rPr lang="en-US" altLang="zh-CN" sz="2500" b="0" dirty="0">
                <a:solidFill>
                  <a:srgbClr val="7030A0"/>
                </a:solidFill>
                <a:latin typeface="Arial" panose="020B0604020202020204" pitchFamily="34" charset="0"/>
                <a:ea typeface="微软雅黑" panose="020B0503020204020204" charset="-122"/>
              </a:rPr>
              <a:t>)</a:t>
            </a:r>
            <a:r>
              <a:rPr lang="en-US" altLang="zh-CN" sz="2500" b="0" dirty="0">
                <a:solidFill>
                  <a:schemeClr val="tx1"/>
                </a:solidFill>
                <a:latin typeface="Arial" panose="020B0604020202020204" pitchFamily="34" charset="0"/>
                <a:ea typeface="微软雅黑" panose="020B0503020204020204" charset="-122"/>
              </a:rPr>
              <a:t>;</a:t>
            </a: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r>
              <a:rPr lang="zh-CN" altLang="en-US" sz="2800" dirty="0"/>
              <a:t>说明：</a:t>
            </a:r>
            <a:endParaRPr lang="en-US" altLang="zh-CN" sz="2800" dirty="0"/>
          </a:p>
          <a:p>
            <a:pPr lvl="1"/>
            <a:r>
              <a:rPr lang="zh-CN" altLang="en-US" sz="2800" dirty="0"/>
              <a:t>函数声明告知编译系统函数类型、参数个数及类型，以便检验。</a:t>
            </a:r>
            <a:endParaRPr lang="en-US" altLang="zh-CN" sz="2800" dirty="0"/>
          </a:p>
          <a:p>
            <a:pPr lvl="1"/>
            <a:r>
              <a:rPr lang="zh-CN" altLang="en-US" sz="2800" dirty="0"/>
              <a:t>用户自定义函数在调用之前需要进行声明。</a:t>
            </a:r>
            <a:endParaRPr lang="en-US" altLang="zh-CN" sz="2800" dirty="0"/>
          </a:p>
          <a:p>
            <a:pPr lvl="1"/>
            <a:r>
              <a:rPr lang="zh-CN" altLang="en-US" sz="2800" dirty="0"/>
              <a:t>函数声明又称为函数原型声明。</a:t>
            </a:r>
            <a:endParaRPr lang="en-US" altLang="zh-CN" sz="2800" dirty="0"/>
          </a:p>
          <a:p>
            <a:pPr lvl="1"/>
            <a:r>
              <a:rPr lang="zh-CN" altLang="en-US" sz="2800" dirty="0"/>
              <a:t>函数声明格式为函数头加分号。</a:t>
            </a:r>
            <a:endParaRPr lang="en-US" altLang="zh-CN" sz="2800" dirty="0"/>
          </a:p>
          <a:p>
            <a:pPr lvl="1"/>
            <a:r>
              <a:rPr lang="zh-CN" altLang="en-US" sz="2800" dirty="0"/>
              <a:t>如果函数定义放在函数调用之前，则不用声明。</a:t>
            </a:r>
            <a:endParaRPr lang="en-US" altLang="zh-CN" sz="2800" dirty="0"/>
          </a:p>
          <a:p>
            <a:pPr lvl="1"/>
            <a:r>
              <a:rPr lang="zh-CN" altLang="en-US" sz="2800" dirty="0"/>
              <a:t>调用库函数不需要用户进行函数声明，只需要添加库函数对应的</a:t>
            </a:r>
            <a:r>
              <a:rPr lang="en-US" altLang="zh-CN" sz="2800" dirty="0"/>
              <a:t>#include&lt;*.h&gt;</a:t>
            </a:r>
            <a:r>
              <a:rPr lang="zh-CN" altLang="en-US" sz="2800" dirty="0"/>
              <a:t>预处理指令即可。</a:t>
            </a:r>
            <a:endParaRPr lang="en-US" altLang="zh-CN" sz="2800" dirty="0"/>
          </a:p>
        </p:txBody>
      </p:sp>
      <p:sp>
        <p:nvSpPr>
          <p:cNvPr id="6" name="Text Box 6">
            <a:extLst>
              <a:ext uri="{FF2B5EF4-FFF2-40B4-BE49-F238E27FC236}">
                <a16:creationId xmlns:a16="http://schemas.microsoft.com/office/drawing/2014/main" id="{F66BC56F-ACE6-4207-A1A8-6BDF557A2388}"/>
              </a:ext>
            </a:extLst>
          </p:cNvPr>
          <p:cNvSpPr txBox="1">
            <a:spLocks noChangeArrowheads="1"/>
          </p:cNvSpPr>
          <p:nvPr/>
        </p:nvSpPr>
        <p:spPr bwMode="auto">
          <a:xfrm>
            <a:off x="837406" y="2260600"/>
            <a:ext cx="3598334" cy="461665"/>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rgbClr val="FFC000"/>
                </a:solidFill>
                <a:cs typeface="Times New Roman" pitchFamily="18" charset="0"/>
              </a:rPr>
              <a:t>int</a:t>
            </a:r>
            <a:r>
              <a:rPr lang="en-US" altLang="zh-CN" sz="2400" kern="0" dirty="0">
                <a:solidFill>
                  <a:schemeClr val="tx1"/>
                </a:solidFill>
                <a:cs typeface="Times New Roman" pitchFamily="18" charset="0"/>
              </a:rPr>
              <a:t> </a:t>
            </a:r>
            <a:r>
              <a:rPr lang="en-US" altLang="zh-CN" sz="2400" kern="0" dirty="0">
                <a:solidFill>
                  <a:srgbClr val="00B050"/>
                </a:solidFill>
                <a:cs typeface="Times New Roman" pitchFamily="18" charset="0"/>
              </a:rPr>
              <a:t>max</a:t>
            </a:r>
            <a:r>
              <a:rPr lang="en-US" altLang="zh-CN" sz="2400" kern="0" dirty="0">
                <a:solidFill>
                  <a:srgbClr val="7030A0"/>
                </a:solidFill>
                <a:cs typeface="Times New Roman" pitchFamily="18" charset="0"/>
              </a:rPr>
              <a:t>(int x, int y)</a:t>
            </a:r>
            <a:r>
              <a:rPr lang="en-US" altLang="zh-CN" sz="2400" kern="0" dirty="0">
                <a:solidFill>
                  <a:schemeClr val="tx1"/>
                </a:solidFill>
                <a:cs typeface="Times New Roman" pitchFamily="18" charset="0"/>
              </a:rPr>
              <a:t>;</a:t>
            </a:r>
          </a:p>
        </p:txBody>
      </p:sp>
      <p:sp>
        <p:nvSpPr>
          <p:cNvPr id="7" name="Text Box 6">
            <a:extLst>
              <a:ext uri="{FF2B5EF4-FFF2-40B4-BE49-F238E27FC236}">
                <a16:creationId xmlns:a16="http://schemas.microsoft.com/office/drawing/2014/main" id="{2682290F-DEB9-420E-8CE6-9F8285DA7F5D}"/>
              </a:ext>
            </a:extLst>
          </p:cNvPr>
          <p:cNvSpPr txBox="1">
            <a:spLocks noChangeArrowheads="1"/>
          </p:cNvSpPr>
          <p:nvPr/>
        </p:nvSpPr>
        <p:spPr bwMode="auto">
          <a:xfrm>
            <a:off x="4958821" y="2260599"/>
            <a:ext cx="3473979" cy="461665"/>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rgbClr val="FFC000"/>
                </a:solidFill>
                <a:cs typeface="Times New Roman" pitchFamily="18" charset="0"/>
              </a:rPr>
              <a:t>void</a:t>
            </a:r>
            <a:r>
              <a:rPr lang="en-US" altLang="zh-CN" sz="2400" kern="0" dirty="0">
                <a:solidFill>
                  <a:schemeClr val="tx1"/>
                </a:solidFill>
                <a:cs typeface="Times New Roman" pitchFamily="18" charset="0"/>
              </a:rPr>
              <a:t> </a:t>
            </a:r>
            <a:r>
              <a:rPr lang="en-US" altLang="zh-CN" sz="2400" kern="0" dirty="0" err="1">
                <a:solidFill>
                  <a:srgbClr val="00B050"/>
                </a:solidFill>
                <a:cs typeface="Times New Roman" pitchFamily="18" charset="0"/>
              </a:rPr>
              <a:t>print_stars</a:t>
            </a:r>
            <a:r>
              <a:rPr lang="en-US" altLang="zh-CN" sz="2400" kern="0" dirty="0">
                <a:solidFill>
                  <a:srgbClr val="7030A0"/>
                </a:solidFill>
                <a:cs typeface="Times New Roman" pitchFamily="18" charset="0"/>
              </a:rPr>
              <a:t>(void)</a:t>
            </a:r>
            <a:r>
              <a:rPr lang="en-US" altLang="zh-CN" sz="2400" kern="0" dirty="0">
                <a:solidFill>
                  <a:schemeClr val="tx1"/>
                </a:solidFill>
                <a:cs typeface="Times New Roman" pitchFamily="18" charset="0"/>
              </a:rPr>
              <a:t>;</a:t>
            </a:r>
          </a:p>
        </p:txBody>
      </p:sp>
    </p:spTree>
    <p:custDataLst>
      <p:tags r:id="rId1"/>
    </p:custDataLst>
    <p:extLst>
      <p:ext uri="{BB962C8B-B14F-4D97-AF65-F5344CB8AC3E}">
        <p14:creationId xmlns:p14="http://schemas.microsoft.com/office/powerpoint/2010/main" val="3329484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4.1.3 </a:t>
            </a:r>
            <a:r>
              <a:rPr lang="zh-CN" altLang="en-US" dirty="0">
                <a:sym typeface="+mn-ea"/>
              </a:rPr>
              <a:t>函数声明</a:t>
            </a:r>
            <a:endParaRPr lang="zh-CN" altLang="en-US" dirty="0"/>
          </a:p>
        </p:txBody>
      </p:sp>
      <p:sp>
        <p:nvSpPr>
          <p:cNvPr id="3" name="内容占位符 2"/>
          <p:cNvSpPr>
            <a:spLocks noGrp="1"/>
          </p:cNvSpPr>
          <p:nvPr>
            <p:ph idx="1"/>
          </p:nvPr>
        </p:nvSpPr>
        <p:spPr>
          <a:xfrm>
            <a:off x="314325" y="1163319"/>
            <a:ext cx="10852150" cy="5499947"/>
          </a:xfrm>
        </p:spPr>
        <p:txBody>
          <a:bodyPr>
            <a:normAutofit/>
          </a:bodyPr>
          <a:lstStyle/>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a:p>
            <a:pPr marL="457200" lvl="1" indent="0">
              <a:buNone/>
            </a:pPr>
            <a:endParaRPr lang="en-US" altLang="zh-CN" sz="2500" b="0" dirty="0">
              <a:solidFill>
                <a:schemeClr val="tx1"/>
              </a:solidFill>
              <a:latin typeface="Arial" panose="020B0604020202020204" pitchFamily="34" charset="0"/>
              <a:ea typeface="微软雅黑" panose="020B0503020204020204" charset="-122"/>
            </a:endParaRPr>
          </a:p>
        </p:txBody>
      </p:sp>
      <p:sp>
        <p:nvSpPr>
          <p:cNvPr id="6" name="Text Box 6">
            <a:extLst>
              <a:ext uri="{FF2B5EF4-FFF2-40B4-BE49-F238E27FC236}">
                <a16:creationId xmlns:a16="http://schemas.microsoft.com/office/drawing/2014/main" id="{F66BC56F-ACE6-4207-A1A8-6BDF557A2388}"/>
              </a:ext>
            </a:extLst>
          </p:cNvPr>
          <p:cNvSpPr txBox="1">
            <a:spLocks noChangeArrowheads="1"/>
          </p:cNvSpPr>
          <p:nvPr/>
        </p:nvSpPr>
        <p:spPr bwMode="auto">
          <a:xfrm>
            <a:off x="778138" y="912469"/>
            <a:ext cx="4750595" cy="5632311"/>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zh-CN" altLang="en-US" sz="2400" kern="0" dirty="0">
                <a:solidFill>
                  <a:schemeClr val="tx1"/>
                </a:solidFill>
                <a:cs typeface="Times New Roman" pitchFamily="18" charset="0"/>
              </a:rPr>
              <a:t>函数定义在调用后，必须声明</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#include &lt;</a:t>
            </a:r>
            <a:r>
              <a:rPr lang="en-US" altLang="zh-CN" sz="2400" kern="0" dirty="0" err="1">
                <a:solidFill>
                  <a:schemeClr val="tx1"/>
                </a:solidFill>
                <a:cs typeface="Times New Roman" pitchFamily="18" charset="0"/>
              </a:rPr>
              <a:t>stdio.h</a:t>
            </a:r>
            <a:r>
              <a:rPr lang="en-US" altLang="zh-CN" sz="2400" kern="0" dirty="0">
                <a:solidFill>
                  <a:schemeClr val="tx1"/>
                </a:solidFill>
                <a:cs typeface="Times New Roman" pitchFamily="18" charset="0"/>
              </a:rPr>
              <a:t>&gt;</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double f(double x); // </a:t>
            </a:r>
            <a:r>
              <a:rPr lang="zh-CN" altLang="en-US" sz="2400" kern="0" dirty="0">
                <a:solidFill>
                  <a:srgbClr val="FF0000"/>
                </a:solidFill>
                <a:cs typeface="Times New Roman" pitchFamily="18" charset="0"/>
              </a:rPr>
              <a:t>函数声明</a:t>
            </a:r>
            <a:endParaRPr lang="en-US" altLang="zh-CN" sz="2400" kern="0" dirty="0">
              <a:solidFill>
                <a:srgbClr val="FF0000"/>
              </a:solidFill>
              <a:cs typeface="Times New Roman" pitchFamily="18" charset="0"/>
            </a:endParaRPr>
          </a:p>
          <a:p>
            <a:pPr eaLnBrk="1" fontAlgn="base" hangingPunct="1">
              <a:spcBef>
                <a:spcPct val="0"/>
              </a:spcBef>
              <a:spcAft>
                <a:spcPct val="0"/>
              </a:spcAft>
              <a:buClrTx/>
              <a:buSzTx/>
              <a:buFontTx/>
              <a:buNone/>
              <a:defRPr/>
            </a:pP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int main(void) {</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double 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scanf</a:t>
            </a:r>
            <a:r>
              <a:rPr lang="en-US" altLang="zh-CN" sz="2400" kern="0" dirty="0">
                <a:solidFill>
                  <a:schemeClr val="tx1"/>
                </a:solidFill>
                <a:cs typeface="Times New Roman" pitchFamily="18" charset="0"/>
              </a:rPr>
              <a:t>("%</a:t>
            </a:r>
            <a:r>
              <a:rPr lang="en-US" altLang="zh-CN" sz="2400" kern="0" dirty="0" err="1">
                <a:solidFill>
                  <a:schemeClr val="tx1"/>
                </a:solidFill>
                <a:cs typeface="Times New Roman" pitchFamily="18" charset="0"/>
              </a:rPr>
              <a:t>lf</a:t>
            </a:r>
            <a:r>
              <a:rPr lang="en-US" altLang="zh-CN" sz="2400" kern="0" dirty="0">
                <a:solidFill>
                  <a:schemeClr val="tx1"/>
                </a:solidFill>
                <a:cs typeface="Times New Roman" pitchFamily="18" charset="0"/>
              </a:rPr>
              <a:t>", &amp;x);</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       y = f(x);  //</a:t>
            </a:r>
            <a:r>
              <a:rPr lang="zh-CN" altLang="en-US" sz="2400" kern="0" dirty="0">
                <a:solidFill>
                  <a:srgbClr val="FF0000"/>
                </a:solidFill>
                <a:cs typeface="Times New Roman" pitchFamily="18" charset="0"/>
              </a:rPr>
              <a:t>函数调用</a:t>
            </a:r>
            <a:endParaRPr lang="en-US" altLang="zh-CN" sz="2400" kern="0" dirty="0">
              <a:solidFill>
                <a:srgbClr val="FF0000"/>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("f(x)=%f\n",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 </a:t>
            </a:r>
            <a:r>
              <a:rPr lang="zh-CN" altLang="en-US" sz="2400" kern="0" dirty="0">
                <a:solidFill>
                  <a:srgbClr val="FF0000"/>
                </a:solidFill>
                <a:cs typeface="Times New Roman" pitchFamily="18" charset="0"/>
              </a:rPr>
              <a:t>函数定义</a:t>
            </a:r>
            <a:endParaRPr lang="en-US" altLang="zh-CN" sz="2400" kern="0" dirty="0">
              <a:solidFill>
                <a:srgbClr val="FF0000"/>
              </a:solidFill>
              <a:cs typeface="Times New Roman" pitchFamily="18" charset="0"/>
            </a:endParaRP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double f(double x) { </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       double y = 2 * x + 5;</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       return y;</a:t>
            </a:r>
          </a:p>
          <a:p>
            <a:pPr eaLnBrk="1" fontAlgn="base" hangingPunct="1">
              <a:spcBef>
                <a:spcPct val="0"/>
              </a:spcBef>
              <a:spcAft>
                <a:spcPct val="0"/>
              </a:spcAft>
              <a:buClrTx/>
              <a:buSzTx/>
              <a:buFontTx/>
              <a:buNone/>
              <a:defRPr/>
            </a:pPr>
            <a:r>
              <a:rPr lang="en-US" altLang="zh-CN" sz="2400" kern="0" dirty="0">
                <a:solidFill>
                  <a:srgbClr val="FF0000"/>
                </a:solidFill>
                <a:cs typeface="Times New Roman" pitchFamily="18" charset="0"/>
              </a:rPr>
              <a:t>}</a:t>
            </a:r>
          </a:p>
        </p:txBody>
      </p:sp>
      <p:sp>
        <p:nvSpPr>
          <p:cNvPr id="8" name="Text Box 6">
            <a:extLst>
              <a:ext uri="{FF2B5EF4-FFF2-40B4-BE49-F238E27FC236}">
                <a16:creationId xmlns:a16="http://schemas.microsoft.com/office/drawing/2014/main" id="{9FBF937B-2496-4A67-B311-C2C425B49134}"/>
              </a:ext>
            </a:extLst>
          </p:cNvPr>
          <p:cNvSpPr txBox="1">
            <a:spLocks noChangeArrowheads="1"/>
          </p:cNvSpPr>
          <p:nvPr/>
        </p:nvSpPr>
        <p:spPr bwMode="auto">
          <a:xfrm>
            <a:off x="6348147" y="958706"/>
            <a:ext cx="4818328" cy="5262979"/>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 </a:t>
            </a:r>
            <a:r>
              <a:rPr lang="zh-CN" altLang="en-US" sz="2400" kern="0" dirty="0">
                <a:solidFill>
                  <a:schemeClr val="tx1"/>
                </a:solidFill>
                <a:cs typeface="Times New Roman" pitchFamily="18" charset="0"/>
              </a:rPr>
              <a:t>函数定义在调用前，可不声明</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#include &lt;</a:t>
            </a:r>
            <a:r>
              <a:rPr lang="en-US" altLang="zh-CN" sz="2400" kern="0" dirty="0" err="1">
                <a:solidFill>
                  <a:schemeClr val="tx1"/>
                </a:solidFill>
                <a:cs typeface="Times New Roman" pitchFamily="18" charset="0"/>
              </a:rPr>
              <a:t>stdio.h</a:t>
            </a:r>
            <a:r>
              <a:rPr lang="en-US" altLang="zh-CN" sz="2400" kern="0" dirty="0">
                <a:solidFill>
                  <a:schemeClr val="tx1"/>
                </a:solidFill>
                <a:cs typeface="Times New Roman" pitchFamily="18" charset="0"/>
              </a:rPr>
              <a:t>&gt;</a:t>
            </a: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 </a:t>
            </a:r>
            <a:r>
              <a:rPr lang="zh-CN" altLang="en-US" sz="2400" kern="0" dirty="0">
                <a:solidFill>
                  <a:srgbClr val="FF0000"/>
                </a:solidFill>
                <a:cs typeface="Times New Roman" pitchFamily="18" charset="0"/>
              </a:rPr>
              <a:t>函数定义</a:t>
            </a:r>
            <a:endParaRPr lang="en-US" altLang="zh-CN" sz="2400" kern="0" dirty="0">
              <a:solidFill>
                <a:srgbClr val="FF0000"/>
              </a:solidFill>
              <a:cs typeface="Times New Roman" pitchFamily="18" charset="0"/>
            </a:endParaRP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double f(double x) {</a:t>
            </a: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       double y = 2 * x + 5;</a:t>
            </a: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       return y;</a:t>
            </a: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a:t>
            </a:r>
          </a:p>
          <a:p>
            <a:pPr eaLnBrk="1" fontAlgn="base" hangingPunct="1">
              <a:spcBef>
                <a:spcPct val="0"/>
              </a:spcBef>
              <a:spcAft>
                <a:spcPct val="0"/>
              </a:spcAft>
              <a:buClrTx/>
              <a:buSzTx/>
              <a:buNone/>
              <a:defRPr/>
            </a:pP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int main(void) {</a:t>
            </a: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       double x, y;</a:t>
            </a: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scanf</a:t>
            </a:r>
            <a:r>
              <a:rPr lang="en-US" altLang="zh-CN" sz="2400" kern="0" dirty="0">
                <a:solidFill>
                  <a:schemeClr val="tx1"/>
                </a:solidFill>
                <a:cs typeface="Times New Roman" pitchFamily="18" charset="0"/>
              </a:rPr>
              <a:t>("%</a:t>
            </a:r>
            <a:r>
              <a:rPr lang="en-US" altLang="zh-CN" sz="2400" kern="0" dirty="0" err="1">
                <a:solidFill>
                  <a:schemeClr val="tx1"/>
                </a:solidFill>
                <a:cs typeface="Times New Roman" pitchFamily="18" charset="0"/>
              </a:rPr>
              <a:t>lf</a:t>
            </a:r>
            <a:r>
              <a:rPr lang="en-US" altLang="zh-CN" sz="2400" kern="0" dirty="0">
                <a:solidFill>
                  <a:schemeClr val="tx1"/>
                </a:solidFill>
                <a:cs typeface="Times New Roman" pitchFamily="18" charset="0"/>
              </a:rPr>
              <a:t>", &amp;x);</a:t>
            </a:r>
          </a:p>
          <a:p>
            <a:pPr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       y = f(x); // </a:t>
            </a:r>
            <a:r>
              <a:rPr lang="zh-CN" altLang="en-US" sz="2400" kern="0" dirty="0">
                <a:solidFill>
                  <a:srgbClr val="FF0000"/>
                </a:solidFill>
                <a:cs typeface="Times New Roman" pitchFamily="18" charset="0"/>
              </a:rPr>
              <a:t>函数调用</a:t>
            </a:r>
            <a:endParaRPr lang="en-US" altLang="zh-CN" sz="2400" kern="0" dirty="0">
              <a:solidFill>
                <a:srgbClr val="FF0000"/>
              </a:solidFill>
              <a:cs typeface="Times New Roman" pitchFamily="18" charset="0"/>
            </a:endParaRP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("f(x)=%f\n", y);</a:t>
            </a:r>
          </a:p>
          <a:p>
            <a:pPr eaLnBrk="1" fontAlgn="base" hangingPunct="1">
              <a:spcBef>
                <a:spcPct val="0"/>
              </a:spcBef>
              <a:spcAft>
                <a:spcPct val="0"/>
              </a:spcAft>
              <a:buClrTx/>
              <a:buSzTx/>
              <a:buNone/>
              <a:defRPr/>
            </a:pPr>
            <a:r>
              <a:rPr lang="en-US" altLang="zh-CN" sz="2400" kern="0" dirty="0">
                <a:solidFill>
                  <a:schemeClr val="tx1"/>
                </a:solidFill>
                <a:cs typeface="Times New Roman" pitchFamily="18" charset="0"/>
              </a:rPr>
              <a:t>}</a:t>
            </a:r>
          </a:p>
        </p:txBody>
      </p:sp>
    </p:spTree>
    <p:custDataLst>
      <p:tags r:id="rId1"/>
    </p:custDataLst>
    <p:extLst>
      <p:ext uri="{BB962C8B-B14F-4D97-AF65-F5344CB8AC3E}">
        <p14:creationId xmlns:p14="http://schemas.microsoft.com/office/powerpoint/2010/main" val="3233082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36C21-5D66-4A2E-B60A-11B205F57B55}"/>
              </a:ext>
            </a:extLst>
          </p:cNvPr>
          <p:cNvSpPr>
            <a:spLocks noGrp="1"/>
          </p:cNvSpPr>
          <p:nvPr>
            <p:ph type="title"/>
          </p:nvPr>
        </p:nvSpPr>
        <p:spPr/>
        <p:txBody>
          <a:bodyPr/>
          <a:lstStyle/>
          <a:p>
            <a:r>
              <a:rPr lang="en-US" altLang="zh-CN" dirty="0"/>
              <a:t>4.1.4 </a:t>
            </a:r>
            <a:r>
              <a:rPr lang="zh-CN" altLang="en-US" dirty="0"/>
              <a:t>用户自定义函数实例</a:t>
            </a:r>
          </a:p>
        </p:txBody>
      </p:sp>
      <p:sp>
        <p:nvSpPr>
          <p:cNvPr id="3" name="内容占位符 2">
            <a:extLst>
              <a:ext uri="{FF2B5EF4-FFF2-40B4-BE49-F238E27FC236}">
                <a16:creationId xmlns:a16="http://schemas.microsoft.com/office/drawing/2014/main" id="{D76BF8C7-D10D-425E-B70A-433F69009F82}"/>
              </a:ext>
            </a:extLst>
          </p:cNvPr>
          <p:cNvSpPr>
            <a:spLocks noGrp="1"/>
          </p:cNvSpPr>
          <p:nvPr>
            <p:ph idx="1"/>
          </p:nvPr>
        </p:nvSpPr>
        <p:spPr>
          <a:xfrm>
            <a:off x="669925" y="827405"/>
            <a:ext cx="10852150" cy="5629910"/>
          </a:xfrm>
        </p:spPr>
        <p:txBody>
          <a:bodyPr/>
          <a:lstStyle/>
          <a:p>
            <a:r>
              <a:rPr lang="en-US" altLang="zh-CN" dirty="0"/>
              <a:t>【</a:t>
            </a:r>
            <a:r>
              <a:rPr lang="zh-CN" altLang="en-US" dirty="0"/>
              <a:t>例 </a:t>
            </a:r>
            <a:r>
              <a:rPr lang="en-US" altLang="zh-CN" dirty="0"/>
              <a:t>4.2】</a:t>
            </a:r>
            <a:r>
              <a:rPr lang="zh-CN" altLang="en-US" dirty="0"/>
              <a:t>编写自定义函数</a:t>
            </a:r>
            <a:r>
              <a:rPr lang="en-US" altLang="zh-CN" dirty="0" err="1"/>
              <a:t>add_numbers</a:t>
            </a:r>
            <a:r>
              <a:rPr lang="zh-CN" altLang="en-US" dirty="0"/>
              <a:t>，实现两个整数相加。</a:t>
            </a:r>
          </a:p>
        </p:txBody>
      </p:sp>
      <p:sp>
        <p:nvSpPr>
          <p:cNvPr id="6" name="文本框 5">
            <a:extLst>
              <a:ext uri="{FF2B5EF4-FFF2-40B4-BE49-F238E27FC236}">
                <a16:creationId xmlns:a16="http://schemas.microsoft.com/office/drawing/2014/main" id="{9095592D-C557-4D63-B4E7-8A2691BAE03D}"/>
              </a:ext>
            </a:extLst>
          </p:cNvPr>
          <p:cNvSpPr txBox="1"/>
          <p:nvPr/>
        </p:nvSpPr>
        <p:spPr>
          <a:xfrm>
            <a:off x="847196" y="2114001"/>
            <a:ext cx="10464271" cy="5262979"/>
          </a:xfrm>
          <a:prstGeom prst="rect">
            <a:avLst/>
          </a:prstGeom>
          <a:noFill/>
          <a:ln w="12700">
            <a:solidFill>
              <a:srgbClr val="0066FF"/>
            </a:solidFill>
          </a:ln>
        </p:spPr>
        <p:txBody>
          <a:bodyPr wrap="square" numCol="2">
            <a:spAutoFit/>
          </a:bodyPr>
          <a:lstStyle/>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#include &lt;</a:t>
            </a:r>
            <a:r>
              <a:rPr kumimoji="1" lang="en-US" altLang="zh-CN" sz="2400" b="1" kern="0" dirty="0" err="1">
                <a:latin typeface="Times New Roman" pitchFamily="18" charset="0"/>
                <a:ea typeface="宋体" pitchFamily="2" charset="-122"/>
                <a:cs typeface="Times New Roman" pitchFamily="18" charset="0"/>
              </a:rPr>
              <a:t>stdio.h</a:t>
            </a:r>
            <a:r>
              <a:rPr kumimoji="1" lang="en-US" altLang="zh-CN" sz="2400" b="1" kern="0" dirty="0">
                <a:latin typeface="Times New Roman" pitchFamily="18" charset="0"/>
                <a:ea typeface="宋体" pitchFamily="2" charset="-122"/>
                <a:cs typeface="Times New Roman" pitchFamily="18" charset="0"/>
              </a:rPr>
              <a:t>&gt;</a:t>
            </a:r>
          </a:p>
          <a:p>
            <a:pPr fontAlgn="base">
              <a:spcBef>
                <a:spcPct val="0"/>
              </a:spcBef>
              <a:spcAft>
                <a:spcPct val="0"/>
              </a:spcAft>
              <a:defRPr/>
            </a:pP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zh-CN" altLang="en-US" sz="2400" b="1" kern="0" dirty="0">
                <a:latin typeface="Times New Roman" pitchFamily="18" charset="0"/>
                <a:ea typeface="宋体" pitchFamily="2" charset="-122"/>
                <a:cs typeface="Times New Roman" pitchFamily="18" charset="0"/>
              </a:rPr>
              <a:t>函数声明</a:t>
            </a: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int </a:t>
            </a:r>
            <a:r>
              <a:rPr kumimoji="1" lang="en-US" altLang="zh-CN" sz="2400" b="1" kern="0" dirty="0" err="1">
                <a:latin typeface="Times New Roman" pitchFamily="18" charset="0"/>
                <a:ea typeface="宋体" pitchFamily="2" charset="-122"/>
                <a:cs typeface="Times New Roman" pitchFamily="18" charset="0"/>
              </a:rPr>
              <a:t>add_numbers</a:t>
            </a:r>
            <a:r>
              <a:rPr kumimoji="1" lang="en-US" altLang="zh-CN" sz="2400" b="1" kern="0" dirty="0">
                <a:latin typeface="Times New Roman" pitchFamily="18" charset="0"/>
                <a:ea typeface="宋体" pitchFamily="2" charset="-122"/>
                <a:cs typeface="Times New Roman" pitchFamily="18" charset="0"/>
              </a:rPr>
              <a:t>(int a, int b);</a:t>
            </a:r>
          </a:p>
          <a:p>
            <a:pPr fontAlgn="base">
              <a:spcBef>
                <a:spcPct val="0"/>
              </a:spcBef>
              <a:spcAft>
                <a:spcPct val="0"/>
              </a:spcAft>
              <a:defRPr/>
            </a:pP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int main(void)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int x = 5, y = 3;</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 </a:t>
            </a:r>
            <a:r>
              <a:rPr kumimoji="1" lang="zh-CN" altLang="en-US" sz="2400" b="1" kern="0" dirty="0">
                <a:latin typeface="Times New Roman" pitchFamily="18" charset="0"/>
                <a:ea typeface="宋体" pitchFamily="2" charset="-122"/>
                <a:cs typeface="Times New Roman" pitchFamily="18" charset="0"/>
              </a:rPr>
              <a:t>函数调用</a:t>
            </a: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int result = </a:t>
            </a:r>
            <a:r>
              <a:rPr kumimoji="1" lang="en-US" altLang="zh-CN" sz="2400" b="1" kern="0" dirty="0" err="1">
                <a:latin typeface="Times New Roman" pitchFamily="18" charset="0"/>
                <a:ea typeface="宋体" pitchFamily="2" charset="-122"/>
                <a:cs typeface="Times New Roman" pitchFamily="18" charset="0"/>
              </a:rPr>
              <a:t>add_numbers</a:t>
            </a:r>
            <a:r>
              <a:rPr kumimoji="1" lang="en-US" altLang="zh-CN" sz="2400" b="1" kern="0" dirty="0">
                <a:latin typeface="Times New Roman" pitchFamily="18" charset="0"/>
                <a:ea typeface="宋体" pitchFamily="2" charset="-122"/>
                <a:cs typeface="Times New Roman" pitchFamily="18" charset="0"/>
              </a:rPr>
              <a:t>(x, y);</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en-US" altLang="zh-CN" sz="2400" b="1" kern="0" dirty="0" err="1">
                <a:latin typeface="Times New Roman" pitchFamily="18" charset="0"/>
                <a:ea typeface="宋体" pitchFamily="2" charset="-122"/>
                <a:cs typeface="Times New Roman" pitchFamily="18" charset="0"/>
              </a:rPr>
              <a:t>printf</a:t>
            </a:r>
            <a:r>
              <a:rPr kumimoji="1" lang="en-US" altLang="zh-CN" sz="2400" b="1" kern="0" dirty="0">
                <a:latin typeface="Times New Roman" pitchFamily="18" charset="0"/>
                <a:ea typeface="宋体" pitchFamily="2" charset="-122"/>
                <a:cs typeface="Times New Roman" pitchFamily="18" charset="0"/>
              </a:rPr>
              <a:t>("result: %d\n", result);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return 0;</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a:t>
            </a:r>
          </a:p>
          <a:p>
            <a:pPr fontAlgn="base">
              <a:spcBef>
                <a:spcPct val="0"/>
              </a:spcBef>
              <a:spcAft>
                <a:spcPct val="0"/>
              </a:spcAft>
              <a:defRPr/>
            </a:pP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zh-CN" altLang="en-US" sz="2400" b="1" kern="0" dirty="0">
                <a:latin typeface="Times New Roman" pitchFamily="18" charset="0"/>
                <a:ea typeface="宋体" pitchFamily="2" charset="-122"/>
                <a:cs typeface="Times New Roman" pitchFamily="18" charset="0"/>
              </a:rPr>
              <a:t>函数定义</a:t>
            </a:r>
            <a:endParaRPr kumimoji="1" lang="en-US" altLang="zh-CN" sz="24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int </a:t>
            </a:r>
            <a:r>
              <a:rPr kumimoji="1" lang="en-US" altLang="zh-CN" sz="2400" b="1" kern="0" dirty="0" err="1">
                <a:latin typeface="Times New Roman" pitchFamily="18" charset="0"/>
                <a:ea typeface="宋体" pitchFamily="2" charset="-122"/>
                <a:cs typeface="Times New Roman" pitchFamily="18" charset="0"/>
              </a:rPr>
              <a:t>add_numbers</a:t>
            </a:r>
            <a:r>
              <a:rPr kumimoji="1" lang="en-US" altLang="zh-CN" sz="2400" b="1" kern="0" dirty="0">
                <a:latin typeface="Times New Roman" pitchFamily="18" charset="0"/>
                <a:ea typeface="宋体" pitchFamily="2" charset="-122"/>
                <a:cs typeface="Times New Roman" pitchFamily="18" charset="0"/>
              </a:rPr>
              <a:t>(int a, int b)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int sum;</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sum = a + b;</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return sum;</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1308398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36C21-5D66-4A2E-B60A-11B205F57B55}"/>
              </a:ext>
            </a:extLst>
          </p:cNvPr>
          <p:cNvSpPr>
            <a:spLocks noGrp="1"/>
          </p:cNvSpPr>
          <p:nvPr>
            <p:ph type="title"/>
          </p:nvPr>
        </p:nvSpPr>
        <p:spPr/>
        <p:txBody>
          <a:bodyPr/>
          <a:lstStyle/>
          <a:p>
            <a:r>
              <a:rPr lang="zh-CN" altLang="en-US" dirty="0"/>
              <a:t>综合实例</a:t>
            </a:r>
          </a:p>
        </p:txBody>
      </p:sp>
      <p:sp>
        <p:nvSpPr>
          <p:cNvPr id="3" name="内容占位符 2">
            <a:extLst>
              <a:ext uri="{FF2B5EF4-FFF2-40B4-BE49-F238E27FC236}">
                <a16:creationId xmlns:a16="http://schemas.microsoft.com/office/drawing/2014/main" id="{D76BF8C7-D10D-425E-B70A-433F69009F82}"/>
              </a:ext>
            </a:extLst>
          </p:cNvPr>
          <p:cNvSpPr>
            <a:spLocks noGrp="1"/>
          </p:cNvSpPr>
          <p:nvPr>
            <p:ph idx="1"/>
          </p:nvPr>
        </p:nvSpPr>
        <p:spPr>
          <a:xfrm>
            <a:off x="669925" y="827405"/>
            <a:ext cx="10852150" cy="5629910"/>
          </a:xfrm>
        </p:spPr>
        <p:txBody>
          <a:bodyPr/>
          <a:lstStyle/>
          <a:p>
            <a:r>
              <a:rPr lang="en-US" altLang="zh-CN" dirty="0"/>
              <a:t>【</a:t>
            </a:r>
            <a:r>
              <a:rPr lang="zh-CN" altLang="en-US" dirty="0"/>
              <a:t>例 </a:t>
            </a:r>
            <a:r>
              <a:rPr lang="en-US" altLang="zh-CN" dirty="0"/>
              <a:t>4.1】</a:t>
            </a:r>
            <a:r>
              <a:rPr lang="zh-CN" altLang="en-US" dirty="0"/>
              <a:t>使用自定义函数，求</a:t>
            </a:r>
            <a:r>
              <a:rPr lang="en-US" altLang="zh-CN" dirty="0"/>
              <a:t>s = 1! + 2! + … +5!</a:t>
            </a:r>
            <a:r>
              <a:rPr lang="zh-CN" altLang="en-US" dirty="0"/>
              <a:t>。</a:t>
            </a:r>
          </a:p>
        </p:txBody>
      </p:sp>
      <p:sp>
        <p:nvSpPr>
          <p:cNvPr id="6" name="文本框 5">
            <a:extLst>
              <a:ext uri="{FF2B5EF4-FFF2-40B4-BE49-F238E27FC236}">
                <a16:creationId xmlns:a16="http://schemas.microsoft.com/office/drawing/2014/main" id="{9095592D-C557-4D63-B4E7-8A2691BAE03D}"/>
              </a:ext>
            </a:extLst>
          </p:cNvPr>
          <p:cNvSpPr txBox="1"/>
          <p:nvPr/>
        </p:nvSpPr>
        <p:spPr>
          <a:xfrm>
            <a:off x="482071" y="1442619"/>
            <a:ext cx="10914062" cy="5220000"/>
          </a:xfrm>
          <a:prstGeom prst="rect">
            <a:avLst/>
          </a:prstGeom>
          <a:noFill/>
          <a:ln w="12700">
            <a:solidFill>
              <a:srgbClr val="0000FF"/>
            </a:solidFill>
          </a:ln>
        </p:spPr>
        <p:txBody>
          <a:bodyPr wrap="square" numCol="2">
            <a:spAutoFit/>
          </a:bodyPr>
          <a:lstStyle/>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#include &lt;</a:t>
            </a:r>
            <a:r>
              <a:rPr kumimoji="1" lang="en-US" altLang="zh-CN" sz="2400" b="1" kern="0" dirty="0" err="1">
                <a:latin typeface="Times New Roman" pitchFamily="18" charset="0"/>
                <a:ea typeface="宋体" pitchFamily="2" charset="-122"/>
                <a:cs typeface="Times New Roman" pitchFamily="18" charset="0"/>
              </a:rPr>
              <a:t>stdio.h</a:t>
            </a:r>
            <a:r>
              <a:rPr kumimoji="1" lang="en-US" altLang="zh-CN" sz="2400" b="1" kern="0" dirty="0">
                <a:latin typeface="Times New Roman" pitchFamily="18" charset="0"/>
                <a:ea typeface="宋体" pitchFamily="2" charset="-122"/>
                <a:cs typeface="Times New Roman" pitchFamily="18" charset="0"/>
              </a:rPr>
              <a:t>&gt;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zh-CN" altLang="en-US" sz="2400" b="1" kern="0" dirty="0">
                <a:latin typeface="Times New Roman" pitchFamily="18" charset="0"/>
                <a:ea typeface="宋体" pitchFamily="2" charset="-122"/>
                <a:cs typeface="Times New Roman" pitchFamily="18" charset="0"/>
              </a:rPr>
              <a:t>函数声明</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long factorial(int n);</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int main(void)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int n;</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long s = 0, fact;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for (n = 1; n &lt;= 5; n++)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 </a:t>
            </a:r>
            <a:r>
              <a:rPr kumimoji="1" lang="zh-CN" altLang="en-US" sz="2400" b="1" kern="0" dirty="0">
                <a:latin typeface="Times New Roman" pitchFamily="18" charset="0"/>
                <a:ea typeface="宋体" pitchFamily="2" charset="-122"/>
                <a:cs typeface="Times New Roman" pitchFamily="18" charset="0"/>
              </a:rPr>
              <a:t>函数调用</a:t>
            </a:r>
          </a:p>
          <a:p>
            <a:pPr fontAlgn="base">
              <a:spcBef>
                <a:spcPct val="0"/>
              </a:spcBef>
              <a:spcAft>
                <a:spcPct val="0"/>
              </a:spcAft>
              <a:defRPr/>
            </a:pPr>
            <a:r>
              <a:rPr kumimoji="1" lang="zh-CN" altLang="en-US" sz="2400" b="1" kern="0" dirty="0">
                <a:latin typeface="Times New Roman" pitchFamily="18" charset="0"/>
                <a:ea typeface="宋体" pitchFamily="2" charset="-122"/>
                <a:cs typeface="Times New Roman" pitchFamily="18" charset="0"/>
              </a:rPr>
              <a:t>             </a:t>
            </a:r>
            <a:r>
              <a:rPr kumimoji="1" lang="en-US" altLang="zh-CN" sz="2400" b="1" kern="0" dirty="0">
                <a:latin typeface="Times New Roman" pitchFamily="18" charset="0"/>
                <a:ea typeface="宋体" pitchFamily="2" charset="-122"/>
                <a:cs typeface="Times New Roman" pitchFamily="18" charset="0"/>
              </a:rPr>
              <a:t>fact = factorial(n);</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s += fact;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en-US" altLang="zh-CN" sz="2400" b="1" kern="0" dirty="0" err="1">
                <a:latin typeface="Times New Roman" pitchFamily="18" charset="0"/>
                <a:ea typeface="宋体" pitchFamily="2" charset="-122"/>
                <a:cs typeface="Times New Roman" pitchFamily="18" charset="0"/>
              </a:rPr>
              <a:t>printf</a:t>
            </a:r>
            <a:r>
              <a:rPr kumimoji="1" lang="en-US" altLang="zh-CN" sz="2400" b="1" kern="0" dirty="0">
                <a:latin typeface="Times New Roman" pitchFamily="18" charset="0"/>
                <a:ea typeface="宋体" pitchFamily="2" charset="-122"/>
                <a:cs typeface="Times New Roman" pitchFamily="18" charset="0"/>
              </a:rPr>
              <a:t>("s=%</a:t>
            </a:r>
            <a:r>
              <a:rPr kumimoji="1" lang="en-US" altLang="zh-CN" sz="2400" b="1" kern="0" dirty="0" err="1">
                <a:latin typeface="Times New Roman" pitchFamily="18" charset="0"/>
                <a:ea typeface="宋体" pitchFamily="2" charset="-122"/>
                <a:cs typeface="Times New Roman" pitchFamily="18" charset="0"/>
              </a:rPr>
              <a:t>ld</a:t>
            </a:r>
            <a:r>
              <a:rPr kumimoji="1" lang="en-US" altLang="zh-CN" sz="2400" b="1" kern="0" dirty="0">
                <a:latin typeface="Times New Roman" pitchFamily="18" charset="0"/>
                <a:ea typeface="宋体" pitchFamily="2" charset="-122"/>
                <a:cs typeface="Times New Roman" pitchFamily="18" charset="0"/>
              </a:rPr>
              <a:t>\n", s);</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return 0;</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r>
              <a:rPr kumimoji="1" lang="zh-CN" altLang="en-US" sz="2400" b="1" kern="0" dirty="0">
                <a:latin typeface="Times New Roman" pitchFamily="18" charset="0"/>
                <a:ea typeface="宋体" pitchFamily="2" charset="-122"/>
                <a:cs typeface="Times New Roman" pitchFamily="18" charset="0"/>
              </a:rPr>
              <a:t>函数定义</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long factorial(int n)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long result = 1;</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int </a:t>
            </a:r>
            <a:r>
              <a:rPr kumimoji="1" lang="en-US" altLang="zh-CN" sz="2400" b="1" kern="0" dirty="0" err="1">
                <a:latin typeface="Times New Roman" pitchFamily="18" charset="0"/>
                <a:ea typeface="宋体" pitchFamily="2" charset="-122"/>
                <a:cs typeface="Times New Roman" pitchFamily="18" charset="0"/>
              </a:rPr>
              <a:t>i</a:t>
            </a:r>
            <a:r>
              <a:rPr kumimoji="1" lang="en-US" altLang="zh-CN" sz="24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for (</a:t>
            </a:r>
            <a:r>
              <a:rPr kumimoji="1" lang="en-US" altLang="zh-CN" sz="2400" b="1" kern="0" dirty="0" err="1">
                <a:latin typeface="Times New Roman" pitchFamily="18" charset="0"/>
                <a:ea typeface="宋体" pitchFamily="2" charset="-122"/>
                <a:cs typeface="Times New Roman" pitchFamily="18" charset="0"/>
              </a:rPr>
              <a:t>i</a:t>
            </a:r>
            <a:r>
              <a:rPr kumimoji="1" lang="en-US" altLang="zh-CN" sz="2400" b="1" kern="0" dirty="0">
                <a:latin typeface="Times New Roman" pitchFamily="18" charset="0"/>
                <a:ea typeface="宋体" pitchFamily="2" charset="-122"/>
                <a:cs typeface="Times New Roman" pitchFamily="18" charset="0"/>
              </a:rPr>
              <a:t> = 2; </a:t>
            </a:r>
            <a:r>
              <a:rPr kumimoji="1" lang="en-US" altLang="zh-CN" sz="2400" b="1" kern="0" dirty="0" err="1">
                <a:latin typeface="Times New Roman" pitchFamily="18" charset="0"/>
                <a:ea typeface="宋体" pitchFamily="2" charset="-122"/>
                <a:cs typeface="Times New Roman" pitchFamily="18" charset="0"/>
              </a:rPr>
              <a:t>i</a:t>
            </a:r>
            <a:r>
              <a:rPr kumimoji="1" lang="en-US" altLang="zh-CN" sz="2400" b="1" kern="0" dirty="0">
                <a:latin typeface="Times New Roman" pitchFamily="18" charset="0"/>
                <a:ea typeface="宋体" pitchFamily="2" charset="-122"/>
                <a:cs typeface="Times New Roman" pitchFamily="18" charset="0"/>
              </a:rPr>
              <a:t> &lt;= n; </a:t>
            </a:r>
            <a:r>
              <a:rPr kumimoji="1" lang="en-US" altLang="zh-CN" sz="2400" b="1" kern="0" dirty="0" err="1">
                <a:latin typeface="Times New Roman" pitchFamily="18" charset="0"/>
                <a:ea typeface="宋体" pitchFamily="2" charset="-122"/>
                <a:cs typeface="Times New Roman" pitchFamily="18" charset="0"/>
              </a:rPr>
              <a:t>i</a:t>
            </a:r>
            <a:r>
              <a:rPr kumimoji="1" lang="en-US" altLang="zh-CN" sz="24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result *= </a:t>
            </a:r>
            <a:r>
              <a:rPr kumimoji="1" lang="en-US" altLang="zh-CN" sz="2400" b="1" kern="0" dirty="0" err="1">
                <a:latin typeface="Times New Roman" pitchFamily="18" charset="0"/>
                <a:ea typeface="宋体" pitchFamily="2" charset="-122"/>
                <a:cs typeface="Times New Roman" pitchFamily="18" charset="0"/>
              </a:rPr>
              <a:t>i</a:t>
            </a:r>
            <a:r>
              <a:rPr kumimoji="1" lang="en-US" altLang="zh-CN" sz="24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       return result;</a:t>
            </a:r>
          </a:p>
          <a:p>
            <a:pPr fontAlgn="base">
              <a:spcBef>
                <a:spcPct val="0"/>
              </a:spcBef>
              <a:spcAft>
                <a:spcPct val="0"/>
              </a:spcAft>
              <a:defRPr/>
            </a:pPr>
            <a:r>
              <a:rPr kumimoji="1" lang="en-US" altLang="zh-CN" sz="2400" b="1" kern="0" dirty="0">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322354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36C21-5D66-4A2E-B60A-11B205F57B55}"/>
              </a:ext>
            </a:extLst>
          </p:cNvPr>
          <p:cNvSpPr>
            <a:spLocks noGrp="1"/>
          </p:cNvSpPr>
          <p:nvPr>
            <p:ph type="title"/>
          </p:nvPr>
        </p:nvSpPr>
        <p:spPr/>
        <p:txBody>
          <a:bodyPr/>
          <a:lstStyle/>
          <a:p>
            <a:r>
              <a:rPr lang="zh-CN" altLang="en-US" dirty="0"/>
              <a:t>综合实例</a:t>
            </a:r>
          </a:p>
        </p:txBody>
      </p:sp>
      <p:sp>
        <p:nvSpPr>
          <p:cNvPr id="3" name="内容占位符 2">
            <a:extLst>
              <a:ext uri="{FF2B5EF4-FFF2-40B4-BE49-F238E27FC236}">
                <a16:creationId xmlns:a16="http://schemas.microsoft.com/office/drawing/2014/main" id="{D76BF8C7-D10D-425E-B70A-433F69009F82}"/>
              </a:ext>
            </a:extLst>
          </p:cNvPr>
          <p:cNvSpPr>
            <a:spLocks noGrp="1"/>
          </p:cNvSpPr>
          <p:nvPr>
            <p:ph idx="1"/>
          </p:nvPr>
        </p:nvSpPr>
        <p:spPr>
          <a:xfrm>
            <a:off x="669925" y="827405"/>
            <a:ext cx="10852150" cy="5629910"/>
          </a:xfrm>
        </p:spPr>
        <p:txBody>
          <a:bodyPr/>
          <a:lstStyle/>
          <a:p>
            <a:pPr>
              <a:lnSpc>
                <a:spcPct val="200000"/>
              </a:lnSpc>
            </a:pPr>
            <a:r>
              <a:rPr lang="en-US" altLang="zh-CN" sz="2800" dirty="0"/>
              <a:t>【</a:t>
            </a:r>
            <a:r>
              <a:rPr lang="zh-CN" altLang="en-US" sz="2800" dirty="0"/>
              <a:t>例 </a:t>
            </a:r>
            <a:r>
              <a:rPr lang="en-US" altLang="zh-CN" sz="2800" dirty="0"/>
              <a:t>4.3】</a:t>
            </a:r>
            <a:r>
              <a:rPr lang="zh-CN" altLang="en-US" sz="2800" dirty="0"/>
              <a:t>输入一个正整数</a:t>
            </a:r>
            <a:r>
              <a:rPr lang="en-US" altLang="zh-CN" sz="2800" dirty="0"/>
              <a:t>n</a:t>
            </a:r>
            <a:r>
              <a:rPr lang="zh-CN" altLang="en-US" sz="2800" dirty="0"/>
              <a:t>，求                           ，其中求指数“</a:t>
            </a:r>
            <a:r>
              <a:rPr lang="en-US" altLang="zh-CN" sz="2800" dirty="0"/>
              <a:t>a</a:t>
            </a:r>
            <a:r>
              <a:rPr lang="zh-CN" altLang="en-US" sz="2800" dirty="0"/>
              <a:t>的</a:t>
            </a:r>
            <a:r>
              <a:rPr lang="en-US" altLang="zh-CN" sz="2800" dirty="0"/>
              <a:t>b</a:t>
            </a:r>
            <a:r>
              <a:rPr lang="zh-CN" altLang="en-US" sz="2800" dirty="0"/>
              <a:t>次方”使用函数实现。计算结果保留小数点后</a:t>
            </a:r>
            <a:r>
              <a:rPr lang="en-US" altLang="zh-CN" sz="2800" dirty="0"/>
              <a:t>3</a:t>
            </a:r>
            <a:r>
              <a:rPr lang="zh-CN" altLang="en-US" sz="2800" dirty="0"/>
              <a:t>位。</a:t>
            </a:r>
            <a:endParaRPr lang="en-US" altLang="zh-CN" sz="2800" dirty="0"/>
          </a:p>
          <a:p>
            <a:endParaRPr lang="zh-CN" altLang="en-US" dirty="0"/>
          </a:p>
        </p:txBody>
      </p:sp>
      <p:graphicFrame>
        <p:nvGraphicFramePr>
          <p:cNvPr id="4" name="对象 3">
            <a:extLst>
              <a:ext uri="{FF2B5EF4-FFF2-40B4-BE49-F238E27FC236}">
                <a16:creationId xmlns:a16="http://schemas.microsoft.com/office/drawing/2014/main" id="{CE1C4516-0ECE-42E1-A64C-7AA435E6033C}"/>
              </a:ext>
            </a:extLst>
          </p:cNvPr>
          <p:cNvGraphicFramePr>
            <a:graphicFrameLocks noChangeAspect="1"/>
          </p:cNvGraphicFramePr>
          <p:nvPr>
            <p:extLst>
              <p:ext uri="{D42A27DB-BD31-4B8C-83A1-F6EECF244321}">
                <p14:modId xmlns:p14="http://schemas.microsoft.com/office/powerpoint/2010/main" val="1832835604"/>
              </p:ext>
            </p:extLst>
          </p:nvPr>
        </p:nvGraphicFramePr>
        <p:xfrm>
          <a:off x="6529388" y="760413"/>
          <a:ext cx="3124200" cy="1081087"/>
        </p:xfrm>
        <a:graphic>
          <a:graphicData uri="http://schemas.openxmlformats.org/presentationml/2006/ole">
            <mc:AlternateContent xmlns:mc="http://schemas.openxmlformats.org/markup-compatibility/2006">
              <mc:Choice xmlns:v="urn:schemas-microsoft-com:vml" Requires="v">
                <p:oleObj name="Equation" r:id="rId2" imgW="1358640" imgH="469800" progId="Equation.DSMT4">
                  <p:embed/>
                </p:oleObj>
              </mc:Choice>
              <mc:Fallback>
                <p:oleObj name="Equation" r:id="rId2" imgW="1358640" imgH="469800" progId="Equation.DSMT4">
                  <p:embed/>
                  <p:pic>
                    <p:nvPicPr>
                      <p:cNvPr id="0" name=""/>
                      <p:cNvPicPr/>
                      <p:nvPr/>
                    </p:nvPicPr>
                    <p:blipFill>
                      <a:blip r:embed="rId3"/>
                      <a:stretch>
                        <a:fillRect/>
                      </a:stretch>
                    </p:blipFill>
                    <p:spPr>
                      <a:xfrm>
                        <a:off x="6529388" y="760413"/>
                        <a:ext cx="3124200" cy="1081087"/>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9095592D-C557-4D63-B4E7-8A2691BAE03D}"/>
              </a:ext>
            </a:extLst>
          </p:cNvPr>
          <p:cNvSpPr txBox="1"/>
          <p:nvPr/>
        </p:nvSpPr>
        <p:spPr>
          <a:xfrm>
            <a:off x="464078" y="2444867"/>
            <a:ext cx="11057997" cy="4154984"/>
          </a:xfrm>
          <a:prstGeom prst="rect">
            <a:avLst/>
          </a:prstGeom>
          <a:noFill/>
          <a:ln w="12700">
            <a:solidFill>
              <a:srgbClr val="0000FF"/>
            </a:solidFill>
          </a:ln>
        </p:spPr>
        <p:txBody>
          <a:bodyPr wrap="square" numCol="2">
            <a:spAutoFit/>
          </a:bodyPr>
          <a:lstStyle/>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#include &lt;</a:t>
            </a:r>
            <a:r>
              <a:rPr kumimoji="1" lang="en-US" altLang="zh-CN" sz="2000" b="1" kern="0" dirty="0" err="1">
                <a:latin typeface="Times New Roman" pitchFamily="18" charset="0"/>
                <a:ea typeface="宋体" pitchFamily="2" charset="-122"/>
                <a:cs typeface="Times New Roman" pitchFamily="18" charset="0"/>
              </a:rPr>
              <a:t>stdio.h</a:t>
            </a:r>
            <a:r>
              <a:rPr kumimoji="1" lang="en-US" altLang="zh-CN" sz="2000" b="1" kern="0" dirty="0">
                <a:latin typeface="Times New Roman" pitchFamily="18" charset="0"/>
                <a:ea typeface="宋体" pitchFamily="2" charset="-122"/>
                <a:cs typeface="Times New Roman" pitchFamily="18" charset="0"/>
              </a:rPr>
              <a:t>&gt;</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double power(int a, int b);</a:t>
            </a:r>
          </a:p>
          <a:p>
            <a:pPr fontAlgn="base">
              <a:spcBef>
                <a:spcPct val="0"/>
              </a:spcBef>
              <a:spcAft>
                <a:spcPct val="0"/>
              </a:spcAft>
              <a:defRPr/>
            </a:pPr>
            <a:endParaRPr kumimoji="1" lang="en-US" altLang="zh-CN" sz="20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int main(void)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int n,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double sum = 0;</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a:t>
            </a:r>
            <a:r>
              <a:rPr kumimoji="1" lang="en-US" altLang="zh-CN" sz="2000" b="1" kern="0" dirty="0" err="1">
                <a:latin typeface="Times New Roman" pitchFamily="18" charset="0"/>
                <a:ea typeface="宋体" pitchFamily="2" charset="-122"/>
                <a:cs typeface="Times New Roman" pitchFamily="18" charset="0"/>
              </a:rPr>
              <a:t>scanf</a:t>
            </a:r>
            <a:r>
              <a:rPr kumimoji="1" lang="en-US" altLang="zh-CN" sz="2000" b="1" kern="0" dirty="0">
                <a:latin typeface="Times New Roman" pitchFamily="18" charset="0"/>
                <a:ea typeface="宋体" pitchFamily="2" charset="-122"/>
                <a:cs typeface="Times New Roman" pitchFamily="18" charset="0"/>
              </a:rPr>
              <a:t>("%d", &amp;n);</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for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 1;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&lt;= n;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sum +=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 power(</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+ 1,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a:t>
            </a:r>
            <a:r>
              <a:rPr kumimoji="1" lang="en-US" altLang="zh-CN" sz="2000" b="1" kern="0" dirty="0" err="1">
                <a:latin typeface="Times New Roman" pitchFamily="18" charset="0"/>
                <a:ea typeface="宋体" pitchFamily="2" charset="-122"/>
                <a:cs typeface="Times New Roman" pitchFamily="18" charset="0"/>
              </a:rPr>
              <a:t>printf</a:t>
            </a:r>
            <a:r>
              <a:rPr kumimoji="1" lang="en-US" altLang="zh-CN" sz="2000" b="1" kern="0" dirty="0">
                <a:latin typeface="Times New Roman" pitchFamily="18" charset="0"/>
                <a:ea typeface="宋体" pitchFamily="2" charset="-122"/>
                <a:cs typeface="Times New Roman" pitchFamily="18" charset="0"/>
              </a:rPr>
              <a:t>("sum = %.3f\n", sum);</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return 0;</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a:t>
            </a:r>
          </a:p>
          <a:p>
            <a:pPr fontAlgn="base">
              <a:spcBef>
                <a:spcPct val="0"/>
              </a:spcBef>
              <a:spcAft>
                <a:spcPct val="0"/>
              </a:spcAft>
              <a:defRPr/>
            </a:pPr>
            <a:endParaRPr kumimoji="1" lang="en-US" altLang="zh-CN" sz="2000" b="1" kern="0" dirty="0">
              <a:latin typeface="Times New Roman" pitchFamily="18" charset="0"/>
              <a:ea typeface="宋体" pitchFamily="2" charset="-122"/>
              <a:cs typeface="Times New Roman" pitchFamily="18" charset="0"/>
            </a:endParaRP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double power(int a, int b)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int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double c = 1;</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for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 1;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&lt;= b; </a:t>
            </a:r>
            <a:r>
              <a:rPr kumimoji="1" lang="en-US" altLang="zh-CN" sz="2000" b="1" kern="0" dirty="0" err="1">
                <a:latin typeface="Times New Roman" pitchFamily="18" charset="0"/>
                <a:ea typeface="宋体" pitchFamily="2" charset="-122"/>
                <a:cs typeface="Times New Roman" pitchFamily="18" charset="0"/>
              </a:rPr>
              <a:t>i</a:t>
            </a:r>
            <a:r>
              <a:rPr kumimoji="1" lang="en-US" altLang="zh-CN" sz="20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c *= a;</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       return c;</a:t>
            </a:r>
          </a:p>
          <a:p>
            <a:pPr fontAlgn="base">
              <a:spcBef>
                <a:spcPct val="0"/>
              </a:spcBef>
              <a:spcAft>
                <a:spcPct val="0"/>
              </a:spcAft>
              <a:defRPr/>
            </a:pPr>
            <a:r>
              <a:rPr kumimoji="1" lang="en-US" altLang="zh-CN" sz="2000" b="1" kern="0" dirty="0">
                <a:latin typeface="Times New Roman" pitchFamily="18" charset="0"/>
                <a:ea typeface="宋体" pitchFamily="2" charset="-122"/>
                <a:cs typeface="Times New Roman" pitchFamily="18" charset="0"/>
              </a:rPr>
              <a:t>}</a:t>
            </a:r>
            <a:endParaRPr kumimoji="1" lang="zh-CN" altLang="en-US" sz="2000" b="1" kern="0" dirty="0">
              <a:latin typeface="Times New Roman" pitchFamily="18" charset="0"/>
              <a:ea typeface="宋体" pitchFamily="2" charset="-122"/>
              <a:cs typeface="Times New Roman" pitchFamily="18" charset="0"/>
            </a:endParaRPr>
          </a:p>
        </p:txBody>
      </p:sp>
    </p:spTree>
    <p:extLst>
      <p:ext uri="{BB962C8B-B14F-4D97-AF65-F5344CB8AC3E}">
        <p14:creationId xmlns:p14="http://schemas.microsoft.com/office/powerpoint/2010/main" val="2593045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36C21-5D66-4A2E-B60A-11B205F57B55}"/>
              </a:ext>
            </a:extLst>
          </p:cNvPr>
          <p:cNvSpPr>
            <a:spLocks noGrp="1"/>
          </p:cNvSpPr>
          <p:nvPr>
            <p:ph type="title"/>
          </p:nvPr>
        </p:nvSpPr>
        <p:spPr/>
        <p:txBody>
          <a:bodyPr/>
          <a:lstStyle/>
          <a:p>
            <a:r>
              <a:rPr lang="zh-CN" altLang="en-US" dirty="0"/>
              <a:t>综合实例</a:t>
            </a:r>
          </a:p>
        </p:txBody>
      </p:sp>
      <p:sp>
        <p:nvSpPr>
          <p:cNvPr id="3" name="内容占位符 2">
            <a:extLst>
              <a:ext uri="{FF2B5EF4-FFF2-40B4-BE49-F238E27FC236}">
                <a16:creationId xmlns:a16="http://schemas.microsoft.com/office/drawing/2014/main" id="{D76BF8C7-D10D-425E-B70A-433F69009F82}"/>
              </a:ext>
            </a:extLst>
          </p:cNvPr>
          <p:cNvSpPr>
            <a:spLocks noGrp="1"/>
          </p:cNvSpPr>
          <p:nvPr>
            <p:ph idx="1"/>
          </p:nvPr>
        </p:nvSpPr>
        <p:spPr>
          <a:xfrm>
            <a:off x="492125" y="1261957"/>
            <a:ext cx="4723342" cy="5150061"/>
          </a:xfrm>
        </p:spPr>
        <p:txBody>
          <a:bodyPr>
            <a:normAutofit fontScale="70000" lnSpcReduction="20000"/>
          </a:bodyPr>
          <a:lstStyle/>
          <a:p>
            <a:pPr>
              <a:lnSpc>
                <a:spcPct val="120000"/>
              </a:lnSpc>
              <a:spcAft>
                <a:spcPts val="0"/>
              </a:spcAft>
            </a:pPr>
            <a:r>
              <a:rPr lang="en-US" altLang="zh-CN" dirty="0"/>
              <a:t>【</a:t>
            </a:r>
            <a:r>
              <a:rPr lang="zh-CN" altLang="en-US" dirty="0"/>
              <a:t>例 </a:t>
            </a:r>
            <a:r>
              <a:rPr lang="en-US" altLang="zh-CN" dirty="0"/>
              <a:t>4.4】</a:t>
            </a:r>
            <a:r>
              <a:rPr lang="zh-CN" altLang="en-US" dirty="0"/>
              <a:t>编写一个函数</a:t>
            </a:r>
            <a:r>
              <a:rPr lang="en-US" altLang="zh-CN" dirty="0" err="1"/>
              <a:t>printStars</a:t>
            </a:r>
            <a:r>
              <a:rPr lang="zh-CN" altLang="en-US" dirty="0"/>
              <a:t>，输出如下图案：</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a:t>
            </a:r>
          </a:p>
          <a:p>
            <a:pPr marL="0" indent="0">
              <a:lnSpc>
                <a:spcPct val="120000"/>
              </a:lnSpc>
              <a:spcAft>
                <a:spcPts val="0"/>
              </a:spcAft>
              <a:buNone/>
            </a:pPr>
            <a:r>
              <a:rPr lang="zh-CN" altLang="en-US" dirty="0"/>
              <a:t>在主函数中通过调用</a:t>
            </a:r>
            <a:r>
              <a:rPr lang="en-US" altLang="zh-CN" dirty="0" err="1"/>
              <a:t>printStars</a:t>
            </a:r>
            <a:r>
              <a:rPr lang="zh-CN" altLang="en-US" dirty="0"/>
              <a:t>函数，输出如下图案：</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 ***</a:t>
            </a:r>
          </a:p>
          <a:p>
            <a:pPr marL="0" indent="0">
              <a:lnSpc>
                <a:spcPct val="120000"/>
              </a:lnSpc>
              <a:spcAft>
                <a:spcPts val="0"/>
              </a:spcAft>
              <a:buNone/>
            </a:pPr>
            <a:r>
              <a:rPr lang="zh-CN" altLang="en-US" dirty="0">
                <a:solidFill>
                  <a:srgbClr val="FF0000"/>
                </a:solidFill>
              </a:rPr>
              <a:t>*****</a:t>
            </a:r>
          </a:p>
        </p:txBody>
      </p:sp>
      <p:sp>
        <p:nvSpPr>
          <p:cNvPr id="6" name="文本框 5">
            <a:extLst>
              <a:ext uri="{FF2B5EF4-FFF2-40B4-BE49-F238E27FC236}">
                <a16:creationId xmlns:a16="http://schemas.microsoft.com/office/drawing/2014/main" id="{9095592D-C557-4D63-B4E7-8A2691BAE03D}"/>
              </a:ext>
            </a:extLst>
          </p:cNvPr>
          <p:cNvSpPr txBox="1"/>
          <p:nvPr/>
        </p:nvSpPr>
        <p:spPr>
          <a:xfrm>
            <a:off x="6214533" y="58846"/>
            <a:ext cx="5579533" cy="6863417"/>
          </a:xfrm>
          <a:prstGeom prst="rect">
            <a:avLst/>
          </a:prstGeom>
          <a:noFill/>
          <a:ln w="12700">
            <a:solidFill>
              <a:srgbClr val="0000FF"/>
            </a:solidFill>
          </a:ln>
        </p:spPr>
        <p:txBody>
          <a:bodyPr wrap="square" numCol="1">
            <a:spAutoFit/>
          </a:bodyPr>
          <a:lstStyle/>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#include &lt;</a:t>
            </a:r>
            <a:r>
              <a:rPr kumimoji="1" lang="en-US" altLang="zh-CN" sz="2200" b="1" kern="0" dirty="0" err="1">
                <a:latin typeface="Times New Roman" pitchFamily="18" charset="0"/>
                <a:ea typeface="宋体" pitchFamily="2" charset="-122"/>
                <a:cs typeface="Times New Roman" pitchFamily="18" charset="0"/>
              </a:rPr>
              <a:t>stdio.h</a:t>
            </a:r>
            <a:r>
              <a:rPr kumimoji="1" lang="en-US" altLang="zh-CN" sz="2200" b="1" kern="0" dirty="0">
                <a:latin typeface="Times New Roman" pitchFamily="18" charset="0"/>
                <a:ea typeface="宋体" pitchFamily="2" charset="-122"/>
                <a:cs typeface="Times New Roman" pitchFamily="18" charset="0"/>
              </a:rPr>
              <a:t>&gt;</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void </a:t>
            </a:r>
            <a:r>
              <a:rPr kumimoji="1" lang="en-US" altLang="zh-CN" sz="2200" b="1" kern="0" dirty="0" err="1">
                <a:latin typeface="Times New Roman" pitchFamily="18" charset="0"/>
                <a:ea typeface="宋体" pitchFamily="2" charset="-122"/>
                <a:cs typeface="Times New Roman" pitchFamily="18" charset="0"/>
              </a:rPr>
              <a:t>printStars</a:t>
            </a:r>
            <a:r>
              <a:rPr kumimoji="1" lang="en-US" altLang="zh-CN" sz="2200" b="1" kern="0" dirty="0">
                <a:latin typeface="Times New Roman" pitchFamily="18" charset="0"/>
                <a:ea typeface="宋体" pitchFamily="2" charset="-122"/>
                <a:cs typeface="Times New Roman" pitchFamily="18" charset="0"/>
              </a:rPr>
              <a:t>(void)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int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j, rows = 3;</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for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 1;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&lt;= rows;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for (j = 1; j &lt;= rows -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a:t>
            </a:r>
            <a:r>
              <a:rPr kumimoji="1" lang="en-US" altLang="zh-CN" sz="2200" b="1" kern="0" dirty="0" err="1">
                <a:latin typeface="Times New Roman" pitchFamily="18" charset="0"/>
                <a:ea typeface="宋体" pitchFamily="2" charset="-122"/>
                <a:cs typeface="Times New Roman" pitchFamily="18" charset="0"/>
              </a:rPr>
              <a:t>j++</a:t>
            </a: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r>
              <a:rPr kumimoji="1" lang="en-US" altLang="zh-CN" sz="2200" b="1" kern="0" dirty="0" err="1">
                <a:latin typeface="Times New Roman" pitchFamily="18" charset="0"/>
                <a:ea typeface="宋体" pitchFamily="2" charset="-122"/>
                <a:cs typeface="Times New Roman" pitchFamily="18" charset="0"/>
              </a:rPr>
              <a:t>printf</a:t>
            </a: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for (j = 1; j &lt;= 2 *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- 1; </a:t>
            </a:r>
            <a:r>
              <a:rPr kumimoji="1" lang="en-US" altLang="zh-CN" sz="2200" b="1" kern="0" dirty="0" err="1">
                <a:latin typeface="Times New Roman" pitchFamily="18" charset="0"/>
                <a:ea typeface="宋体" pitchFamily="2" charset="-122"/>
                <a:cs typeface="Times New Roman" pitchFamily="18" charset="0"/>
              </a:rPr>
              <a:t>j++</a:t>
            </a: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r>
              <a:rPr kumimoji="1" lang="en-US" altLang="zh-CN" sz="2200" b="1" kern="0" dirty="0" err="1">
                <a:latin typeface="Times New Roman" pitchFamily="18" charset="0"/>
                <a:ea typeface="宋体" pitchFamily="2" charset="-122"/>
                <a:cs typeface="Times New Roman" pitchFamily="18" charset="0"/>
              </a:rPr>
              <a:t>printf</a:t>
            </a:r>
            <a:r>
              <a:rPr kumimoji="1" lang="en-US" altLang="zh-CN" sz="22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r>
              <a:rPr kumimoji="1" lang="en-US" altLang="zh-CN" sz="2200" b="1" kern="0" dirty="0" err="1">
                <a:latin typeface="Times New Roman" pitchFamily="18" charset="0"/>
                <a:ea typeface="宋体" pitchFamily="2" charset="-122"/>
                <a:cs typeface="Times New Roman" pitchFamily="18" charset="0"/>
              </a:rPr>
              <a:t>printf</a:t>
            </a:r>
            <a:r>
              <a:rPr kumimoji="1" lang="en-US" altLang="zh-CN" sz="2200" b="1" kern="0" dirty="0">
                <a:latin typeface="Times New Roman" pitchFamily="18" charset="0"/>
                <a:ea typeface="宋体" pitchFamily="2" charset="-122"/>
                <a:cs typeface="Times New Roman" pitchFamily="18" charset="0"/>
              </a:rPr>
              <a:t>("\n");</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int main(void)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int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for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 1;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&lt;= 2; </a:t>
            </a:r>
            <a:r>
              <a:rPr kumimoji="1" lang="en-US" altLang="zh-CN" sz="2200" b="1" kern="0" dirty="0" err="1">
                <a:latin typeface="Times New Roman" pitchFamily="18" charset="0"/>
                <a:ea typeface="宋体" pitchFamily="2" charset="-122"/>
                <a:cs typeface="Times New Roman" pitchFamily="18" charset="0"/>
              </a:rPr>
              <a:t>i</a:t>
            </a: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r>
              <a:rPr kumimoji="1" lang="en-US" altLang="zh-CN" sz="2200" b="1" kern="0" dirty="0" err="1">
                <a:latin typeface="Times New Roman" pitchFamily="18" charset="0"/>
                <a:ea typeface="宋体" pitchFamily="2" charset="-122"/>
                <a:cs typeface="Times New Roman" pitchFamily="18" charset="0"/>
              </a:rPr>
              <a:t>printStars</a:t>
            </a:r>
            <a:r>
              <a:rPr kumimoji="1" lang="en-US" altLang="zh-CN" sz="2200" b="1" kern="0" dirty="0">
                <a:latin typeface="Times New Roman" pitchFamily="18" charset="0"/>
                <a:ea typeface="宋体" pitchFamily="2" charset="-122"/>
                <a:cs typeface="Times New Roman" pitchFamily="18" charset="0"/>
              </a:rPr>
              <a:t>();</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       return 0;</a:t>
            </a:r>
          </a:p>
          <a:p>
            <a:pPr fontAlgn="base">
              <a:spcBef>
                <a:spcPct val="0"/>
              </a:spcBef>
              <a:spcAft>
                <a:spcPct val="0"/>
              </a:spcAft>
              <a:defRPr/>
            </a:pPr>
            <a:r>
              <a:rPr kumimoji="1" lang="en-US" altLang="zh-CN" sz="2200" b="1" kern="0" dirty="0">
                <a:latin typeface="Times New Roman" pitchFamily="18" charset="0"/>
                <a:ea typeface="宋体" pitchFamily="2" charset="-122"/>
                <a:cs typeface="Times New Roman" pitchFamily="18" charset="0"/>
              </a:rPr>
              <a:t>}</a:t>
            </a:r>
          </a:p>
        </p:txBody>
      </p:sp>
    </p:spTree>
    <p:extLst>
      <p:ext uri="{BB962C8B-B14F-4D97-AF65-F5344CB8AC3E}">
        <p14:creationId xmlns:p14="http://schemas.microsoft.com/office/powerpoint/2010/main" val="1412354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4.1.5 </a:t>
            </a:r>
            <a:r>
              <a:rPr lang="zh-CN" altLang="en-US" dirty="0">
                <a:sym typeface="+mn-ea"/>
              </a:rPr>
              <a:t>函数参数传递</a:t>
            </a:r>
            <a:endParaRPr lang="zh-CN" altLang="en-US" dirty="0"/>
          </a:p>
        </p:txBody>
      </p:sp>
      <p:sp>
        <p:nvSpPr>
          <p:cNvPr id="3" name="内容占位符 2"/>
          <p:cNvSpPr>
            <a:spLocks noGrp="1"/>
          </p:cNvSpPr>
          <p:nvPr>
            <p:ph idx="1"/>
          </p:nvPr>
        </p:nvSpPr>
        <p:spPr>
          <a:xfrm>
            <a:off x="314324" y="1163319"/>
            <a:ext cx="11207751" cy="5499947"/>
          </a:xfrm>
        </p:spPr>
        <p:txBody>
          <a:bodyPr>
            <a:normAutofit/>
          </a:bodyPr>
          <a:lstStyle/>
          <a:p>
            <a:pPr marL="457200" lvl="1" indent="0">
              <a:buNone/>
            </a:pPr>
            <a:r>
              <a:rPr lang="en-US" altLang="zh-CN" sz="2800" dirty="0"/>
              <a:t>C</a:t>
            </a:r>
            <a:r>
              <a:rPr lang="zh-CN" altLang="en-US" sz="2800" dirty="0"/>
              <a:t>语言的参数传递方式有两种：</a:t>
            </a:r>
            <a:r>
              <a:rPr lang="zh-CN" altLang="en-US" sz="2800" dirty="0">
                <a:solidFill>
                  <a:srgbClr val="FF0000"/>
                </a:solidFill>
              </a:rPr>
              <a:t>传值调用</a:t>
            </a:r>
            <a:r>
              <a:rPr lang="zh-CN" altLang="en-US" sz="2800" dirty="0"/>
              <a:t>和</a:t>
            </a:r>
            <a:r>
              <a:rPr lang="zh-CN" altLang="en-US" sz="2800" dirty="0">
                <a:solidFill>
                  <a:srgbClr val="FF0000"/>
                </a:solidFill>
              </a:rPr>
              <a:t>传地址调用</a:t>
            </a:r>
            <a:r>
              <a:rPr lang="zh-CN" altLang="en-US" sz="2800" dirty="0"/>
              <a:t>。</a:t>
            </a:r>
            <a:endParaRPr lang="en-US" altLang="zh-CN" sz="2800" dirty="0"/>
          </a:p>
          <a:p>
            <a:pPr marL="457200" lvl="1" indent="0">
              <a:buNone/>
            </a:pPr>
            <a:endParaRPr lang="en-US" altLang="zh-CN" sz="2800" dirty="0"/>
          </a:p>
          <a:p>
            <a:pPr marL="457200" lvl="1" indent="0">
              <a:buNone/>
            </a:pPr>
            <a:endParaRPr lang="en-US" altLang="zh-CN" sz="2800" dirty="0"/>
          </a:p>
          <a:p>
            <a:pPr marL="228600" lvl="1">
              <a:lnSpc>
                <a:spcPct val="130000"/>
              </a:lnSpc>
              <a:spcAft>
                <a:spcPts val="1000"/>
              </a:spcAft>
            </a:pPr>
            <a:r>
              <a:rPr lang="en-US" altLang="zh-CN" sz="2800" b="0" dirty="0">
                <a:solidFill>
                  <a:schemeClr val="tx1"/>
                </a:solidFill>
                <a:latin typeface="Arial" panose="020B0604020202020204" pitchFamily="34" charset="0"/>
                <a:ea typeface="微软雅黑" panose="020B0503020204020204" charset="-122"/>
              </a:rPr>
              <a:t>1.</a:t>
            </a:r>
            <a:r>
              <a:rPr lang="zh-CN" altLang="en-US" sz="2800" b="0" dirty="0">
                <a:solidFill>
                  <a:schemeClr val="tx1"/>
                </a:solidFill>
                <a:latin typeface="Arial" panose="020B0604020202020204" pitchFamily="34" charset="0"/>
                <a:ea typeface="微软雅黑" panose="020B0503020204020204" charset="-122"/>
              </a:rPr>
              <a:t>传值调用：</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基本数据类型（如整型、浮点型、字符型等）、结构体类型作为函数参数，其参数传递是传值调用。传值调用是</a:t>
            </a:r>
            <a:r>
              <a:rPr lang="en-US" altLang="zh-CN" sz="2400" b="1" dirty="0">
                <a:solidFill>
                  <a:schemeClr val="accent2">
                    <a:lumMod val="50000"/>
                  </a:schemeClr>
                </a:solidFill>
                <a:latin typeface="楷体" panose="02010609060101010101" charset="-122"/>
                <a:ea typeface="楷体" panose="02010609060101010101" charset="-122"/>
              </a:rPr>
              <a:t>C</a:t>
            </a:r>
            <a:r>
              <a:rPr lang="zh-CN" altLang="en-US" sz="2400" b="1" dirty="0">
                <a:solidFill>
                  <a:schemeClr val="accent2">
                    <a:lumMod val="50000"/>
                  </a:schemeClr>
                </a:solidFill>
                <a:latin typeface="楷体" panose="02010609060101010101" charset="-122"/>
                <a:ea typeface="楷体" panose="02010609060101010101" charset="-122"/>
              </a:rPr>
              <a:t>语言中最常见的参数传递方式。</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传值调用中，函数通过将实参的值复制到形参来传递参数。</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在函数内部对形参的修改不会影响实参的值，即参数是从函数外向函数内单向传递的。</a:t>
            </a:r>
            <a:endParaRPr lang="en-US" altLang="zh-CN" sz="24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3864659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4.1.5 </a:t>
            </a:r>
            <a:r>
              <a:rPr lang="zh-CN" altLang="en-US" dirty="0">
                <a:sym typeface="+mn-ea"/>
              </a:rPr>
              <a:t>函数参数传递</a:t>
            </a:r>
            <a:endParaRPr lang="zh-CN" altLang="en-US" dirty="0"/>
          </a:p>
        </p:txBody>
      </p:sp>
      <p:sp>
        <p:nvSpPr>
          <p:cNvPr id="3" name="内容占位符 2"/>
          <p:cNvSpPr>
            <a:spLocks noGrp="1"/>
          </p:cNvSpPr>
          <p:nvPr>
            <p:ph idx="1"/>
          </p:nvPr>
        </p:nvSpPr>
        <p:spPr>
          <a:xfrm>
            <a:off x="314324" y="1163319"/>
            <a:ext cx="11207751" cy="5499947"/>
          </a:xfrm>
        </p:spPr>
        <p:txBody>
          <a:bodyPr>
            <a:normAutofit/>
          </a:bodyPr>
          <a:lstStyle/>
          <a:p>
            <a:pPr marL="228600" lvl="1">
              <a:lnSpc>
                <a:spcPct val="130000"/>
              </a:lnSpc>
              <a:spcAft>
                <a:spcPts val="1000"/>
              </a:spcAft>
            </a:pPr>
            <a:r>
              <a:rPr lang="en-US" altLang="zh-CN" sz="2800" b="0" dirty="0">
                <a:solidFill>
                  <a:schemeClr val="tx1"/>
                </a:solidFill>
                <a:latin typeface="Arial" panose="020B0604020202020204" pitchFamily="34" charset="0"/>
                <a:ea typeface="微软雅黑" panose="020B0503020204020204" charset="-122"/>
              </a:rPr>
              <a:t>1.</a:t>
            </a:r>
            <a:r>
              <a:rPr lang="zh-CN" altLang="en-US" sz="2800" b="0" dirty="0">
                <a:solidFill>
                  <a:schemeClr val="tx1"/>
                </a:solidFill>
                <a:latin typeface="Arial" panose="020B0604020202020204" pitchFamily="34" charset="0"/>
                <a:ea typeface="微软雅黑" panose="020B0503020204020204" charset="-122"/>
              </a:rPr>
              <a:t>传值调用：</a:t>
            </a:r>
            <a:r>
              <a:rPr lang="en-US" altLang="zh-CN" sz="2800" b="0" dirty="0">
                <a:solidFill>
                  <a:schemeClr val="tx1"/>
                </a:solidFill>
                <a:latin typeface="Arial" panose="020B0604020202020204" pitchFamily="34" charset="0"/>
                <a:ea typeface="微软雅黑" panose="020B0503020204020204" charset="-122"/>
              </a:rPr>
              <a:t>【</a:t>
            </a:r>
            <a:r>
              <a:rPr lang="zh-CN" altLang="en-US" sz="2800" b="0" dirty="0">
                <a:solidFill>
                  <a:schemeClr val="tx1"/>
                </a:solidFill>
                <a:latin typeface="Arial" panose="020B0604020202020204" pitchFamily="34" charset="0"/>
                <a:ea typeface="微软雅黑" panose="020B0503020204020204" charset="-122"/>
              </a:rPr>
              <a:t>例 </a:t>
            </a:r>
            <a:r>
              <a:rPr lang="en-US" altLang="zh-CN" sz="2800" b="0" dirty="0">
                <a:solidFill>
                  <a:schemeClr val="tx1"/>
                </a:solidFill>
                <a:latin typeface="Arial" panose="020B0604020202020204" pitchFamily="34" charset="0"/>
                <a:ea typeface="微软雅黑" panose="020B0503020204020204" charset="-122"/>
              </a:rPr>
              <a:t>4.5】</a:t>
            </a:r>
            <a:endParaRPr lang="zh-CN" altLang="en-US" sz="2800" b="0" dirty="0">
              <a:solidFill>
                <a:schemeClr val="tx1"/>
              </a:solidFill>
              <a:latin typeface="Arial" panose="020B0604020202020204" pitchFamily="34" charset="0"/>
              <a:ea typeface="微软雅黑" panose="020B0503020204020204" charset="-122"/>
            </a:endParaRPr>
          </a:p>
        </p:txBody>
      </p:sp>
      <p:sp>
        <p:nvSpPr>
          <p:cNvPr id="8" name="Text Box 6">
            <a:extLst>
              <a:ext uri="{FF2B5EF4-FFF2-40B4-BE49-F238E27FC236}">
                <a16:creationId xmlns:a16="http://schemas.microsoft.com/office/drawing/2014/main" id="{43D2BB4C-DE66-49B2-9B3E-98042511F3D7}"/>
              </a:ext>
            </a:extLst>
          </p:cNvPr>
          <p:cNvSpPr txBox="1">
            <a:spLocks noChangeArrowheads="1"/>
          </p:cNvSpPr>
          <p:nvPr/>
        </p:nvSpPr>
        <p:spPr bwMode="auto">
          <a:xfrm>
            <a:off x="513424" y="1769619"/>
            <a:ext cx="4813699" cy="4893647"/>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#include &lt;</a:t>
            </a:r>
            <a:r>
              <a:rPr lang="en-US" altLang="zh-CN" sz="2400" kern="0" dirty="0" err="1">
                <a:solidFill>
                  <a:schemeClr val="tx1"/>
                </a:solidFill>
                <a:cs typeface="Times New Roman" pitchFamily="18" charset="0"/>
              </a:rPr>
              <a:t>stdio.h</a:t>
            </a:r>
            <a:r>
              <a:rPr lang="en-US" altLang="zh-CN" sz="2400" kern="0" dirty="0">
                <a:solidFill>
                  <a:schemeClr val="tx1"/>
                </a:solidFill>
                <a:cs typeface="Times New Roman" pitchFamily="18" charset="0"/>
              </a:rPr>
              <a:t>&gt;</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void swap(int a, int b) {</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int temp;</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temp = a;</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 = b;</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b = temp;</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int main(void) {</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int x = 7, y = 11;</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("x=%d, y=%d\n", 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swap(x,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("x=%d, y=%d\n", 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a:t>
            </a:r>
          </a:p>
        </p:txBody>
      </p:sp>
      <p:sp>
        <p:nvSpPr>
          <p:cNvPr id="5" name="Text Box 6">
            <a:extLst>
              <a:ext uri="{FF2B5EF4-FFF2-40B4-BE49-F238E27FC236}">
                <a16:creationId xmlns:a16="http://schemas.microsoft.com/office/drawing/2014/main" id="{13ADCDBF-EC44-44CA-A7BE-8DEA630A60A2}"/>
              </a:ext>
            </a:extLst>
          </p:cNvPr>
          <p:cNvSpPr txBox="1">
            <a:spLocks noChangeArrowheads="1"/>
          </p:cNvSpPr>
          <p:nvPr/>
        </p:nvSpPr>
        <p:spPr bwMode="auto">
          <a:xfrm>
            <a:off x="6096000" y="400685"/>
            <a:ext cx="1789380" cy="1200329"/>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zh-CN" altLang="en-US" sz="2400" kern="0" dirty="0">
                <a:solidFill>
                  <a:schemeClr val="tx1"/>
                </a:solidFill>
                <a:cs typeface="Times New Roman" pitchFamily="18" charset="0"/>
              </a:rPr>
              <a:t>运行结果：</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s-ES" altLang="zh-CN" sz="2400" kern="0" dirty="0">
                <a:solidFill>
                  <a:schemeClr val="tx1"/>
                </a:solidFill>
                <a:cs typeface="Times New Roman" pitchFamily="18" charset="0"/>
              </a:rPr>
              <a:t>x=7, y=11</a:t>
            </a:r>
          </a:p>
          <a:p>
            <a:pPr eaLnBrk="1" fontAlgn="base" hangingPunct="1">
              <a:spcBef>
                <a:spcPct val="0"/>
              </a:spcBef>
              <a:spcAft>
                <a:spcPct val="0"/>
              </a:spcAft>
              <a:buClrTx/>
              <a:buSzTx/>
              <a:buFontTx/>
              <a:buNone/>
              <a:defRPr/>
            </a:pPr>
            <a:r>
              <a:rPr lang="es-ES" altLang="zh-CN" sz="2400" kern="0" dirty="0">
                <a:solidFill>
                  <a:schemeClr val="tx1"/>
                </a:solidFill>
                <a:cs typeface="Times New Roman" pitchFamily="18" charset="0"/>
              </a:rPr>
              <a:t>x=7, y=11</a:t>
            </a:r>
            <a:endParaRPr lang="en-US" altLang="zh-CN" sz="2400" kern="0" dirty="0">
              <a:solidFill>
                <a:schemeClr val="tx1"/>
              </a:solidFill>
              <a:cs typeface="Times New Roman" pitchFamily="18" charset="0"/>
            </a:endParaRPr>
          </a:p>
        </p:txBody>
      </p:sp>
      <p:grpSp>
        <p:nvGrpSpPr>
          <p:cNvPr id="6" name="Group 4">
            <a:extLst>
              <a:ext uri="{FF2B5EF4-FFF2-40B4-BE49-F238E27FC236}">
                <a16:creationId xmlns:a16="http://schemas.microsoft.com/office/drawing/2014/main" id="{5858E900-8625-4964-B340-D0463F94779F}"/>
              </a:ext>
            </a:extLst>
          </p:cNvPr>
          <p:cNvGrpSpPr>
            <a:grpSpLocks/>
          </p:cNvGrpSpPr>
          <p:nvPr/>
        </p:nvGrpSpPr>
        <p:grpSpPr bwMode="auto">
          <a:xfrm>
            <a:off x="6795560" y="1857254"/>
            <a:ext cx="3956050" cy="407988"/>
            <a:chOff x="3070" y="767"/>
            <a:chExt cx="2492" cy="257"/>
          </a:xfrm>
        </p:grpSpPr>
        <p:sp>
          <p:nvSpPr>
            <p:cNvPr id="7" name="Text Box 5">
              <a:extLst>
                <a:ext uri="{FF2B5EF4-FFF2-40B4-BE49-F238E27FC236}">
                  <a16:creationId xmlns:a16="http://schemas.microsoft.com/office/drawing/2014/main" id="{738CFAF9-BBC2-46F4-B386-967D5325F94E}"/>
                </a:ext>
              </a:extLst>
            </p:cNvPr>
            <p:cNvSpPr txBox="1">
              <a:spLocks noChangeArrowheads="1"/>
            </p:cNvSpPr>
            <p:nvPr/>
          </p:nvSpPr>
          <p:spPr bwMode="auto">
            <a:xfrm>
              <a:off x="4494" y="768"/>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9" name="Text Box 6">
              <a:extLst>
                <a:ext uri="{FF2B5EF4-FFF2-40B4-BE49-F238E27FC236}">
                  <a16:creationId xmlns:a16="http://schemas.microsoft.com/office/drawing/2014/main" id="{FE2DFB77-A7B7-46E2-B6A5-F85A9F1C9187}"/>
                </a:ext>
              </a:extLst>
            </p:cNvPr>
            <p:cNvSpPr txBox="1">
              <a:spLocks noChangeArrowheads="1"/>
            </p:cNvSpPr>
            <p:nvPr/>
          </p:nvSpPr>
          <p:spPr bwMode="auto">
            <a:xfrm>
              <a:off x="5280" y="768"/>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10" name="Text Box 7">
              <a:extLst>
                <a:ext uri="{FF2B5EF4-FFF2-40B4-BE49-F238E27FC236}">
                  <a16:creationId xmlns:a16="http://schemas.microsoft.com/office/drawing/2014/main" id="{0F205F14-1CF6-4D66-8B2C-626230825687}"/>
                </a:ext>
              </a:extLst>
            </p:cNvPr>
            <p:cNvSpPr txBox="1">
              <a:spLocks noChangeArrowheads="1"/>
            </p:cNvSpPr>
            <p:nvPr/>
          </p:nvSpPr>
          <p:spPr bwMode="auto">
            <a:xfrm>
              <a:off x="4202" y="7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11" name="Text Box 8">
              <a:extLst>
                <a:ext uri="{FF2B5EF4-FFF2-40B4-BE49-F238E27FC236}">
                  <a16:creationId xmlns:a16="http://schemas.microsoft.com/office/drawing/2014/main" id="{418E7612-9515-49E6-A739-E4AA3C78739F}"/>
                </a:ext>
              </a:extLst>
            </p:cNvPr>
            <p:cNvSpPr txBox="1">
              <a:spLocks noChangeArrowheads="1"/>
            </p:cNvSpPr>
            <p:nvPr/>
          </p:nvSpPr>
          <p:spPr bwMode="auto">
            <a:xfrm>
              <a:off x="4970" y="7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sp>
          <p:nvSpPr>
            <p:cNvPr id="12" name="Text Box 9">
              <a:extLst>
                <a:ext uri="{FF2B5EF4-FFF2-40B4-BE49-F238E27FC236}">
                  <a16:creationId xmlns:a16="http://schemas.microsoft.com/office/drawing/2014/main" id="{F9889E96-2FB6-44E0-A073-D3DE714F9C65}"/>
                </a:ext>
              </a:extLst>
            </p:cNvPr>
            <p:cNvSpPr txBox="1">
              <a:spLocks noChangeArrowheads="1"/>
            </p:cNvSpPr>
            <p:nvPr/>
          </p:nvSpPr>
          <p:spPr bwMode="auto">
            <a:xfrm>
              <a:off x="3070" y="767"/>
              <a:ext cx="76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dirty="0">
                  <a:solidFill>
                    <a:schemeClr val="tx1"/>
                  </a:solidFill>
                  <a:latin typeface="Times New Roman" panose="02020603050405020304" pitchFamily="18" charset="0"/>
                  <a:ea typeface="宋体" panose="02010600030101010101" pitchFamily="2" charset="-122"/>
                </a:rPr>
                <a:t>调用前：</a:t>
              </a:r>
            </a:p>
          </p:txBody>
        </p:sp>
      </p:grpSp>
      <p:grpSp>
        <p:nvGrpSpPr>
          <p:cNvPr id="13" name="Group 10">
            <a:extLst>
              <a:ext uri="{FF2B5EF4-FFF2-40B4-BE49-F238E27FC236}">
                <a16:creationId xmlns:a16="http://schemas.microsoft.com/office/drawing/2014/main" id="{7B3D36D7-256F-4488-9DAC-0ECC099D5CCC}"/>
              </a:ext>
            </a:extLst>
          </p:cNvPr>
          <p:cNvGrpSpPr>
            <a:grpSpLocks/>
          </p:cNvGrpSpPr>
          <p:nvPr/>
        </p:nvGrpSpPr>
        <p:grpSpPr bwMode="auto">
          <a:xfrm>
            <a:off x="6877053" y="6001157"/>
            <a:ext cx="3987800" cy="412750"/>
            <a:chOff x="2997" y="3717"/>
            <a:chExt cx="2512" cy="260"/>
          </a:xfrm>
        </p:grpSpPr>
        <p:sp>
          <p:nvSpPr>
            <p:cNvPr id="14" name="Text Box 11">
              <a:extLst>
                <a:ext uri="{FF2B5EF4-FFF2-40B4-BE49-F238E27FC236}">
                  <a16:creationId xmlns:a16="http://schemas.microsoft.com/office/drawing/2014/main" id="{4F962E7E-F4A7-48AE-B476-F219CEB145B1}"/>
                </a:ext>
              </a:extLst>
            </p:cNvPr>
            <p:cNvSpPr txBox="1">
              <a:spLocks noChangeArrowheads="1"/>
            </p:cNvSpPr>
            <p:nvPr/>
          </p:nvSpPr>
          <p:spPr bwMode="auto">
            <a:xfrm>
              <a:off x="2997" y="3727"/>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dirty="0">
                  <a:solidFill>
                    <a:schemeClr val="tx1"/>
                  </a:solidFill>
                  <a:latin typeface="Times New Roman" panose="02020603050405020304" pitchFamily="18" charset="0"/>
                  <a:ea typeface="宋体" panose="02010600030101010101" pitchFamily="2" charset="-122"/>
                </a:rPr>
                <a:t>调用结束：</a:t>
              </a:r>
            </a:p>
          </p:txBody>
        </p:sp>
        <p:sp>
          <p:nvSpPr>
            <p:cNvPr id="15" name="Text Box 12">
              <a:extLst>
                <a:ext uri="{FF2B5EF4-FFF2-40B4-BE49-F238E27FC236}">
                  <a16:creationId xmlns:a16="http://schemas.microsoft.com/office/drawing/2014/main" id="{5C9935EA-3C47-467E-948A-52E752FB941D}"/>
                </a:ext>
              </a:extLst>
            </p:cNvPr>
            <p:cNvSpPr txBox="1">
              <a:spLocks noChangeArrowheads="1"/>
            </p:cNvSpPr>
            <p:nvPr/>
          </p:nvSpPr>
          <p:spPr bwMode="auto">
            <a:xfrm>
              <a:off x="4419" y="3717"/>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16" name="Text Box 13">
              <a:extLst>
                <a:ext uri="{FF2B5EF4-FFF2-40B4-BE49-F238E27FC236}">
                  <a16:creationId xmlns:a16="http://schemas.microsoft.com/office/drawing/2014/main" id="{28B5F1B3-4E5C-4709-B91F-6FD6DF1BD344}"/>
                </a:ext>
              </a:extLst>
            </p:cNvPr>
            <p:cNvSpPr txBox="1">
              <a:spLocks noChangeArrowheads="1"/>
            </p:cNvSpPr>
            <p:nvPr/>
          </p:nvSpPr>
          <p:spPr bwMode="auto">
            <a:xfrm>
              <a:off x="5227" y="3717"/>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17" name="Text Box 14">
              <a:extLst>
                <a:ext uri="{FF2B5EF4-FFF2-40B4-BE49-F238E27FC236}">
                  <a16:creationId xmlns:a16="http://schemas.microsoft.com/office/drawing/2014/main" id="{76D8A989-21B0-4458-87D5-531235893D43}"/>
                </a:ext>
              </a:extLst>
            </p:cNvPr>
            <p:cNvSpPr txBox="1">
              <a:spLocks noChangeArrowheads="1"/>
            </p:cNvSpPr>
            <p:nvPr/>
          </p:nvSpPr>
          <p:spPr bwMode="auto">
            <a:xfrm>
              <a:off x="4127" y="371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18" name="Text Box 15">
              <a:extLst>
                <a:ext uri="{FF2B5EF4-FFF2-40B4-BE49-F238E27FC236}">
                  <a16:creationId xmlns:a16="http://schemas.microsoft.com/office/drawing/2014/main" id="{1468C5A2-C4B5-499A-B43E-9C3EC8289DC4}"/>
                </a:ext>
              </a:extLst>
            </p:cNvPr>
            <p:cNvSpPr txBox="1">
              <a:spLocks noChangeArrowheads="1"/>
            </p:cNvSpPr>
            <p:nvPr/>
          </p:nvSpPr>
          <p:spPr bwMode="auto">
            <a:xfrm>
              <a:off x="4917" y="371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grpSp>
      <p:grpSp>
        <p:nvGrpSpPr>
          <p:cNvPr id="19" name="Group 18">
            <a:extLst>
              <a:ext uri="{FF2B5EF4-FFF2-40B4-BE49-F238E27FC236}">
                <a16:creationId xmlns:a16="http://schemas.microsoft.com/office/drawing/2014/main" id="{5A409DC8-6FB8-481D-B030-3C180E37DB7F}"/>
              </a:ext>
            </a:extLst>
          </p:cNvPr>
          <p:cNvGrpSpPr>
            <a:grpSpLocks/>
          </p:cNvGrpSpPr>
          <p:nvPr/>
        </p:nvGrpSpPr>
        <p:grpSpPr bwMode="auto">
          <a:xfrm>
            <a:off x="6814610" y="2620840"/>
            <a:ext cx="3987800" cy="1184275"/>
            <a:chOff x="3072" y="1488"/>
            <a:chExt cx="2512" cy="746"/>
          </a:xfrm>
        </p:grpSpPr>
        <p:sp>
          <p:nvSpPr>
            <p:cNvPr id="20" name="Text Box 19">
              <a:extLst>
                <a:ext uri="{FF2B5EF4-FFF2-40B4-BE49-F238E27FC236}">
                  <a16:creationId xmlns:a16="http://schemas.microsoft.com/office/drawing/2014/main" id="{85C960E3-94B0-465E-ACF1-ECB833943839}"/>
                </a:ext>
              </a:extLst>
            </p:cNvPr>
            <p:cNvSpPr txBox="1">
              <a:spLocks noChangeArrowheads="1"/>
            </p:cNvSpPr>
            <p:nvPr/>
          </p:nvSpPr>
          <p:spPr bwMode="auto">
            <a:xfrm>
              <a:off x="3072" y="1776"/>
              <a:ext cx="6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dirty="0">
                  <a:solidFill>
                    <a:schemeClr val="tx1"/>
                  </a:solidFill>
                  <a:latin typeface="Times New Roman" panose="02020603050405020304" pitchFamily="18" charset="0"/>
                  <a:ea typeface="宋体" panose="02010600030101010101" pitchFamily="2" charset="-122"/>
                </a:rPr>
                <a:t>调用：</a:t>
              </a:r>
            </a:p>
          </p:txBody>
        </p:sp>
        <p:sp>
          <p:nvSpPr>
            <p:cNvPr id="21" name="Text Box 20">
              <a:extLst>
                <a:ext uri="{FF2B5EF4-FFF2-40B4-BE49-F238E27FC236}">
                  <a16:creationId xmlns:a16="http://schemas.microsoft.com/office/drawing/2014/main" id="{DA2EC56B-38A6-4308-8D33-DAEC8061ABED}"/>
                </a:ext>
              </a:extLst>
            </p:cNvPr>
            <p:cNvSpPr txBox="1">
              <a:spLocks noChangeArrowheads="1"/>
            </p:cNvSpPr>
            <p:nvPr/>
          </p:nvSpPr>
          <p:spPr bwMode="auto">
            <a:xfrm>
              <a:off x="4494" y="1978"/>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22" name="Text Box 21">
              <a:extLst>
                <a:ext uri="{FF2B5EF4-FFF2-40B4-BE49-F238E27FC236}">
                  <a16:creationId xmlns:a16="http://schemas.microsoft.com/office/drawing/2014/main" id="{1A8787C5-A0DE-4175-92BD-5ECAAC6C263B}"/>
                </a:ext>
              </a:extLst>
            </p:cNvPr>
            <p:cNvSpPr txBox="1">
              <a:spLocks noChangeArrowheads="1"/>
            </p:cNvSpPr>
            <p:nvPr/>
          </p:nvSpPr>
          <p:spPr bwMode="auto">
            <a:xfrm>
              <a:off x="5280" y="1978"/>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23" name="Text Box 22">
              <a:extLst>
                <a:ext uri="{FF2B5EF4-FFF2-40B4-BE49-F238E27FC236}">
                  <a16:creationId xmlns:a16="http://schemas.microsoft.com/office/drawing/2014/main" id="{9990770B-9B35-4F71-821B-7A4789F38F09}"/>
                </a:ext>
              </a:extLst>
            </p:cNvPr>
            <p:cNvSpPr txBox="1">
              <a:spLocks noChangeArrowheads="1"/>
            </p:cNvSpPr>
            <p:nvPr/>
          </p:nvSpPr>
          <p:spPr bwMode="auto">
            <a:xfrm>
              <a:off x="4202" y="1978"/>
              <a:ext cx="2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a:</a:t>
              </a:r>
            </a:p>
          </p:txBody>
        </p:sp>
        <p:sp>
          <p:nvSpPr>
            <p:cNvPr id="24" name="Text Box 23">
              <a:extLst>
                <a:ext uri="{FF2B5EF4-FFF2-40B4-BE49-F238E27FC236}">
                  <a16:creationId xmlns:a16="http://schemas.microsoft.com/office/drawing/2014/main" id="{E7DC4FD6-8634-4653-9DE1-586535B1B436}"/>
                </a:ext>
              </a:extLst>
            </p:cNvPr>
            <p:cNvSpPr txBox="1">
              <a:spLocks noChangeArrowheads="1"/>
            </p:cNvSpPr>
            <p:nvPr/>
          </p:nvSpPr>
          <p:spPr bwMode="auto">
            <a:xfrm>
              <a:off x="4970" y="197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b:</a:t>
              </a:r>
            </a:p>
          </p:txBody>
        </p:sp>
        <p:sp>
          <p:nvSpPr>
            <p:cNvPr id="25" name="Line 24">
              <a:extLst>
                <a:ext uri="{FF2B5EF4-FFF2-40B4-BE49-F238E27FC236}">
                  <a16:creationId xmlns:a16="http://schemas.microsoft.com/office/drawing/2014/main" id="{D843283D-2226-4769-AC60-8FE00DFE109B}"/>
                </a:ext>
              </a:extLst>
            </p:cNvPr>
            <p:cNvSpPr>
              <a:spLocks noChangeShapeType="1"/>
            </p:cNvSpPr>
            <p:nvPr/>
          </p:nvSpPr>
          <p:spPr bwMode="auto">
            <a:xfrm>
              <a:off x="4608" y="173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5">
              <a:extLst>
                <a:ext uri="{FF2B5EF4-FFF2-40B4-BE49-F238E27FC236}">
                  <a16:creationId xmlns:a16="http://schemas.microsoft.com/office/drawing/2014/main" id="{B6BA7EAD-7643-463D-A507-CD387CC3FEF0}"/>
                </a:ext>
              </a:extLst>
            </p:cNvPr>
            <p:cNvSpPr>
              <a:spLocks noChangeShapeType="1"/>
            </p:cNvSpPr>
            <p:nvPr/>
          </p:nvSpPr>
          <p:spPr bwMode="auto">
            <a:xfrm>
              <a:off x="5424" y="173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6">
              <a:extLst>
                <a:ext uri="{FF2B5EF4-FFF2-40B4-BE49-F238E27FC236}">
                  <a16:creationId xmlns:a16="http://schemas.microsoft.com/office/drawing/2014/main" id="{B1CC63B8-2B16-4560-BFF8-6EA169D1C3F1}"/>
                </a:ext>
              </a:extLst>
            </p:cNvPr>
            <p:cNvSpPr txBox="1">
              <a:spLocks noChangeArrowheads="1"/>
            </p:cNvSpPr>
            <p:nvPr/>
          </p:nvSpPr>
          <p:spPr bwMode="auto">
            <a:xfrm>
              <a:off x="4516" y="1488"/>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28" name="Text Box 27">
              <a:extLst>
                <a:ext uri="{FF2B5EF4-FFF2-40B4-BE49-F238E27FC236}">
                  <a16:creationId xmlns:a16="http://schemas.microsoft.com/office/drawing/2014/main" id="{682D2514-68B7-4C0A-8EDD-6BCDBA670AC8}"/>
                </a:ext>
              </a:extLst>
            </p:cNvPr>
            <p:cNvSpPr txBox="1">
              <a:spLocks noChangeArrowheads="1"/>
            </p:cNvSpPr>
            <p:nvPr/>
          </p:nvSpPr>
          <p:spPr bwMode="auto">
            <a:xfrm>
              <a:off x="5302" y="1488"/>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29" name="Text Box 28">
              <a:extLst>
                <a:ext uri="{FF2B5EF4-FFF2-40B4-BE49-F238E27FC236}">
                  <a16:creationId xmlns:a16="http://schemas.microsoft.com/office/drawing/2014/main" id="{3FF8BCB4-9D5A-4830-B0EE-0B7ACB61CF3B}"/>
                </a:ext>
              </a:extLst>
            </p:cNvPr>
            <p:cNvSpPr txBox="1">
              <a:spLocks noChangeArrowheads="1"/>
            </p:cNvSpPr>
            <p:nvPr/>
          </p:nvSpPr>
          <p:spPr bwMode="auto">
            <a:xfrm>
              <a:off x="4224" y="14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30" name="Text Box 29">
              <a:extLst>
                <a:ext uri="{FF2B5EF4-FFF2-40B4-BE49-F238E27FC236}">
                  <a16:creationId xmlns:a16="http://schemas.microsoft.com/office/drawing/2014/main" id="{21A3AC45-4E87-4362-9AC4-8EE36B5901A2}"/>
                </a:ext>
              </a:extLst>
            </p:cNvPr>
            <p:cNvSpPr txBox="1">
              <a:spLocks noChangeArrowheads="1"/>
            </p:cNvSpPr>
            <p:nvPr/>
          </p:nvSpPr>
          <p:spPr bwMode="auto">
            <a:xfrm>
              <a:off x="4992" y="14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grpSp>
      <p:grpSp>
        <p:nvGrpSpPr>
          <p:cNvPr id="31" name="Group 30">
            <a:extLst>
              <a:ext uri="{FF2B5EF4-FFF2-40B4-BE49-F238E27FC236}">
                <a16:creationId xmlns:a16="http://schemas.microsoft.com/office/drawing/2014/main" id="{EB8C9C11-844F-4C2F-921B-51C82978A0CF}"/>
              </a:ext>
            </a:extLst>
          </p:cNvPr>
          <p:cNvGrpSpPr>
            <a:grpSpLocks/>
          </p:cNvGrpSpPr>
          <p:nvPr/>
        </p:nvGrpSpPr>
        <p:grpSpPr bwMode="auto">
          <a:xfrm>
            <a:off x="6798735" y="3992440"/>
            <a:ext cx="4003675" cy="1836738"/>
            <a:chOff x="3072" y="2112"/>
            <a:chExt cx="2522" cy="1157"/>
          </a:xfrm>
        </p:grpSpPr>
        <p:sp>
          <p:nvSpPr>
            <p:cNvPr id="32" name="Text Box 31">
              <a:extLst>
                <a:ext uri="{FF2B5EF4-FFF2-40B4-BE49-F238E27FC236}">
                  <a16:creationId xmlns:a16="http://schemas.microsoft.com/office/drawing/2014/main" id="{D8E7A2C4-7780-4F4E-9A51-56F962D3A5D3}"/>
                </a:ext>
              </a:extLst>
            </p:cNvPr>
            <p:cNvSpPr txBox="1">
              <a:spLocks noChangeArrowheads="1"/>
            </p:cNvSpPr>
            <p:nvPr/>
          </p:nvSpPr>
          <p:spPr bwMode="auto">
            <a:xfrm>
              <a:off x="3072" y="2169"/>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eaLnBrk="1" hangingPunct="1">
                <a:spcBef>
                  <a:spcPct val="0"/>
                </a:spcBef>
                <a:buClrTx/>
                <a:buFontTx/>
                <a:buNone/>
              </a:pPr>
              <a:r>
                <a:rPr kumimoji="1" lang="en-US" altLang="zh-CN" sz="2000" b="0" dirty="0">
                  <a:solidFill>
                    <a:schemeClr val="tx1"/>
                  </a:solidFill>
                  <a:latin typeface="Times New Roman" panose="02020603050405020304" pitchFamily="18" charset="0"/>
                  <a:ea typeface="宋体" panose="02010600030101010101" pitchFamily="2" charset="-122"/>
                </a:rPr>
                <a:t>swap:</a:t>
              </a:r>
            </a:p>
          </p:txBody>
        </p:sp>
        <p:sp>
          <p:nvSpPr>
            <p:cNvPr id="33" name="Text Box 32">
              <a:extLst>
                <a:ext uri="{FF2B5EF4-FFF2-40B4-BE49-F238E27FC236}">
                  <a16:creationId xmlns:a16="http://schemas.microsoft.com/office/drawing/2014/main" id="{34FA55BE-1D4A-4862-839A-0BF1535330A8}"/>
                </a:ext>
              </a:extLst>
            </p:cNvPr>
            <p:cNvSpPr txBox="1">
              <a:spLocks noChangeArrowheads="1"/>
            </p:cNvSpPr>
            <p:nvPr/>
          </p:nvSpPr>
          <p:spPr bwMode="auto">
            <a:xfrm>
              <a:off x="4504" y="2112"/>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34" name="Text Box 33">
              <a:extLst>
                <a:ext uri="{FF2B5EF4-FFF2-40B4-BE49-F238E27FC236}">
                  <a16:creationId xmlns:a16="http://schemas.microsoft.com/office/drawing/2014/main" id="{86222F3F-B652-45F8-8FE6-3AA3F3A96BB0}"/>
                </a:ext>
              </a:extLst>
            </p:cNvPr>
            <p:cNvSpPr txBox="1">
              <a:spLocks noChangeArrowheads="1"/>
            </p:cNvSpPr>
            <p:nvPr/>
          </p:nvSpPr>
          <p:spPr bwMode="auto">
            <a:xfrm>
              <a:off x="5312" y="2112"/>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35" name="Text Box 34">
              <a:extLst>
                <a:ext uri="{FF2B5EF4-FFF2-40B4-BE49-F238E27FC236}">
                  <a16:creationId xmlns:a16="http://schemas.microsoft.com/office/drawing/2014/main" id="{4C01DAE1-9CD6-42E1-AB43-1AB463E1706D}"/>
                </a:ext>
              </a:extLst>
            </p:cNvPr>
            <p:cNvSpPr txBox="1">
              <a:spLocks noChangeArrowheads="1"/>
            </p:cNvSpPr>
            <p:nvPr/>
          </p:nvSpPr>
          <p:spPr bwMode="auto">
            <a:xfrm>
              <a:off x="4212" y="211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36" name="Text Box 35">
              <a:extLst>
                <a:ext uri="{FF2B5EF4-FFF2-40B4-BE49-F238E27FC236}">
                  <a16:creationId xmlns:a16="http://schemas.microsoft.com/office/drawing/2014/main" id="{88112ADD-427C-4BE1-9168-C4A923D3C037}"/>
                </a:ext>
              </a:extLst>
            </p:cNvPr>
            <p:cNvSpPr txBox="1">
              <a:spLocks noChangeArrowheads="1"/>
            </p:cNvSpPr>
            <p:nvPr/>
          </p:nvSpPr>
          <p:spPr bwMode="auto">
            <a:xfrm>
              <a:off x="5002" y="211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sp>
          <p:nvSpPr>
            <p:cNvPr id="37" name="Text Box 36">
              <a:extLst>
                <a:ext uri="{FF2B5EF4-FFF2-40B4-BE49-F238E27FC236}">
                  <a16:creationId xmlns:a16="http://schemas.microsoft.com/office/drawing/2014/main" id="{F7B19C67-7F8D-447E-ACFB-22683F2FF730}"/>
                </a:ext>
              </a:extLst>
            </p:cNvPr>
            <p:cNvSpPr txBox="1">
              <a:spLocks noChangeArrowheads="1"/>
            </p:cNvSpPr>
            <p:nvPr/>
          </p:nvSpPr>
          <p:spPr bwMode="auto">
            <a:xfrm>
              <a:off x="4504" y="2592"/>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38" name="Text Box 37">
              <a:extLst>
                <a:ext uri="{FF2B5EF4-FFF2-40B4-BE49-F238E27FC236}">
                  <a16:creationId xmlns:a16="http://schemas.microsoft.com/office/drawing/2014/main" id="{834B1636-CB1E-4231-B378-45369A615519}"/>
                </a:ext>
              </a:extLst>
            </p:cNvPr>
            <p:cNvSpPr txBox="1">
              <a:spLocks noChangeArrowheads="1"/>
            </p:cNvSpPr>
            <p:nvPr/>
          </p:nvSpPr>
          <p:spPr bwMode="auto">
            <a:xfrm>
              <a:off x="5352" y="2592"/>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39" name="Text Box 38">
              <a:extLst>
                <a:ext uri="{FF2B5EF4-FFF2-40B4-BE49-F238E27FC236}">
                  <a16:creationId xmlns:a16="http://schemas.microsoft.com/office/drawing/2014/main" id="{B83F4637-9FEC-4B67-835F-37F49DDC8DAB}"/>
                </a:ext>
              </a:extLst>
            </p:cNvPr>
            <p:cNvSpPr txBox="1">
              <a:spLocks noChangeArrowheads="1"/>
            </p:cNvSpPr>
            <p:nvPr/>
          </p:nvSpPr>
          <p:spPr bwMode="auto">
            <a:xfrm>
              <a:off x="4212" y="2592"/>
              <a:ext cx="2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a:</a:t>
              </a:r>
            </a:p>
          </p:txBody>
        </p:sp>
        <p:sp>
          <p:nvSpPr>
            <p:cNvPr id="40" name="Text Box 39">
              <a:extLst>
                <a:ext uri="{FF2B5EF4-FFF2-40B4-BE49-F238E27FC236}">
                  <a16:creationId xmlns:a16="http://schemas.microsoft.com/office/drawing/2014/main" id="{64B18EED-725C-4936-AC16-094CAB7CA8DD}"/>
                </a:ext>
              </a:extLst>
            </p:cNvPr>
            <p:cNvSpPr txBox="1">
              <a:spLocks noChangeArrowheads="1"/>
            </p:cNvSpPr>
            <p:nvPr/>
          </p:nvSpPr>
          <p:spPr bwMode="auto">
            <a:xfrm>
              <a:off x="5002" y="259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b:</a:t>
              </a:r>
            </a:p>
          </p:txBody>
        </p:sp>
        <p:sp>
          <p:nvSpPr>
            <p:cNvPr id="41" name="Text Box 40">
              <a:extLst>
                <a:ext uri="{FF2B5EF4-FFF2-40B4-BE49-F238E27FC236}">
                  <a16:creationId xmlns:a16="http://schemas.microsoft.com/office/drawing/2014/main" id="{BC62B48B-978F-448B-9BCA-DE19773A8B57}"/>
                </a:ext>
              </a:extLst>
            </p:cNvPr>
            <p:cNvSpPr txBox="1">
              <a:spLocks noChangeArrowheads="1"/>
            </p:cNvSpPr>
            <p:nvPr/>
          </p:nvSpPr>
          <p:spPr bwMode="auto">
            <a:xfrm>
              <a:off x="4904" y="2975"/>
              <a:ext cx="291"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endParaRPr kumimoji="1" lang="zh-CN" altLang="zh-CN" sz="2000" b="0">
                <a:solidFill>
                  <a:schemeClr val="tx1"/>
                </a:solidFill>
                <a:latin typeface="Times New Roman" panose="02020603050405020304" pitchFamily="18" charset="0"/>
                <a:ea typeface="宋体" panose="02010600030101010101" pitchFamily="2" charset="-122"/>
              </a:endParaRPr>
            </a:p>
          </p:txBody>
        </p:sp>
        <p:sp>
          <p:nvSpPr>
            <p:cNvPr id="42" name="Text Box 41">
              <a:extLst>
                <a:ext uri="{FF2B5EF4-FFF2-40B4-BE49-F238E27FC236}">
                  <a16:creationId xmlns:a16="http://schemas.microsoft.com/office/drawing/2014/main" id="{5384299A-0F23-42BC-93F1-21E25DF7A062}"/>
                </a:ext>
              </a:extLst>
            </p:cNvPr>
            <p:cNvSpPr txBox="1">
              <a:spLocks noChangeArrowheads="1"/>
            </p:cNvSpPr>
            <p:nvPr/>
          </p:nvSpPr>
          <p:spPr bwMode="auto">
            <a:xfrm>
              <a:off x="4372" y="3019"/>
              <a:ext cx="4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eaLnBrk="1" hangingPunct="1">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temp</a:t>
              </a:r>
            </a:p>
          </p:txBody>
        </p:sp>
        <p:cxnSp>
          <p:nvCxnSpPr>
            <p:cNvPr id="43" name="AutoShape 42">
              <a:extLst>
                <a:ext uri="{FF2B5EF4-FFF2-40B4-BE49-F238E27FC236}">
                  <a16:creationId xmlns:a16="http://schemas.microsoft.com/office/drawing/2014/main" id="{5FED8074-1D8F-4187-93DB-71E0DD96ED9E}"/>
                </a:ext>
              </a:extLst>
            </p:cNvPr>
            <p:cNvCxnSpPr>
              <a:cxnSpLocks noChangeShapeType="1"/>
              <a:stCxn id="37" idx="2"/>
              <a:endCxn id="41" idx="1"/>
            </p:cNvCxnSpPr>
            <p:nvPr/>
          </p:nvCxnSpPr>
          <p:spPr bwMode="auto">
            <a:xfrm rot="16200000" flipH="1">
              <a:off x="4647" y="2846"/>
              <a:ext cx="255" cy="259"/>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43">
              <a:extLst>
                <a:ext uri="{FF2B5EF4-FFF2-40B4-BE49-F238E27FC236}">
                  <a16:creationId xmlns:a16="http://schemas.microsoft.com/office/drawing/2014/main" id="{412FBF81-C9D4-492C-B700-69D830615797}"/>
                </a:ext>
              </a:extLst>
            </p:cNvPr>
            <p:cNvCxnSpPr>
              <a:cxnSpLocks noChangeShapeType="1"/>
              <a:stCxn id="41" idx="3"/>
              <a:endCxn id="38" idx="2"/>
            </p:cNvCxnSpPr>
            <p:nvPr/>
          </p:nvCxnSpPr>
          <p:spPr bwMode="auto">
            <a:xfrm flipV="1">
              <a:off x="5195" y="2848"/>
              <a:ext cx="258" cy="2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5" name="AutoShape 44">
              <a:extLst>
                <a:ext uri="{FF2B5EF4-FFF2-40B4-BE49-F238E27FC236}">
                  <a16:creationId xmlns:a16="http://schemas.microsoft.com/office/drawing/2014/main" id="{705CE783-321E-4426-BE35-EAAB180C92C9}"/>
                </a:ext>
              </a:extLst>
            </p:cNvPr>
            <p:cNvCxnSpPr>
              <a:cxnSpLocks noChangeShapeType="1"/>
            </p:cNvCxnSpPr>
            <p:nvPr/>
          </p:nvCxnSpPr>
          <p:spPr bwMode="auto">
            <a:xfrm flipH="1">
              <a:off x="4785" y="2622"/>
              <a:ext cx="56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67406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ox(out)">
                                      <p:cBhvr>
                                        <p:cTn id="12" dur="500"/>
                                        <p:tgtEl>
                                          <p:spTgt spid="1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ox(out)">
                                      <p:cBhvr>
                                        <p:cTn id="17" dur="500"/>
                                        <p:tgtEl>
                                          <p:spTgt spid="3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out)">
                                      <p:cBhvr>
                                        <p:cTn id="22" dur="500"/>
                                        <p:tgtEl>
                                          <p:spTgt spid="13"/>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4.1.5 </a:t>
            </a:r>
            <a:r>
              <a:rPr lang="zh-CN" altLang="en-US" dirty="0">
                <a:sym typeface="+mn-ea"/>
              </a:rPr>
              <a:t>函数参数传递</a:t>
            </a:r>
            <a:endParaRPr lang="zh-CN" altLang="en-US" dirty="0"/>
          </a:p>
        </p:txBody>
      </p:sp>
      <p:sp>
        <p:nvSpPr>
          <p:cNvPr id="3" name="内容占位符 2"/>
          <p:cNvSpPr>
            <a:spLocks noGrp="1"/>
          </p:cNvSpPr>
          <p:nvPr>
            <p:ph idx="1"/>
          </p:nvPr>
        </p:nvSpPr>
        <p:spPr>
          <a:xfrm>
            <a:off x="314324" y="1163319"/>
            <a:ext cx="11207751" cy="5499947"/>
          </a:xfrm>
        </p:spPr>
        <p:txBody>
          <a:bodyPr>
            <a:normAutofit/>
          </a:bodyPr>
          <a:lstStyle/>
          <a:p>
            <a:pPr marL="457200" lvl="1" indent="-457200">
              <a:lnSpc>
                <a:spcPct val="130000"/>
              </a:lnSpc>
              <a:spcAft>
                <a:spcPts val="1000"/>
              </a:spcAft>
            </a:pPr>
            <a:r>
              <a:rPr lang="en-US" altLang="zh-CN" sz="2800" b="0" dirty="0">
                <a:solidFill>
                  <a:schemeClr val="tx1"/>
                </a:solidFill>
                <a:latin typeface="Arial" panose="020B0604020202020204" pitchFamily="34" charset="0"/>
                <a:ea typeface="微软雅黑" panose="020B0503020204020204" charset="-122"/>
              </a:rPr>
              <a:t>2.</a:t>
            </a:r>
            <a:r>
              <a:rPr lang="zh-CN" altLang="en-US" sz="2800" b="0" dirty="0">
                <a:solidFill>
                  <a:schemeClr val="tx1"/>
                </a:solidFill>
                <a:latin typeface="Arial" panose="020B0604020202020204" pitchFamily="34" charset="0"/>
                <a:ea typeface="微软雅黑" panose="020B0503020204020204" charset="-122"/>
              </a:rPr>
              <a:t>传地址调用：</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指针作为函数的参数，其参数传递是传地址调用。</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数组作为函数参数，其本质就是指针（数组首地址）作为函数参数，所以也是传地址调用。</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函数将实参指针复制到形参指针，即形参指针与实参指针指向同一个内存地址。</a:t>
            </a:r>
          </a:p>
          <a:p>
            <a:pPr marL="800100" lvl="2" indent="-342900">
              <a:lnSpc>
                <a:spcPct val="110000"/>
              </a:lnSpc>
            </a:pPr>
            <a:r>
              <a:rPr lang="zh-CN" altLang="en-US" sz="2400" b="1" dirty="0">
                <a:solidFill>
                  <a:schemeClr val="accent2">
                    <a:lumMod val="50000"/>
                  </a:schemeClr>
                </a:solidFill>
                <a:latin typeface="楷体" panose="02010609060101010101" charset="-122"/>
                <a:ea typeface="楷体" panose="02010609060101010101" charset="-122"/>
              </a:rPr>
              <a:t>函数内部可以通过形参指针来访问和修改实参指针指向的变量（函数外变量）。</a:t>
            </a:r>
          </a:p>
        </p:txBody>
      </p:sp>
    </p:spTree>
    <p:custDataLst>
      <p:tags r:id="rId1"/>
    </p:custDataLst>
    <p:extLst>
      <p:ext uri="{BB962C8B-B14F-4D97-AF65-F5344CB8AC3E}">
        <p14:creationId xmlns:p14="http://schemas.microsoft.com/office/powerpoint/2010/main" val="1452382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4.1.5 </a:t>
            </a:r>
            <a:r>
              <a:rPr lang="zh-CN" altLang="en-US" dirty="0">
                <a:sym typeface="+mn-ea"/>
              </a:rPr>
              <a:t>函数参数传递</a:t>
            </a:r>
            <a:endParaRPr lang="zh-CN" altLang="en-US" dirty="0"/>
          </a:p>
        </p:txBody>
      </p:sp>
      <p:sp>
        <p:nvSpPr>
          <p:cNvPr id="3" name="内容占位符 2"/>
          <p:cNvSpPr>
            <a:spLocks noGrp="1"/>
          </p:cNvSpPr>
          <p:nvPr>
            <p:ph idx="1"/>
          </p:nvPr>
        </p:nvSpPr>
        <p:spPr>
          <a:xfrm>
            <a:off x="314324" y="1163319"/>
            <a:ext cx="11207751" cy="5499947"/>
          </a:xfrm>
        </p:spPr>
        <p:txBody>
          <a:bodyPr>
            <a:normAutofit/>
          </a:bodyPr>
          <a:lstStyle/>
          <a:p>
            <a:pPr marL="228600" lvl="1">
              <a:lnSpc>
                <a:spcPct val="130000"/>
              </a:lnSpc>
              <a:spcAft>
                <a:spcPts val="1000"/>
              </a:spcAft>
            </a:pPr>
            <a:r>
              <a:rPr lang="en-US" altLang="zh-CN" sz="2800" b="0" dirty="0">
                <a:solidFill>
                  <a:schemeClr val="tx1"/>
                </a:solidFill>
                <a:latin typeface="Arial" panose="020B0604020202020204" pitchFamily="34" charset="0"/>
                <a:ea typeface="微软雅黑" panose="020B0503020204020204" charset="-122"/>
              </a:rPr>
              <a:t>2.</a:t>
            </a:r>
            <a:r>
              <a:rPr lang="zh-CN" altLang="en-US" sz="2800" b="0" dirty="0">
                <a:solidFill>
                  <a:schemeClr val="tx1"/>
                </a:solidFill>
                <a:latin typeface="Arial" panose="020B0604020202020204" pitchFamily="34" charset="0"/>
                <a:ea typeface="微软雅黑" panose="020B0503020204020204" charset="-122"/>
              </a:rPr>
              <a:t>传地址调用：</a:t>
            </a:r>
            <a:r>
              <a:rPr lang="en-US" altLang="zh-CN" sz="2800" b="0" dirty="0">
                <a:solidFill>
                  <a:schemeClr val="tx1"/>
                </a:solidFill>
                <a:latin typeface="Arial" panose="020B0604020202020204" pitchFamily="34" charset="0"/>
                <a:ea typeface="微软雅黑" panose="020B0503020204020204" charset="-122"/>
              </a:rPr>
              <a:t>【</a:t>
            </a:r>
            <a:r>
              <a:rPr lang="zh-CN" altLang="en-US" sz="2800" b="0" dirty="0">
                <a:solidFill>
                  <a:schemeClr val="tx1"/>
                </a:solidFill>
                <a:latin typeface="Arial" panose="020B0604020202020204" pitchFamily="34" charset="0"/>
                <a:ea typeface="微软雅黑" panose="020B0503020204020204" charset="-122"/>
              </a:rPr>
              <a:t>例 </a:t>
            </a:r>
            <a:r>
              <a:rPr lang="en-US" altLang="zh-CN" sz="2800" b="0" dirty="0">
                <a:solidFill>
                  <a:schemeClr val="tx1"/>
                </a:solidFill>
                <a:latin typeface="Arial" panose="020B0604020202020204" pitchFamily="34" charset="0"/>
                <a:ea typeface="微软雅黑" panose="020B0503020204020204" charset="-122"/>
              </a:rPr>
              <a:t>4.6】</a:t>
            </a:r>
            <a:endParaRPr lang="zh-CN" altLang="en-US" sz="2800" b="0" dirty="0">
              <a:solidFill>
                <a:schemeClr val="tx1"/>
              </a:solidFill>
              <a:latin typeface="Arial" panose="020B0604020202020204" pitchFamily="34" charset="0"/>
              <a:ea typeface="微软雅黑" panose="020B0503020204020204" charset="-122"/>
            </a:endParaRPr>
          </a:p>
        </p:txBody>
      </p:sp>
      <p:sp>
        <p:nvSpPr>
          <p:cNvPr id="8" name="Text Box 6">
            <a:extLst>
              <a:ext uri="{FF2B5EF4-FFF2-40B4-BE49-F238E27FC236}">
                <a16:creationId xmlns:a16="http://schemas.microsoft.com/office/drawing/2014/main" id="{43D2BB4C-DE66-49B2-9B3E-98042511F3D7}"/>
              </a:ext>
            </a:extLst>
          </p:cNvPr>
          <p:cNvSpPr txBox="1">
            <a:spLocks noChangeArrowheads="1"/>
          </p:cNvSpPr>
          <p:nvPr/>
        </p:nvSpPr>
        <p:spPr bwMode="auto">
          <a:xfrm>
            <a:off x="313991" y="1876587"/>
            <a:ext cx="5876267" cy="4893647"/>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#include &lt;</a:t>
            </a:r>
            <a:r>
              <a:rPr lang="en-US" altLang="zh-CN" sz="2400" kern="0" dirty="0" err="1">
                <a:solidFill>
                  <a:schemeClr val="tx1"/>
                </a:solidFill>
                <a:cs typeface="Times New Roman" pitchFamily="18" charset="0"/>
              </a:rPr>
              <a:t>stdio.h</a:t>
            </a:r>
            <a:r>
              <a:rPr lang="en-US" altLang="zh-CN" sz="2400" kern="0" dirty="0">
                <a:solidFill>
                  <a:schemeClr val="tx1"/>
                </a:solidFill>
                <a:cs typeface="Times New Roman" pitchFamily="18" charset="0"/>
              </a:rPr>
              <a:t>&gt;</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void swap(int *a, int *b) {</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int temp;</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temp = *a;</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 = *b;</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*b = temp;</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int main(void) {</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int x = 7, y = 11;</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("x=%d, y=%d\n", 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swap(&amp;x, &amp;y);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       </a:t>
            </a:r>
            <a:r>
              <a:rPr lang="en-US" altLang="zh-CN" sz="2400" kern="0" dirty="0" err="1">
                <a:solidFill>
                  <a:schemeClr val="tx1"/>
                </a:solidFill>
                <a:cs typeface="Times New Roman" pitchFamily="18" charset="0"/>
              </a:rPr>
              <a:t>printf</a:t>
            </a:r>
            <a:r>
              <a:rPr lang="en-US" altLang="zh-CN" sz="2400" kern="0" dirty="0">
                <a:solidFill>
                  <a:schemeClr val="tx1"/>
                </a:solidFill>
                <a:cs typeface="Times New Roman" pitchFamily="18" charset="0"/>
              </a:rPr>
              <a:t>("x=%d, y=%d\n", x, y);</a:t>
            </a:r>
          </a:p>
          <a:p>
            <a:pPr eaLnBrk="1" fontAlgn="base" hangingPunct="1">
              <a:spcBef>
                <a:spcPct val="0"/>
              </a:spcBef>
              <a:spcAft>
                <a:spcPct val="0"/>
              </a:spcAft>
              <a:buClrTx/>
              <a:buSzTx/>
              <a:buFontTx/>
              <a:buNone/>
              <a:defRPr/>
            </a:pPr>
            <a:r>
              <a:rPr lang="en-US" altLang="zh-CN" sz="2400" kern="0" dirty="0">
                <a:solidFill>
                  <a:schemeClr val="tx1"/>
                </a:solidFill>
                <a:cs typeface="Times New Roman" pitchFamily="18" charset="0"/>
              </a:rPr>
              <a:t>}</a:t>
            </a:r>
          </a:p>
        </p:txBody>
      </p:sp>
      <p:sp>
        <p:nvSpPr>
          <p:cNvPr id="5" name="Text Box 6">
            <a:extLst>
              <a:ext uri="{FF2B5EF4-FFF2-40B4-BE49-F238E27FC236}">
                <a16:creationId xmlns:a16="http://schemas.microsoft.com/office/drawing/2014/main" id="{13ADCDBF-EC44-44CA-A7BE-8DEA630A60A2}"/>
              </a:ext>
            </a:extLst>
          </p:cNvPr>
          <p:cNvSpPr txBox="1">
            <a:spLocks noChangeArrowheads="1"/>
          </p:cNvSpPr>
          <p:nvPr/>
        </p:nvSpPr>
        <p:spPr bwMode="auto">
          <a:xfrm>
            <a:off x="6096000" y="400685"/>
            <a:ext cx="1789380" cy="1200329"/>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zh-CN" altLang="en-US" sz="2400" kern="0" dirty="0">
                <a:solidFill>
                  <a:schemeClr val="tx1"/>
                </a:solidFill>
                <a:cs typeface="Times New Roman" pitchFamily="18" charset="0"/>
              </a:rPr>
              <a:t>运行结果：</a:t>
            </a:r>
            <a:endParaRPr lang="en-US" altLang="zh-CN" sz="24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s-ES" altLang="zh-CN" sz="2400" kern="0" dirty="0">
                <a:solidFill>
                  <a:schemeClr val="tx1"/>
                </a:solidFill>
                <a:cs typeface="Times New Roman" pitchFamily="18" charset="0"/>
              </a:rPr>
              <a:t>x=7, y=11</a:t>
            </a:r>
          </a:p>
          <a:p>
            <a:pPr eaLnBrk="1" fontAlgn="base" hangingPunct="1">
              <a:spcBef>
                <a:spcPct val="0"/>
              </a:spcBef>
              <a:spcAft>
                <a:spcPct val="0"/>
              </a:spcAft>
              <a:buClrTx/>
              <a:buSzTx/>
              <a:buFontTx/>
              <a:buNone/>
              <a:defRPr/>
            </a:pPr>
            <a:r>
              <a:rPr lang="es-ES" altLang="zh-CN" sz="2400" kern="0" dirty="0">
                <a:solidFill>
                  <a:schemeClr val="tx1"/>
                </a:solidFill>
                <a:cs typeface="Times New Roman" pitchFamily="18" charset="0"/>
              </a:rPr>
              <a:t>x=11, y=7</a:t>
            </a:r>
            <a:endParaRPr lang="en-US" altLang="zh-CN" sz="2400" kern="0" dirty="0">
              <a:solidFill>
                <a:schemeClr val="tx1"/>
              </a:solidFill>
              <a:cs typeface="Times New Roman" pitchFamily="18" charset="0"/>
            </a:endParaRPr>
          </a:p>
        </p:txBody>
      </p:sp>
      <p:grpSp>
        <p:nvGrpSpPr>
          <p:cNvPr id="46" name="Group 4">
            <a:extLst>
              <a:ext uri="{FF2B5EF4-FFF2-40B4-BE49-F238E27FC236}">
                <a16:creationId xmlns:a16="http://schemas.microsoft.com/office/drawing/2014/main" id="{8464561E-E1D5-41F7-8DCD-8D1AD266D70C}"/>
              </a:ext>
            </a:extLst>
          </p:cNvPr>
          <p:cNvGrpSpPr>
            <a:grpSpLocks/>
          </p:cNvGrpSpPr>
          <p:nvPr/>
        </p:nvGrpSpPr>
        <p:grpSpPr bwMode="auto">
          <a:xfrm>
            <a:off x="7231595" y="2023533"/>
            <a:ext cx="3952875" cy="406400"/>
            <a:chOff x="3072" y="768"/>
            <a:chExt cx="2490" cy="256"/>
          </a:xfrm>
        </p:grpSpPr>
        <p:sp>
          <p:nvSpPr>
            <p:cNvPr id="47" name="Text Box 5">
              <a:extLst>
                <a:ext uri="{FF2B5EF4-FFF2-40B4-BE49-F238E27FC236}">
                  <a16:creationId xmlns:a16="http://schemas.microsoft.com/office/drawing/2014/main" id="{A9B0DA99-DD33-4B1F-A477-8D99A54C3BC6}"/>
                </a:ext>
              </a:extLst>
            </p:cNvPr>
            <p:cNvSpPr txBox="1">
              <a:spLocks noChangeArrowheads="1"/>
            </p:cNvSpPr>
            <p:nvPr/>
          </p:nvSpPr>
          <p:spPr bwMode="auto">
            <a:xfrm>
              <a:off x="4494" y="768"/>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48" name="Text Box 6">
              <a:extLst>
                <a:ext uri="{FF2B5EF4-FFF2-40B4-BE49-F238E27FC236}">
                  <a16:creationId xmlns:a16="http://schemas.microsoft.com/office/drawing/2014/main" id="{567C5E27-6FDD-4A09-9800-9BFEDE66FDA9}"/>
                </a:ext>
              </a:extLst>
            </p:cNvPr>
            <p:cNvSpPr txBox="1">
              <a:spLocks noChangeArrowheads="1"/>
            </p:cNvSpPr>
            <p:nvPr/>
          </p:nvSpPr>
          <p:spPr bwMode="auto">
            <a:xfrm>
              <a:off x="5280" y="768"/>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49" name="Text Box 7">
              <a:extLst>
                <a:ext uri="{FF2B5EF4-FFF2-40B4-BE49-F238E27FC236}">
                  <a16:creationId xmlns:a16="http://schemas.microsoft.com/office/drawing/2014/main" id="{6297FB66-503E-4A4E-BAA7-DC83F48FCAC6}"/>
                </a:ext>
              </a:extLst>
            </p:cNvPr>
            <p:cNvSpPr txBox="1">
              <a:spLocks noChangeArrowheads="1"/>
            </p:cNvSpPr>
            <p:nvPr/>
          </p:nvSpPr>
          <p:spPr bwMode="auto">
            <a:xfrm>
              <a:off x="4202" y="7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50" name="Text Box 8">
              <a:extLst>
                <a:ext uri="{FF2B5EF4-FFF2-40B4-BE49-F238E27FC236}">
                  <a16:creationId xmlns:a16="http://schemas.microsoft.com/office/drawing/2014/main" id="{DBCA2FAE-6654-438E-8300-D325BE0230C5}"/>
                </a:ext>
              </a:extLst>
            </p:cNvPr>
            <p:cNvSpPr txBox="1">
              <a:spLocks noChangeArrowheads="1"/>
            </p:cNvSpPr>
            <p:nvPr/>
          </p:nvSpPr>
          <p:spPr bwMode="auto">
            <a:xfrm>
              <a:off x="4970" y="7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sp>
          <p:nvSpPr>
            <p:cNvPr id="51" name="Text Box 9">
              <a:extLst>
                <a:ext uri="{FF2B5EF4-FFF2-40B4-BE49-F238E27FC236}">
                  <a16:creationId xmlns:a16="http://schemas.microsoft.com/office/drawing/2014/main" id="{F680B92E-5207-445D-8EFB-316DEE818E1D}"/>
                </a:ext>
              </a:extLst>
            </p:cNvPr>
            <p:cNvSpPr txBox="1">
              <a:spLocks noChangeArrowheads="1"/>
            </p:cNvSpPr>
            <p:nvPr/>
          </p:nvSpPr>
          <p:spPr bwMode="auto">
            <a:xfrm>
              <a:off x="3072" y="768"/>
              <a:ext cx="7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a:solidFill>
                    <a:schemeClr val="tx1"/>
                  </a:solidFill>
                  <a:latin typeface="Times New Roman" panose="02020603050405020304" pitchFamily="18" charset="0"/>
                  <a:ea typeface="宋体" panose="02010600030101010101" pitchFamily="2" charset="-122"/>
                </a:rPr>
                <a:t>调用前：</a:t>
              </a:r>
            </a:p>
          </p:txBody>
        </p:sp>
      </p:grpSp>
      <p:grpSp>
        <p:nvGrpSpPr>
          <p:cNvPr id="52" name="Group 10">
            <a:extLst>
              <a:ext uri="{FF2B5EF4-FFF2-40B4-BE49-F238E27FC236}">
                <a16:creationId xmlns:a16="http://schemas.microsoft.com/office/drawing/2014/main" id="{CC98AA54-4FBF-4D23-855C-79F3EC238ED3}"/>
              </a:ext>
            </a:extLst>
          </p:cNvPr>
          <p:cNvGrpSpPr>
            <a:grpSpLocks/>
          </p:cNvGrpSpPr>
          <p:nvPr/>
        </p:nvGrpSpPr>
        <p:grpSpPr bwMode="auto">
          <a:xfrm>
            <a:off x="7208315" y="6157383"/>
            <a:ext cx="3917950" cy="412750"/>
            <a:chOff x="2997" y="3717"/>
            <a:chExt cx="2468" cy="260"/>
          </a:xfrm>
        </p:grpSpPr>
        <p:sp>
          <p:nvSpPr>
            <p:cNvPr id="53" name="Text Box 11">
              <a:extLst>
                <a:ext uri="{FF2B5EF4-FFF2-40B4-BE49-F238E27FC236}">
                  <a16:creationId xmlns:a16="http://schemas.microsoft.com/office/drawing/2014/main" id="{47FCE92A-777C-4EA7-AB9A-B16B409EA6F3}"/>
                </a:ext>
              </a:extLst>
            </p:cNvPr>
            <p:cNvSpPr txBox="1">
              <a:spLocks noChangeArrowheads="1"/>
            </p:cNvSpPr>
            <p:nvPr/>
          </p:nvSpPr>
          <p:spPr bwMode="auto">
            <a:xfrm>
              <a:off x="2997" y="3727"/>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a:solidFill>
                    <a:schemeClr val="tx1"/>
                  </a:solidFill>
                  <a:latin typeface="Times New Roman" panose="02020603050405020304" pitchFamily="18" charset="0"/>
                  <a:ea typeface="宋体" panose="02010600030101010101" pitchFamily="2" charset="-122"/>
                </a:rPr>
                <a:t>调用结束：</a:t>
              </a:r>
            </a:p>
          </p:txBody>
        </p:sp>
        <p:sp>
          <p:nvSpPr>
            <p:cNvPr id="54" name="Text Box 12">
              <a:extLst>
                <a:ext uri="{FF2B5EF4-FFF2-40B4-BE49-F238E27FC236}">
                  <a16:creationId xmlns:a16="http://schemas.microsoft.com/office/drawing/2014/main" id="{F0DD1260-40A2-4E01-870D-A78F818ABC39}"/>
                </a:ext>
              </a:extLst>
            </p:cNvPr>
            <p:cNvSpPr txBox="1">
              <a:spLocks noChangeArrowheads="1"/>
            </p:cNvSpPr>
            <p:nvPr/>
          </p:nvSpPr>
          <p:spPr bwMode="auto">
            <a:xfrm>
              <a:off x="4384" y="3719"/>
              <a:ext cx="272" cy="2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55" name="Text Box 13">
              <a:extLst>
                <a:ext uri="{FF2B5EF4-FFF2-40B4-BE49-F238E27FC236}">
                  <a16:creationId xmlns:a16="http://schemas.microsoft.com/office/drawing/2014/main" id="{84AE34FB-EE83-4DB7-BAA3-FF237B51A71A}"/>
                </a:ext>
              </a:extLst>
            </p:cNvPr>
            <p:cNvSpPr txBox="1">
              <a:spLocks noChangeArrowheads="1"/>
            </p:cNvSpPr>
            <p:nvPr/>
          </p:nvSpPr>
          <p:spPr bwMode="auto">
            <a:xfrm>
              <a:off x="5268" y="3719"/>
              <a:ext cx="197" cy="2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56" name="Text Box 14">
              <a:extLst>
                <a:ext uri="{FF2B5EF4-FFF2-40B4-BE49-F238E27FC236}">
                  <a16:creationId xmlns:a16="http://schemas.microsoft.com/office/drawing/2014/main" id="{8B1BBBF6-7116-48A9-978F-B1D4281784EC}"/>
                </a:ext>
              </a:extLst>
            </p:cNvPr>
            <p:cNvSpPr txBox="1">
              <a:spLocks noChangeArrowheads="1"/>
            </p:cNvSpPr>
            <p:nvPr/>
          </p:nvSpPr>
          <p:spPr bwMode="auto">
            <a:xfrm>
              <a:off x="4127" y="371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57" name="Text Box 15">
              <a:extLst>
                <a:ext uri="{FF2B5EF4-FFF2-40B4-BE49-F238E27FC236}">
                  <a16:creationId xmlns:a16="http://schemas.microsoft.com/office/drawing/2014/main" id="{BF9DDFF1-FE43-4FDB-A61E-DEA2D6B27EE0}"/>
                </a:ext>
              </a:extLst>
            </p:cNvPr>
            <p:cNvSpPr txBox="1">
              <a:spLocks noChangeArrowheads="1"/>
            </p:cNvSpPr>
            <p:nvPr/>
          </p:nvSpPr>
          <p:spPr bwMode="auto">
            <a:xfrm>
              <a:off x="4917" y="371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grpSp>
      <p:grpSp>
        <p:nvGrpSpPr>
          <p:cNvPr id="58" name="Group 18">
            <a:extLst>
              <a:ext uri="{FF2B5EF4-FFF2-40B4-BE49-F238E27FC236}">
                <a16:creationId xmlns:a16="http://schemas.microsoft.com/office/drawing/2014/main" id="{1CF34362-87A8-486D-8CB0-AF9820B1D02A}"/>
              </a:ext>
            </a:extLst>
          </p:cNvPr>
          <p:cNvGrpSpPr>
            <a:grpSpLocks/>
          </p:cNvGrpSpPr>
          <p:nvPr/>
        </p:nvGrpSpPr>
        <p:grpSpPr bwMode="auto">
          <a:xfrm>
            <a:off x="7247470" y="2785533"/>
            <a:ext cx="3987800" cy="1181100"/>
            <a:chOff x="3072" y="1488"/>
            <a:chExt cx="2512" cy="744"/>
          </a:xfrm>
        </p:grpSpPr>
        <p:sp>
          <p:nvSpPr>
            <p:cNvPr id="59" name="Text Box 19">
              <a:extLst>
                <a:ext uri="{FF2B5EF4-FFF2-40B4-BE49-F238E27FC236}">
                  <a16:creationId xmlns:a16="http://schemas.microsoft.com/office/drawing/2014/main" id="{F3B768E4-0613-494F-90B8-D041A695C629}"/>
                </a:ext>
              </a:extLst>
            </p:cNvPr>
            <p:cNvSpPr txBox="1">
              <a:spLocks noChangeArrowheads="1"/>
            </p:cNvSpPr>
            <p:nvPr/>
          </p:nvSpPr>
          <p:spPr bwMode="auto">
            <a:xfrm>
              <a:off x="3072" y="1776"/>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zh-CN" altLang="en-US" sz="2000" b="0" dirty="0">
                  <a:solidFill>
                    <a:schemeClr val="tx1"/>
                  </a:solidFill>
                  <a:latin typeface="Times New Roman" panose="02020603050405020304" pitchFamily="18" charset="0"/>
                  <a:ea typeface="宋体" panose="02010600030101010101" pitchFamily="2" charset="-122"/>
                </a:rPr>
                <a:t>调用：</a:t>
              </a:r>
            </a:p>
          </p:txBody>
        </p:sp>
        <p:sp>
          <p:nvSpPr>
            <p:cNvPr id="60" name="Text Box 20">
              <a:extLst>
                <a:ext uri="{FF2B5EF4-FFF2-40B4-BE49-F238E27FC236}">
                  <a16:creationId xmlns:a16="http://schemas.microsoft.com/office/drawing/2014/main" id="{D610FE18-E4B1-4125-B00D-4007F64D60FE}"/>
                </a:ext>
              </a:extLst>
            </p:cNvPr>
            <p:cNvSpPr txBox="1">
              <a:spLocks noChangeArrowheads="1"/>
            </p:cNvSpPr>
            <p:nvPr/>
          </p:nvSpPr>
          <p:spPr bwMode="auto">
            <a:xfrm>
              <a:off x="4434" y="1980"/>
              <a:ext cx="322" cy="2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&amp;x</a:t>
              </a:r>
            </a:p>
          </p:txBody>
        </p:sp>
        <p:sp>
          <p:nvSpPr>
            <p:cNvPr id="61" name="Text Box 21">
              <a:extLst>
                <a:ext uri="{FF2B5EF4-FFF2-40B4-BE49-F238E27FC236}">
                  <a16:creationId xmlns:a16="http://schemas.microsoft.com/office/drawing/2014/main" id="{1AA1DFD4-ACDD-4E35-B3B8-696D8CA1538E}"/>
                </a:ext>
              </a:extLst>
            </p:cNvPr>
            <p:cNvSpPr txBox="1">
              <a:spLocks noChangeArrowheads="1"/>
            </p:cNvSpPr>
            <p:nvPr/>
          </p:nvSpPr>
          <p:spPr bwMode="auto">
            <a:xfrm>
              <a:off x="5259" y="1980"/>
              <a:ext cx="322" cy="25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&amp;y</a:t>
              </a:r>
            </a:p>
          </p:txBody>
        </p:sp>
        <p:sp>
          <p:nvSpPr>
            <p:cNvPr id="62" name="Text Box 22">
              <a:extLst>
                <a:ext uri="{FF2B5EF4-FFF2-40B4-BE49-F238E27FC236}">
                  <a16:creationId xmlns:a16="http://schemas.microsoft.com/office/drawing/2014/main" id="{D17F9452-7DA0-4B79-8B5F-2731D0715F74}"/>
                </a:ext>
              </a:extLst>
            </p:cNvPr>
            <p:cNvSpPr txBox="1">
              <a:spLocks noChangeArrowheads="1"/>
            </p:cNvSpPr>
            <p:nvPr/>
          </p:nvSpPr>
          <p:spPr bwMode="auto">
            <a:xfrm>
              <a:off x="4202" y="1978"/>
              <a:ext cx="2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a:</a:t>
              </a:r>
            </a:p>
          </p:txBody>
        </p:sp>
        <p:sp>
          <p:nvSpPr>
            <p:cNvPr id="63" name="Text Box 23">
              <a:extLst>
                <a:ext uri="{FF2B5EF4-FFF2-40B4-BE49-F238E27FC236}">
                  <a16:creationId xmlns:a16="http://schemas.microsoft.com/office/drawing/2014/main" id="{9CB1CCF1-40A6-4C67-8867-69335A256FF8}"/>
                </a:ext>
              </a:extLst>
            </p:cNvPr>
            <p:cNvSpPr txBox="1">
              <a:spLocks noChangeArrowheads="1"/>
            </p:cNvSpPr>
            <p:nvPr/>
          </p:nvSpPr>
          <p:spPr bwMode="auto">
            <a:xfrm>
              <a:off x="4970" y="197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b:</a:t>
              </a:r>
            </a:p>
          </p:txBody>
        </p:sp>
        <p:sp>
          <p:nvSpPr>
            <p:cNvPr id="64" name="Line 24">
              <a:extLst>
                <a:ext uri="{FF2B5EF4-FFF2-40B4-BE49-F238E27FC236}">
                  <a16:creationId xmlns:a16="http://schemas.microsoft.com/office/drawing/2014/main" id="{19166F8C-6856-4502-94D3-0E3F53CE3E02}"/>
                </a:ext>
              </a:extLst>
            </p:cNvPr>
            <p:cNvSpPr>
              <a:spLocks noChangeShapeType="1"/>
            </p:cNvSpPr>
            <p:nvPr/>
          </p:nvSpPr>
          <p:spPr bwMode="auto">
            <a:xfrm>
              <a:off x="4608" y="173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25">
              <a:extLst>
                <a:ext uri="{FF2B5EF4-FFF2-40B4-BE49-F238E27FC236}">
                  <a16:creationId xmlns:a16="http://schemas.microsoft.com/office/drawing/2014/main" id="{93A4F8C7-54D4-467A-A3EE-0A7D817B5D89}"/>
                </a:ext>
              </a:extLst>
            </p:cNvPr>
            <p:cNvSpPr>
              <a:spLocks noChangeShapeType="1"/>
            </p:cNvSpPr>
            <p:nvPr/>
          </p:nvSpPr>
          <p:spPr bwMode="auto">
            <a:xfrm>
              <a:off x="5424" y="173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Text Box 26">
              <a:extLst>
                <a:ext uri="{FF2B5EF4-FFF2-40B4-BE49-F238E27FC236}">
                  <a16:creationId xmlns:a16="http://schemas.microsoft.com/office/drawing/2014/main" id="{C7DCA63B-4813-4CE6-993C-CF1CBFE1DC32}"/>
                </a:ext>
              </a:extLst>
            </p:cNvPr>
            <p:cNvSpPr txBox="1">
              <a:spLocks noChangeArrowheads="1"/>
            </p:cNvSpPr>
            <p:nvPr/>
          </p:nvSpPr>
          <p:spPr bwMode="auto">
            <a:xfrm>
              <a:off x="4516" y="1488"/>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67" name="Text Box 27">
              <a:extLst>
                <a:ext uri="{FF2B5EF4-FFF2-40B4-BE49-F238E27FC236}">
                  <a16:creationId xmlns:a16="http://schemas.microsoft.com/office/drawing/2014/main" id="{DC146853-C3A5-4126-8988-74E4D0858282}"/>
                </a:ext>
              </a:extLst>
            </p:cNvPr>
            <p:cNvSpPr txBox="1">
              <a:spLocks noChangeArrowheads="1"/>
            </p:cNvSpPr>
            <p:nvPr/>
          </p:nvSpPr>
          <p:spPr bwMode="auto">
            <a:xfrm>
              <a:off x="5302" y="1488"/>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68" name="Text Box 28">
              <a:extLst>
                <a:ext uri="{FF2B5EF4-FFF2-40B4-BE49-F238E27FC236}">
                  <a16:creationId xmlns:a16="http://schemas.microsoft.com/office/drawing/2014/main" id="{5FA6EDD0-14C6-4B33-8A83-41E5BD3C76C9}"/>
                </a:ext>
              </a:extLst>
            </p:cNvPr>
            <p:cNvSpPr txBox="1">
              <a:spLocks noChangeArrowheads="1"/>
            </p:cNvSpPr>
            <p:nvPr/>
          </p:nvSpPr>
          <p:spPr bwMode="auto">
            <a:xfrm>
              <a:off x="4224" y="14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x:</a:t>
              </a:r>
            </a:p>
          </p:txBody>
        </p:sp>
        <p:sp>
          <p:nvSpPr>
            <p:cNvPr id="69" name="Text Box 29">
              <a:extLst>
                <a:ext uri="{FF2B5EF4-FFF2-40B4-BE49-F238E27FC236}">
                  <a16:creationId xmlns:a16="http://schemas.microsoft.com/office/drawing/2014/main" id="{06876731-31D3-43B5-9640-1F640389511F}"/>
                </a:ext>
              </a:extLst>
            </p:cNvPr>
            <p:cNvSpPr txBox="1">
              <a:spLocks noChangeArrowheads="1"/>
            </p:cNvSpPr>
            <p:nvPr/>
          </p:nvSpPr>
          <p:spPr bwMode="auto">
            <a:xfrm>
              <a:off x="4992" y="14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y:</a:t>
              </a:r>
            </a:p>
          </p:txBody>
        </p:sp>
      </p:grpSp>
      <p:grpSp>
        <p:nvGrpSpPr>
          <p:cNvPr id="70" name="Group 30">
            <a:extLst>
              <a:ext uri="{FF2B5EF4-FFF2-40B4-BE49-F238E27FC236}">
                <a16:creationId xmlns:a16="http://schemas.microsoft.com/office/drawing/2014/main" id="{1D3D93E2-E605-497B-B9D6-7F2B8C32D328}"/>
              </a:ext>
            </a:extLst>
          </p:cNvPr>
          <p:cNvGrpSpPr>
            <a:grpSpLocks/>
          </p:cNvGrpSpPr>
          <p:nvPr/>
        </p:nvGrpSpPr>
        <p:grpSpPr bwMode="auto">
          <a:xfrm>
            <a:off x="7316265" y="3966633"/>
            <a:ext cx="3749675" cy="1957388"/>
            <a:chOff x="3072" y="2169"/>
            <a:chExt cx="2482" cy="1100"/>
          </a:xfrm>
        </p:grpSpPr>
        <p:sp>
          <p:nvSpPr>
            <p:cNvPr id="71" name="Text Box 31">
              <a:extLst>
                <a:ext uri="{FF2B5EF4-FFF2-40B4-BE49-F238E27FC236}">
                  <a16:creationId xmlns:a16="http://schemas.microsoft.com/office/drawing/2014/main" id="{E31FF1AA-0053-4C6D-8B43-9E0E8D97DBE3}"/>
                </a:ext>
              </a:extLst>
            </p:cNvPr>
            <p:cNvSpPr txBox="1">
              <a:spLocks noChangeArrowheads="1"/>
            </p:cNvSpPr>
            <p:nvPr/>
          </p:nvSpPr>
          <p:spPr bwMode="auto">
            <a:xfrm>
              <a:off x="3072" y="2169"/>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eaLnBrk="1" hangingPunct="1">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swap:</a:t>
              </a:r>
            </a:p>
          </p:txBody>
        </p:sp>
        <p:sp>
          <p:nvSpPr>
            <p:cNvPr id="72" name="Text Box 36">
              <a:extLst>
                <a:ext uri="{FF2B5EF4-FFF2-40B4-BE49-F238E27FC236}">
                  <a16:creationId xmlns:a16="http://schemas.microsoft.com/office/drawing/2014/main" id="{05BBF58C-FCF1-4B32-BA07-77C86D664E98}"/>
                </a:ext>
              </a:extLst>
            </p:cNvPr>
            <p:cNvSpPr txBox="1">
              <a:spLocks noChangeArrowheads="1"/>
            </p:cNvSpPr>
            <p:nvPr/>
          </p:nvSpPr>
          <p:spPr bwMode="auto">
            <a:xfrm>
              <a:off x="4504" y="2592"/>
              <a:ext cx="28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11</a:t>
              </a:r>
            </a:p>
          </p:txBody>
        </p:sp>
        <p:sp>
          <p:nvSpPr>
            <p:cNvPr id="73" name="Text Box 37">
              <a:extLst>
                <a:ext uri="{FF2B5EF4-FFF2-40B4-BE49-F238E27FC236}">
                  <a16:creationId xmlns:a16="http://schemas.microsoft.com/office/drawing/2014/main" id="{3CF22C6A-BA14-4A1A-8067-4B539293A908}"/>
                </a:ext>
              </a:extLst>
            </p:cNvPr>
            <p:cNvSpPr txBox="1">
              <a:spLocks noChangeArrowheads="1"/>
            </p:cNvSpPr>
            <p:nvPr/>
          </p:nvSpPr>
          <p:spPr bwMode="auto">
            <a:xfrm>
              <a:off x="5352" y="2592"/>
              <a:ext cx="202"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7</a:t>
              </a:r>
            </a:p>
          </p:txBody>
        </p:sp>
        <p:sp>
          <p:nvSpPr>
            <p:cNvPr id="74" name="Text Box 38">
              <a:extLst>
                <a:ext uri="{FF2B5EF4-FFF2-40B4-BE49-F238E27FC236}">
                  <a16:creationId xmlns:a16="http://schemas.microsoft.com/office/drawing/2014/main" id="{AD04BCBE-C987-41DA-B4D1-04D33DA67FA0}"/>
                </a:ext>
              </a:extLst>
            </p:cNvPr>
            <p:cNvSpPr txBox="1">
              <a:spLocks noChangeArrowheads="1"/>
            </p:cNvSpPr>
            <p:nvPr/>
          </p:nvSpPr>
          <p:spPr bwMode="auto">
            <a:xfrm>
              <a:off x="3938" y="2615"/>
              <a:ext cx="569"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dirty="0">
                  <a:solidFill>
                    <a:schemeClr val="tx1"/>
                  </a:solidFill>
                  <a:latin typeface="Times New Roman" panose="02020603050405020304" pitchFamily="18" charset="0"/>
                  <a:ea typeface="宋体" panose="02010600030101010101" pitchFamily="2" charset="-122"/>
                </a:rPr>
                <a:t>*a (x):</a:t>
              </a:r>
            </a:p>
          </p:txBody>
        </p:sp>
        <p:sp>
          <p:nvSpPr>
            <p:cNvPr id="75" name="Text Box 39">
              <a:extLst>
                <a:ext uri="{FF2B5EF4-FFF2-40B4-BE49-F238E27FC236}">
                  <a16:creationId xmlns:a16="http://schemas.microsoft.com/office/drawing/2014/main" id="{2168438A-DB5E-4E1E-8C0A-A1BF2F279D6D}"/>
                </a:ext>
              </a:extLst>
            </p:cNvPr>
            <p:cNvSpPr txBox="1">
              <a:spLocks noChangeArrowheads="1"/>
            </p:cNvSpPr>
            <p:nvPr/>
          </p:nvSpPr>
          <p:spPr bwMode="auto">
            <a:xfrm>
              <a:off x="4845" y="2623"/>
              <a:ext cx="578"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0"/>
                </a:spcBef>
                <a:buClrTx/>
                <a:buFontTx/>
                <a:buNone/>
              </a:pPr>
              <a:r>
                <a:rPr kumimoji="1" lang="en-US" altLang="zh-CN" sz="2000" b="0" dirty="0">
                  <a:solidFill>
                    <a:schemeClr val="tx1"/>
                  </a:solidFill>
                  <a:latin typeface="Times New Roman" panose="02020603050405020304" pitchFamily="18" charset="0"/>
                  <a:ea typeface="宋体" panose="02010600030101010101" pitchFamily="2" charset="-122"/>
                </a:rPr>
                <a:t>*b (y):</a:t>
              </a:r>
            </a:p>
          </p:txBody>
        </p:sp>
        <p:sp>
          <p:nvSpPr>
            <p:cNvPr id="76" name="Text Box 40">
              <a:extLst>
                <a:ext uri="{FF2B5EF4-FFF2-40B4-BE49-F238E27FC236}">
                  <a16:creationId xmlns:a16="http://schemas.microsoft.com/office/drawing/2014/main" id="{45235E1A-9D2E-42A5-9C21-82DAB297C9E2}"/>
                </a:ext>
              </a:extLst>
            </p:cNvPr>
            <p:cNvSpPr txBox="1">
              <a:spLocks noChangeArrowheads="1"/>
            </p:cNvSpPr>
            <p:nvPr/>
          </p:nvSpPr>
          <p:spPr bwMode="auto">
            <a:xfrm>
              <a:off x="4904" y="2975"/>
              <a:ext cx="291" cy="256"/>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a:spcBef>
                  <a:spcPct val="50000"/>
                </a:spcBef>
                <a:buClrTx/>
                <a:buFontTx/>
                <a:buNone/>
              </a:pPr>
              <a:endParaRPr kumimoji="1" lang="zh-CN" altLang="zh-CN" sz="2000" b="0">
                <a:solidFill>
                  <a:schemeClr val="tx1"/>
                </a:solidFill>
                <a:latin typeface="Times New Roman" panose="02020603050405020304" pitchFamily="18" charset="0"/>
                <a:ea typeface="宋体" panose="02010600030101010101" pitchFamily="2" charset="-122"/>
              </a:endParaRPr>
            </a:p>
          </p:txBody>
        </p:sp>
        <p:sp>
          <p:nvSpPr>
            <p:cNvPr id="77" name="Text Box 41">
              <a:extLst>
                <a:ext uri="{FF2B5EF4-FFF2-40B4-BE49-F238E27FC236}">
                  <a16:creationId xmlns:a16="http://schemas.microsoft.com/office/drawing/2014/main" id="{A3920D48-52F1-4EAE-AF9F-550922C216FF}"/>
                </a:ext>
              </a:extLst>
            </p:cNvPr>
            <p:cNvSpPr txBox="1">
              <a:spLocks noChangeArrowheads="1"/>
            </p:cNvSpPr>
            <p:nvPr/>
          </p:nvSpPr>
          <p:spPr bwMode="auto">
            <a:xfrm>
              <a:off x="4372" y="3019"/>
              <a:ext cx="4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algn="ctr" eaLnBrk="1" hangingPunct="1">
                <a:spcBef>
                  <a:spcPct val="0"/>
                </a:spcBef>
                <a:buClrTx/>
                <a:buFontTx/>
                <a:buNone/>
              </a:pPr>
              <a:r>
                <a:rPr kumimoji="1" lang="en-US" altLang="zh-CN" sz="2000" b="0">
                  <a:solidFill>
                    <a:schemeClr val="tx1"/>
                  </a:solidFill>
                  <a:latin typeface="Times New Roman" panose="02020603050405020304" pitchFamily="18" charset="0"/>
                  <a:ea typeface="宋体" panose="02010600030101010101" pitchFamily="2" charset="-122"/>
                </a:rPr>
                <a:t>temp</a:t>
              </a:r>
            </a:p>
          </p:txBody>
        </p:sp>
        <p:cxnSp>
          <p:nvCxnSpPr>
            <p:cNvPr id="78" name="AutoShape 42">
              <a:extLst>
                <a:ext uri="{FF2B5EF4-FFF2-40B4-BE49-F238E27FC236}">
                  <a16:creationId xmlns:a16="http://schemas.microsoft.com/office/drawing/2014/main" id="{13F4B903-C86B-438A-AEA5-BBAAA678A04B}"/>
                </a:ext>
              </a:extLst>
            </p:cNvPr>
            <p:cNvCxnSpPr>
              <a:cxnSpLocks noChangeShapeType="1"/>
              <a:stCxn id="72" idx="2"/>
              <a:endCxn id="76" idx="1"/>
            </p:cNvCxnSpPr>
            <p:nvPr/>
          </p:nvCxnSpPr>
          <p:spPr bwMode="auto">
            <a:xfrm rot="16200000" flipH="1">
              <a:off x="4647" y="2846"/>
              <a:ext cx="255" cy="259"/>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9" name="AutoShape 43">
              <a:extLst>
                <a:ext uri="{FF2B5EF4-FFF2-40B4-BE49-F238E27FC236}">
                  <a16:creationId xmlns:a16="http://schemas.microsoft.com/office/drawing/2014/main" id="{411F1237-6CCC-4D07-A055-19C2B38887AD}"/>
                </a:ext>
              </a:extLst>
            </p:cNvPr>
            <p:cNvCxnSpPr>
              <a:cxnSpLocks noChangeShapeType="1"/>
              <a:stCxn id="76" idx="3"/>
              <a:endCxn id="73" idx="2"/>
            </p:cNvCxnSpPr>
            <p:nvPr/>
          </p:nvCxnSpPr>
          <p:spPr bwMode="auto">
            <a:xfrm flipV="1">
              <a:off x="5195" y="2848"/>
              <a:ext cx="258" cy="255"/>
            </a:xfrm>
            <a:prstGeom prst="curved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0" name="AutoShape 44">
              <a:extLst>
                <a:ext uri="{FF2B5EF4-FFF2-40B4-BE49-F238E27FC236}">
                  <a16:creationId xmlns:a16="http://schemas.microsoft.com/office/drawing/2014/main" id="{6683D186-EA17-489E-8F96-0ED5F158DC8B}"/>
                </a:ext>
              </a:extLst>
            </p:cNvPr>
            <p:cNvCxnSpPr>
              <a:cxnSpLocks noChangeShapeType="1"/>
            </p:cNvCxnSpPr>
            <p:nvPr/>
          </p:nvCxnSpPr>
          <p:spPr bwMode="auto">
            <a:xfrm flipH="1">
              <a:off x="4786" y="2623"/>
              <a:ext cx="566"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331631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ox(out)">
                                      <p:cBhvr>
                                        <p:cTn id="7" dur="500"/>
                                        <p:tgtEl>
                                          <p:spTgt spid="4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box(out)">
                                      <p:cBhvr>
                                        <p:cTn id="12" dur="500"/>
                                        <p:tgtEl>
                                          <p:spTgt spid="5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box(out)">
                                      <p:cBhvr>
                                        <p:cTn id="17" dur="500"/>
                                        <p:tgtEl>
                                          <p:spTgt spid="70"/>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box(out)">
                                      <p:cBhvr>
                                        <p:cTn id="22" dur="500"/>
                                        <p:tgtEl>
                                          <p:spTgt spid="52"/>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36914" y="1389743"/>
            <a:ext cx="9144000" cy="2387600"/>
          </a:xfrm>
        </p:spPr>
        <p:txBody>
          <a:bodyPr>
            <a:normAutofit fontScale="90000"/>
          </a:bodyPr>
          <a:lstStyle/>
          <a:p>
            <a:pPr>
              <a:lnSpc>
                <a:spcPct val="200000"/>
              </a:lnSpc>
            </a:pPr>
            <a:r>
              <a:rPr lang="zh-CN" altLang="en-US" dirty="0">
                <a:latin typeface="微软雅黑" panose="020B0503020204020204" pitchFamily="34" charset="-122"/>
                <a:ea typeface="微软雅黑" panose="020B0503020204020204" pitchFamily="34" charset="-122"/>
              </a:rPr>
              <a:t>函数</a:t>
            </a:r>
            <a:br>
              <a:rPr lang="en-US" altLang="zh-CN" dirty="0">
                <a:latin typeface="微软雅黑" panose="020B0503020204020204" pitchFamily="34" charset="-122"/>
                <a:ea typeface="微软雅黑" panose="020B0503020204020204" pitchFamily="34" charset="-122"/>
              </a:rPr>
            </a:br>
            <a:r>
              <a:rPr lang="en-US" altLang="zh-CN" sz="4900" dirty="0">
                <a:latin typeface="微软雅黑" panose="020B0503020204020204" pitchFamily="34" charset="-122"/>
                <a:ea typeface="微软雅黑" panose="020B0503020204020204" pitchFamily="34" charset="-122"/>
              </a:rPr>
              <a:t>4.2 </a:t>
            </a:r>
            <a:r>
              <a:rPr lang="zh-CN" altLang="en-US" sz="4900" dirty="0">
                <a:latin typeface="微软雅黑" panose="020B0503020204020204" pitchFamily="34" charset="-122"/>
                <a:ea typeface="微软雅黑" panose="020B0503020204020204" pitchFamily="34" charset="-122"/>
              </a:rPr>
              <a:t>函数的嵌套调用</a:t>
            </a: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20</a:t>
            </a:fld>
            <a:endParaRPr lang="zh-CN" altLang="en-US">
              <a:solidFill>
                <a:prstClr val="black">
                  <a:tint val="75000"/>
                </a:prstClr>
              </a:solidFill>
            </a:endParaRPr>
          </a:p>
        </p:txBody>
      </p:sp>
    </p:spTree>
    <p:extLst>
      <p:ext uri="{BB962C8B-B14F-4D97-AF65-F5344CB8AC3E}">
        <p14:creationId xmlns:p14="http://schemas.microsoft.com/office/powerpoint/2010/main" val="3540886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86A48D-B8D4-430A-AE1C-E921A6F75A10}" type="slidenum">
              <a:rPr lang="zh-CN" altLang="en-US" smtClean="0">
                <a:solidFill>
                  <a:prstClr val="black">
                    <a:tint val="75000"/>
                  </a:prstClr>
                </a:solidFill>
              </a:rPr>
              <a:pPr/>
              <a:t>21</a:t>
            </a:fld>
            <a:endParaRPr lang="zh-CN" altLang="en-US">
              <a:solidFill>
                <a:prstClr val="black">
                  <a:tint val="75000"/>
                </a:prstClr>
              </a:solidFill>
            </a:endParaRPr>
          </a:p>
        </p:txBody>
      </p:sp>
      <p:pic>
        <p:nvPicPr>
          <p:cNvPr id="2" name="图片 1">
            <a:extLst>
              <a:ext uri="{FF2B5EF4-FFF2-40B4-BE49-F238E27FC236}">
                <a16:creationId xmlns:a16="http://schemas.microsoft.com/office/drawing/2014/main" id="{1265C0F2-44F7-E0D7-09D8-4106CBFC248B}"/>
              </a:ext>
            </a:extLst>
          </p:cNvPr>
          <p:cNvPicPr>
            <a:picLocks noChangeAspect="1"/>
          </p:cNvPicPr>
          <p:nvPr/>
        </p:nvPicPr>
        <p:blipFill>
          <a:blip r:embed="rId2"/>
          <a:stretch>
            <a:fillRect/>
          </a:stretch>
        </p:blipFill>
        <p:spPr>
          <a:xfrm>
            <a:off x="2066925" y="1932748"/>
            <a:ext cx="5460999" cy="2799335"/>
          </a:xfrm>
          <a:prstGeom prst="rect">
            <a:avLst/>
          </a:prstGeom>
        </p:spPr>
      </p:pic>
    </p:spTree>
    <p:extLst>
      <p:ext uri="{BB962C8B-B14F-4D97-AF65-F5344CB8AC3E}">
        <p14:creationId xmlns:p14="http://schemas.microsoft.com/office/powerpoint/2010/main" val="1798760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695" y="600710"/>
            <a:ext cx="5625465" cy="1209040"/>
          </a:xfrm>
          <a:prstGeom prst="rect">
            <a:avLst/>
          </a:prstGeom>
        </p:spPr>
      </p:pic>
      <p:sp>
        <p:nvSpPr>
          <p:cNvPr id="10" name="文本框 9"/>
          <p:cNvSpPr txBox="1"/>
          <p:nvPr/>
        </p:nvSpPr>
        <p:spPr>
          <a:xfrm>
            <a:off x="3020695" y="869631"/>
            <a:ext cx="6310630" cy="464185"/>
          </a:xfrm>
          <a:prstGeom prst="rect">
            <a:avLst/>
          </a:prstGeom>
          <a:noFill/>
        </p:spPr>
        <p:txBody>
          <a:bodyPr wrap="square" rtlCol="0">
            <a:noAutofit/>
          </a:bodyPr>
          <a:lstStyle/>
          <a:p>
            <a:pPr algn="ctr"/>
            <a:r>
              <a:rPr lang="zh-CN" altLang="en-US" sz="3200" dirty="0">
                <a:solidFill>
                  <a:prstClr val="white"/>
                </a:solidFill>
                <a:latin typeface="锐字潮牌真言简2.0免费 大粗" panose="02020300000000000000" charset="-122"/>
                <a:ea typeface="锐字潮牌真言简2.0免费 大粗" panose="02020300000000000000" charset="-122"/>
                <a:cs typeface="锐字潮牌真言简2.0免费 大粗" panose="02020300000000000000" charset="-122"/>
              </a:rPr>
              <a:t>函数的嵌套调用实例</a:t>
            </a:r>
          </a:p>
        </p:txBody>
      </p:sp>
      <p:pic>
        <p:nvPicPr>
          <p:cNvPr id="7" name="图片 6" descr="未标1题-1"/>
          <p:cNvPicPr>
            <a:picLocks noChangeAspect="1"/>
          </p:cNvPicPr>
          <p:nvPr/>
        </p:nvPicPr>
        <p:blipFill>
          <a:blip r:embed="rId4"/>
          <a:stretch>
            <a:fillRect/>
          </a:stretch>
        </p:blipFill>
        <p:spPr>
          <a:xfrm>
            <a:off x="601345" y="1618615"/>
            <a:ext cx="802640" cy="600075"/>
          </a:xfrm>
          <a:prstGeom prst="rect">
            <a:avLst/>
          </a:prstGeom>
        </p:spPr>
      </p:pic>
      <p:sp>
        <p:nvSpPr>
          <p:cNvPr id="8" name="内容占位符 2"/>
          <p:cNvSpPr txBox="1">
            <a:spLocks/>
          </p:cNvSpPr>
          <p:nvPr/>
        </p:nvSpPr>
        <p:spPr>
          <a:xfrm>
            <a:off x="1243584" y="1618615"/>
            <a:ext cx="10643616" cy="1734185"/>
          </a:xfrm>
          <a:prstGeom prst="rect">
            <a:avLst/>
          </a:prstGeom>
        </p:spPr>
        <p:txBody>
          <a:bodyPr vert="horz" wrap="square" lIns="90170" tIns="46990" rIns="90170" bIns="46990" rtlCol="0">
            <a:normAutofit lnSpcReduction="10000"/>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n-US" altLang="zh-CN" sz="2200" dirty="0">
                <a:solidFill>
                  <a:srgbClr val="000000"/>
                </a:solidFill>
              </a:rPr>
              <a:t>【</a:t>
            </a:r>
            <a:r>
              <a:rPr lang="zh-CN" altLang="en-US" sz="2200" dirty="0">
                <a:solidFill>
                  <a:srgbClr val="000000"/>
                </a:solidFill>
              </a:rPr>
              <a:t>函数的嵌套调用实例</a:t>
            </a:r>
            <a:r>
              <a:rPr lang="en-US" altLang="zh-CN" sz="2200" dirty="0">
                <a:solidFill>
                  <a:srgbClr val="000000"/>
                </a:solidFill>
              </a:rPr>
              <a:t>4.7】</a:t>
            </a:r>
            <a:r>
              <a:rPr lang="zh-CN" altLang="en-US" sz="2200" dirty="0">
                <a:solidFill>
                  <a:srgbClr val="000000"/>
                </a:solidFill>
              </a:rPr>
              <a:t>编写一个函数</a:t>
            </a:r>
            <a:r>
              <a:rPr lang="en-US" altLang="zh-CN" sz="2200" dirty="0">
                <a:solidFill>
                  <a:srgbClr val="000000"/>
                </a:solidFill>
              </a:rPr>
              <a:t>add()</a:t>
            </a:r>
            <a:r>
              <a:rPr lang="zh-CN" altLang="en-US" sz="2200" dirty="0">
                <a:solidFill>
                  <a:srgbClr val="000000"/>
                </a:solidFill>
              </a:rPr>
              <a:t>，用于求两个整数的和；编写一个函数</a:t>
            </a:r>
            <a:r>
              <a:rPr lang="en-US" altLang="zh-CN" sz="2200" dirty="0" err="1">
                <a:solidFill>
                  <a:srgbClr val="000000"/>
                </a:solidFill>
              </a:rPr>
              <a:t>do_add_task</a:t>
            </a:r>
            <a:r>
              <a:rPr lang="en-US" altLang="zh-CN" sz="2200" dirty="0">
                <a:solidFill>
                  <a:srgbClr val="000000"/>
                </a:solidFill>
              </a:rPr>
              <a:t>()</a:t>
            </a:r>
            <a:r>
              <a:rPr lang="zh-CN" altLang="en-US" sz="2200" dirty="0">
                <a:solidFill>
                  <a:srgbClr val="000000"/>
                </a:solidFill>
              </a:rPr>
              <a:t>，用于求两个整数的和并打印计算结果，其中求两个整数的和直接调用</a:t>
            </a:r>
            <a:r>
              <a:rPr lang="en-US" altLang="zh-CN" sz="2200" dirty="0">
                <a:solidFill>
                  <a:srgbClr val="000000"/>
                </a:solidFill>
              </a:rPr>
              <a:t>add()</a:t>
            </a:r>
            <a:r>
              <a:rPr lang="zh-CN" altLang="en-US" sz="2200" dirty="0">
                <a:solidFill>
                  <a:srgbClr val="000000"/>
                </a:solidFill>
              </a:rPr>
              <a:t>函数。使用编写好的</a:t>
            </a:r>
            <a:r>
              <a:rPr lang="en-US" altLang="zh-CN" sz="2200" dirty="0" err="1">
                <a:solidFill>
                  <a:srgbClr val="000000"/>
                </a:solidFill>
              </a:rPr>
              <a:t>do_add_task</a:t>
            </a:r>
            <a:r>
              <a:rPr lang="en-US" altLang="zh-CN" sz="2200" dirty="0">
                <a:solidFill>
                  <a:srgbClr val="000000"/>
                </a:solidFill>
              </a:rPr>
              <a:t>()</a:t>
            </a:r>
            <a:r>
              <a:rPr lang="zh-CN" altLang="en-US" sz="2200" dirty="0">
                <a:solidFill>
                  <a:srgbClr val="000000"/>
                </a:solidFill>
              </a:rPr>
              <a:t>计算</a:t>
            </a:r>
            <a:r>
              <a:rPr lang="en-US" altLang="zh-CN" sz="2200" dirty="0">
                <a:solidFill>
                  <a:srgbClr val="000000"/>
                </a:solidFill>
              </a:rPr>
              <a:t>10+20</a:t>
            </a:r>
            <a:r>
              <a:rPr lang="zh-CN" altLang="en-US" sz="2200" dirty="0">
                <a:solidFill>
                  <a:srgbClr val="000000"/>
                </a:solidFill>
              </a:rPr>
              <a:t>的结果并打印。</a:t>
            </a:r>
            <a:endParaRPr lang="en-US" sz="2200" dirty="0">
              <a:solidFill>
                <a:srgbClr val="000000"/>
              </a:solidFill>
            </a:endParaRPr>
          </a:p>
        </p:txBody>
      </p:sp>
      <p:sp>
        <p:nvSpPr>
          <p:cNvPr id="9" name="文本框 8">
            <a:extLst>
              <a:ext uri="{FF2B5EF4-FFF2-40B4-BE49-F238E27FC236}">
                <a16:creationId xmlns:a16="http://schemas.microsoft.com/office/drawing/2014/main" id="{7718D9FB-28B0-4B2C-A521-0B1C785C95EC}"/>
              </a:ext>
            </a:extLst>
          </p:cNvPr>
          <p:cNvSpPr txBox="1"/>
          <p:nvPr/>
        </p:nvSpPr>
        <p:spPr>
          <a:xfrm>
            <a:off x="2220925" y="2952431"/>
            <a:ext cx="9445690" cy="3439038"/>
          </a:xfrm>
          <a:prstGeom prst="rect">
            <a:avLst/>
          </a:prstGeom>
          <a:noFill/>
        </p:spPr>
        <p:txBody>
          <a:bodyPr wrap="square" numCol="2">
            <a:noAutofit/>
          </a:bodyPr>
          <a:lstStyle/>
          <a:p>
            <a:r>
              <a:rPr lang="en-US" altLang="zh-CN" b="1" dirty="0">
                <a:latin typeface="Times New Roman" panose="02020603050405020304" pitchFamily="18" charset="0"/>
                <a:cs typeface="Times New Roman" panose="02020603050405020304" pitchFamily="18" charset="0"/>
              </a:rPr>
              <a:t>#include &lt;</a:t>
            </a:r>
            <a:r>
              <a:rPr lang="en-US" altLang="zh-CN" b="1" dirty="0" err="1">
                <a:latin typeface="Times New Roman" panose="02020603050405020304" pitchFamily="18" charset="0"/>
                <a:cs typeface="Times New Roman" panose="02020603050405020304" pitchFamily="18" charset="0"/>
              </a:rPr>
              <a:t>stdio.h</a:t>
            </a:r>
            <a:r>
              <a:rPr lang="en-US" altLang="zh-CN" b="1" dirty="0">
                <a:latin typeface="Times New Roman" panose="02020603050405020304" pitchFamily="18" charset="0"/>
                <a:cs typeface="Times New Roman" panose="02020603050405020304" pitchFamily="18" charset="0"/>
              </a:rPr>
              <a:t>&gt;</a:t>
            </a:r>
          </a:p>
          <a:p>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int add(int a, int b)</a:t>
            </a:r>
          </a:p>
          <a:p>
            <a:r>
              <a:rPr lang="en-US" altLang="zh-CN" b="1" dirty="0">
                <a:latin typeface="Times New Roman" panose="02020603050405020304" pitchFamily="18" charset="0"/>
                <a:cs typeface="Times New Roman" panose="02020603050405020304" pitchFamily="18" charset="0"/>
              </a:rPr>
              <a:t>{</a:t>
            </a:r>
          </a:p>
          <a:p>
            <a:r>
              <a:rPr lang="en-US" altLang="zh-CN" b="1" dirty="0">
                <a:latin typeface="Times New Roman" panose="02020603050405020304" pitchFamily="18" charset="0"/>
                <a:cs typeface="Times New Roman" panose="02020603050405020304" pitchFamily="18" charset="0"/>
              </a:rPr>
              <a:t>       return a + b;</a:t>
            </a:r>
          </a:p>
          <a:p>
            <a:r>
              <a:rPr lang="en-US" altLang="zh-CN" b="1" dirty="0">
                <a:latin typeface="Times New Roman" panose="02020603050405020304" pitchFamily="18" charset="0"/>
                <a:cs typeface="Times New Roman" panose="02020603050405020304" pitchFamily="18" charset="0"/>
              </a:rPr>
              <a:t>}</a:t>
            </a:r>
          </a:p>
          <a:p>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void </a:t>
            </a:r>
            <a:r>
              <a:rPr lang="en-US" altLang="zh-CN" b="1" dirty="0" err="1">
                <a:latin typeface="Times New Roman" panose="02020603050405020304" pitchFamily="18" charset="0"/>
                <a:cs typeface="Times New Roman" panose="02020603050405020304" pitchFamily="18" charset="0"/>
              </a:rPr>
              <a:t>do_add_task</a:t>
            </a:r>
            <a:r>
              <a:rPr lang="en-US" altLang="zh-CN" b="1" dirty="0">
                <a:latin typeface="Times New Roman" panose="02020603050405020304" pitchFamily="18" charset="0"/>
                <a:cs typeface="Times New Roman" panose="02020603050405020304" pitchFamily="18" charset="0"/>
              </a:rPr>
              <a:t>(int a, int b)</a:t>
            </a:r>
          </a:p>
          <a:p>
            <a:r>
              <a:rPr lang="en-US" altLang="zh-CN" b="1" dirty="0">
                <a:latin typeface="Times New Roman" panose="02020603050405020304" pitchFamily="18" charset="0"/>
                <a:cs typeface="Times New Roman" panose="02020603050405020304" pitchFamily="18" charset="0"/>
              </a:rPr>
              <a:t>{</a:t>
            </a:r>
          </a:p>
          <a:p>
            <a:r>
              <a:rPr lang="en-US" altLang="zh-CN" b="1" dirty="0">
                <a:latin typeface="Times New Roman" panose="02020603050405020304" pitchFamily="18" charset="0"/>
                <a:cs typeface="Times New Roman" panose="02020603050405020304" pitchFamily="18" charset="0"/>
              </a:rPr>
              <a:t>       int result = add(a, b); // </a:t>
            </a:r>
            <a:r>
              <a:rPr lang="zh-CN" altLang="en-US" b="1" dirty="0">
                <a:latin typeface="Times New Roman" panose="02020603050405020304" pitchFamily="18" charset="0"/>
                <a:cs typeface="Times New Roman" panose="02020603050405020304" pitchFamily="18" charset="0"/>
              </a:rPr>
              <a:t>函数嵌套调用</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printf</a:t>
            </a:r>
            <a:r>
              <a:rPr lang="en-US" altLang="zh-CN" b="1" dirty="0">
                <a:latin typeface="Times New Roman" panose="02020603050405020304" pitchFamily="18" charset="0"/>
                <a:cs typeface="Times New Roman" panose="02020603050405020304" pitchFamily="18" charset="0"/>
              </a:rPr>
              <a:t>("The result: %d\n", result);</a:t>
            </a:r>
          </a:p>
          <a:p>
            <a:r>
              <a:rPr lang="en-US" altLang="zh-CN" b="1" dirty="0">
                <a:latin typeface="Times New Roman" panose="02020603050405020304" pitchFamily="18" charset="0"/>
                <a:cs typeface="Times New Roman" panose="02020603050405020304" pitchFamily="18" charset="0"/>
              </a:rPr>
              <a:t>}</a:t>
            </a:r>
          </a:p>
          <a:p>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int main(void)</a:t>
            </a:r>
          </a:p>
          <a:p>
            <a:r>
              <a:rPr lang="en-US" altLang="zh-CN" b="1" dirty="0">
                <a:latin typeface="Times New Roman" panose="02020603050405020304" pitchFamily="18" charset="0"/>
                <a:cs typeface="Times New Roman" panose="02020603050405020304" pitchFamily="18" charset="0"/>
              </a:rPr>
              <a:t>{</a:t>
            </a:r>
          </a:p>
          <a:p>
            <a:r>
              <a:rPr lang="en-US" altLang="zh-CN" b="1" dirty="0">
                <a:latin typeface="Times New Roman" panose="02020603050405020304" pitchFamily="18" charset="0"/>
                <a:cs typeface="Times New Roman" panose="02020603050405020304" pitchFamily="18" charset="0"/>
              </a:rPr>
              <a:t>       int num1 = 10, num2 = 20;</a:t>
            </a:r>
          </a:p>
          <a:p>
            <a:r>
              <a:rPr lang="en-US" altLang="zh-CN" b="1" dirty="0">
                <a:latin typeface="Times New Roman" panose="02020603050405020304" pitchFamily="18" charset="0"/>
                <a:cs typeface="Times New Roman" panose="02020603050405020304" pitchFamily="18" charset="0"/>
              </a:rPr>
              <a:t>       </a:t>
            </a:r>
            <a:r>
              <a:rPr lang="en-US" altLang="zh-CN" b="1" dirty="0" err="1">
                <a:latin typeface="Times New Roman" panose="02020603050405020304" pitchFamily="18" charset="0"/>
                <a:cs typeface="Times New Roman" panose="02020603050405020304" pitchFamily="18" charset="0"/>
              </a:rPr>
              <a:t>do_add_task</a:t>
            </a:r>
            <a:r>
              <a:rPr lang="en-US" altLang="zh-CN" b="1" dirty="0">
                <a:latin typeface="Times New Roman" panose="02020603050405020304" pitchFamily="18" charset="0"/>
                <a:cs typeface="Times New Roman" panose="02020603050405020304" pitchFamily="18" charset="0"/>
              </a:rPr>
              <a:t>(num1, num2);</a:t>
            </a:r>
          </a:p>
          <a:p>
            <a:r>
              <a:rPr lang="en-US" altLang="zh-CN" b="1" dirty="0">
                <a:latin typeface="Times New Roman" panose="02020603050405020304" pitchFamily="18" charset="0"/>
                <a:cs typeface="Times New Roman" panose="02020603050405020304" pitchFamily="18" charset="0"/>
              </a:rPr>
              <a:t>       return 0;</a:t>
            </a:r>
          </a:p>
          <a:p>
            <a:r>
              <a:rPr lang="en-US" altLang="zh-CN"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62410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4.2.1 </a:t>
            </a:r>
            <a:r>
              <a:rPr lang="zh-CN" altLang="en-US" dirty="0"/>
              <a:t>函数与程序结构</a:t>
            </a:r>
          </a:p>
        </p:txBody>
      </p:sp>
      <p:sp>
        <p:nvSpPr>
          <p:cNvPr id="3" name="内容占位符 2"/>
          <p:cNvSpPr>
            <a:spLocks noGrp="1"/>
          </p:cNvSpPr>
          <p:nvPr>
            <p:ph idx="1"/>
          </p:nvPr>
        </p:nvSpPr>
        <p:spPr/>
        <p:txBody>
          <a:bodyPr>
            <a:normAutofit lnSpcReduction="10000"/>
          </a:bodyPr>
          <a:lstStyle/>
          <a:p>
            <a:r>
              <a:rPr lang="en-US" altLang="zh-CN" dirty="0">
                <a:sym typeface="+mn-ea"/>
              </a:rPr>
              <a:t>1.</a:t>
            </a:r>
            <a:r>
              <a:rPr lang="zh-CN" altLang="en-US" dirty="0"/>
              <a:t>结构化程序设计</a:t>
            </a:r>
          </a:p>
          <a:p>
            <a:pPr lvl="1"/>
            <a:r>
              <a:rPr lang="zh-CN" altLang="en-US" dirty="0"/>
              <a:t>强调程序设计的风格和程序结构的规范化，提倡清晰的结构。</a:t>
            </a:r>
          </a:p>
          <a:p>
            <a:pPr lvl="1"/>
            <a:r>
              <a:rPr lang="zh-CN" altLang="en-US" dirty="0">
                <a:solidFill>
                  <a:srgbClr val="FF0000"/>
                </a:solidFill>
              </a:rPr>
              <a:t>分而治之</a:t>
            </a:r>
            <a:r>
              <a:rPr lang="zh-CN" altLang="en-US" dirty="0"/>
              <a:t>：在面对复杂问题或庞大的局势时，将问题分解成若干个较小的部分，并分别加以解决，以便更容易处理和应对。该智慧广泛应用于政治、管理、军事、社会等各个领域。</a:t>
            </a:r>
            <a:endParaRPr lang="en-US" altLang="zh-CN" dirty="0"/>
          </a:p>
          <a:p>
            <a:pPr lvl="1"/>
            <a:r>
              <a:rPr lang="zh-CN" altLang="en-US" dirty="0"/>
              <a:t>在程序设计中，将复杂的程序拆分成若干个函数，并分别实现，就是应用了分而治之的思想，大大降低了程序实现的难度。</a:t>
            </a:r>
            <a:endParaRPr lang="en-US" altLang="zh-CN" dirty="0"/>
          </a:p>
        </p:txBody>
      </p:sp>
    </p:spTree>
    <p:custDataLst>
      <p:tags r:id="rId1"/>
    </p:custDataLst>
    <p:extLst>
      <p:ext uri="{BB962C8B-B14F-4D97-AF65-F5344CB8AC3E}">
        <p14:creationId xmlns:p14="http://schemas.microsoft.com/office/powerpoint/2010/main" val="4117225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4.2.1 </a:t>
            </a:r>
            <a:r>
              <a:rPr lang="zh-CN" altLang="en-US" dirty="0"/>
              <a:t>函数与程序结构</a:t>
            </a:r>
          </a:p>
        </p:txBody>
      </p:sp>
      <p:sp>
        <p:nvSpPr>
          <p:cNvPr id="3" name="内容占位符 2"/>
          <p:cNvSpPr>
            <a:spLocks noGrp="1"/>
          </p:cNvSpPr>
          <p:nvPr>
            <p:ph idx="1"/>
          </p:nvPr>
        </p:nvSpPr>
        <p:spPr/>
        <p:txBody>
          <a:bodyPr>
            <a:normAutofit/>
          </a:bodyPr>
          <a:lstStyle/>
          <a:p>
            <a:r>
              <a:rPr lang="en-US" altLang="zh-CN" dirty="0">
                <a:sym typeface="+mn-ea"/>
              </a:rPr>
              <a:t>1.</a:t>
            </a:r>
            <a:r>
              <a:rPr lang="zh-CN" altLang="en-US" dirty="0"/>
              <a:t>结构化程序设计</a:t>
            </a:r>
          </a:p>
          <a:p>
            <a:pPr marL="457200" lvl="1" indent="0">
              <a:buNone/>
            </a:pPr>
            <a:endParaRPr lang="en-US" altLang="zh-CN" dirty="0"/>
          </a:p>
        </p:txBody>
      </p:sp>
      <p:grpSp>
        <p:nvGrpSpPr>
          <p:cNvPr id="4" name="Group 2">
            <a:extLst>
              <a:ext uri="{FF2B5EF4-FFF2-40B4-BE49-F238E27FC236}">
                <a16:creationId xmlns:a16="http://schemas.microsoft.com/office/drawing/2014/main" id="{3AAF7981-8C8B-486E-B07D-08C512F5D27C}"/>
              </a:ext>
            </a:extLst>
          </p:cNvPr>
          <p:cNvGrpSpPr>
            <a:grpSpLocks noChangeAspect="1"/>
          </p:cNvGrpSpPr>
          <p:nvPr/>
        </p:nvGrpSpPr>
        <p:grpSpPr bwMode="auto">
          <a:xfrm>
            <a:off x="1739900" y="2121852"/>
            <a:ext cx="8712200" cy="3235325"/>
            <a:chOff x="2264" y="2596"/>
            <a:chExt cx="7560" cy="2808"/>
          </a:xfrm>
        </p:grpSpPr>
        <p:sp>
          <p:nvSpPr>
            <p:cNvPr id="5" name="AutoShape 3">
              <a:extLst>
                <a:ext uri="{FF2B5EF4-FFF2-40B4-BE49-F238E27FC236}">
                  <a16:creationId xmlns:a16="http://schemas.microsoft.com/office/drawing/2014/main" id="{2FB70731-7250-4BC0-9011-65DE1A29B806}"/>
                </a:ext>
              </a:extLst>
            </p:cNvPr>
            <p:cNvSpPr>
              <a:spLocks noChangeAspect="1" noChangeArrowheads="1"/>
            </p:cNvSpPr>
            <p:nvPr/>
          </p:nvSpPr>
          <p:spPr bwMode="auto">
            <a:xfrm>
              <a:off x="2264" y="2596"/>
              <a:ext cx="7560" cy="28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a:p>
          </p:txBody>
        </p:sp>
        <p:sp>
          <p:nvSpPr>
            <p:cNvPr id="6" name="Text Box 4">
              <a:extLst>
                <a:ext uri="{FF2B5EF4-FFF2-40B4-BE49-F238E27FC236}">
                  <a16:creationId xmlns:a16="http://schemas.microsoft.com/office/drawing/2014/main" id="{31247150-D3C3-4189-9D28-B726867D9D2D}"/>
                </a:ext>
              </a:extLst>
            </p:cNvPr>
            <p:cNvSpPr txBox="1">
              <a:spLocks noChangeArrowheads="1"/>
            </p:cNvSpPr>
            <p:nvPr/>
          </p:nvSpPr>
          <p:spPr bwMode="auto">
            <a:xfrm>
              <a:off x="4889" y="2752"/>
              <a:ext cx="2311" cy="469"/>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学生成绩统计程序</a:t>
              </a:r>
              <a:endParaRPr kumimoji="0" lang="zh-CN" altLang="en-US" sz="2000" dirty="0">
                <a:latin typeface="Arial" charset="0"/>
              </a:endParaRPr>
            </a:p>
          </p:txBody>
        </p:sp>
        <p:sp>
          <p:nvSpPr>
            <p:cNvPr id="7" name="Text Box 5">
              <a:extLst>
                <a:ext uri="{FF2B5EF4-FFF2-40B4-BE49-F238E27FC236}">
                  <a16:creationId xmlns:a16="http://schemas.microsoft.com/office/drawing/2014/main" id="{DB33DACF-8524-48C6-84D4-35E8707C3495}"/>
                </a:ext>
              </a:extLst>
            </p:cNvPr>
            <p:cNvSpPr txBox="1">
              <a:spLocks noChangeArrowheads="1"/>
            </p:cNvSpPr>
            <p:nvPr/>
          </p:nvSpPr>
          <p:spPr bwMode="auto">
            <a:xfrm>
              <a:off x="2580" y="3689"/>
              <a:ext cx="1365"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成绩输入</a:t>
              </a:r>
              <a:endParaRPr kumimoji="0" lang="zh-CN" altLang="en-US" sz="2000" dirty="0">
                <a:latin typeface="Arial" charset="0"/>
              </a:endParaRPr>
            </a:p>
          </p:txBody>
        </p:sp>
        <p:sp>
          <p:nvSpPr>
            <p:cNvPr id="8" name="Text Box 6">
              <a:extLst>
                <a:ext uri="{FF2B5EF4-FFF2-40B4-BE49-F238E27FC236}">
                  <a16:creationId xmlns:a16="http://schemas.microsoft.com/office/drawing/2014/main" id="{ADC38886-B7A7-4EFA-852B-389C38DDFCE6}"/>
                </a:ext>
              </a:extLst>
            </p:cNvPr>
            <p:cNvSpPr txBox="1">
              <a:spLocks noChangeArrowheads="1"/>
            </p:cNvSpPr>
            <p:nvPr/>
          </p:nvSpPr>
          <p:spPr bwMode="auto">
            <a:xfrm>
              <a:off x="4470" y="3689"/>
              <a:ext cx="1365"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数据计算</a:t>
              </a:r>
              <a:endParaRPr kumimoji="0" lang="zh-CN" altLang="en-US" sz="2000" dirty="0">
                <a:latin typeface="Arial" charset="0"/>
              </a:endParaRPr>
            </a:p>
          </p:txBody>
        </p:sp>
        <p:sp>
          <p:nvSpPr>
            <p:cNvPr id="9" name="Text Box 7">
              <a:extLst>
                <a:ext uri="{FF2B5EF4-FFF2-40B4-BE49-F238E27FC236}">
                  <a16:creationId xmlns:a16="http://schemas.microsoft.com/office/drawing/2014/main" id="{A6B6727F-5C54-43EE-9E57-59C98AE7C42A}"/>
                </a:ext>
              </a:extLst>
            </p:cNvPr>
            <p:cNvSpPr txBox="1">
              <a:spLocks noChangeArrowheads="1"/>
            </p:cNvSpPr>
            <p:nvPr/>
          </p:nvSpPr>
          <p:spPr bwMode="auto">
            <a:xfrm>
              <a:off x="6465" y="3689"/>
              <a:ext cx="1365"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数据查找</a:t>
              </a:r>
              <a:endParaRPr kumimoji="0" lang="zh-CN" altLang="en-US" sz="2000" dirty="0">
                <a:latin typeface="Arial" charset="0"/>
              </a:endParaRPr>
            </a:p>
          </p:txBody>
        </p:sp>
        <p:sp>
          <p:nvSpPr>
            <p:cNvPr id="10" name="Text Box 8">
              <a:extLst>
                <a:ext uri="{FF2B5EF4-FFF2-40B4-BE49-F238E27FC236}">
                  <a16:creationId xmlns:a16="http://schemas.microsoft.com/office/drawing/2014/main" id="{D1EAB19F-35CE-4E6B-8CC4-0E48A5B47DB4}"/>
                </a:ext>
              </a:extLst>
            </p:cNvPr>
            <p:cNvSpPr txBox="1">
              <a:spLocks noChangeArrowheads="1"/>
            </p:cNvSpPr>
            <p:nvPr/>
          </p:nvSpPr>
          <p:spPr bwMode="auto">
            <a:xfrm>
              <a:off x="8460" y="3689"/>
              <a:ext cx="1259"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a:latin typeface="Times New Roman" charset="0"/>
                </a:rPr>
                <a:t>输出成绩</a:t>
              </a:r>
              <a:endParaRPr kumimoji="0" lang="zh-CN" altLang="en-US" sz="2000">
                <a:latin typeface="Arial" charset="0"/>
              </a:endParaRPr>
            </a:p>
          </p:txBody>
        </p:sp>
        <p:sp>
          <p:nvSpPr>
            <p:cNvPr id="11" name="Text Box 9">
              <a:extLst>
                <a:ext uri="{FF2B5EF4-FFF2-40B4-BE49-F238E27FC236}">
                  <a16:creationId xmlns:a16="http://schemas.microsoft.com/office/drawing/2014/main" id="{5E518641-4F1F-4221-973D-00484B78EFAB}"/>
                </a:ext>
              </a:extLst>
            </p:cNvPr>
            <p:cNvSpPr txBox="1">
              <a:spLocks noChangeArrowheads="1"/>
            </p:cNvSpPr>
            <p:nvPr/>
          </p:nvSpPr>
          <p:spPr bwMode="auto">
            <a:xfrm>
              <a:off x="2894" y="4780"/>
              <a:ext cx="1890"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计算学生平均分</a:t>
              </a:r>
              <a:endParaRPr kumimoji="0" lang="zh-CN" altLang="en-US" sz="2000" dirty="0">
                <a:latin typeface="Arial" charset="0"/>
              </a:endParaRPr>
            </a:p>
          </p:txBody>
        </p:sp>
        <p:sp>
          <p:nvSpPr>
            <p:cNvPr id="12" name="Text Box 10">
              <a:extLst>
                <a:ext uri="{FF2B5EF4-FFF2-40B4-BE49-F238E27FC236}">
                  <a16:creationId xmlns:a16="http://schemas.microsoft.com/office/drawing/2014/main" id="{1AAB63C2-D4A7-4FD3-98D7-353603604560}"/>
                </a:ext>
              </a:extLst>
            </p:cNvPr>
            <p:cNvSpPr txBox="1">
              <a:spLocks noChangeArrowheads="1"/>
            </p:cNvSpPr>
            <p:nvPr/>
          </p:nvSpPr>
          <p:spPr bwMode="auto">
            <a:xfrm>
              <a:off x="5414" y="4780"/>
              <a:ext cx="1890" cy="468"/>
            </a:xfrm>
            <a:prstGeom prst="rect">
              <a:avLst/>
            </a:prstGeom>
            <a:solidFill>
              <a:srgbClr val="FFFFFF"/>
            </a:solidFill>
            <a:ln w="9525">
              <a:solidFill>
                <a:srgbClr val="000000"/>
              </a:solidFill>
              <a:miter lim="800000"/>
              <a:headEnd/>
              <a:tailEnd/>
            </a:ln>
          </p:spPr>
          <p:txBody>
            <a:bodyPr/>
            <a:lstStyle>
              <a:lvl1pPr>
                <a:defRPr kumimoji="1" sz="2400" b="1">
                  <a:solidFill>
                    <a:schemeClr val="tx1"/>
                  </a:solidFill>
                  <a:latin typeface="Harlow Solid Italic" charset="0"/>
                  <a:ea typeface="宋体" charset="0"/>
                  <a:cs typeface="宋体" charset="0"/>
                </a:defRPr>
              </a:lvl1pPr>
              <a:lvl2pPr marL="742950" indent="-285750">
                <a:defRPr kumimoji="1" sz="2400" b="1">
                  <a:solidFill>
                    <a:schemeClr val="tx1"/>
                  </a:solidFill>
                  <a:latin typeface="Harlow Solid Italic" charset="0"/>
                  <a:ea typeface="宋体" charset="0"/>
                </a:defRPr>
              </a:lvl2pPr>
              <a:lvl3pPr marL="1143000" indent="-228600">
                <a:defRPr kumimoji="1" sz="2400" b="1">
                  <a:solidFill>
                    <a:schemeClr val="tx1"/>
                  </a:solidFill>
                  <a:latin typeface="Harlow Solid Italic" charset="0"/>
                  <a:ea typeface="宋体" charset="0"/>
                </a:defRPr>
              </a:lvl3pPr>
              <a:lvl4pPr marL="1600200" indent="-228600">
                <a:defRPr kumimoji="1" sz="2400" b="1">
                  <a:solidFill>
                    <a:schemeClr val="tx1"/>
                  </a:solidFill>
                  <a:latin typeface="Harlow Solid Italic" charset="0"/>
                  <a:ea typeface="宋体" charset="0"/>
                </a:defRPr>
              </a:lvl4pPr>
              <a:lvl5pPr marL="2057400" indent="-228600">
                <a:defRPr kumimoji="1" sz="2400" b="1">
                  <a:solidFill>
                    <a:schemeClr val="tx1"/>
                  </a:solidFill>
                  <a:latin typeface="Harlow Solid Italic" charset="0"/>
                  <a:ea typeface="宋体" charset="0"/>
                </a:defRPr>
              </a:lvl5pPr>
              <a:lvl6pPr marL="2514600" indent="-228600" algn="ctr" fontAlgn="base">
                <a:spcBef>
                  <a:spcPct val="0"/>
                </a:spcBef>
                <a:spcAft>
                  <a:spcPct val="0"/>
                </a:spcAft>
                <a:defRPr kumimoji="1" sz="2400" b="1">
                  <a:solidFill>
                    <a:schemeClr val="tx1"/>
                  </a:solidFill>
                  <a:latin typeface="Harlow Solid Italic" charset="0"/>
                  <a:ea typeface="宋体" charset="0"/>
                </a:defRPr>
              </a:lvl6pPr>
              <a:lvl7pPr marL="2971800" indent="-228600" algn="ctr" fontAlgn="base">
                <a:spcBef>
                  <a:spcPct val="0"/>
                </a:spcBef>
                <a:spcAft>
                  <a:spcPct val="0"/>
                </a:spcAft>
                <a:defRPr kumimoji="1" sz="2400" b="1">
                  <a:solidFill>
                    <a:schemeClr val="tx1"/>
                  </a:solidFill>
                  <a:latin typeface="Harlow Solid Italic" charset="0"/>
                  <a:ea typeface="宋体" charset="0"/>
                </a:defRPr>
              </a:lvl7pPr>
              <a:lvl8pPr marL="3429000" indent="-228600" algn="ctr" fontAlgn="base">
                <a:spcBef>
                  <a:spcPct val="0"/>
                </a:spcBef>
                <a:spcAft>
                  <a:spcPct val="0"/>
                </a:spcAft>
                <a:defRPr kumimoji="1" sz="2400" b="1">
                  <a:solidFill>
                    <a:schemeClr val="tx1"/>
                  </a:solidFill>
                  <a:latin typeface="Harlow Solid Italic" charset="0"/>
                  <a:ea typeface="宋体" charset="0"/>
                </a:defRPr>
              </a:lvl8pPr>
              <a:lvl9pPr marL="3886200" indent="-228600" algn="ctr" fontAlgn="base">
                <a:spcBef>
                  <a:spcPct val="0"/>
                </a:spcBef>
                <a:spcAft>
                  <a:spcPct val="0"/>
                </a:spcAft>
                <a:defRPr kumimoji="1" sz="2400" b="1">
                  <a:solidFill>
                    <a:schemeClr val="tx1"/>
                  </a:solidFill>
                  <a:latin typeface="Harlow Solid Italic" charset="0"/>
                  <a:ea typeface="宋体" charset="0"/>
                </a:defRPr>
              </a:lvl9pPr>
            </a:lstStyle>
            <a:p>
              <a:r>
                <a:rPr kumimoji="0" lang="zh-CN" altLang="en-US" sz="2000" dirty="0">
                  <a:latin typeface="Times New Roman" charset="0"/>
                </a:rPr>
                <a:t>计算课程平均分</a:t>
              </a:r>
              <a:endParaRPr kumimoji="0" lang="zh-CN" altLang="en-US" sz="2000" dirty="0">
                <a:latin typeface="Arial" charset="0"/>
              </a:endParaRPr>
            </a:p>
          </p:txBody>
        </p:sp>
        <p:sp>
          <p:nvSpPr>
            <p:cNvPr id="13" name="Line 11">
              <a:extLst>
                <a:ext uri="{FF2B5EF4-FFF2-40B4-BE49-F238E27FC236}">
                  <a16:creationId xmlns:a16="http://schemas.microsoft.com/office/drawing/2014/main" id="{72F9CECA-ABFC-43C2-9C6C-C9684BFFB28C}"/>
                </a:ext>
              </a:extLst>
            </p:cNvPr>
            <p:cNvSpPr>
              <a:spLocks noChangeShapeType="1"/>
            </p:cNvSpPr>
            <p:nvPr/>
          </p:nvSpPr>
          <p:spPr bwMode="auto">
            <a:xfrm>
              <a:off x="3209" y="3376"/>
              <a:ext cx="5880" cy="1"/>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4" name="Line 12">
              <a:extLst>
                <a:ext uri="{FF2B5EF4-FFF2-40B4-BE49-F238E27FC236}">
                  <a16:creationId xmlns:a16="http://schemas.microsoft.com/office/drawing/2014/main" id="{8E29CA5F-7EBB-4848-BCC2-78625FE3B2F1}"/>
                </a:ext>
              </a:extLst>
            </p:cNvPr>
            <p:cNvSpPr>
              <a:spLocks noChangeShapeType="1"/>
            </p:cNvSpPr>
            <p:nvPr/>
          </p:nvSpPr>
          <p:spPr bwMode="auto">
            <a:xfrm>
              <a:off x="3209" y="3376"/>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5" name="Line 13">
              <a:extLst>
                <a:ext uri="{FF2B5EF4-FFF2-40B4-BE49-F238E27FC236}">
                  <a16:creationId xmlns:a16="http://schemas.microsoft.com/office/drawing/2014/main" id="{21377460-DC1C-4A87-959B-B8356C6BCA9B}"/>
                </a:ext>
              </a:extLst>
            </p:cNvPr>
            <p:cNvSpPr>
              <a:spLocks noChangeShapeType="1"/>
            </p:cNvSpPr>
            <p:nvPr/>
          </p:nvSpPr>
          <p:spPr bwMode="auto">
            <a:xfrm>
              <a:off x="5099" y="3376"/>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6" name="Line 14">
              <a:extLst>
                <a:ext uri="{FF2B5EF4-FFF2-40B4-BE49-F238E27FC236}">
                  <a16:creationId xmlns:a16="http://schemas.microsoft.com/office/drawing/2014/main" id="{AB97E23F-1595-472D-B0C7-280B6F342B90}"/>
                </a:ext>
              </a:extLst>
            </p:cNvPr>
            <p:cNvSpPr>
              <a:spLocks noChangeShapeType="1"/>
            </p:cNvSpPr>
            <p:nvPr/>
          </p:nvSpPr>
          <p:spPr bwMode="auto">
            <a:xfrm>
              <a:off x="7094" y="3376"/>
              <a:ext cx="1"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7" name="Line 15">
              <a:extLst>
                <a:ext uri="{FF2B5EF4-FFF2-40B4-BE49-F238E27FC236}">
                  <a16:creationId xmlns:a16="http://schemas.microsoft.com/office/drawing/2014/main" id="{A7F5497C-50F6-4AB5-BB1F-CCD4EF7F8A48}"/>
                </a:ext>
              </a:extLst>
            </p:cNvPr>
            <p:cNvSpPr>
              <a:spLocks noChangeShapeType="1"/>
            </p:cNvSpPr>
            <p:nvPr/>
          </p:nvSpPr>
          <p:spPr bwMode="auto">
            <a:xfrm>
              <a:off x="9089" y="3376"/>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8" name="Line 16">
              <a:extLst>
                <a:ext uri="{FF2B5EF4-FFF2-40B4-BE49-F238E27FC236}">
                  <a16:creationId xmlns:a16="http://schemas.microsoft.com/office/drawing/2014/main" id="{7E5E0B99-D8A2-460D-B5D4-147821E5FB22}"/>
                </a:ext>
              </a:extLst>
            </p:cNvPr>
            <p:cNvSpPr>
              <a:spLocks noChangeShapeType="1"/>
            </p:cNvSpPr>
            <p:nvPr/>
          </p:nvSpPr>
          <p:spPr bwMode="auto">
            <a:xfrm>
              <a:off x="6044" y="3220"/>
              <a:ext cx="0" cy="156"/>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9" name="Line 17">
              <a:extLst>
                <a:ext uri="{FF2B5EF4-FFF2-40B4-BE49-F238E27FC236}">
                  <a16:creationId xmlns:a16="http://schemas.microsoft.com/office/drawing/2014/main" id="{6C623E4D-48A7-4820-AEC9-4FDF334ECD23}"/>
                </a:ext>
              </a:extLst>
            </p:cNvPr>
            <p:cNvSpPr>
              <a:spLocks noChangeShapeType="1"/>
            </p:cNvSpPr>
            <p:nvPr/>
          </p:nvSpPr>
          <p:spPr bwMode="auto">
            <a:xfrm>
              <a:off x="3734" y="4468"/>
              <a:ext cx="2730" cy="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0" name="Line 18">
              <a:extLst>
                <a:ext uri="{FF2B5EF4-FFF2-40B4-BE49-F238E27FC236}">
                  <a16:creationId xmlns:a16="http://schemas.microsoft.com/office/drawing/2014/main" id="{841B80E0-81AF-4993-BE75-97EC9A806856}"/>
                </a:ext>
              </a:extLst>
            </p:cNvPr>
            <p:cNvSpPr>
              <a:spLocks noChangeShapeType="1"/>
            </p:cNvSpPr>
            <p:nvPr/>
          </p:nvSpPr>
          <p:spPr bwMode="auto">
            <a:xfrm>
              <a:off x="3734" y="4468"/>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1" name="Line 19">
              <a:extLst>
                <a:ext uri="{FF2B5EF4-FFF2-40B4-BE49-F238E27FC236}">
                  <a16:creationId xmlns:a16="http://schemas.microsoft.com/office/drawing/2014/main" id="{A70EC424-0720-436A-BBF6-E63EBD9DCDC7}"/>
                </a:ext>
              </a:extLst>
            </p:cNvPr>
            <p:cNvSpPr>
              <a:spLocks noChangeShapeType="1"/>
            </p:cNvSpPr>
            <p:nvPr/>
          </p:nvSpPr>
          <p:spPr bwMode="auto">
            <a:xfrm>
              <a:off x="6464" y="4468"/>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22" name="Line 20">
              <a:extLst>
                <a:ext uri="{FF2B5EF4-FFF2-40B4-BE49-F238E27FC236}">
                  <a16:creationId xmlns:a16="http://schemas.microsoft.com/office/drawing/2014/main" id="{518076B8-234F-4CC9-9C05-B97E600211AA}"/>
                </a:ext>
              </a:extLst>
            </p:cNvPr>
            <p:cNvSpPr>
              <a:spLocks noChangeShapeType="1"/>
            </p:cNvSpPr>
            <p:nvPr/>
          </p:nvSpPr>
          <p:spPr bwMode="auto">
            <a:xfrm>
              <a:off x="5099" y="4156"/>
              <a:ext cx="0" cy="312"/>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endParaRPr lang="zh-CN" altLang="en-US"/>
            </a:p>
          </p:txBody>
        </p:sp>
      </p:grpSp>
    </p:spTree>
    <p:custDataLst>
      <p:tags r:id="rId1"/>
    </p:custDataLst>
    <p:extLst>
      <p:ext uri="{BB962C8B-B14F-4D97-AF65-F5344CB8AC3E}">
        <p14:creationId xmlns:p14="http://schemas.microsoft.com/office/powerpoint/2010/main" val="3216487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4.2.2 </a:t>
            </a:r>
            <a:r>
              <a:rPr lang="zh-CN" altLang="en-US" dirty="0"/>
              <a:t>嵌套调用</a:t>
            </a:r>
          </a:p>
        </p:txBody>
      </p:sp>
      <p:sp>
        <p:nvSpPr>
          <p:cNvPr id="3" name="内容占位符 2"/>
          <p:cNvSpPr>
            <a:spLocks noGrp="1"/>
          </p:cNvSpPr>
          <p:nvPr>
            <p:ph idx="1"/>
          </p:nvPr>
        </p:nvSpPr>
        <p:spPr/>
        <p:txBody>
          <a:bodyPr>
            <a:normAutofit fontScale="92500" lnSpcReduction="10000"/>
          </a:bodyPr>
          <a:lstStyle/>
          <a:p>
            <a:r>
              <a:rPr lang="en-US" altLang="zh-CN" dirty="0">
                <a:sym typeface="+mn-ea"/>
              </a:rPr>
              <a:t>1.</a:t>
            </a:r>
            <a:r>
              <a:rPr lang="zh-CN" altLang="en-US" dirty="0"/>
              <a:t> 函数的嵌套调用的概念</a:t>
            </a:r>
          </a:p>
          <a:p>
            <a:pPr lvl="1"/>
            <a:r>
              <a:rPr lang="zh-CN" altLang="en-US" dirty="0"/>
              <a:t>函数的嵌套调用是指在一个函数内部调用另一个函数。</a:t>
            </a:r>
            <a:endParaRPr lang="en-US" altLang="zh-CN" dirty="0"/>
          </a:p>
          <a:p>
            <a:pPr marL="457200" lvl="1" indent="0">
              <a:buNone/>
            </a:pPr>
            <a:r>
              <a:rPr lang="zh-CN" altLang="en-US" sz="2600" dirty="0">
                <a:solidFill>
                  <a:srgbClr val="FF0000"/>
                </a:solidFill>
              </a:rPr>
              <a:t>注：</a:t>
            </a:r>
            <a:r>
              <a:rPr lang="en-US" altLang="zh-CN" sz="2600" dirty="0">
                <a:solidFill>
                  <a:srgbClr val="FF0000"/>
                </a:solidFill>
              </a:rPr>
              <a:t>C</a:t>
            </a:r>
            <a:r>
              <a:rPr lang="zh-CN" altLang="en-US" sz="2600" dirty="0">
                <a:solidFill>
                  <a:srgbClr val="FF0000"/>
                </a:solidFill>
              </a:rPr>
              <a:t>语言中允许函数的嵌套调用，但不允许函数的嵌套定义。一个函数的函数体中不能定义其他函数。</a:t>
            </a:r>
            <a:endParaRPr lang="en-US" altLang="zh-CN" sz="2600" dirty="0">
              <a:solidFill>
                <a:srgbClr val="FF0000"/>
              </a:solidFill>
            </a:endParaRPr>
          </a:p>
          <a:p>
            <a:pPr lvl="1"/>
            <a:endParaRPr lang="en-US" altLang="zh-CN" dirty="0"/>
          </a:p>
          <a:p>
            <a:pPr lvl="1"/>
            <a:r>
              <a:rPr lang="zh-CN" altLang="en-US" dirty="0"/>
              <a:t>函数的嵌套调用可以是单层的，也可以是多层的，即在被调用的函数中又调用了其他函数，形成了函数调用的层级结构。</a:t>
            </a:r>
            <a:endParaRPr lang="en-US" altLang="zh-CN" dirty="0"/>
          </a:p>
          <a:p>
            <a:pPr lvl="1"/>
            <a:endParaRPr lang="en-US" altLang="zh-CN" dirty="0"/>
          </a:p>
          <a:p>
            <a:pPr lvl="1"/>
            <a:r>
              <a:rPr lang="zh-CN" altLang="en-US" dirty="0"/>
              <a:t>函数的嵌套调用允许程序员将复杂的问题分解为更小的、独立的子问题，并使用不同的函数来处理这些子问题。</a:t>
            </a:r>
            <a:endParaRPr lang="en-US" altLang="zh-CN" dirty="0"/>
          </a:p>
          <a:p>
            <a:pPr lvl="1"/>
            <a:endParaRPr lang="en-US" altLang="zh-CN" dirty="0"/>
          </a:p>
          <a:p>
            <a:pPr lvl="1"/>
            <a:endParaRPr lang="zh-CN" altLang="en-US" dirty="0"/>
          </a:p>
        </p:txBody>
      </p:sp>
    </p:spTree>
    <p:custDataLst>
      <p:tags r:id="rId1"/>
    </p:custDataLst>
    <p:extLst>
      <p:ext uri="{BB962C8B-B14F-4D97-AF65-F5344CB8AC3E}">
        <p14:creationId xmlns:p14="http://schemas.microsoft.com/office/powerpoint/2010/main" val="2590331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4.2.2 </a:t>
            </a:r>
            <a:r>
              <a:rPr lang="zh-CN" altLang="en-US" dirty="0"/>
              <a:t>嵌套调用</a:t>
            </a:r>
          </a:p>
        </p:txBody>
      </p:sp>
      <p:sp>
        <p:nvSpPr>
          <p:cNvPr id="3" name="内容占位符 2"/>
          <p:cNvSpPr>
            <a:spLocks noGrp="1"/>
          </p:cNvSpPr>
          <p:nvPr>
            <p:ph idx="1"/>
          </p:nvPr>
        </p:nvSpPr>
        <p:spPr>
          <a:xfrm>
            <a:off x="627880" y="915775"/>
            <a:ext cx="10852150" cy="5203190"/>
          </a:xfrm>
        </p:spPr>
        <p:txBody>
          <a:bodyPr>
            <a:normAutofit/>
          </a:bodyPr>
          <a:lstStyle/>
          <a:p>
            <a:r>
              <a:rPr lang="en-US" altLang="zh-CN" dirty="0">
                <a:sym typeface="+mn-ea"/>
              </a:rPr>
              <a:t>2.</a:t>
            </a:r>
            <a:r>
              <a:rPr lang="zh-CN" altLang="en-US" dirty="0"/>
              <a:t> 函数的嵌套调用中代码执行路径</a:t>
            </a:r>
          </a:p>
          <a:p>
            <a:pPr marL="457200" lvl="1" indent="0">
              <a:buNone/>
            </a:pPr>
            <a:endParaRPr lang="en-US" altLang="zh-CN" dirty="0"/>
          </a:p>
          <a:p>
            <a:pPr lvl="1"/>
            <a:endParaRPr lang="zh-CN" altLang="en-US" dirty="0"/>
          </a:p>
        </p:txBody>
      </p:sp>
      <p:sp>
        <p:nvSpPr>
          <p:cNvPr id="34" name="Text Box 6">
            <a:extLst>
              <a:ext uri="{FF2B5EF4-FFF2-40B4-BE49-F238E27FC236}">
                <a16:creationId xmlns:a16="http://schemas.microsoft.com/office/drawing/2014/main" id="{B3510C17-4E37-4487-B1D9-8F323D98BC08}"/>
              </a:ext>
            </a:extLst>
          </p:cNvPr>
          <p:cNvSpPr txBox="1">
            <a:spLocks noChangeArrowheads="1"/>
          </p:cNvSpPr>
          <p:nvPr/>
        </p:nvSpPr>
        <p:spPr bwMode="auto">
          <a:xfrm>
            <a:off x="222407" y="1533465"/>
            <a:ext cx="4323873" cy="5324535"/>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#include &lt;</a:t>
            </a:r>
            <a:r>
              <a:rPr lang="en-US" altLang="zh-CN" sz="2000" kern="0" dirty="0" err="1">
                <a:solidFill>
                  <a:schemeClr val="tx1"/>
                </a:solidFill>
                <a:cs typeface="Times New Roman" pitchFamily="18" charset="0"/>
              </a:rPr>
              <a:t>stdio.h</a:t>
            </a:r>
            <a:r>
              <a:rPr lang="en-US" altLang="zh-CN" sz="2000" kern="0" dirty="0">
                <a:solidFill>
                  <a:schemeClr val="tx1"/>
                </a:solidFill>
                <a:cs typeface="Times New Roman" pitchFamily="18" charset="0"/>
              </a:rPr>
              <a:t>&gt;</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a:t>
            </a:r>
            <a:r>
              <a:rPr lang="zh-CN" altLang="en-US" sz="2000" kern="0" dirty="0">
                <a:solidFill>
                  <a:schemeClr val="tx1"/>
                </a:solidFill>
                <a:cs typeface="Times New Roman" pitchFamily="18" charset="0"/>
              </a:rPr>
              <a:t>执行加法运算</a:t>
            </a:r>
            <a:endParaRPr lang="en-US" altLang="zh-CN" sz="20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int add(int a, int b) {</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return a + b;</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a:t>
            </a:r>
            <a:r>
              <a:rPr lang="zh-CN" altLang="en-US" sz="2000" kern="0" dirty="0">
                <a:solidFill>
                  <a:schemeClr val="tx1"/>
                </a:solidFill>
                <a:cs typeface="Times New Roman" pitchFamily="18" charset="0"/>
              </a:rPr>
              <a:t>进行加法运算并打印结果</a:t>
            </a:r>
            <a:endParaRPr lang="en-US" altLang="zh-CN" sz="20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void </a:t>
            </a:r>
            <a:r>
              <a:rPr lang="en-US" altLang="zh-CN" sz="2000" kern="0" dirty="0" err="1">
                <a:solidFill>
                  <a:schemeClr val="tx1"/>
                </a:solidFill>
                <a:cs typeface="Times New Roman" pitchFamily="18" charset="0"/>
              </a:rPr>
              <a:t>do_add_task</a:t>
            </a:r>
            <a:r>
              <a:rPr lang="en-US" altLang="zh-CN" sz="2000" kern="0" dirty="0">
                <a:solidFill>
                  <a:schemeClr val="tx1"/>
                </a:solidFill>
                <a:cs typeface="Times New Roman" pitchFamily="18" charset="0"/>
              </a:rPr>
              <a:t>(int a, int b) {</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int result = </a:t>
            </a:r>
            <a:r>
              <a:rPr lang="en-US" altLang="zh-CN" sz="2000" kern="0" dirty="0">
                <a:solidFill>
                  <a:srgbClr val="FF0000"/>
                </a:solidFill>
                <a:cs typeface="Times New Roman" pitchFamily="18" charset="0"/>
              </a:rPr>
              <a:t>add</a:t>
            </a:r>
            <a:r>
              <a:rPr lang="en-US" altLang="zh-CN" sz="2000" kern="0" dirty="0">
                <a:solidFill>
                  <a:schemeClr val="tx1"/>
                </a:solidFill>
                <a:cs typeface="Times New Roman" pitchFamily="18" charset="0"/>
              </a:rPr>
              <a:t>(a, b);</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a:t>
            </a:r>
            <a:r>
              <a:rPr lang="en-US" altLang="zh-CN" sz="2000" kern="0" dirty="0" err="1">
                <a:solidFill>
                  <a:srgbClr val="FF0000"/>
                </a:solidFill>
                <a:cs typeface="Times New Roman" pitchFamily="18" charset="0"/>
              </a:rPr>
              <a:t>printf</a:t>
            </a:r>
            <a:r>
              <a:rPr lang="en-US" altLang="zh-CN" sz="2000" kern="0" dirty="0">
                <a:solidFill>
                  <a:schemeClr val="tx1"/>
                </a:solidFill>
                <a:cs typeface="Times New Roman" pitchFamily="18" charset="0"/>
              </a:rPr>
              <a:t>("The result: %d\n", result);</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a:t>
            </a:r>
          </a:p>
          <a:p>
            <a:pPr eaLnBrk="1" fontAlgn="base" hangingPunct="1">
              <a:spcBef>
                <a:spcPct val="0"/>
              </a:spcBef>
              <a:spcAft>
                <a:spcPct val="0"/>
              </a:spcAft>
              <a:buClrTx/>
              <a:buSzTx/>
              <a:buFontTx/>
              <a:buNone/>
              <a:defRPr/>
            </a:pPr>
            <a:endParaRPr lang="en-US" altLang="zh-CN" sz="2000" kern="0" dirty="0">
              <a:solidFill>
                <a:schemeClr val="tx1"/>
              </a:solidFill>
              <a:cs typeface="Times New Roman" pitchFamily="18" charset="0"/>
            </a:endParaRP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int main(void) {</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int num1 = 10, num2 = 20;</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a:t>
            </a:r>
            <a:r>
              <a:rPr lang="en-US" altLang="zh-CN" sz="2000" kern="0" dirty="0" err="1">
                <a:solidFill>
                  <a:srgbClr val="FF0000"/>
                </a:solidFill>
                <a:cs typeface="Times New Roman" pitchFamily="18" charset="0"/>
              </a:rPr>
              <a:t>do_add_task</a:t>
            </a:r>
            <a:r>
              <a:rPr lang="en-US" altLang="zh-CN" sz="2000" kern="0" dirty="0">
                <a:solidFill>
                  <a:schemeClr val="tx1"/>
                </a:solidFill>
                <a:cs typeface="Times New Roman" pitchFamily="18" charset="0"/>
              </a:rPr>
              <a:t>(num1, num2);</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      return 0;</a:t>
            </a:r>
          </a:p>
          <a:p>
            <a:pPr eaLnBrk="1" fontAlgn="base" hangingPunct="1">
              <a:spcBef>
                <a:spcPct val="0"/>
              </a:spcBef>
              <a:spcAft>
                <a:spcPct val="0"/>
              </a:spcAft>
              <a:buClrTx/>
              <a:buSzTx/>
              <a:buFontTx/>
              <a:buNone/>
              <a:defRPr/>
            </a:pPr>
            <a:r>
              <a:rPr lang="en-US" altLang="zh-CN" sz="2000" kern="0" dirty="0">
                <a:solidFill>
                  <a:schemeClr val="tx1"/>
                </a:solidFill>
                <a:cs typeface="Times New Roman" pitchFamily="18" charset="0"/>
              </a:rPr>
              <a:t>}</a:t>
            </a:r>
          </a:p>
          <a:p>
            <a:pPr eaLnBrk="1" fontAlgn="base" hangingPunct="1">
              <a:spcBef>
                <a:spcPct val="0"/>
              </a:spcBef>
              <a:spcAft>
                <a:spcPct val="0"/>
              </a:spcAft>
              <a:buClrTx/>
              <a:buSzTx/>
              <a:buFontTx/>
              <a:buNone/>
              <a:defRPr/>
            </a:pPr>
            <a:endParaRPr lang="en-US" altLang="zh-CN" sz="2000" kern="0" dirty="0">
              <a:solidFill>
                <a:schemeClr val="tx1"/>
              </a:solidFill>
              <a:cs typeface="Times New Roman" pitchFamily="18" charset="0"/>
            </a:endParaRPr>
          </a:p>
        </p:txBody>
      </p:sp>
      <p:pic>
        <p:nvPicPr>
          <p:cNvPr id="30" name="图片 29">
            <a:extLst>
              <a:ext uri="{FF2B5EF4-FFF2-40B4-BE49-F238E27FC236}">
                <a16:creationId xmlns:a16="http://schemas.microsoft.com/office/drawing/2014/main" id="{C25A4CFF-59FC-4D1D-9742-5E89B450FAA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6281" y="1683202"/>
            <a:ext cx="7257475" cy="4590598"/>
          </a:xfrm>
          <a:prstGeom prst="rect">
            <a:avLst/>
          </a:prstGeom>
          <a:noFill/>
        </p:spPr>
      </p:pic>
    </p:spTree>
    <p:custDataLst>
      <p:tags r:id="rId1"/>
    </p:custDataLst>
    <p:extLst>
      <p:ext uri="{BB962C8B-B14F-4D97-AF65-F5344CB8AC3E}">
        <p14:creationId xmlns:p14="http://schemas.microsoft.com/office/powerpoint/2010/main" val="1783170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p:txBody>
          <a:bodyPr/>
          <a:lstStyle/>
          <a:p>
            <a:r>
              <a:rPr lang="en-US" altLang="zh-CN" dirty="0"/>
              <a:t>4.2.3 </a:t>
            </a:r>
            <a:r>
              <a:rPr lang="zh-CN" altLang="en-US" dirty="0"/>
              <a:t>递归函数</a:t>
            </a:r>
          </a:p>
        </p:txBody>
      </p:sp>
      <p:sp>
        <p:nvSpPr>
          <p:cNvPr id="3" name="内容占位符 2">
            <a:extLst>
              <a:ext uri="{FF2B5EF4-FFF2-40B4-BE49-F238E27FC236}">
                <a16:creationId xmlns:a16="http://schemas.microsoft.com/office/drawing/2014/main" id="{1E5344F1-B1BF-46E0-B934-77132EE5ECE7}"/>
              </a:ext>
            </a:extLst>
          </p:cNvPr>
          <p:cNvSpPr>
            <a:spLocks noGrp="1"/>
          </p:cNvSpPr>
          <p:nvPr>
            <p:ph idx="1"/>
          </p:nvPr>
        </p:nvSpPr>
        <p:spPr>
          <a:xfrm>
            <a:off x="669925" y="953770"/>
            <a:ext cx="10852150" cy="5203190"/>
          </a:xfrm>
        </p:spPr>
        <p:txBody>
          <a:bodyPr/>
          <a:lstStyle/>
          <a:p>
            <a:r>
              <a:rPr lang="en-US" altLang="zh-CN" dirty="0">
                <a:sym typeface="+mn-ea"/>
              </a:rPr>
              <a:t>1.</a:t>
            </a:r>
            <a:r>
              <a:rPr lang="zh-CN" altLang="en-US" dirty="0"/>
              <a:t>递归函数的定义</a:t>
            </a:r>
            <a:endParaRPr lang="en-US" altLang="zh-CN" dirty="0"/>
          </a:p>
          <a:p>
            <a:pPr lvl="1"/>
            <a:r>
              <a:rPr lang="zh-CN" altLang="en-US" dirty="0"/>
              <a:t>函数体内直接或间接的调用自身的函数叫递归函数。</a:t>
            </a:r>
          </a:p>
          <a:p>
            <a:endParaRPr lang="zh-CN" altLang="en-US" dirty="0"/>
          </a:p>
        </p:txBody>
      </p:sp>
      <p:sp>
        <p:nvSpPr>
          <p:cNvPr id="4" name="Text Box 4">
            <a:extLst>
              <a:ext uri="{FF2B5EF4-FFF2-40B4-BE49-F238E27FC236}">
                <a16:creationId xmlns:a16="http://schemas.microsoft.com/office/drawing/2014/main" id="{E37AC229-0652-44AE-9B1D-3016D5D037A5}"/>
              </a:ext>
            </a:extLst>
          </p:cNvPr>
          <p:cNvSpPr txBox="1">
            <a:spLocks noChangeArrowheads="1"/>
          </p:cNvSpPr>
          <p:nvPr/>
        </p:nvSpPr>
        <p:spPr bwMode="auto">
          <a:xfrm>
            <a:off x="1648292" y="2660618"/>
            <a:ext cx="3810000" cy="3639450"/>
          </a:xfrm>
          <a:prstGeom prst="rect">
            <a:avLst/>
          </a:prstGeom>
          <a:noFill/>
          <a:ln w="28575">
            <a:solidFill>
              <a:srgbClr val="33CCCC"/>
            </a:solidFill>
            <a:miter lim="800000"/>
            <a:headEnd/>
            <a:tailEnd/>
          </a:ln>
          <a:effectLst/>
        </p:spPr>
        <p:txBody>
          <a:bodyPr lIns="180000" anchor="ctr"/>
          <a:lstStyle/>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int f(int x) {</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en-US" altLang="zh-CN" b="1" dirty="0" err="1">
                <a:solidFill>
                  <a:srgbClr val="000000"/>
                </a:solidFill>
                <a:latin typeface="Times New Roman" panose="02020603050405020304" pitchFamily="18" charset="0"/>
                <a:ea typeface="楷体_GB2312" pitchFamily="49" charset="-122"/>
                <a:cs typeface="Times New Roman" panose="02020603050405020304" pitchFamily="18" charset="0"/>
              </a:rPr>
              <a:t>int</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y, z;</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a:t>
            </a:r>
          </a:p>
          <a:p>
            <a:pPr>
              <a:lnSpc>
                <a:spcPct val="120000"/>
              </a:lnSpc>
            </a:pPr>
            <a:endPar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z = </a:t>
            </a:r>
            <a:r>
              <a:rPr kumimoji="1" lang="en-US" altLang="zh-CN" b="1" dirty="0">
                <a:solidFill>
                  <a:srgbClr val="0000FF"/>
                </a:solidFill>
                <a:latin typeface="Times New Roman" panose="02020603050405020304" pitchFamily="18" charset="0"/>
                <a:ea typeface="楷体_GB2312" pitchFamily="49" charset="-122"/>
                <a:cs typeface="Times New Roman" panose="02020603050405020304" pitchFamily="18" charset="0"/>
              </a:rPr>
              <a:t>f(y);</a:t>
            </a:r>
          </a:p>
          <a:p>
            <a:pPr>
              <a:lnSpc>
                <a:spcPct val="120000"/>
              </a:lnSpc>
            </a:pPr>
            <a:r>
              <a:rPr kumimoji="1" lang="en-US" altLang="zh-CN" b="1" dirty="0">
                <a:solidFill>
                  <a:srgbClr val="0000FF"/>
                </a:solidFill>
                <a:latin typeface="Times New Roman" panose="02020603050405020304" pitchFamily="18" charset="0"/>
                <a:ea typeface="楷体_GB2312" pitchFamily="49" charset="-122"/>
                <a:cs typeface="Times New Roman" panose="02020603050405020304" pitchFamily="18" charset="0"/>
              </a:rPr>
              <a:t>    </a:t>
            </a:r>
            <a:endParaRPr kumimoji="1" lang="en-US" altLang="zh-CN" b="1"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return z;</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a:t>
            </a:r>
          </a:p>
        </p:txBody>
      </p:sp>
      <p:grpSp>
        <p:nvGrpSpPr>
          <p:cNvPr id="5" name="Group 5">
            <a:extLst>
              <a:ext uri="{FF2B5EF4-FFF2-40B4-BE49-F238E27FC236}">
                <a16:creationId xmlns:a16="http://schemas.microsoft.com/office/drawing/2014/main" id="{7B2D0A14-02CA-4BCA-B859-4B225F276DD6}"/>
              </a:ext>
            </a:extLst>
          </p:cNvPr>
          <p:cNvGrpSpPr>
            <a:grpSpLocks/>
          </p:cNvGrpSpPr>
          <p:nvPr/>
        </p:nvGrpSpPr>
        <p:grpSpPr bwMode="auto">
          <a:xfrm>
            <a:off x="4144687" y="2938024"/>
            <a:ext cx="1266825" cy="1143361"/>
            <a:chOff x="1418" y="775"/>
            <a:chExt cx="798" cy="851"/>
          </a:xfrm>
        </p:grpSpPr>
        <p:sp>
          <p:nvSpPr>
            <p:cNvPr id="6" name="Text Box 6">
              <a:extLst>
                <a:ext uri="{FF2B5EF4-FFF2-40B4-BE49-F238E27FC236}">
                  <a16:creationId xmlns:a16="http://schemas.microsoft.com/office/drawing/2014/main" id="{DA1DEFC3-EDEF-4779-852C-44996FB00C7C}"/>
                </a:ext>
              </a:extLst>
            </p:cNvPr>
            <p:cNvSpPr txBox="1">
              <a:spLocks noChangeArrowheads="1"/>
            </p:cNvSpPr>
            <p:nvPr/>
          </p:nvSpPr>
          <p:spPr bwMode="auto">
            <a:xfrm>
              <a:off x="1861" y="775"/>
              <a:ext cx="298"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defRPr/>
              </a:pPr>
              <a:r>
                <a:rPr kumimoji="1" lang="en-US" altLang="zh-CN" dirty="0">
                  <a:solidFill>
                    <a:srgbClr val="990099"/>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f( )</a:t>
              </a:r>
            </a:p>
          </p:txBody>
        </p:sp>
        <p:sp>
          <p:nvSpPr>
            <p:cNvPr id="7" name="Text Box 7">
              <a:extLst>
                <a:ext uri="{FF2B5EF4-FFF2-40B4-BE49-F238E27FC236}">
                  <a16:creationId xmlns:a16="http://schemas.microsoft.com/office/drawing/2014/main" id="{8344A155-6700-49A8-913C-DE033EFAB381}"/>
                </a:ext>
              </a:extLst>
            </p:cNvPr>
            <p:cNvSpPr txBox="1">
              <a:spLocks noChangeArrowheads="1"/>
            </p:cNvSpPr>
            <p:nvPr/>
          </p:nvSpPr>
          <p:spPr bwMode="auto">
            <a:xfrm>
              <a:off x="1720" y="1351"/>
              <a:ext cx="49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defRPr/>
              </a:pPr>
              <a:r>
                <a:rPr kumimoji="1" lang="zh-CN" altLang="en-US" b="0" dirty="0">
                  <a:latin typeface="Times New Roman" panose="02020603050405020304" pitchFamily="18" charset="0"/>
                  <a:ea typeface="微软雅黑" pitchFamily="34" charset="-122"/>
                  <a:cs typeface="Times New Roman" panose="02020603050405020304" pitchFamily="18" charset="0"/>
                </a:rPr>
                <a:t>调用</a:t>
              </a:r>
              <a:r>
                <a:rPr kumimoji="1" lang="en-US" altLang="zh-CN" b="0" dirty="0">
                  <a:latin typeface="Times New Roman" panose="02020603050405020304" pitchFamily="18" charset="0"/>
                  <a:ea typeface="楷体_GB2312" pitchFamily="49" charset="-122"/>
                  <a:cs typeface="Times New Roman" panose="02020603050405020304" pitchFamily="18" charset="0"/>
                </a:rPr>
                <a:t> </a:t>
              </a:r>
              <a:r>
                <a:rPr kumimoji="1" lang="en-US" altLang="zh-CN" dirty="0">
                  <a:solidFill>
                    <a:srgbClr val="990099"/>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f</a:t>
              </a:r>
            </a:p>
          </p:txBody>
        </p:sp>
        <p:sp>
          <p:nvSpPr>
            <p:cNvPr id="8" name="Line 8">
              <a:extLst>
                <a:ext uri="{FF2B5EF4-FFF2-40B4-BE49-F238E27FC236}">
                  <a16:creationId xmlns:a16="http://schemas.microsoft.com/office/drawing/2014/main" id="{959AABE9-A6A9-4F5C-9DBF-7CA00E702083}"/>
                </a:ext>
              </a:extLst>
            </p:cNvPr>
            <p:cNvSpPr>
              <a:spLocks noChangeShapeType="1"/>
            </p:cNvSpPr>
            <p:nvPr/>
          </p:nvSpPr>
          <p:spPr bwMode="auto">
            <a:xfrm>
              <a:off x="2009" y="1070"/>
              <a:ext cx="0" cy="291"/>
            </a:xfrm>
            <a:prstGeom prst="line">
              <a:avLst/>
            </a:prstGeom>
            <a:noFill/>
            <a:ln w="38100">
              <a:solidFill>
                <a:srgbClr val="6600FF"/>
              </a:solidFill>
              <a:round/>
              <a:headEnd/>
              <a:tailEnd type="triangle" w="med" len="med"/>
            </a:ln>
            <a:effec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9" name="Line 9">
              <a:extLst>
                <a:ext uri="{FF2B5EF4-FFF2-40B4-BE49-F238E27FC236}">
                  <a16:creationId xmlns:a16="http://schemas.microsoft.com/office/drawing/2014/main" id="{89187BA3-31FC-465B-A34F-7B1CB751A127}"/>
                </a:ext>
              </a:extLst>
            </p:cNvPr>
            <p:cNvSpPr>
              <a:spLocks noChangeShapeType="1"/>
            </p:cNvSpPr>
            <p:nvPr/>
          </p:nvSpPr>
          <p:spPr bwMode="auto">
            <a:xfrm flipH="1">
              <a:off x="1418" y="1488"/>
              <a:ext cx="274" cy="0"/>
            </a:xfrm>
            <a:prstGeom prst="line">
              <a:avLst/>
            </a:prstGeom>
            <a:noFill/>
            <a:ln w="38100">
              <a:solidFill>
                <a:srgbClr val="6600FF"/>
              </a:solidFill>
              <a:round/>
              <a:headEnd/>
              <a:tailEnd/>
            </a:ln>
            <a:effec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0" name="Line 10">
              <a:extLst>
                <a:ext uri="{FF2B5EF4-FFF2-40B4-BE49-F238E27FC236}">
                  <a16:creationId xmlns:a16="http://schemas.microsoft.com/office/drawing/2014/main" id="{481D48C8-6DFE-41CC-8336-8390505D3FE9}"/>
                </a:ext>
              </a:extLst>
            </p:cNvPr>
            <p:cNvSpPr>
              <a:spLocks noChangeShapeType="1"/>
            </p:cNvSpPr>
            <p:nvPr/>
          </p:nvSpPr>
          <p:spPr bwMode="auto">
            <a:xfrm flipV="1">
              <a:off x="1418" y="912"/>
              <a:ext cx="0" cy="578"/>
            </a:xfrm>
            <a:prstGeom prst="line">
              <a:avLst/>
            </a:prstGeom>
            <a:noFill/>
            <a:ln w="38100">
              <a:solidFill>
                <a:srgbClr val="6600FF"/>
              </a:solidFill>
              <a:round/>
              <a:headEnd/>
              <a:tailEnd/>
            </a:ln>
            <a:effec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1" name="Line 11">
              <a:extLst>
                <a:ext uri="{FF2B5EF4-FFF2-40B4-BE49-F238E27FC236}">
                  <a16:creationId xmlns:a16="http://schemas.microsoft.com/office/drawing/2014/main" id="{A38AE0CA-82E3-4014-A34A-769AB55BBEB0}"/>
                </a:ext>
              </a:extLst>
            </p:cNvPr>
            <p:cNvSpPr>
              <a:spLocks noChangeShapeType="1"/>
            </p:cNvSpPr>
            <p:nvPr/>
          </p:nvSpPr>
          <p:spPr bwMode="auto">
            <a:xfrm>
              <a:off x="1418" y="912"/>
              <a:ext cx="443" cy="0"/>
            </a:xfrm>
            <a:prstGeom prst="line">
              <a:avLst/>
            </a:prstGeom>
            <a:noFill/>
            <a:ln w="38100">
              <a:solidFill>
                <a:srgbClr val="6600FF"/>
              </a:solidFill>
              <a:round/>
              <a:headEnd/>
              <a:tailEnd type="triangle" w="med" len="med"/>
            </a:ln>
            <a:effec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12" name="Text Box 12">
            <a:extLst>
              <a:ext uri="{FF2B5EF4-FFF2-40B4-BE49-F238E27FC236}">
                <a16:creationId xmlns:a16="http://schemas.microsoft.com/office/drawing/2014/main" id="{1899AF9F-455E-4B3F-A5D2-0526DD9B0952}"/>
              </a:ext>
            </a:extLst>
          </p:cNvPr>
          <p:cNvSpPr txBox="1">
            <a:spLocks noChangeArrowheads="1"/>
          </p:cNvSpPr>
          <p:nvPr/>
        </p:nvSpPr>
        <p:spPr bwMode="auto">
          <a:xfrm>
            <a:off x="6436659" y="2432780"/>
            <a:ext cx="4876800" cy="4349020"/>
          </a:xfrm>
          <a:prstGeom prst="rect">
            <a:avLst/>
          </a:prstGeom>
          <a:noFill/>
          <a:ln w="28575">
            <a:solidFill>
              <a:srgbClr val="33CCCC"/>
            </a:solidFill>
            <a:miter lim="800000"/>
            <a:headEnd/>
            <a:tailEnd/>
          </a:ln>
          <a:effectLst/>
        </p:spPr>
        <p:txBody>
          <a:bodyPr lIns="180000" anchor="ctr"/>
          <a:lstStyle/>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int   f1(int x) {</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int y, z;</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z = </a:t>
            </a:r>
            <a:r>
              <a:rPr kumimoji="1" lang="en-US" altLang="zh-CN" b="1" dirty="0">
                <a:solidFill>
                  <a:srgbClr val="0000FF"/>
                </a:solidFill>
                <a:latin typeface="Times New Roman" panose="02020603050405020304" pitchFamily="18" charset="0"/>
                <a:ea typeface="楷体_GB2312" pitchFamily="49" charset="-122"/>
                <a:cs typeface="Times New Roman" panose="02020603050405020304" pitchFamily="18" charset="0"/>
              </a:rPr>
              <a:t>f2(y);</a:t>
            </a:r>
          </a:p>
          <a:p>
            <a:pPr>
              <a:lnSpc>
                <a:spcPct val="120000"/>
              </a:lnSpc>
            </a:pPr>
            <a:r>
              <a:rPr kumimoji="1" lang="en-US" altLang="zh-CN"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return z;</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a:lnSpc>
                <a:spcPct val="120000"/>
              </a:lnSpc>
            </a:pPr>
            <a:endPar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int   f2(int a) {</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int b, c;</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c = </a:t>
            </a:r>
            <a:r>
              <a:rPr kumimoji="1" lang="en-US" altLang="zh-CN" b="1" dirty="0">
                <a:solidFill>
                  <a:srgbClr val="0000FF"/>
                </a:solidFill>
                <a:latin typeface="Times New Roman" panose="02020603050405020304" pitchFamily="18" charset="0"/>
                <a:ea typeface="楷体_GB2312" pitchFamily="49" charset="-122"/>
                <a:cs typeface="Times New Roman" panose="02020603050405020304" pitchFamily="18" charset="0"/>
              </a:rPr>
              <a:t>f1(b)</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return c;</a:t>
            </a:r>
          </a:p>
          <a:p>
            <a:pPr>
              <a:lnSpc>
                <a:spcPct val="120000"/>
              </a:lnSpc>
            </a:pP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a:t>
            </a:r>
          </a:p>
        </p:txBody>
      </p:sp>
      <p:grpSp>
        <p:nvGrpSpPr>
          <p:cNvPr id="13" name="Group 13">
            <a:extLst>
              <a:ext uri="{FF2B5EF4-FFF2-40B4-BE49-F238E27FC236}">
                <a16:creationId xmlns:a16="http://schemas.microsoft.com/office/drawing/2014/main" id="{4814EE3A-7053-4E58-84F2-0C6F6A7DF578}"/>
              </a:ext>
            </a:extLst>
          </p:cNvPr>
          <p:cNvGrpSpPr>
            <a:grpSpLocks/>
          </p:cNvGrpSpPr>
          <p:nvPr/>
        </p:nvGrpSpPr>
        <p:grpSpPr bwMode="auto">
          <a:xfrm>
            <a:off x="8658284" y="2796144"/>
            <a:ext cx="2476500" cy="1327150"/>
            <a:chOff x="3960" y="720"/>
            <a:chExt cx="1560" cy="836"/>
          </a:xfrm>
        </p:grpSpPr>
        <p:sp>
          <p:nvSpPr>
            <p:cNvPr id="14" name="Text Box 14">
              <a:extLst>
                <a:ext uri="{FF2B5EF4-FFF2-40B4-BE49-F238E27FC236}">
                  <a16:creationId xmlns:a16="http://schemas.microsoft.com/office/drawing/2014/main" id="{342E4CA3-8B2D-4101-8831-F19FFF1B25D7}"/>
                </a:ext>
              </a:extLst>
            </p:cNvPr>
            <p:cNvSpPr txBox="1">
              <a:spLocks noChangeArrowheads="1"/>
            </p:cNvSpPr>
            <p:nvPr/>
          </p:nvSpPr>
          <p:spPr bwMode="auto">
            <a:xfrm>
              <a:off x="3960" y="1382"/>
              <a:ext cx="489" cy="174"/>
            </a:xfrm>
            <a:prstGeom prst="rect">
              <a:avLst/>
            </a:prstGeom>
            <a:noFill/>
            <a:ln w="9525">
              <a:noFill/>
              <a:miter lim="800000"/>
              <a:headEnd/>
              <a:tailEnd/>
            </a:ln>
            <a:effectLst/>
          </p:spPr>
          <p:txBody>
            <a:bodyPr wrap="none" lIns="18000" tIns="0" rIns="18000" bIns="0" anchor="ctr">
              <a:spAutoFit/>
            </a:bodyPr>
            <a:lstStyle/>
            <a:p>
              <a:pPr algn="ctr"/>
              <a:r>
                <a:rPr kumimoji="1" lang="zh-CN" altLang="en-US" dirty="0">
                  <a:latin typeface="Times New Roman" panose="02020603050405020304" pitchFamily="18" charset="0"/>
                  <a:cs typeface="Times New Roman" panose="02020603050405020304" pitchFamily="18" charset="0"/>
                </a:rPr>
                <a:t>调用</a:t>
              </a:r>
              <a:r>
                <a:rPr kumimoji="1" lang="en-US" altLang="zh-CN" dirty="0">
                  <a:latin typeface="Times New Roman" panose="02020603050405020304" pitchFamily="18" charset="0"/>
                  <a:cs typeface="Times New Roman" panose="02020603050405020304" pitchFamily="18" charset="0"/>
                </a:rPr>
                <a:t> </a:t>
              </a:r>
              <a:r>
                <a:rPr kumimoji="1" lang="en-US" altLang="zh-CN" dirty="0">
                  <a:solidFill>
                    <a:srgbClr val="990099"/>
                  </a:solidFill>
                  <a:latin typeface="Times New Roman" panose="02020603050405020304" pitchFamily="18" charset="0"/>
                  <a:ea typeface="楷体_GB2312" pitchFamily="49" charset="-122"/>
                  <a:cs typeface="Times New Roman" panose="02020603050405020304" pitchFamily="18" charset="0"/>
                </a:rPr>
                <a:t>f2</a:t>
              </a:r>
            </a:p>
          </p:txBody>
        </p:sp>
        <p:sp>
          <p:nvSpPr>
            <p:cNvPr id="15" name="Text Box 15">
              <a:extLst>
                <a:ext uri="{FF2B5EF4-FFF2-40B4-BE49-F238E27FC236}">
                  <a16:creationId xmlns:a16="http://schemas.microsoft.com/office/drawing/2014/main" id="{48F167ED-A757-4457-984A-43F9FC4162C7}"/>
                </a:ext>
              </a:extLst>
            </p:cNvPr>
            <p:cNvSpPr txBox="1">
              <a:spLocks noChangeArrowheads="1"/>
            </p:cNvSpPr>
            <p:nvPr/>
          </p:nvSpPr>
          <p:spPr bwMode="auto">
            <a:xfrm>
              <a:off x="4752" y="1381"/>
              <a:ext cx="672" cy="174"/>
            </a:xfrm>
            <a:prstGeom prst="rect">
              <a:avLst/>
            </a:prstGeom>
            <a:noFill/>
            <a:ln w="9525">
              <a:noFill/>
              <a:miter lim="800000"/>
              <a:headEnd/>
              <a:tailEnd/>
            </a:ln>
            <a:effectLst/>
          </p:spPr>
          <p:txBody>
            <a:bodyPr lIns="18000" tIns="0" rIns="18000" bIns="0" anchor="ctr">
              <a:spAutoFit/>
            </a:bodyPr>
            <a:lstStyle/>
            <a:p>
              <a:pPr algn="ctr"/>
              <a:r>
                <a:rPr kumimoji="1" lang="zh-CN" altLang="en-US" dirty="0">
                  <a:latin typeface="Times New Roman" panose="02020603050405020304" pitchFamily="18" charset="0"/>
                  <a:cs typeface="Times New Roman" panose="02020603050405020304" pitchFamily="18" charset="0"/>
                </a:rPr>
                <a:t>调用</a:t>
              </a:r>
              <a:r>
                <a:rPr kumimoji="1" lang="en-US" altLang="zh-CN" dirty="0">
                  <a:latin typeface="Times New Roman" panose="02020603050405020304" pitchFamily="18" charset="0"/>
                  <a:cs typeface="Times New Roman" panose="02020603050405020304" pitchFamily="18" charset="0"/>
                </a:rPr>
                <a:t> </a:t>
              </a:r>
              <a:r>
                <a:rPr kumimoji="1" lang="en-US" altLang="zh-CN" dirty="0">
                  <a:solidFill>
                    <a:srgbClr val="990099"/>
                  </a:solidFill>
                  <a:latin typeface="Times New Roman" panose="02020603050405020304" pitchFamily="18" charset="0"/>
                  <a:ea typeface="楷体_GB2312" pitchFamily="49" charset="-122"/>
                  <a:cs typeface="Times New Roman" panose="02020603050405020304" pitchFamily="18" charset="0"/>
                </a:rPr>
                <a:t>f1</a:t>
              </a:r>
            </a:p>
          </p:txBody>
        </p:sp>
        <p:sp>
          <p:nvSpPr>
            <p:cNvPr id="16" name="Text Box 16">
              <a:extLst>
                <a:ext uri="{FF2B5EF4-FFF2-40B4-BE49-F238E27FC236}">
                  <a16:creationId xmlns:a16="http://schemas.microsoft.com/office/drawing/2014/main" id="{4C811B25-6F8D-4FE5-914F-457617231F1E}"/>
                </a:ext>
              </a:extLst>
            </p:cNvPr>
            <p:cNvSpPr txBox="1">
              <a:spLocks noChangeArrowheads="1"/>
            </p:cNvSpPr>
            <p:nvPr/>
          </p:nvSpPr>
          <p:spPr bwMode="auto">
            <a:xfrm>
              <a:off x="4113" y="923"/>
              <a:ext cx="277" cy="174"/>
            </a:xfrm>
            <a:prstGeom prst="rect">
              <a:avLst/>
            </a:prstGeom>
            <a:noFill/>
            <a:ln w="9525">
              <a:noFill/>
              <a:miter lim="800000"/>
              <a:headEnd/>
              <a:tailEnd/>
            </a:ln>
            <a:effectLst/>
          </p:spPr>
          <p:txBody>
            <a:bodyPr wrap="none" lIns="18000" tIns="0" rIns="18000" bIns="0" anchor="ctr">
              <a:spAutoFit/>
            </a:bodyPr>
            <a:lstStyle/>
            <a:p>
              <a:pPr algn="ctr"/>
              <a:r>
                <a:rPr kumimoji="1" lang="en-US" altLang="zh-CN">
                  <a:solidFill>
                    <a:srgbClr val="990099"/>
                  </a:solidFill>
                  <a:latin typeface="Times New Roman" panose="02020603050405020304" pitchFamily="18" charset="0"/>
                  <a:ea typeface="楷体_GB2312" pitchFamily="49" charset="-122"/>
                  <a:cs typeface="Times New Roman" panose="02020603050405020304" pitchFamily="18" charset="0"/>
                </a:rPr>
                <a:t>f1( )</a:t>
              </a:r>
            </a:p>
          </p:txBody>
        </p:sp>
        <p:sp>
          <p:nvSpPr>
            <p:cNvPr id="17" name="Text Box 17">
              <a:extLst>
                <a:ext uri="{FF2B5EF4-FFF2-40B4-BE49-F238E27FC236}">
                  <a16:creationId xmlns:a16="http://schemas.microsoft.com/office/drawing/2014/main" id="{1ECDF692-48E4-4E6B-803F-8DB0E7D8442A}"/>
                </a:ext>
              </a:extLst>
            </p:cNvPr>
            <p:cNvSpPr txBox="1">
              <a:spLocks noChangeArrowheads="1"/>
            </p:cNvSpPr>
            <p:nvPr/>
          </p:nvSpPr>
          <p:spPr bwMode="auto">
            <a:xfrm>
              <a:off x="5025" y="923"/>
              <a:ext cx="277" cy="174"/>
            </a:xfrm>
            <a:prstGeom prst="rect">
              <a:avLst/>
            </a:prstGeom>
            <a:noFill/>
            <a:ln w="9525">
              <a:noFill/>
              <a:miter lim="800000"/>
              <a:headEnd/>
              <a:tailEnd/>
            </a:ln>
            <a:effectLst/>
          </p:spPr>
          <p:txBody>
            <a:bodyPr wrap="none" lIns="18000" tIns="0" rIns="18000" bIns="0" anchor="ctr">
              <a:spAutoFit/>
            </a:bodyPr>
            <a:lstStyle/>
            <a:p>
              <a:pPr algn="ctr"/>
              <a:r>
                <a:rPr kumimoji="1" lang="en-US" altLang="zh-CN">
                  <a:solidFill>
                    <a:srgbClr val="990099"/>
                  </a:solidFill>
                  <a:latin typeface="Times New Roman" panose="02020603050405020304" pitchFamily="18" charset="0"/>
                  <a:ea typeface="楷体_GB2312" pitchFamily="49" charset="-122"/>
                  <a:cs typeface="Times New Roman" panose="02020603050405020304" pitchFamily="18" charset="0"/>
                </a:rPr>
                <a:t>f2( )</a:t>
              </a:r>
            </a:p>
          </p:txBody>
        </p:sp>
        <p:sp>
          <p:nvSpPr>
            <p:cNvPr id="18" name="Line 18">
              <a:extLst>
                <a:ext uri="{FF2B5EF4-FFF2-40B4-BE49-F238E27FC236}">
                  <a16:creationId xmlns:a16="http://schemas.microsoft.com/office/drawing/2014/main" id="{A45BE573-CEBB-4831-BA1D-20409502835C}"/>
                </a:ext>
              </a:extLst>
            </p:cNvPr>
            <p:cNvSpPr>
              <a:spLocks noChangeShapeType="1"/>
            </p:cNvSpPr>
            <p:nvPr/>
          </p:nvSpPr>
          <p:spPr bwMode="auto">
            <a:xfrm flipH="1">
              <a:off x="4176" y="1104"/>
              <a:ext cx="0" cy="288"/>
            </a:xfrm>
            <a:prstGeom prst="line">
              <a:avLst/>
            </a:prstGeom>
            <a:noFill/>
            <a:ln w="38100">
              <a:solidFill>
                <a:srgbClr val="6600FF"/>
              </a:solidFill>
              <a:round/>
              <a:headEnd/>
              <a:tailEnd type="triangle" w="med" len="me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19" name="Line 19">
              <a:extLst>
                <a:ext uri="{FF2B5EF4-FFF2-40B4-BE49-F238E27FC236}">
                  <a16:creationId xmlns:a16="http://schemas.microsoft.com/office/drawing/2014/main" id="{F81F289E-6838-41FD-9466-DA039B0AB1FD}"/>
                </a:ext>
              </a:extLst>
            </p:cNvPr>
            <p:cNvSpPr>
              <a:spLocks noChangeShapeType="1"/>
            </p:cNvSpPr>
            <p:nvPr/>
          </p:nvSpPr>
          <p:spPr bwMode="auto">
            <a:xfrm flipV="1">
              <a:off x="4368" y="1087"/>
              <a:ext cx="632" cy="257"/>
            </a:xfrm>
            <a:prstGeom prst="line">
              <a:avLst/>
            </a:prstGeom>
            <a:noFill/>
            <a:ln w="38100">
              <a:solidFill>
                <a:srgbClr val="6600FF"/>
              </a:solidFill>
              <a:round/>
              <a:headEnd/>
              <a:tailEnd type="triangle" w="med" len="me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20" name="Line 20">
              <a:extLst>
                <a:ext uri="{FF2B5EF4-FFF2-40B4-BE49-F238E27FC236}">
                  <a16:creationId xmlns:a16="http://schemas.microsoft.com/office/drawing/2014/main" id="{81171105-3574-4E03-9D5D-58DC88503160}"/>
                </a:ext>
              </a:extLst>
            </p:cNvPr>
            <p:cNvSpPr>
              <a:spLocks noChangeShapeType="1"/>
            </p:cNvSpPr>
            <p:nvPr/>
          </p:nvSpPr>
          <p:spPr bwMode="auto">
            <a:xfrm>
              <a:off x="5088" y="1104"/>
              <a:ext cx="0" cy="240"/>
            </a:xfrm>
            <a:prstGeom prst="line">
              <a:avLst/>
            </a:prstGeom>
            <a:noFill/>
            <a:ln w="38100">
              <a:solidFill>
                <a:srgbClr val="6600FF"/>
              </a:solidFill>
              <a:round/>
              <a:headEnd/>
              <a:tailEnd type="triangle" w="med" len="me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21" name="Line 21">
              <a:extLst>
                <a:ext uri="{FF2B5EF4-FFF2-40B4-BE49-F238E27FC236}">
                  <a16:creationId xmlns:a16="http://schemas.microsoft.com/office/drawing/2014/main" id="{E025F326-D01C-4778-91E6-8646F096B140}"/>
                </a:ext>
              </a:extLst>
            </p:cNvPr>
            <p:cNvSpPr>
              <a:spLocks noChangeShapeType="1"/>
            </p:cNvSpPr>
            <p:nvPr/>
          </p:nvSpPr>
          <p:spPr bwMode="auto">
            <a:xfrm>
              <a:off x="5376" y="1440"/>
              <a:ext cx="144" cy="0"/>
            </a:xfrm>
            <a:prstGeom prst="line">
              <a:avLst/>
            </a:prstGeom>
            <a:noFill/>
            <a:ln w="38100">
              <a:solidFill>
                <a:srgbClr val="6600FF"/>
              </a:solidFill>
              <a:round/>
              <a:headEnd/>
              <a:tailEn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22" name="Line 22">
              <a:extLst>
                <a:ext uri="{FF2B5EF4-FFF2-40B4-BE49-F238E27FC236}">
                  <a16:creationId xmlns:a16="http://schemas.microsoft.com/office/drawing/2014/main" id="{43DE3494-2B23-4C14-8B68-891570F03565}"/>
                </a:ext>
              </a:extLst>
            </p:cNvPr>
            <p:cNvSpPr>
              <a:spLocks noChangeShapeType="1"/>
            </p:cNvSpPr>
            <p:nvPr/>
          </p:nvSpPr>
          <p:spPr bwMode="auto">
            <a:xfrm flipV="1">
              <a:off x="5520" y="720"/>
              <a:ext cx="0" cy="720"/>
            </a:xfrm>
            <a:prstGeom prst="line">
              <a:avLst/>
            </a:prstGeom>
            <a:noFill/>
            <a:ln w="38100">
              <a:solidFill>
                <a:srgbClr val="6600FF"/>
              </a:solidFill>
              <a:round/>
              <a:headEnd/>
              <a:tailEn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23" name="Line 23">
              <a:extLst>
                <a:ext uri="{FF2B5EF4-FFF2-40B4-BE49-F238E27FC236}">
                  <a16:creationId xmlns:a16="http://schemas.microsoft.com/office/drawing/2014/main" id="{97B470FB-5CC3-487C-87C7-41F537714EC6}"/>
                </a:ext>
              </a:extLst>
            </p:cNvPr>
            <p:cNvSpPr>
              <a:spLocks noChangeShapeType="1"/>
            </p:cNvSpPr>
            <p:nvPr/>
          </p:nvSpPr>
          <p:spPr bwMode="auto">
            <a:xfrm flipH="1">
              <a:off x="4176" y="720"/>
              <a:ext cx="1344" cy="0"/>
            </a:xfrm>
            <a:prstGeom prst="line">
              <a:avLst/>
            </a:prstGeom>
            <a:noFill/>
            <a:ln w="38100">
              <a:solidFill>
                <a:srgbClr val="6600FF"/>
              </a:solidFill>
              <a:round/>
              <a:headEnd/>
              <a:tailEn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sp>
          <p:nvSpPr>
            <p:cNvPr id="24" name="Line 24">
              <a:extLst>
                <a:ext uri="{FF2B5EF4-FFF2-40B4-BE49-F238E27FC236}">
                  <a16:creationId xmlns:a16="http://schemas.microsoft.com/office/drawing/2014/main" id="{1180F373-23F0-4E83-8F59-68C2DD6C38B5}"/>
                </a:ext>
              </a:extLst>
            </p:cNvPr>
            <p:cNvSpPr>
              <a:spLocks noChangeShapeType="1"/>
            </p:cNvSpPr>
            <p:nvPr/>
          </p:nvSpPr>
          <p:spPr bwMode="auto">
            <a:xfrm>
              <a:off x="4176" y="720"/>
              <a:ext cx="0" cy="197"/>
            </a:xfrm>
            <a:prstGeom prst="line">
              <a:avLst/>
            </a:prstGeom>
            <a:noFill/>
            <a:ln w="38100">
              <a:solidFill>
                <a:srgbClr val="6600FF"/>
              </a:solidFill>
              <a:round/>
              <a:headEnd/>
              <a:tailEnd type="triangle" w="med" len="med"/>
            </a:ln>
            <a:effectLst/>
          </p:spPr>
          <p:txBody>
            <a:bodyPr wrap="none" lIns="18000" tIns="0" rIns="18000" bIns="0" anchor="ctr"/>
            <a:lstStyle/>
            <a:p>
              <a:endParaRPr lang="zh-CN" altLang="en-US">
                <a:latin typeface="Times New Roman" panose="02020603050405020304" pitchFamily="18" charset="0"/>
                <a:cs typeface="Times New Roman" panose="02020603050405020304" pitchFamily="18" charset="0"/>
              </a:endParaRPr>
            </a:p>
          </p:txBody>
        </p:sp>
      </p:grpSp>
      <p:sp>
        <p:nvSpPr>
          <p:cNvPr id="25" name="TextBox 24">
            <a:extLst>
              <a:ext uri="{FF2B5EF4-FFF2-40B4-BE49-F238E27FC236}">
                <a16:creationId xmlns:a16="http://schemas.microsoft.com/office/drawing/2014/main" id="{B6504559-306D-4DCE-9801-EAB3D901E56C}"/>
              </a:ext>
            </a:extLst>
          </p:cNvPr>
          <p:cNvSpPr txBox="1"/>
          <p:nvPr/>
        </p:nvSpPr>
        <p:spPr>
          <a:xfrm>
            <a:off x="4183806" y="4295677"/>
            <a:ext cx="1107996" cy="369332"/>
          </a:xfrm>
          <a:prstGeom prst="rect">
            <a:avLst/>
          </a:prstGeom>
          <a:noFill/>
        </p:spPr>
        <p:txBody>
          <a:bodyPr wrap="none" rtlCol="0">
            <a:spAutoFit/>
          </a:bodyPr>
          <a:lstStyle/>
          <a:p>
            <a:r>
              <a:rPr lang="zh-CN" altLang="en-US" dirty="0">
                <a:solidFill>
                  <a:srgbClr val="00B050"/>
                </a:solidFill>
                <a:latin typeface="Times New Roman" panose="02020603050405020304" pitchFamily="18" charset="0"/>
                <a:cs typeface="Times New Roman" panose="02020603050405020304" pitchFamily="18" charset="0"/>
              </a:rPr>
              <a:t>直接调用</a:t>
            </a:r>
            <a:endParaRPr lang="zh-CN" altLang="en-US"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F92661C5-44CF-4FFB-93F3-D4CA5CD122E8}"/>
              </a:ext>
            </a:extLst>
          </p:cNvPr>
          <p:cNvSpPr txBox="1"/>
          <p:nvPr/>
        </p:nvSpPr>
        <p:spPr>
          <a:xfrm>
            <a:off x="9552760" y="4312455"/>
            <a:ext cx="1124125" cy="369332"/>
          </a:xfrm>
          <a:prstGeom prst="rect">
            <a:avLst/>
          </a:prstGeom>
          <a:noFill/>
        </p:spPr>
        <p:txBody>
          <a:bodyPr wrap="square" rtlCol="0">
            <a:spAutoFit/>
          </a:bodyPr>
          <a:lstStyle/>
          <a:p>
            <a:r>
              <a:rPr lang="zh-CN" altLang="en-US" dirty="0">
                <a:solidFill>
                  <a:srgbClr val="00B0F0"/>
                </a:solidFill>
                <a:latin typeface="Times New Roman" panose="02020603050405020304" pitchFamily="18" charset="0"/>
                <a:cs typeface="Times New Roman" panose="02020603050405020304" pitchFamily="18" charset="0"/>
              </a:rPr>
              <a:t>间接调用</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1689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p:txBody>
          <a:bodyPr/>
          <a:lstStyle/>
          <a:p>
            <a:r>
              <a:rPr lang="en-US" altLang="zh-CN" dirty="0"/>
              <a:t>4.2.3 </a:t>
            </a:r>
            <a:r>
              <a:rPr lang="zh-CN" altLang="en-US" dirty="0"/>
              <a:t>递归函数</a:t>
            </a:r>
          </a:p>
        </p:txBody>
      </p:sp>
      <p:sp>
        <p:nvSpPr>
          <p:cNvPr id="3" name="内容占位符 2">
            <a:extLst>
              <a:ext uri="{FF2B5EF4-FFF2-40B4-BE49-F238E27FC236}">
                <a16:creationId xmlns:a16="http://schemas.microsoft.com/office/drawing/2014/main" id="{1E5344F1-B1BF-46E0-B934-77132EE5ECE7}"/>
              </a:ext>
            </a:extLst>
          </p:cNvPr>
          <p:cNvSpPr>
            <a:spLocks noGrp="1"/>
          </p:cNvSpPr>
          <p:nvPr>
            <p:ph idx="1"/>
          </p:nvPr>
        </p:nvSpPr>
        <p:spPr>
          <a:xfrm>
            <a:off x="324693" y="1342684"/>
            <a:ext cx="6029455" cy="4700581"/>
          </a:xfrm>
        </p:spPr>
        <p:txBody>
          <a:bodyPr>
            <a:normAutofit lnSpcReduction="10000"/>
          </a:bodyPr>
          <a:lstStyle/>
          <a:p>
            <a:r>
              <a:rPr lang="en-US" altLang="zh-CN" dirty="0">
                <a:sym typeface="+mn-ea"/>
              </a:rPr>
              <a:t>2.</a:t>
            </a:r>
            <a:r>
              <a:rPr lang="zh-CN" altLang="en-US" dirty="0"/>
              <a:t>递归函数的两个要素</a:t>
            </a:r>
            <a:endParaRPr lang="en-US" altLang="zh-CN" dirty="0"/>
          </a:p>
          <a:p>
            <a:pPr lvl="1"/>
            <a:r>
              <a:rPr lang="zh-CN" altLang="en-US" dirty="0">
                <a:solidFill>
                  <a:srgbClr val="FF0000"/>
                </a:solidFill>
              </a:rPr>
              <a:t>基本条件</a:t>
            </a:r>
            <a:r>
              <a:rPr lang="zh-CN" altLang="en-US" dirty="0"/>
              <a:t>：基本条件的解需要直接给出，不需要用更多的递归来进一步寻找解。基本条件用于终止递归。</a:t>
            </a:r>
            <a:endParaRPr lang="en-US" altLang="zh-CN" dirty="0"/>
          </a:p>
          <a:p>
            <a:pPr lvl="1"/>
            <a:endParaRPr lang="en-US" altLang="zh-CN" dirty="0"/>
          </a:p>
          <a:p>
            <a:pPr lvl="1"/>
            <a:r>
              <a:rPr lang="zh-CN" altLang="en-US" dirty="0">
                <a:solidFill>
                  <a:srgbClr val="FF0000"/>
                </a:solidFill>
              </a:rPr>
              <a:t>递归规则</a:t>
            </a:r>
            <a:r>
              <a:rPr lang="zh-CN" altLang="en-US" dirty="0"/>
              <a:t>：通过递归调用将问题规模进行简化，最终简化到一个基本条件。</a:t>
            </a:r>
          </a:p>
        </p:txBody>
      </p:sp>
      <p:pic>
        <p:nvPicPr>
          <p:cNvPr id="27" name="图片 26">
            <a:extLst>
              <a:ext uri="{FF2B5EF4-FFF2-40B4-BE49-F238E27FC236}">
                <a16:creationId xmlns:a16="http://schemas.microsoft.com/office/drawing/2014/main" id="{D55E84D7-BDA2-4423-92EE-77223D80C01C}"/>
              </a:ext>
            </a:extLst>
          </p:cNvPr>
          <p:cNvPicPr>
            <a:picLocks noChangeAspect="1"/>
          </p:cNvPicPr>
          <p:nvPr/>
        </p:nvPicPr>
        <p:blipFill>
          <a:blip r:embed="rId2" cstate="print"/>
          <a:srcRect/>
          <a:stretch>
            <a:fillRect/>
          </a:stretch>
        </p:blipFill>
        <p:spPr bwMode="auto">
          <a:xfrm>
            <a:off x="7646085" y="1634067"/>
            <a:ext cx="2997427" cy="2859904"/>
          </a:xfrm>
          <a:prstGeom prst="rect">
            <a:avLst/>
          </a:prstGeom>
          <a:noFill/>
          <a:ln w="9525">
            <a:noFill/>
            <a:miter lim="800000"/>
            <a:headEnd/>
            <a:tailEnd/>
          </a:ln>
        </p:spPr>
      </p:pic>
      <p:sp>
        <p:nvSpPr>
          <p:cNvPr id="28" name="TextBox 5">
            <a:extLst>
              <a:ext uri="{FF2B5EF4-FFF2-40B4-BE49-F238E27FC236}">
                <a16:creationId xmlns:a16="http://schemas.microsoft.com/office/drawing/2014/main" id="{6BA8687C-5E06-49EF-A9FF-BDE3EF48ED62}"/>
              </a:ext>
            </a:extLst>
          </p:cNvPr>
          <p:cNvSpPr txBox="1"/>
          <p:nvPr/>
        </p:nvSpPr>
        <p:spPr>
          <a:xfrm>
            <a:off x="7203219" y="4676788"/>
            <a:ext cx="3883157" cy="2062103"/>
          </a:xfrm>
          <a:prstGeom prst="rect">
            <a:avLst/>
          </a:prstGeom>
          <a:noFill/>
        </p:spPr>
        <p:txBody>
          <a:bodyPr wrap="square" rtlCol="0">
            <a:spAutoFit/>
          </a:bodyPr>
          <a:lstStyle/>
          <a:p>
            <a:pPr algn="ctr"/>
            <a:r>
              <a:rPr lang="zh-CN" altLang="en-US" sz="3200" b="1" spc="150" noProof="1">
                <a:solidFill>
                  <a:srgbClr val="FF0000"/>
                </a:solidFill>
                <a:latin typeface="楷体" panose="02010609060101010101" charset="-122"/>
                <a:ea typeface="楷体" panose="02010609060101010101" charset="-122"/>
                <a:sym typeface="+mn-ea"/>
              </a:rPr>
              <a:t>缺失基本条件</a:t>
            </a:r>
            <a:r>
              <a:rPr lang="zh-CN" altLang="en-US" sz="3200" b="1" spc="150" noProof="1">
                <a:solidFill>
                  <a:schemeClr val="accent2">
                    <a:lumMod val="50000"/>
                  </a:schemeClr>
                </a:solidFill>
                <a:latin typeface="楷体" panose="02010609060101010101" charset="-122"/>
                <a:ea typeface="楷体" panose="02010609060101010101" charset="-122"/>
                <a:sym typeface="+mn-ea"/>
              </a:rPr>
              <a:t>将会造成</a:t>
            </a:r>
            <a:r>
              <a:rPr lang="zh-CN" altLang="en-US" sz="3200" b="1" spc="150" noProof="1">
                <a:solidFill>
                  <a:srgbClr val="FF0000"/>
                </a:solidFill>
                <a:latin typeface="楷体" panose="02010609060101010101" charset="-122"/>
                <a:ea typeface="楷体" panose="02010609060101010101" charset="-122"/>
                <a:sym typeface="+mn-ea"/>
              </a:rPr>
              <a:t>无限递归</a:t>
            </a:r>
            <a:r>
              <a:rPr lang="zh-CN" altLang="en-US" sz="3200" b="1" spc="150" noProof="1">
                <a:solidFill>
                  <a:schemeClr val="accent2">
                    <a:lumMod val="50000"/>
                  </a:schemeClr>
                </a:solidFill>
                <a:latin typeface="楷体" panose="02010609060101010101" charset="-122"/>
                <a:ea typeface="楷体" panose="02010609060101010101" charset="-122"/>
                <a:sym typeface="+mn-ea"/>
              </a:rPr>
              <a:t>！</a:t>
            </a:r>
            <a:endParaRPr lang="en-US" altLang="zh-CN" sz="3200" b="1" spc="150" noProof="1">
              <a:solidFill>
                <a:schemeClr val="accent2">
                  <a:lumMod val="50000"/>
                </a:schemeClr>
              </a:solidFill>
              <a:latin typeface="楷体" panose="02010609060101010101" charset="-122"/>
              <a:ea typeface="楷体" panose="02010609060101010101" charset="-122"/>
              <a:sym typeface="+mn-ea"/>
            </a:endParaRPr>
          </a:p>
          <a:p>
            <a:pPr algn="ctr"/>
            <a:r>
              <a:rPr lang="zh-CN" altLang="en-US" sz="3200" b="1" spc="150" noProof="1">
                <a:solidFill>
                  <a:schemeClr val="accent2">
                    <a:lumMod val="50000"/>
                  </a:schemeClr>
                </a:solidFill>
                <a:latin typeface="楷体" panose="02010609060101010101" charset="-122"/>
                <a:ea typeface="楷体" panose="02010609060101010101" charset="-122"/>
                <a:sym typeface="+mn-ea"/>
              </a:rPr>
              <a:t>无限递归会因系统资源耗尽而崩溃</a:t>
            </a:r>
          </a:p>
        </p:txBody>
      </p:sp>
    </p:spTree>
    <p:extLst>
      <p:ext uri="{BB962C8B-B14F-4D97-AF65-F5344CB8AC3E}">
        <p14:creationId xmlns:p14="http://schemas.microsoft.com/office/powerpoint/2010/main" val="403455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p:txBody>
          <a:bodyPr/>
          <a:lstStyle/>
          <a:p>
            <a:r>
              <a:rPr lang="en-US" altLang="zh-CN" dirty="0"/>
              <a:t>4.2.3 </a:t>
            </a:r>
            <a:r>
              <a:rPr lang="zh-CN" altLang="en-US" dirty="0"/>
              <a:t>递归函数</a:t>
            </a:r>
          </a:p>
        </p:txBody>
      </p:sp>
      <p:sp>
        <p:nvSpPr>
          <p:cNvPr id="3" name="内容占位符 2">
            <a:extLst>
              <a:ext uri="{FF2B5EF4-FFF2-40B4-BE49-F238E27FC236}">
                <a16:creationId xmlns:a16="http://schemas.microsoft.com/office/drawing/2014/main" id="{1E5344F1-B1BF-46E0-B934-77132EE5ECE7}"/>
              </a:ext>
            </a:extLst>
          </p:cNvPr>
          <p:cNvSpPr>
            <a:spLocks noGrp="1"/>
          </p:cNvSpPr>
          <p:nvPr>
            <p:ph idx="1"/>
          </p:nvPr>
        </p:nvSpPr>
        <p:spPr>
          <a:xfrm>
            <a:off x="669925" y="953770"/>
            <a:ext cx="10852150" cy="5203190"/>
          </a:xfrm>
        </p:spPr>
        <p:txBody>
          <a:bodyPr/>
          <a:lstStyle/>
          <a:p>
            <a:r>
              <a:rPr lang="en-US" altLang="zh-CN" dirty="0"/>
              <a:t>3</a:t>
            </a:r>
            <a:r>
              <a:rPr lang="en-US" altLang="zh-CN" dirty="0">
                <a:sym typeface="+mn-ea"/>
              </a:rPr>
              <a:t>.</a:t>
            </a:r>
            <a:r>
              <a:rPr lang="zh-CN" altLang="en-US" dirty="0"/>
              <a:t>递归函数实例与执行路径分析</a:t>
            </a:r>
            <a:endParaRPr lang="en-US" altLang="zh-CN" dirty="0"/>
          </a:p>
          <a:p>
            <a:endParaRPr lang="zh-CN" altLang="en-US" dirty="0"/>
          </a:p>
        </p:txBody>
      </p:sp>
      <p:sp>
        <p:nvSpPr>
          <p:cNvPr id="28" name="文本框 27">
            <a:extLst>
              <a:ext uri="{FF2B5EF4-FFF2-40B4-BE49-F238E27FC236}">
                <a16:creationId xmlns:a16="http://schemas.microsoft.com/office/drawing/2014/main" id="{479A93D3-3819-4B42-8E4E-E21A1791D275}"/>
              </a:ext>
            </a:extLst>
          </p:cNvPr>
          <p:cNvSpPr txBox="1"/>
          <p:nvPr/>
        </p:nvSpPr>
        <p:spPr>
          <a:xfrm>
            <a:off x="669925" y="1752039"/>
            <a:ext cx="10666769" cy="1815882"/>
          </a:xfrm>
          <a:prstGeom prst="rect">
            <a:avLst/>
          </a:prstGeom>
          <a:noFill/>
        </p:spPr>
        <p:txBody>
          <a:bodyPr wrap="square">
            <a:spAutoFit/>
          </a:bodyPr>
          <a:lstStyle/>
          <a:p>
            <a:r>
              <a:rPr lang="en-US" altLang="zh-CN" sz="2800" dirty="0"/>
              <a:t>【</a:t>
            </a:r>
            <a:r>
              <a:rPr lang="zh-CN" altLang="en-US" sz="2800" dirty="0"/>
              <a:t>例 </a:t>
            </a:r>
            <a:r>
              <a:rPr lang="en-US" altLang="zh-CN" sz="2800" dirty="0"/>
              <a:t>4.8】</a:t>
            </a:r>
            <a:r>
              <a:rPr lang="zh-CN" altLang="en-US" sz="2800" dirty="0"/>
              <a:t>给出一个非负整数</a:t>
            </a:r>
            <a:r>
              <a:rPr lang="en-US" altLang="zh-CN" sz="2800" dirty="0"/>
              <a:t>n</a:t>
            </a:r>
            <a:r>
              <a:rPr lang="zh-CN" altLang="en-US" sz="2800" dirty="0"/>
              <a:t>，使用递归函数计算</a:t>
            </a:r>
            <a:r>
              <a:rPr lang="en-US" altLang="zh-CN" sz="2800" dirty="0"/>
              <a:t>n</a:t>
            </a:r>
            <a:r>
              <a:rPr lang="zh-CN" altLang="en-US" sz="2800" dirty="0"/>
              <a:t>的阶乘，即</a:t>
            </a:r>
            <a:r>
              <a:rPr lang="en-US" altLang="zh-CN" sz="2800" dirty="0"/>
              <a:t>n!</a:t>
            </a:r>
            <a:r>
              <a:rPr lang="zh-CN" altLang="en-US" sz="2800" dirty="0"/>
              <a:t>。</a:t>
            </a:r>
            <a:endParaRPr lang="en-US" altLang="zh-CN" sz="2800" dirty="0"/>
          </a:p>
          <a:p>
            <a:endParaRPr lang="en-US" altLang="zh-CN" sz="2800" dirty="0"/>
          </a:p>
          <a:p>
            <a:pPr marL="457200" indent="-457200">
              <a:buFont typeface="Arial" panose="020B0604020202020204" pitchFamily="34" charset="0"/>
              <a:buChar char="•"/>
            </a:pPr>
            <a:r>
              <a:rPr lang="zh-CN" altLang="en-US" sz="2800" dirty="0"/>
              <a:t>解题思路：已知</a:t>
            </a:r>
            <a:r>
              <a:rPr lang="en-US" altLang="zh-CN" sz="2800" dirty="0"/>
              <a:t>0!=1</a:t>
            </a:r>
            <a:r>
              <a:rPr lang="zh-CN" altLang="en-US" sz="2800" dirty="0"/>
              <a:t>；当</a:t>
            </a:r>
            <a:r>
              <a:rPr lang="en-US" altLang="zh-CN" sz="2800" dirty="0"/>
              <a:t>n&gt;0</a:t>
            </a:r>
            <a:r>
              <a:rPr lang="zh-CN" altLang="en-US" sz="2800" dirty="0"/>
              <a:t>，如果要计算</a:t>
            </a:r>
            <a:r>
              <a:rPr lang="en-US" altLang="zh-CN" sz="2800" dirty="0"/>
              <a:t>n!</a:t>
            </a:r>
            <a:r>
              <a:rPr lang="zh-CN" altLang="en-US" sz="2800" dirty="0"/>
              <a:t>，则先计算</a:t>
            </a:r>
            <a:r>
              <a:rPr lang="en-US" altLang="zh-CN" sz="2800" dirty="0"/>
              <a:t>(n-1)!</a:t>
            </a:r>
            <a:r>
              <a:rPr lang="zh-CN" altLang="en-US" sz="2800" dirty="0"/>
              <a:t>。</a:t>
            </a:r>
          </a:p>
          <a:p>
            <a:endParaRPr lang="zh-CN" altLang="en-US" sz="2800" dirty="0"/>
          </a:p>
        </p:txBody>
      </p:sp>
      <p:graphicFrame>
        <p:nvGraphicFramePr>
          <p:cNvPr id="31" name="Object 4">
            <a:extLst>
              <a:ext uri="{FF2B5EF4-FFF2-40B4-BE49-F238E27FC236}">
                <a16:creationId xmlns:a16="http://schemas.microsoft.com/office/drawing/2014/main" id="{DDBC2618-78DA-4454-B0D3-F354BA6ABAB2}"/>
              </a:ext>
            </a:extLst>
          </p:cNvPr>
          <p:cNvGraphicFramePr>
            <a:graphicFrameLocks noChangeAspect="1"/>
          </p:cNvGraphicFramePr>
          <p:nvPr/>
        </p:nvGraphicFramePr>
        <p:xfrm>
          <a:off x="1850993" y="3815059"/>
          <a:ext cx="5284140" cy="1558451"/>
        </p:xfrm>
        <a:graphic>
          <a:graphicData uri="http://schemas.openxmlformats.org/presentationml/2006/ole">
            <mc:AlternateContent xmlns:mc="http://schemas.openxmlformats.org/markup-compatibility/2006">
              <mc:Choice xmlns:v="urn:schemas-microsoft-com:vml" Requires="v">
                <p:oleObj name="Equation" r:id="rId2" imgW="1549080" imgH="457200" progId="Equation.DSMT4">
                  <p:embed/>
                </p:oleObj>
              </mc:Choice>
              <mc:Fallback>
                <p:oleObj name="Equation" r:id="rId2" imgW="1549080" imgH="457200" progId="Equation.DSMT4">
                  <p:embed/>
                  <p:pic>
                    <p:nvPicPr>
                      <p:cNvPr id="31" name="Object 4">
                        <a:extLst>
                          <a:ext uri="{FF2B5EF4-FFF2-40B4-BE49-F238E27FC236}">
                            <a16:creationId xmlns:a16="http://schemas.microsoft.com/office/drawing/2014/main" id="{DDBC2618-78DA-4454-B0D3-F354BA6AB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993" y="3815059"/>
                        <a:ext cx="5284140" cy="15584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a:extLst>
              <a:ext uri="{FF2B5EF4-FFF2-40B4-BE49-F238E27FC236}">
                <a16:creationId xmlns:a16="http://schemas.microsoft.com/office/drawing/2014/main" id="{C1250168-4682-40CA-B922-D6C8D70B3EC4}"/>
              </a:ext>
            </a:extLst>
          </p:cNvPr>
          <p:cNvSpPr/>
          <p:nvPr/>
        </p:nvSpPr>
        <p:spPr>
          <a:xfrm>
            <a:off x="7952291" y="3893764"/>
            <a:ext cx="1620957" cy="523220"/>
          </a:xfrm>
          <a:prstGeom prst="rect">
            <a:avLst/>
          </a:prstGeom>
        </p:spPr>
        <p:txBody>
          <a:bodyPr wrap="none">
            <a:spAutoFit/>
          </a:bodyPr>
          <a:lstStyle/>
          <a:p>
            <a:r>
              <a:rPr lang="zh-CN" altLang="en-US" sz="2800" dirty="0">
                <a:solidFill>
                  <a:srgbClr val="FF0000"/>
                </a:solidFill>
              </a:rPr>
              <a:t>基本条件</a:t>
            </a:r>
          </a:p>
        </p:txBody>
      </p:sp>
      <p:cxnSp>
        <p:nvCxnSpPr>
          <p:cNvPr id="33" name="直接箭头连接符 32">
            <a:extLst>
              <a:ext uri="{FF2B5EF4-FFF2-40B4-BE49-F238E27FC236}">
                <a16:creationId xmlns:a16="http://schemas.microsoft.com/office/drawing/2014/main" id="{EEBC3D5A-B6B8-432B-A4A1-450B7F242B87}"/>
              </a:ext>
            </a:extLst>
          </p:cNvPr>
          <p:cNvCxnSpPr/>
          <p:nvPr/>
        </p:nvCxnSpPr>
        <p:spPr>
          <a:xfrm flipH="1">
            <a:off x="7257494" y="4147231"/>
            <a:ext cx="665825" cy="8878"/>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FF3DE590-C1E6-449B-ACBB-C1DB3137BA6C}"/>
              </a:ext>
            </a:extLst>
          </p:cNvPr>
          <p:cNvSpPr/>
          <p:nvPr/>
        </p:nvSpPr>
        <p:spPr>
          <a:xfrm>
            <a:off x="7980399" y="4658746"/>
            <a:ext cx="1620957" cy="523220"/>
          </a:xfrm>
          <a:prstGeom prst="rect">
            <a:avLst/>
          </a:prstGeom>
        </p:spPr>
        <p:txBody>
          <a:bodyPr wrap="none">
            <a:spAutoFit/>
          </a:bodyPr>
          <a:lstStyle/>
          <a:p>
            <a:r>
              <a:rPr lang="zh-CN" altLang="en-US" sz="2800" dirty="0">
                <a:solidFill>
                  <a:srgbClr val="FF0000"/>
                </a:solidFill>
              </a:rPr>
              <a:t>递归规则</a:t>
            </a:r>
          </a:p>
        </p:txBody>
      </p:sp>
      <p:cxnSp>
        <p:nvCxnSpPr>
          <p:cNvPr id="35" name="直接箭头连接符 34">
            <a:extLst>
              <a:ext uri="{FF2B5EF4-FFF2-40B4-BE49-F238E27FC236}">
                <a16:creationId xmlns:a16="http://schemas.microsoft.com/office/drawing/2014/main" id="{DE590F2D-FEE7-4C3B-A5B0-54F272622A6D}"/>
              </a:ext>
            </a:extLst>
          </p:cNvPr>
          <p:cNvCxnSpPr/>
          <p:nvPr/>
        </p:nvCxnSpPr>
        <p:spPr>
          <a:xfrm flipH="1">
            <a:off x="7285602" y="4912213"/>
            <a:ext cx="665825" cy="8878"/>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684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a:xfrm>
            <a:off x="925897" y="572135"/>
            <a:ext cx="10852150" cy="553085"/>
          </a:xfrm>
        </p:spPr>
        <p:txBody>
          <a:bodyPr/>
          <a:lstStyle/>
          <a:p>
            <a:r>
              <a:rPr lang="en-US" altLang="zh-CN" dirty="0"/>
              <a:t>4.2.3 </a:t>
            </a:r>
            <a:r>
              <a:rPr lang="zh-CN" altLang="en-US" dirty="0"/>
              <a:t>递归函数</a:t>
            </a:r>
          </a:p>
        </p:txBody>
      </p:sp>
      <p:sp>
        <p:nvSpPr>
          <p:cNvPr id="4" name="内容占位符 3">
            <a:extLst>
              <a:ext uri="{FF2B5EF4-FFF2-40B4-BE49-F238E27FC236}">
                <a16:creationId xmlns:a16="http://schemas.microsoft.com/office/drawing/2014/main" id="{5B8F9FB8-DB93-42D7-BC31-20C144F0FEF9}"/>
              </a:ext>
            </a:extLst>
          </p:cNvPr>
          <p:cNvSpPr>
            <a:spLocks noGrp="1"/>
          </p:cNvSpPr>
          <p:nvPr>
            <p:ph idx="1"/>
          </p:nvPr>
        </p:nvSpPr>
        <p:spPr>
          <a:xfrm>
            <a:off x="669925" y="1137920"/>
            <a:ext cx="10852150" cy="5203190"/>
          </a:xfrm>
        </p:spPr>
        <p:txBody>
          <a:bodyPr/>
          <a:lstStyle/>
          <a:p>
            <a:r>
              <a:rPr lang="en-US" altLang="zh-CN" dirty="0"/>
              <a:t>3.</a:t>
            </a:r>
            <a:r>
              <a:rPr lang="zh-CN" altLang="en-US" dirty="0"/>
              <a:t>递归函数实例与执行路径分析</a:t>
            </a:r>
          </a:p>
        </p:txBody>
      </p:sp>
      <p:sp>
        <p:nvSpPr>
          <p:cNvPr id="29" name="内容占位符 2">
            <a:extLst>
              <a:ext uri="{FF2B5EF4-FFF2-40B4-BE49-F238E27FC236}">
                <a16:creationId xmlns:a16="http://schemas.microsoft.com/office/drawing/2014/main" id="{F77C0378-C4DD-433E-9E43-5E2A11442F7C}"/>
              </a:ext>
            </a:extLst>
          </p:cNvPr>
          <p:cNvSpPr txBox="1">
            <a:spLocks/>
          </p:cNvSpPr>
          <p:nvPr/>
        </p:nvSpPr>
        <p:spPr>
          <a:xfrm>
            <a:off x="270015" y="1968282"/>
            <a:ext cx="11508032" cy="4889717"/>
          </a:xfrm>
          <a:prstGeom prst="rect">
            <a:avLst/>
          </a:prstGeom>
          <a:ln w="12700">
            <a:solidFill>
              <a:srgbClr val="0000FF"/>
            </a:solidFill>
          </a:ln>
        </p:spPr>
        <p:txBody>
          <a:bodyPr vert="horz" wrap="square" lIns="90170" tIns="46990" rIns="90170" bIns="46990" numCol="2"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buNone/>
            </a:pPr>
            <a:r>
              <a:rPr lang="en-US" altLang="zh-CN" sz="2800" b="1" dirty="0">
                <a:latin typeface="Times New Roman" panose="02020603050405020304" pitchFamily="18" charset="0"/>
                <a:cs typeface="Times New Roman" panose="02020603050405020304" pitchFamily="18" charset="0"/>
              </a:rPr>
              <a:t>#include &lt;</a:t>
            </a:r>
            <a:r>
              <a:rPr lang="en-US" altLang="zh-CN" sz="2800" b="1" dirty="0" err="1">
                <a:latin typeface="Times New Roman" panose="02020603050405020304" pitchFamily="18" charset="0"/>
                <a:cs typeface="Times New Roman" panose="02020603050405020304" pitchFamily="18" charset="0"/>
              </a:rPr>
              <a:t>stdio.h</a:t>
            </a:r>
            <a:r>
              <a:rPr lang="en-US" altLang="zh-CN" sz="2800" b="1" dirty="0">
                <a:latin typeface="Times New Roman" panose="02020603050405020304" pitchFamily="18" charset="0"/>
                <a:cs typeface="Times New Roman" panose="02020603050405020304" pitchFamily="18" charset="0"/>
              </a:rPr>
              <a:t>&gt;</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long factorial(int n)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if (n == 0)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return 1;</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else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return n * factorial(n - 1);</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a:t>
            </a:r>
          </a:p>
          <a:p>
            <a:pPr indent="0">
              <a:lnSpc>
                <a:spcPct val="100000"/>
              </a:lnSpc>
              <a:buNone/>
            </a:pPr>
            <a:endParaRPr lang="en-US" altLang="zh-CN" sz="2800" b="1" dirty="0">
              <a:latin typeface="Times New Roman" panose="02020603050405020304" pitchFamily="18" charset="0"/>
              <a:cs typeface="Times New Roman" panose="02020603050405020304" pitchFamily="18" charset="0"/>
            </a:endParaRPr>
          </a:p>
          <a:p>
            <a:pPr indent="0">
              <a:lnSpc>
                <a:spcPct val="100000"/>
              </a:lnSpc>
              <a:buNone/>
            </a:pPr>
            <a:r>
              <a:rPr lang="en-US" altLang="zh-CN" sz="2800" b="1" dirty="0">
                <a:latin typeface="Times New Roman" panose="02020603050405020304" pitchFamily="18" charset="0"/>
                <a:cs typeface="Times New Roman" panose="02020603050405020304" pitchFamily="18" charset="0"/>
              </a:rPr>
              <a:t>int main(void) {</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int n;</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long f;</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scanf</a:t>
            </a:r>
            <a:r>
              <a:rPr lang="en-US" altLang="zh-CN" sz="2800" b="1" dirty="0">
                <a:latin typeface="Times New Roman" panose="02020603050405020304" pitchFamily="18" charset="0"/>
                <a:cs typeface="Times New Roman" panose="02020603050405020304" pitchFamily="18" charset="0"/>
              </a:rPr>
              <a:t>("%d", &amp;n);</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f = factorial(n);</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printf</a:t>
            </a:r>
            <a:r>
              <a:rPr lang="en-US" altLang="zh-CN" sz="2800" b="1" dirty="0">
                <a:latin typeface="Times New Roman" panose="02020603050405020304" pitchFamily="18" charset="0"/>
                <a:cs typeface="Times New Roman" panose="02020603050405020304" pitchFamily="18" charset="0"/>
              </a:rPr>
              <a:t>("%d!=%</a:t>
            </a:r>
            <a:r>
              <a:rPr lang="en-US" altLang="zh-CN" sz="2800" b="1" dirty="0" err="1">
                <a:latin typeface="Times New Roman" panose="02020603050405020304" pitchFamily="18" charset="0"/>
                <a:cs typeface="Times New Roman" panose="02020603050405020304" pitchFamily="18" charset="0"/>
              </a:rPr>
              <a:t>ld</a:t>
            </a:r>
            <a:r>
              <a:rPr lang="en-US" altLang="zh-CN" sz="2800" b="1" dirty="0">
                <a:latin typeface="Times New Roman" panose="02020603050405020304" pitchFamily="18" charset="0"/>
                <a:cs typeface="Times New Roman" panose="02020603050405020304" pitchFamily="18" charset="0"/>
              </a:rPr>
              <a:t>\n", n, f);</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     return 0;</a:t>
            </a:r>
          </a:p>
          <a:p>
            <a:pPr indent="0">
              <a:lnSpc>
                <a:spcPct val="100000"/>
              </a:lnSpc>
              <a:buNone/>
            </a:pPr>
            <a:r>
              <a:rPr lang="en-US" altLang="zh-CN" sz="2800" b="1" dirty="0">
                <a:latin typeface="Times New Roman" panose="02020603050405020304" pitchFamily="18" charset="0"/>
                <a:cs typeface="Times New Roman" panose="02020603050405020304" pitchFamily="18" charset="0"/>
              </a:rPr>
              <a:t>}</a:t>
            </a:r>
            <a:br>
              <a:rPr lang="en-US" altLang="zh-CN"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8A784BEE-8E5C-4E1A-AC3D-B5C2CDD26372}"/>
              </a:ext>
            </a:extLst>
          </p:cNvPr>
          <p:cNvSpPr/>
          <p:nvPr/>
        </p:nvSpPr>
        <p:spPr>
          <a:xfrm>
            <a:off x="4179590" y="3158880"/>
            <a:ext cx="1620957" cy="523220"/>
          </a:xfrm>
          <a:prstGeom prst="rect">
            <a:avLst/>
          </a:prstGeom>
        </p:spPr>
        <p:txBody>
          <a:bodyPr wrap="none">
            <a:spAutoFit/>
          </a:bodyPr>
          <a:lstStyle/>
          <a:p>
            <a:r>
              <a:rPr lang="zh-CN" altLang="en-US" sz="2800" dirty="0">
                <a:solidFill>
                  <a:srgbClr val="FF0000"/>
                </a:solidFill>
              </a:rPr>
              <a:t>基本条件</a:t>
            </a:r>
          </a:p>
        </p:txBody>
      </p:sp>
      <p:cxnSp>
        <p:nvCxnSpPr>
          <p:cNvPr id="31" name="直接箭头连接符 30">
            <a:extLst>
              <a:ext uri="{FF2B5EF4-FFF2-40B4-BE49-F238E27FC236}">
                <a16:creationId xmlns:a16="http://schemas.microsoft.com/office/drawing/2014/main" id="{988B6D1E-2F04-4A8A-90DD-F9966E82F89E}"/>
              </a:ext>
            </a:extLst>
          </p:cNvPr>
          <p:cNvCxnSpPr/>
          <p:nvPr/>
        </p:nvCxnSpPr>
        <p:spPr>
          <a:xfrm flipH="1">
            <a:off x="3332949" y="3412347"/>
            <a:ext cx="1141520" cy="538486"/>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94F89F23-EC42-4B97-AD2A-C8B8DC4FAF16}"/>
              </a:ext>
            </a:extLst>
          </p:cNvPr>
          <p:cNvSpPr/>
          <p:nvPr/>
        </p:nvSpPr>
        <p:spPr>
          <a:xfrm>
            <a:off x="4207698" y="3996434"/>
            <a:ext cx="1620957" cy="523220"/>
          </a:xfrm>
          <a:prstGeom prst="rect">
            <a:avLst/>
          </a:prstGeom>
        </p:spPr>
        <p:txBody>
          <a:bodyPr wrap="none">
            <a:spAutoFit/>
          </a:bodyPr>
          <a:lstStyle/>
          <a:p>
            <a:r>
              <a:rPr lang="zh-CN" altLang="en-US" sz="2800" dirty="0">
                <a:solidFill>
                  <a:srgbClr val="FF0000"/>
                </a:solidFill>
              </a:rPr>
              <a:t>递归规则</a:t>
            </a:r>
          </a:p>
        </p:txBody>
      </p:sp>
      <p:cxnSp>
        <p:nvCxnSpPr>
          <p:cNvPr id="33" name="直接箭头连接符 32">
            <a:extLst>
              <a:ext uri="{FF2B5EF4-FFF2-40B4-BE49-F238E27FC236}">
                <a16:creationId xmlns:a16="http://schemas.microsoft.com/office/drawing/2014/main" id="{D3465B38-F393-46FD-8B4D-7D3EFA8E2110}"/>
              </a:ext>
            </a:extLst>
          </p:cNvPr>
          <p:cNvCxnSpPr/>
          <p:nvPr/>
        </p:nvCxnSpPr>
        <p:spPr>
          <a:xfrm flipH="1">
            <a:off x="3132924" y="4249901"/>
            <a:ext cx="1045803" cy="573604"/>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85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a:xfrm>
            <a:off x="669925" y="400685"/>
            <a:ext cx="10852150" cy="553085"/>
          </a:xfrm>
        </p:spPr>
        <p:txBody>
          <a:bodyPr/>
          <a:lstStyle/>
          <a:p>
            <a:r>
              <a:rPr lang="en-US" altLang="zh-CN" dirty="0"/>
              <a:t>4.2.3 </a:t>
            </a:r>
            <a:r>
              <a:rPr lang="zh-CN" altLang="en-US" dirty="0"/>
              <a:t>递归函数</a:t>
            </a:r>
          </a:p>
        </p:txBody>
      </p:sp>
      <p:sp>
        <p:nvSpPr>
          <p:cNvPr id="3" name="内容占位符 2">
            <a:extLst>
              <a:ext uri="{FF2B5EF4-FFF2-40B4-BE49-F238E27FC236}">
                <a16:creationId xmlns:a16="http://schemas.microsoft.com/office/drawing/2014/main" id="{1E5344F1-B1BF-46E0-B934-77132EE5ECE7}"/>
              </a:ext>
            </a:extLst>
          </p:cNvPr>
          <p:cNvSpPr>
            <a:spLocks noGrp="1"/>
          </p:cNvSpPr>
          <p:nvPr>
            <p:ph idx="1"/>
          </p:nvPr>
        </p:nvSpPr>
        <p:spPr>
          <a:xfrm>
            <a:off x="669925" y="953770"/>
            <a:ext cx="10852150" cy="5203190"/>
          </a:xfrm>
        </p:spPr>
        <p:txBody>
          <a:bodyPr/>
          <a:lstStyle/>
          <a:p>
            <a:r>
              <a:rPr lang="en-US" altLang="zh-CN" dirty="0"/>
              <a:t>3</a:t>
            </a:r>
            <a:r>
              <a:rPr lang="en-US" altLang="zh-CN" dirty="0">
                <a:sym typeface="+mn-ea"/>
              </a:rPr>
              <a:t>.</a:t>
            </a:r>
            <a:r>
              <a:rPr lang="zh-CN" altLang="en-US" dirty="0"/>
              <a:t>递归函数实例与执行路径分析</a:t>
            </a:r>
            <a:endParaRPr lang="en-US" altLang="zh-CN" dirty="0"/>
          </a:p>
          <a:p>
            <a:endParaRPr lang="zh-CN" altLang="en-US" dirty="0"/>
          </a:p>
        </p:txBody>
      </p:sp>
      <p:sp>
        <p:nvSpPr>
          <p:cNvPr id="37" name="Text Box 4">
            <a:extLst>
              <a:ext uri="{FF2B5EF4-FFF2-40B4-BE49-F238E27FC236}">
                <a16:creationId xmlns:a16="http://schemas.microsoft.com/office/drawing/2014/main" id="{BDDE5CDA-23D1-4EBE-ACB8-F95681966219}"/>
              </a:ext>
            </a:extLst>
          </p:cNvPr>
          <p:cNvSpPr txBox="1">
            <a:spLocks noChangeArrowheads="1"/>
          </p:cNvSpPr>
          <p:nvPr/>
        </p:nvSpPr>
        <p:spPr bwMode="auto">
          <a:xfrm>
            <a:off x="1069182" y="2025240"/>
            <a:ext cx="4538422"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factorial(4) = 4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factorial(3)</a:t>
            </a:r>
            <a:endParaRPr kumimoji="1" lang="en-US" altLang="zh-CN" sz="2800" b="1" dirty="0">
              <a:latin typeface="Times New Roman" panose="02020603050405020304" pitchFamily="18" charset="0"/>
              <a:ea typeface="宋体" charset="-122"/>
              <a:cs typeface="Times New Roman" panose="02020603050405020304" pitchFamily="18" charset="0"/>
            </a:endParaRPr>
          </a:p>
        </p:txBody>
      </p:sp>
      <p:sp>
        <p:nvSpPr>
          <p:cNvPr id="38" name="Text Box 5">
            <a:extLst>
              <a:ext uri="{FF2B5EF4-FFF2-40B4-BE49-F238E27FC236}">
                <a16:creationId xmlns:a16="http://schemas.microsoft.com/office/drawing/2014/main" id="{D7FC5E85-1C31-4028-9CA2-322BF50D6D1A}"/>
              </a:ext>
            </a:extLst>
          </p:cNvPr>
          <p:cNvSpPr txBox="1">
            <a:spLocks noChangeArrowheads="1"/>
          </p:cNvSpPr>
          <p:nvPr/>
        </p:nvSpPr>
        <p:spPr bwMode="auto">
          <a:xfrm>
            <a:off x="1088232" y="3019015"/>
            <a:ext cx="4538422"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factorial(3) = 3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factorial(2)</a:t>
            </a:r>
            <a:endParaRPr kumimoji="1" lang="en-US" altLang="zh-CN" sz="2800" b="1" dirty="0">
              <a:latin typeface="Times New Roman" panose="02020603050405020304" pitchFamily="18" charset="0"/>
              <a:ea typeface="宋体" charset="-122"/>
              <a:cs typeface="Times New Roman" panose="02020603050405020304" pitchFamily="18" charset="0"/>
            </a:endParaRPr>
          </a:p>
        </p:txBody>
      </p:sp>
      <p:sp>
        <p:nvSpPr>
          <p:cNvPr id="39" name="Text Box 6">
            <a:extLst>
              <a:ext uri="{FF2B5EF4-FFF2-40B4-BE49-F238E27FC236}">
                <a16:creationId xmlns:a16="http://schemas.microsoft.com/office/drawing/2014/main" id="{032EA9D4-4780-463D-BA7D-14CA35AF0B7C}"/>
              </a:ext>
            </a:extLst>
          </p:cNvPr>
          <p:cNvSpPr txBox="1">
            <a:spLocks noChangeArrowheads="1"/>
          </p:cNvSpPr>
          <p:nvPr/>
        </p:nvSpPr>
        <p:spPr bwMode="auto">
          <a:xfrm>
            <a:off x="1088232" y="3852453"/>
            <a:ext cx="4538422"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factorial(2) = 2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factorial(1)</a:t>
            </a:r>
            <a:endParaRPr kumimoji="1" lang="en-US" altLang="zh-CN" sz="2800" b="1" dirty="0">
              <a:latin typeface="Times New Roman" panose="02020603050405020304" pitchFamily="18" charset="0"/>
              <a:ea typeface="宋体" charset="-122"/>
              <a:cs typeface="Times New Roman" panose="02020603050405020304" pitchFamily="18" charset="0"/>
            </a:endParaRPr>
          </a:p>
        </p:txBody>
      </p:sp>
      <p:sp>
        <p:nvSpPr>
          <p:cNvPr id="40" name="Text Box 7">
            <a:extLst>
              <a:ext uri="{FF2B5EF4-FFF2-40B4-BE49-F238E27FC236}">
                <a16:creationId xmlns:a16="http://schemas.microsoft.com/office/drawing/2014/main" id="{62572F15-1CF5-4D3B-83A3-D1396F360F8C}"/>
              </a:ext>
            </a:extLst>
          </p:cNvPr>
          <p:cNvSpPr txBox="1">
            <a:spLocks noChangeArrowheads="1"/>
          </p:cNvSpPr>
          <p:nvPr/>
        </p:nvSpPr>
        <p:spPr bwMode="auto">
          <a:xfrm>
            <a:off x="1130565" y="4708115"/>
            <a:ext cx="4538422"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factorial(1) = 1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factorial(0)</a:t>
            </a:r>
            <a:endParaRPr kumimoji="1" lang="en-US" altLang="zh-CN" sz="2800" b="1" dirty="0">
              <a:latin typeface="Times New Roman" panose="02020603050405020304" pitchFamily="18" charset="0"/>
              <a:ea typeface="宋体" charset="-122"/>
              <a:cs typeface="Times New Roman" panose="02020603050405020304" pitchFamily="18" charset="0"/>
            </a:endParaRPr>
          </a:p>
        </p:txBody>
      </p:sp>
      <p:sp>
        <p:nvSpPr>
          <p:cNvPr id="41" name="Text Box 8">
            <a:extLst>
              <a:ext uri="{FF2B5EF4-FFF2-40B4-BE49-F238E27FC236}">
                <a16:creationId xmlns:a16="http://schemas.microsoft.com/office/drawing/2014/main" id="{B87F8492-68FC-474C-A56E-CD46F046973A}"/>
              </a:ext>
            </a:extLst>
          </p:cNvPr>
          <p:cNvSpPr txBox="1">
            <a:spLocks noChangeArrowheads="1"/>
          </p:cNvSpPr>
          <p:nvPr/>
        </p:nvSpPr>
        <p:spPr bwMode="auto">
          <a:xfrm>
            <a:off x="5699465" y="5711339"/>
            <a:ext cx="2464136" cy="954107"/>
          </a:xfrm>
          <a:prstGeom prst="rect">
            <a:avLst/>
          </a:prstGeom>
          <a:noFill/>
          <a:ln w="9525">
            <a:noFill/>
            <a:miter lim="800000"/>
            <a:headEnd/>
            <a:tailEnd/>
          </a:ln>
        </p:spPr>
        <p:txBody>
          <a:bodyPr wrap="none" anchor="ctr">
            <a:spAutoFit/>
          </a:bodyPr>
          <a:lstStyle/>
          <a:p>
            <a:pPr algn="ctr" eaLnBrk="1" hangingPunct="1"/>
            <a:r>
              <a:rPr kumimoji="1" lang="en-US" altLang="zh-CN" sz="2800" b="1" dirty="0">
                <a:latin typeface="Times New Roman" panose="02020603050405020304" pitchFamily="18" charset="0"/>
                <a:ea typeface="宋体" charset="-122"/>
                <a:cs typeface="Times New Roman" panose="02020603050405020304" pitchFamily="18" charset="0"/>
              </a:rPr>
              <a:t>factorial(0) =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1</a:t>
            </a:r>
          </a:p>
          <a:p>
            <a:pPr algn="ctr" eaLnBrk="1" hangingPunct="1"/>
            <a:r>
              <a:rPr kumimoji="1" lang="zh-CN" altLang="en-US" sz="2800" b="1" dirty="0">
                <a:solidFill>
                  <a:srgbClr val="FF0000"/>
                </a:solidFill>
                <a:latin typeface="Times New Roman" panose="02020603050405020304" pitchFamily="18" charset="0"/>
                <a:ea typeface="宋体" charset="-122"/>
                <a:cs typeface="Times New Roman" panose="02020603050405020304" pitchFamily="18" charset="0"/>
              </a:rPr>
              <a:t>（基本条件）</a:t>
            </a:r>
            <a:endParaRPr kumimoji="1" lang="en-US" altLang="zh-CN" sz="2800" b="1" dirty="0">
              <a:solidFill>
                <a:srgbClr val="FF0000"/>
              </a:solidFill>
              <a:latin typeface="Times New Roman" panose="02020603050405020304" pitchFamily="18" charset="0"/>
              <a:ea typeface="宋体" charset="-122"/>
              <a:cs typeface="Times New Roman" panose="02020603050405020304" pitchFamily="18" charset="0"/>
            </a:endParaRPr>
          </a:p>
        </p:txBody>
      </p:sp>
      <p:sp>
        <p:nvSpPr>
          <p:cNvPr id="42" name="Line 15">
            <a:extLst>
              <a:ext uri="{FF2B5EF4-FFF2-40B4-BE49-F238E27FC236}">
                <a16:creationId xmlns:a16="http://schemas.microsoft.com/office/drawing/2014/main" id="{F704C54C-FC57-450B-9689-E655731CBF5B}"/>
              </a:ext>
            </a:extLst>
          </p:cNvPr>
          <p:cNvSpPr>
            <a:spLocks noChangeShapeType="1"/>
          </p:cNvSpPr>
          <p:nvPr/>
        </p:nvSpPr>
        <p:spPr bwMode="auto">
          <a:xfrm flipH="1">
            <a:off x="2313288" y="3520012"/>
            <a:ext cx="2163457" cy="422310"/>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 name="Line 17">
            <a:extLst>
              <a:ext uri="{FF2B5EF4-FFF2-40B4-BE49-F238E27FC236}">
                <a16:creationId xmlns:a16="http://schemas.microsoft.com/office/drawing/2014/main" id="{4CE88329-7603-40D0-89AB-AB7D6CD98FBB}"/>
              </a:ext>
            </a:extLst>
          </p:cNvPr>
          <p:cNvSpPr>
            <a:spLocks noChangeShapeType="1"/>
          </p:cNvSpPr>
          <p:nvPr/>
        </p:nvSpPr>
        <p:spPr bwMode="auto">
          <a:xfrm>
            <a:off x="4985089" y="5239304"/>
            <a:ext cx="1520486" cy="580471"/>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4" name="Line 15">
            <a:extLst>
              <a:ext uri="{FF2B5EF4-FFF2-40B4-BE49-F238E27FC236}">
                <a16:creationId xmlns:a16="http://schemas.microsoft.com/office/drawing/2014/main" id="{87D9C675-6024-4765-8AFB-48039A126AAD}"/>
              </a:ext>
            </a:extLst>
          </p:cNvPr>
          <p:cNvSpPr>
            <a:spLocks noChangeShapeType="1"/>
          </p:cNvSpPr>
          <p:nvPr/>
        </p:nvSpPr>
        <p:spPr bwMode="auto">
          <a:xfrm flipH="1">
            <a:off x="2313290" y="2548460"/>
            <a:ext cx="2163459" cy="503400"/>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 name="Line 15">
            <a:extLst>
              <a:ext uri="{FF2B5EF4-FFF2-40B4-BE49-F238E27FC236}">
                <a16:creationId xmlns:a16="http://schemas.microsoft.com/office/drawing/2014/main" id="{27EE4E42-18B9-4F65-A136-5F747A205200}"/>
              </a:ext>
            </a:extLst>
          </p:cNvPr>
          <p:cNvSpPr>
            <a:spLocks noChangeShapeType="1"/>
          </p:cNvSpPr>
          <p:nvPr/>
        </p:nvSpPr>
        <p:spPr bwMode="auto">
          <a:xfrm flipH="1">
            <a:off x="2313285" y="4373143"/>
            <a:ext cx="2163458" cy="422310"/>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6" name="Line 17">
            <a:extLst>
              <a:ext uri="{FF2B5EF4-FFF2-40B4-BE49-F238E27FC236}">
                <a16:creationId xmlns:a16="http://schemas.microsoft.com/office/drawing/2014/main" id="{86C9051C-C80F-448B-99EF-23C7AAAEA4D6}"/>
              </a:ext>
            </a:extLst>
          </p:cNvPr>
          <p:cNvSpPr>
            <a:spLocks noChangeShapeType="1"/>
          </p:cNvSpPr>
          <p:nvPr/>
        </p:nvSpPr>
        <p:spPr bwMode="auto">
          <a:xfrm flipV="1">
            <a:off x="8077201" y="5162549"/>
            <a:ext cx="2105024" cy="647699"/>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7" name="Text Box 7">
            <a:extLst>
              <a:ext uri="{FF2B5EF4-FFF2-40B4-BE49-F238E27FC236}">
                <a16:creationId xmlns:a16="http://schemas.microsoft.com/office/drawing/2014/main" id="{7A9AD03E-E1D9-4C82-BBCE-3641AF71B79A}"/>
              </a:ext>
            </a:extLst>
          </p:cNvPr>
          <p:cNvSpPr txBox="1">
            <a:spLocks noChangeArrowheads="1"/>
          </p:cNvSpPr>
          <p:nvPr/>
        </p:nvSpPr>
        <p:spPr bwMode="auto">
          <a:xfrm>
            <a:off x="7272829" y="4700711"/>
            <a:ext cx="3656770"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factorial(1) = 1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1 </a:t>
            </a:r>
            <a:r>
              <a:rPr kumimoji="1" lang="en-US" altLang="zh-CN" sz="2800" b="1" dirty="0">
                <a:latin typeface="Times New Roman" panose="02020603050405020304" pitchFamily="18" charset="0"/>
                <a:ea typeface="宋体" charset="-122"/>
                <a:cs typeface="Times New Roman" panose="02020603050405020304" pitchFamily="18" charset="0"/>
              </a:rPr>
              <a:t>= 1 </a:t>
            </a:r>
          </a:p>
        </p:txBody>
      </p:sp>
      <p:sp>
        <p:nvSpPr>
          <p:cNvPr id="48" name="Text Box 7">
            <a:extLst>
              <a:ext uri="{FF2B5EF4-FFF2-40B4-BE49-F238E27FC236}">
                <a16:creationId xmlns:a16="http://schemas.microsoft.com/office/drawing/2014/main" id="{30306CE4-767E-48DA-B4B8-85A8B99DF043}"/>
              </a:ext>
            </a:extLst>
          </p:cNvPr>
          <p:cNvSpPr txBox="1">
            <a:spLocks noChangeArrowheads="1"/>
          </p:cNvSpPr>
          <p:nvPr/>
        </p:nvSpPr>
        <p:spPr bwMode="auto">
          <a:xfrm>
            <a:off x="7244254" y="3843461"/>
            <a:ext cx="3656770"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factorial(2) = 2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1 </a:t>
            </a:r>
            <a:r>
              <a:rPr kumimoji="1" lang="en-US" altLang="zh-CN" sz="2800" b="1" dirty="0">
                <a:latin typeface="Times New Roman" panose="02020603050405020304" pitchFamily="18" charset="0"/>
                <a:ea typeface="宋体" charset="-122"/>
                <a:cs typeface="Times New Roman" panose="02020603050405020304" pitchFamily="18" charset="0"/>
              </a:rPr>
              <a:t>= 2 </a:t>
            </a:r>
          </a:p>
        </p:txBody>
      </p:sp>
      <p:sp>
        <p:nvSpPr>
          <p:cNvPr id="49" name="Text Box 7">
            <a:extLst>
              <a:ext uri="{FF2B5EF4-FFF2-40B4-BE49-F238E27FC236}">
                <a16:creationId xmlns:a16="http://schemas.microsoft.com/office/drawing/2014/main" id="{EA1191A6-7171-44D7-ACAA-9E0A166B0DFE}"/>
              </a:ext>
            </a:extLst>
          </p:cNvPr>
          <p:cNvSpPr txBox="1">
            <a:spLocks noChangeArrowheads="1"/>
          </p:cNvSpPr>
          <p:nvPr/>
        </p:nvSpPr>
        <p:spPr bwMode="auto">
          <a:xfrm>
            <a:off x="7253779" y="3024311"/>
            <a:ext cx="3656770" cy="523220"/>
          </a:xfrm>
          <a:prstGeom prst="rect">
            <a:avLst/>
          </a:prstGeom>
          <a:noFill/>
          <a:ln w="9525">
            <a:noFill/>
            <a:miter lim="800000"/>
            <a:headEnd/>
            <a:tailEnd/>
          </a:ln>
        </p:spPr>
        <p:txBody>
          <a:bodyPr wrap="non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factorial(3) = 3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2 </a:t>
            </a:r>
            <a:r>
              <a:rPr kumimoji="1" lang="en-US" altLang="zh-CN" sz="2800" b="1" dirty="0">
                <a:latin typeface="Times New Roman" panose="02020603050405020304" pitchFamily="18" charset="0"/>
                <a:ea typeface="宋体" charset="-122"/>
                <a:cs typeface="Times New Roman" panose="02020603050405020304" pitchFamily="18" charset="0"/>
              </a:rPr>
              <a:t>= 6 </a:t>
            </a:r>
          </a:p>
        </p:txBody>
      </p:sp>
      <p:sp>
        <p:nvSpPr>
          <p:cNvPr id="50" name="Text Box 7">
            <a:extLst>
              <a:ext uri="{FF2B5EF4-FFF2-40B4-BE49-F238E27FC236}">
                <a16:creationId xmlns:a16="http://schemas.microsoft.com/office/drawing/2014/main" id="{50351753-63F7-41E5-8693-226B502B8128}"/>
              </a:ext>
            </a:extLst>
          </p:cNvPr>
          <p:cNvSpPr txBox="1">
            <a:spLocks noChangeArrowheads="1"/>
          </p:cNvSpPr>
          <p:nvPr/>
        </p:nvSpPr>
        <p:spPr bwMode="auto">
          <a:xfrm>
            <a:off x="7035070" y="2062286"/>
            <a:ext cx="4099655" cy="523220"/>
          </a:xfrm>
          <a:prstGeom prst="rect">
            <a:avLst/>
          </a:prstGeom>
          <a:noFill/>
          <a:ln w="9525">
            <a:noFill/>
            <a:miter lim="800000"/>
            <a:headEnd/>
            <a:tailEnd/>
          </a:ln>
        </p:spPr>
        <p:txBody>
          <a:bodyPr wrap="square" anchor="ctr">
            <a:spAutoFit/>
          </a:bodyPr>
          <a:lstStyle/>
          <a:p>
            <a:pPr algn="ctr"/>
            <a:r>
              <a:rPr kumimoji="1" lang="en-US" altLang="zh-CN" sz="2800" b="1" dirty="0">
                <a:latin typeface="Times New Roman" panose="02020603050405020304" pitchFamily="18" charset="0"/>
                <a:ea typeface="宋体" charset="-122"/>
                <a:cs typeface="Times New Roman" panose="02020603050405020304" pitchFamily="18" charset="0"/>
              </a:rPr>
              <a:t>factorial(4) = 4 </a:t>
            </a:r>
            <a:r>
              <a:rPr kumimoji="1" lang="zh-CN" altLang="en-US"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9900"/>
                </a:solidFill>
                <a:latin typeface="Times New Roman" panose="02020603050405020304" pitchFamily="18" charset="0"/>
                <a:ea typeface="宋体" charset="-122"/>
                <a:cs typeface="Times New Roman" panose="02020603050405020304" pitchFamily="18" charset="0"/>
              </a:rPr>
              <a:t>6 </a:t>
            </a:r>
            <a:r>
              <a:rPr kumimoji="1" lang="en-US" altLang="zh-CN" sz="2800" b="1" dirty="0">
                <a:latin typeface="Times New Roman" panose="02020603050405020304" pitchFamily="18" charset="0"/>
                <a:ea typeface="宋体" charset="-122"/>
                <a:cs typeface="Times New Roman" panose="02020603050405020304" pitchFamily="18" charset="0"/>
              </a:rPr>
              <a:t>= </a:t>
            </a:r>
            <a:r>
              <a:rPr kumimoji="1" lang="en-US" altLang="zh-CN" sz="2800" b="1" dirty="0">
                <a:solidFill>
                  <a:srgbClr val="FF0000"/>
                </a:solidFill>
                <a:latin typeface="Times New Roman" panose="02020603050405020304" pitchFamily="18" charset="0"/>
                <a:ea typeface="宋体" charset="-122"/>
                <a:cs typeface="Times New Roman" panose="02020603050405020304" pitchFamily="18" charset="0"/>
              </a:rPr>
              <a:t>24</a:t>
            </a:r>
            <a:r>
              <a:rPr kumimoji="1" lang="en-US" altLang="zh-CN" sz="2800" b="1" dirty="0">
                <a:latin typeface="Times New Roman" panose="02020603050405020304" pitchFamily="18" charset="0"/>
                <a:ea typeface="宋体" charset="-122"/>
                <a:cs typeface="Times New Roman" panose="02020603050405020304" pitchFamily="18" charset="0"/>
              </a:rPr>
              <a:t> </a:t>
            </a:r>
          </a:p>
        </p:txBody>
      </p:sp>
      <p:sp>
        <p:nvSpPr>
          <p:cNvPr id="51" name="Line 17">
            <a:extLst>
              <a:ext uri="{FF2B5EF4-FFF2-40B4-BE49-F238E27FC236}">
                <a16:creationId xmlns:a16="http://schemas.microsoft.com/office/drawing/2014/main" id="{81376656-ACC8-4EF1-9DB3-45AAFE03ED71}"/>
              </a:ext>
            </a:extLst>
          </p:cNvPr>
          <p:cNvSpPr>
            <a:spLocks noChangeShapeType="1"/>
          </p:cNvSpPr>
          <p:nvPr/>
        </p:nvSpPr>
        <p:spPr bwMode="auto">
          <a:xfrm flipH="1" flipV="1">
            <a:off x="10106025" y="4371973"/>
            <a:ext cx="517165" cy="336142"/>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2" name="Line 17">
            <a:extLst>
              <a:ext uri="{FF2B5EF4-FFF2-40B4-BE49-F238E27FC236}">
                <a16:creationId xmlns:a16="http://schemas.microsoft.com/office/drawing/2014/main" id="{A8F4E9C2-AD28-43D7-8F5E-8EAA67B11A07}"/>
              </a:ext>
            </a:extLst>
          </p:cNvPr>
          <p:cNvSpPr>
            <a:spLocks noChangeShapeType="1"/>
          </p:cNvSpPr>
          <p:nvPr/>
        </p:nvSpPr>
        <p:spPr bwMode="auto">
          <a:xfrm flipH="1" flipV="1">
            <a:off x="10115550" y="3533773"/>
            <a:ext cx="465307" cy="364472"/>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3" name="Line 17">
            <a:extLst>
              <a:ext uri="{FF2B5EF4-FFF2-40B4-BE49-F238E27FC236}">
                <a16:creationId xmlns:a16="http://schemas.microsoft.com/office/drawing/2014/main" id="{93109796-C0D0-434F-A7B4-C78F0E849C77}"/>
              </a:ext>
            </a:extLst>
          </p:cNvPr>
          <p:cNvSpPr>
            <a:spLocks noChangeShapeType="1"/>
          </p:cNvSpPr>
          <p:nvPr/>
        </p:nvSpPr>
        <p:spPr bwMode="auto">
          <a:xfrm flipH="1" flipV="1">
            <a:off x="10077450" y="2619372"/>
            <a:ext cx="503407" cy="495897"/>
          </a:xfrm>
          <a:prstGeom prst="line">
            <a:avLst/>
          </a:prstGeom>
          <a:noFill/>
          <a:ln w="57150">
            <a:solidFill>
              <a:schemeClr val="tx1"/>
            </a:solidFill>
            <a:round/>
            <a:headEnd/>
            <a:tailEnd type="triangle" w="med" len="med"/>
          </a:ln>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4" name="下箭头 33">
            <a:extLst>
              <a:ext uri="{FF2B5EF4-FFF2-40B4-BE49-F238E27FC236}">
                <a16:creationId xmlns:a16="http://schemas.microsoft.com/office/drawing/2014/main" id="{EB35E482-D883-4DE9-BD8E-320D4F88B153}"/>
              </a:ext>
            </a:extLst>
          </p:cNvPr>
          <p:cNvSpPr/>
          <p:nvPr/>
        </p:nvSpPr>
        <p:spPr>
          <a:xfrm>
            <a:off x="104775" y="2152650"/>
            <a:ext cx="781050" cy="4038600"/>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2400" b="1" dirty="0">
                <a:latin typeface="Times New Roman" panose="02020603050405020304" pitchFamily="18" charset="0"/>
                <a:cs typeface="Times New Roman" panose="02020603050405020304" pitchFamily="18" charset="0"/>
              </a:rPr>
              <a:t>递推</a:t>
            </a:r>
          </a:p>
        </p:txBody>
      </p:sp>
      <p:sp>
        <p:nvSpPr>
          <p:cNvPr id="55" name="上箭头 35">
            <a:extLst>
              <a:ext uri="{FF2B5EF4-FFF2-40B4-BE49-F238E27FC236}">
                <a16:creationId xmlns:a16="http://schemas.microsoft.com/office/drawing/2014/main" id="{E3AE862D-C741-4C60-81C4-97058550407C}"/>
              </a:ext>
            </a:extLst>
          </p:cNvPr>
          <p:cNvSpPr/>
          <p:nvPr/>
        </p:nvSpPr>
        <p:spPr>
          <a:xfrm>
            <a:off x="11191875" y="2200275"/>
            <a:ext cx="781050" cy="4019550"/>
          </a:xfrm>
          <a:prstGeom prst="up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2400" b="1" dirty="0">
                <a:latin typeface="Times New Roman" panose="02020603050405020304" pitchFamily="18" charset="0"/>
                <a:cs typeface="Times New Roman" panose="02020603050405020304" pitchFamily="18" charset="0"/>
              </a:rPr>
              <a:t>回归</a:t>
            </a:r>
          </a:p>
        </p:txBody>
      </p:sp>
      <p:sp>
        <p:nvSpPr>
          <p:cNvPr id="56" name="矩形 55">
            <a:extLst>
              <a:ext uri="{FF2B5EF4-FFF2-40B4-BE49-F238E27FC236}">
                <a16:creationId xmlns:a16="http://schemas.microsoft.com/office/drawing/2014/main" id="{5A7B5E69-80CE-4CFE-B41B-5A2B289357CA}"/>
              </a:ext>
            </a:extLst>
          </p:cNvPr>
          <p:cNvSpPr/>
          <p:nvPr/>
        </p:nvSpPr>
        <p:spPr>
          <a:xfrm>
            <a:off x="1600201" y="5734735"/>
            <a:ext cx="3384888" cy="1015663"/>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递推：调用自身，把复杂问题逐步分解为最简单的问题（基本条件）。</a:t>
            </a:r>
          </a:p>
        </p:txBody>
      </p:sp>
      <p:sp>
        <p:nvSpPr>
          <p:cNvPr id="57" name="矩形 56">
            <a:extLst>
              <a:ext uri="{FF2B5EF4-FFF2-40B4-BE49-F238E27FC236}">
                <a16:creationId xmlns:a16="http://schemas.microsoft.com/office/drawing/2014/main" id="{BDC5A471-4D03-43F5-BEBC-588C308FB8B1}"/>
              </a:ext>
            </a:extLst>
          </p:cNvPr>
          <p:cNvSpPr/>
          <p:nvPr/>
        </p:nvSpPr>
        <p:spPr>
          <a:xfrm>
            <a:off x="8391526" y="5753695"/>
            <a:ext cx="2886074" cy="1015663"/>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回归：把最简单的问题完成后逐渐回溯到最原先的复杂问题。</a:t>
            </a:r>
          </a:p>
        </p:txBody>
      </p:sp>
    </p:spTree>
    <p:extLst>
      <p:ext uri="{BB962C8B-B14F-4D97-AF65-F5344CB8AC3E}">
        <p14:creationId xmlns:p14="http://schemas.microsoft.com/office/powerpoint/2010/main" val="2289554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additive="base">
                                        <p:cTn id="11" dur="500" fill="hold"/>
                                        <p:tgtEl>
                                          <p:spTgt spid="56"/>
                                        </p:tgtEl>
                                        <p:attrNameLst>
                                          <p:attrName>ppt_x</p:attrName>
                                        </p:attrNameLst>
                                      </p:cBhvr>
                                      <p:tavLst>
                                        <p:tav tm="0">
                                          <p:val>
                                            <p:strVal val="#ppt_x"/>
                                          </p:val>
                                        </p:tav>
                                        <p:tav tm="100000">
                                          <p:val>
                                            <p:strVal val="#ppt_x"/>
                                          </p:val>
                                        </p:tav>
                                      </p:tavLst>
                                    </p:anim>
                                    <p:anim calcmode="lin" valueType="num">
                                      <p:cBhvr additive="base">
                                        <p:cTn id="12"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55"/>
                                        </p:tgtEl>
                                        <p:attrNameLst>
                                          <p:attrName>style.visibility</p:attrName>
                                        </p:attrNameLst>
                                      </p:cBhvr>
                                      <p:to>
                                        <p:strVal val="visible"/>
                                      </p:to>
                                    </p:set>
                                    <p:anim calcmode="lin" valueType="num">
                                      <p:cBhvr additive="base">
                                        <p:cTn id="45" dur="500" fill="hold"/>
                                        <p:tgtEl>
                                          <p:spTgt spid="55"/>
                                        </p:tgtEl>
                                        <p:attrNameLst>
                                          <p:attrName>ppt_x</p:attrName>
                                        </p:attrNameLst>
                                      </p:cBhvr>
                                      <p:tavLst>
                                        <p:tav tm="0">
                                          <p:val>
                                            <p:strVal val="#ppt_x"/>
                                          </p:val>
                                        </p:tav>
                                        <p:tav tm="100000">
                                          <p:val>
                                            <p:strVal val="#ppt_x"/>
                                          </p:val>
                                        </p:tav>
                                      </p:tavLst>
                                    </p:anim>
                                    <p:anim calcmode="lin" valueType="num">
                                      <p:cBhvr additive="base">
                                        <p:cTn id="46" dur="500" fill="hold"/>
                                        <p:tgtEl>
                                          <p:spTgt spid="5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additive="base">
                                        <p:cTn id="49" dur="500" fill="hold"/>
                                        <p:tgtEl>
                                          <p:spTgt spid="57"/>
                                        </p:tgtEl>
                                        <p:attrNameLst>
                                          <p:attrName>ppt_x</p:attrName>
                                        </p:attrNameLst>
                                      </p:cBhvr>
                                      <p:tavLst>
                                        <p:tav tm="0">
                                          <p:val>
                                            <p:strVal val="#ppt_x"/>
                                          </p:val>
                                        </p:tav>
                                        <p:tav tm="100000">
                                          <p:val>
                                            <p:strVal val="#ppt_x"/>
                                          </p:val>
                                        </p:tav>
                                      </p:tavLst>
                                    </p:anim>
                                    <p:anim calcmode="lin" valueType="num">
                                      <p:cBhvr additive="base">
                                        <p:cTn id="5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1" grpId="0"/>
      <p:bldP spid="42" grpId="0" animBg="1"/>
      <p:bldP spid="43" grpId="0" animBg="1"/>
      <p:bldP spid="44" grpId="0" animBg="1"/>
      <p:bldP spid="45" grpId="0" animBg="1"/>
      <p:bldP spid="46" grpId="0" animBg="1"/>
      <p:bldP spid="47" grpId="0"/>
      <p:bldP spid="48" grpId="0"/>
      <p:bldP spid="49" grpId="0"/>
      <p:bldP spid="50" grpId="0"/>
      <p:bldP spid="51" grpId="0" animBg="1"/>
      <p:bldP spid="52" grpId="0" animBg="1"/>
      <p:bldP spid="53" grpId="0" animBg="1"/>
      <p:bldP spid="54" grpId="0" animBg="1"/>
      <p:bldP spid="55" grpId="0" animBg="1"/>
      <p:bldP spid="56" grpId="0"/>
      <p:bldP spid="5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72EE3-275A-4D15-9BBB-9589655F97C8}"/>
              </a:ext>
            </a:extLst>
          </p:cNvPr>
          <p:cNvSpPr>
            <a:spLocks noGrp="1"/>
          </p:cNvSpPr>
          <p:nvPr>
            <p:ph type="title"/>
          </p:nvPr>
        </p:nvSpPr>
        <p:spPr>
          <a:xfrm>
            <a:off x="669925" y="400685"/>
            <a:ext cx="10852150" cy="553085"/>
          </a:xfrm>
        </p:spPr>
        <p:txBody>
          <a:bodyPr/>
          <a:lstStyle/>
          <a:p>
            <a:r>
              <a:rPr lang="en-US" altLang="zh-CN" dirty="0"/>
              <a:t>4.2.3 </a:t>
            </a:r>
            <a:r>
              <a:rPr lang="zh-CN" altLang="en-US" dirty="0"/>
              <a:t>递归函数</a:t>
            </a:r>
          </a:p>
        </p:txBody>
      </p:sp>
      <p:sp>
        <p:nvSpPr>
          <p:cNvPr id="8" name="内容占位符 2">
            <a:extLst>
              <a:ext uri="{FF2B5EF4-FFF2-40B4-BE49-F238E27FC236}">
                <a16:creationId xmlns:a16="http://schemas.microsoft.com/office/drawing/2014/main" id="{CAC5F044-F0EE-4072-A3EA-4A67D771026A}"/>
              </a:ext>
            </a:extLst>
          </p:cNvPr>
          <p:cNvSpPr>
            <a:spLocks noGrp="1"/>
          </p:cNvSpPr>
          <p:nvPr>
            <p:ph idx="1"/>
          </p:nvPr>
        </p:nvSpPr>
        <p:spPr>
          <a:xfrm>
            <a:off x="669925" y="1138238"/>
            <a:ext cx="10852150" cy="5202237"/>
          </a:xfrm>
        </p:spPr>
        <p:txBody>
          <a:bodyPr/>
          <a:lstStyle/>
          <a:p>
            <a:r>
              <a:rPr lang="en-US" altLang="zh-CN" dirty="0"/>
              <a:t>4</a:t>
            </a:r>
            <a:r>
              <a:rPr lang="en-US" altLang="zh-CN" dirty="0">
                <a:sym typeface="+mn-ea"/>
              </a:rPr>
              <a:t>.</a:t>
            </a:r>
            <a:r>
              <a:rPr lang="zh-CN" altLang="en-US" dirty="0"/>
              <a:t>递归函数编写的注意点</a:t>
            </a:r>
            <a:endParaRPr lang="en-US" altLang="zh-CN" dirty="0"/>
          </a:p>
          <a:p>
            <a:pPr lvl="1"/>
            <a:r>
              <a:rPr lang="zh-CN" altLang="en-US" dirty="0"/>
              <a:t>使用递归规则可以逐步简化为基本条件的问题适合使用递归函数进行编写。</a:t>
            </a:r>
          </a:p>
          <a:p>
            <a:pPr lvl="1"/>
            <a:r>
              <a:rPr lang="zh-CN" altLang="en-US" dirty="0"/>
              <a:t>递归函数必须有合适的基本条件来结束递归，禁止无限递归。</a:t>
            </a:r>
          </a:p>
          <a:p>
            <a:pPr lvl="1"/>
            <a:r>
              <a:rPr lang="zh-CN" altLang="en-US" dirty="0"/>
              <a:t>函数的递归调用会造成系统开销。递归层数过多容易造成程序运行效率低下和系统资源耗尽。在循环和递归都容易实现的问题中，应优先考虑使用循环。</a:t>
            </a:r>
          </a:p>
        </p:txBody>
      </p:sp>
    </p:spTree>
    <p:extLst>
      <p:ext uri="{BB962C8B-B14F-4D97-AF65-F5344CB8AC3E}">
        <p14:creationId xmlns:p14="http://schemas.microsoft.com/office/powerpoint/2010/main" val="2164506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36914" y="1389743"/>
            <a:ext cx="9144000" cy="2387600"/>
          </a:xfrm>
        </p:spPr>
        <p:txBody>
          <a:bodyPr>
            <a:normAutofit fontScale="90000"/>
          </a:bodyPr>
          <a:lstStyle/>
          <a:p>
            <a:pPr>
              <a:lnSpc>
                <a:spcPct val="200000"/>
              </a:lnSpc>
            </a:pPr>
            <a:r>
              <a:rPr lang="zh-CN" altLang="en-US" dirty="0">
                <a:latin typeface="微软雅黑" panose="020B0503020204020204" pitchFamily="34" charset="-122"/>
                <a:ea typeface="微软雅黑" panose="020B0503020204020204" pitchFamily="34" charset="-122"/>
              </a:rPr>
              <a:t>函数</a:t>
            </a:r>
            <a:br>
              <a:rPr lang="en-US" altLang="zh-CN" dirty="0">
                <a:latin typeface="微软雅黑" panose="020B0503020204020204" pitchFamily="34" charset="-122"/>
                <a:ea typeface="微软雅黑" panose="020B0503020204020204" pitchFamily="34" charset="-122"/>
              </a:rPr>
            </a:br>
            <a:r>
              <a:rPr lang="en-US" altLang="zh-CN" sz="4900" dirty="0">
                <a:latin typeface="微软雅黑" panose="020B0503020204020204" pitchFamily="34" charset="-122"/>
                <a:ea typeface="微软雅黑" panose="020B0503020204020204" pitchFamily="34" charset="-122"/>
              </a:rPr>
              <a:t>4.3 </a:t>
            </a:r>
            <a:r>
              <a:rPr lang="zh-CN" altLang="en-US" sz="4900" dirty="0">
                <a:latin typeface="微软雅黑" panose="020B0503020204020204" pitchFamily="34" charset="-122"/>
                <a:ea typeface="微软雅黑" panose="020B0503020204020204" pitchFamily="34" charset="-122"/>
              </a:rPr>
              <a:t>函数与变量</a:t>
            </a: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37749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2" name="图片 1">
            <a:extLst>
              <a:ext uri="{FF2B5EF4-FFF2-40B4-BE49-F238E27FC236}">
                <a16:creationId xmlns:a16="http://schemas.microsoft.com/office/drawing/2014/main" id="{1AA0376A-BB9F-E6FF-239B-3AC52B4471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0725" y="1238402"/>
            <a:ext cx="6537325" cy="4381196"/>
          </a:xfrm>
          <a:prstGeom prst="rect">
            <a:avLst/>
          </a:prstGeom>
        </p:spPr>
      </p:pic>
    </p:spTree>
    <p:extLst>
      <p:ext uri="{BB962C8B-B14F-4D97-AF65-F5344CB8AC3E}">
        <p14:creationId xmlns:p14="http://schemas.microsoft.com/office/powerpoint/2010/main" val="2576344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695" y="600710"/>
            <a:ext cx="5625465" cy="1209040"/>
          </a:xfrm>
          <a:prstGeom prst="rect">
            <a:avLst/>
          </a:prstGeom>
        </p:spPr>
      </p:pic>
      <p:sp>
        <p:nvSpPr>
          <p:cNvPr id="10" name="文本框 9"/>
          <p:cNvSpPr txBox="1"/>
          <p:nvPr/>
        </p:nvSpPr>
        <p:spPr>
          <a:xfrm>
            <a:off x="3020695" y="869631"/>
            <a:ext cx="6310630" cy="4641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函数与变量实例</a:t>
            </a:r>
          </a:p>
        </p:txBody>
      </p:sp>
      <p:pic>
        <p:nvPicPr>
          <p:cNvPr id="7" name="图片 6" descr="未标1题-1"/>
          <p:cNvPicPr>
            <a:picLocks noChangeAspect="1"/>
          </p:cNvPicPr>
          <p:nvPr/>
        </p:nvPicPr>
        <p:blipFill>
          <a:blip r:embed="rId4"/>
          <a:stretch>
            <a:fillRect/>
          </a:stretch>
        </p:blipFill>
        <p:spPr>
          <a:xfrm>
            <a:off x="601345" y="1618615"/>
            <a:ext cx="802640" cy="600075"/>
          </a:xfrm>
          <a:prstGeom prst="rect">
            <a:avLst/>
          </a:prstGeom>
        </p:spPr>
      </p:pic>
      <p:sp>
        <p:nvSpPr>
          <p:cNvPr id="8" name="内容占位符 2"/>
          <p:cNvSpPr txBox="1">
            <a:spLocks/>
          </p:cNvSpPr>
          <p:nvPr/>
        </p:nvSpPr>
        <p:spPr>
          <a:xfrm>
            <a:off x="1243584" y="1618615"/>
            <a:ext cx="10643616" cy="1734185"/>
          </a:xfrm>
          <a:prstGeom prst="rect">
            <a:avLst/>
          </a:prstGeo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2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2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函数与变量实例</a:t>
            </a:r>
            <a:r>
              <a:rPr kumimoji="0" lang="en-US" altLang="zh-CN" sz="2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2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思考：这么多</a:t>
            </a:r>
            <a:r>
              <a:rPr lang="en-US" altLang="zh-CN" sz="2200" dirty="0">
                <a:solidFill>
                  <a:srgbClr val="000000"/>
                </a:solidFill>
              </a:rPr>
              <a:t>x</a:t>
            </a:r>
            <a:r>
              <a:rPr lang="zh-CN" altLang="en-US" sz="2200" dirty="0">
                <a:solidFill>
                  <a:srgbClr val="000000"/>
                </a:solidFill>
              </a:rPr>
              <a:t>和</a:t>
            </a:r>
            <a:r>
              <a:rPr lang="en-US" altLang="zh-CN" sz="2200" dirty="0">
                <a:solidFill>
                  <a:srgbClr val="000000"/>
                </a:solidFill>
              </a:rPr>
              <a:t>y</a:t>
            </a:r>
            <a:r>
              <a:rPr lang="zh-CN" altLang="en-US" sz="2200" dirty="0">
                <a:solidFill>
                  <a:srgbClr val="000000"/>
                </a:solidFill>
              </a:rPr>
              <a:t>，是相同的变量吗？有没有区别？局部变量前面加了</a:t>
            </a:r>
            <a:r>
              <a:rPr lang="en-US" altLang="zh-CN" sz="2200" dirty="0">
                <a:solidFill>
                  <a:srgbClr val="000000"/>
                </a:solidFill>
              </a:rPr>
              <a:t>static</a:t>
            </a:r>
            <a:r>
              <a:rPr lang="zh-CN" altLang="en-US" sz="2200" dirty="0">
                <a:solidFill>
                  <a:srgbClr val="000000"/>
                </a:solidFill>
              </a:rPr>
              <a:t>，会有什么不一样？</a:t>
            </a:r>
            <a:endParaRPr kumimoji="0" lang="en-US" altLang="en-US" sz="22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12" name="文本框 11">
            <a:extLst>
              <a:ext uri="{FF2B5EF4-FFF2-40B4-BE49-F238E27FC236}">
                <a16:creationId xmlns:a16="http://schemas.microsoft.com/office/drawing/2014/main" id="{D2A206A4-D43F-4CFD-8DEA-BB07DD291669}"/>
              </a:ext>
            </a:extLst>
          </p:cNvPr>
          <p:cNvSpPr txBox="1"/>
          <p:nvPr/>
        </p:nvSpPr>
        <p:spPr>
          <a:xfrm>
            <a:off x="1676400" y="2494625"/>
            <a:ext cx="9272015" cy="4092606"/>
          </a:xfrm>
          <a:prstGeom prst="rect">
            <a:avLst/>
          </a:prstGeom>
          <a:noFill/>
        </p:spPr>
        <p:txBody>
          <a:bodyPr wrap="square" numCol="2">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#include &lt;</a:t>
            </a: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stdio.h</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int f(int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int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return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int g(int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pitchFamily="2" charset="-122"/>
                <a:cs typeface="Times New Roman" panose="02020603050405020304" pitchFamily="18" charset="0"/>
              </a:rPr>
              <a:t>static</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int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return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int main(void)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int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f(1);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f(2);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g(1);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 g(2);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printf</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("x=%d, y=%d\n", </a:t>
            </a: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srgbClr val="00B05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4408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p:txBody>
          <a:bodyPr>
            <a:normAutofit fontScale="92500" lnSpcReduction="20000"/>
          </a:bodyPr>
          <a:lstStyle/>
          <a:p>
            <a:pPr marL="228600" lvl="1">
              <a:lnSpc>
                <a:spcPct val="130000"/>
              </a:lnSpc>
              <a:spcAft>
                <a:spcPts val="1000"/>
              </a:spcAft>
            </a:pPr>
            <a:r>
              <a:rPr lang="zh-CN" altLang="en-US" b="0" dirty="0">
                <a:solidFill>
                  <a:schemeClr val="tx1"/>
                </a:solidFill>
                <a:latin typeface="Arial" panose="020B0604020202020204" pitchFamily="34" charset="0"/>
                <a:ea typeface="微软雅黑" panose="020B0503020204020204" charset="-122"/>
              </a:rPr>
              <a:t>变量作用域的定义</a:t>
            </a:r>
            <a:endParaRPr lang="en-US" altLang="zh-CN" dirty="0">
              <a:sym typeface="+mn-ea"/>
            </a:endParaRPr>
          </a:p>
          <a:p>
            <a:pPr lvl="1"/>
            <a:r>
              <a:rPr lang="zh-CN" altLang="en-US" dirty="0">
                <a:sym typeface="+mn-ea"/>
              </a:rPr>
              <a:t>变量的作用域指的是在程序中访问该变量的有效范围。</a:t>
            </a:r>
            <a:endParaRPr lang="en-US" altLang="zh-CN" dirty="0">
              <a:sym typeface="+mn-ea"/>
            </a:endParaRPr>
          </a:p>
          <a:p>
            <a:pPr lvl="1"/>
            <a:r>
              <a:rPr lang="zh-CN" altLang="en-US" dirty="0"/>
              <a:t>变量作用于分为局部作用</a:t>
            </a:r>
            <a:r>
              <a:rPr lang="zh-CN" altLang="en-US" dirty="0">
                <a:sym typeface="+mn-ea"/>
              </a:rPr>
              <a:t>域和全局作用域，对应的变量称为</a:t>
            </a:r>
            <a:r>
              <a:rPr lang="zh-CN" altLang="en-US" dirty="0">
                <a:solidFill>
                  <a:srgbClr val="FF0000"/>
                </a:solidFill>
              </a:rPr>
              <a:t>局部变量</a:t>
            </a:r>
            <a:r>
              <a:rPr lang="zh-CN" altLang="en-US" dirty="0"/>
              <a:t>和</a:t>
            </a:r>
            <a:r>
              <a:rPr lang="zh-CN" altLang="en-US" dirty="0">
                <a:solidFill>
                  <a:srgbClr val="FF0000"/>
                </a:solidFill>
              </a:rPr>
              <a:t>全局变量</a:t>
            </a:r>
            <a:r>
              <a:rPr lang="zh-CN" altLang="en-US" dirty="0"/>
              <a:t>。</a:t>
            </a:r>
            <a:endParaRPr lang="zh-CN" altLang="en-US" dirty="0">
              <a:sym typeface="+mn-ea"/>
            </a:endParaRPr>
          </a:p>
          <a:p>
            <a:r>
              <a:rPr lang="en-US" altLang="zh-CN" dirty="0">
                <a:sym typeface="+mn-ea"/>
              </a:rPr>
              <a:t>1.</a:t>
            </a:r>
            <a:r>
              <a:rPr lang="zh-CN" altLang="en-US" dirty="0"/>
              <a:t>局部变量</a:t>
            </a:r>
          </a:p>
          <a:p>
            <a:pPr lvl="1"/>
            <a:r>
              <a:rPr lang="zh-CN" altLang="en-US" dirty="0"/>
              <a:t>在函数或代码块内定义。</a:t>
            </a:r>
            <a:endParaRPr lang="en-US" altLang="zh-CN" dirty="0"/>
          </a:p>
          <a:p>
            <a:pPr lvl="1"/>
            <a:r>
              <a:rPr lang="zh-CN" altLang="en-US" dirty="0"/>
              <a:t>形参属于局部变量。</a:t>
            </a:r>
            <a:endParaRPr lang="en-US" altLang="zh-CN" dirty="0"/>
          </a:p>
          <a:p>
            <a:pPr lvl="1"/>
            <a:r>
              <a:rPr lang="zh-CN" altLang="en-US" dirty="0"/>
              <a:t>只在其声明所在的函数或代码块内部可见。</a:t>
            </a:r>
          </a:p>
          <a:p>
            <a:pPr lvl="1"/>
            <a:r>
              <a:rPr lang="zh-CN" altLang="en-US" dirty="0"/>
              <a:t>在函数或代码块执行时分配内存，在退出函数或代码块时释放内存。</a:t>
            </a:r>
          </a:p>
          <a:p>
            <a:pPr lvl="1"/>
            <a:r>
              <a:rPr lang="zh-CN" altLang="en-US" dirty="0"/>
              <a:t>不同函数或代码块中同名局部变量互不干扰，每个局部变量都有自己的独立存储空间。</a:t>
            </a:r>
          </a:p>
        </p:txBody>
      </p:sp>
    </p:spTree>
    <p:custDataLst>
      <p:tags r:id="rId1"/>
    </p:custDataLst>
    <p:extLst>
      <p:ext uri="{BB962C8B-B14F-4D97-AF65-F5344CB8AC3E}">
        <p14:creationId xmlns:p14="http://schemas.microsoft.com/office/powerpoint/2010/main" val="3544594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p:txBody>
          <a:bodyPr>
            <a:normAutofit/>
          </a:bodyPr>
          <a:lstStyle/>
          <a:p>
            <a:r>
              <a:rPr lang="en-US" altLang="zh-CN" dirty="0">
                <a:sym typeface="+mn-ea"/>
              </a:rPr>
              <a:t>1.</a:t>
            </a:r>
            <a:r>
              <a:rPr lang="zh-CN" altLang="en-US" dirty="0"/>
              <a:t>局部变量</a:t>
            </a:r>
          </a:p>
        </p:txBody>
      </p:sp>
      <p:grpSp>
        <p:nvGrpSpPr>
          <p:cNvPr id="5" name="Group 4">
            <a:extLst>
              <a:ext uri="{FF2B5EF4-FFF2-40B4-BE49-F238E27FC236}">
                <a16:creationId xmlns:a16="http://schemas.microsoft.com/office/drawing/2014/main" id="{74685394-8B74-46D5-9410-E8CAB38CF400}"/>
              </a:ext>
            </a:extLst>
          </p:cNvPr>
          <p:cNvGrpSpPr>
            <a:grpSpLocks/>
          </p:cNvGrpSpPr>
          <p:nvPr/>
        </p:nvGrpSpPr>
        <p:grpSpPr bwMode="auto">
          <a:xfrm>
            <a:off x="4678448" y="516890"/>
            <a:ext cx="5216452" cy="6010101"/>
            <a:chOff x="56" y="492"/>
            <a:chExt cx="2484" cy="3120"/>
          </a:xfrm>
        </p:grpSpPr>
        <p:sp>
          <p:nvSpPr>
            <p:cNvPr id="6" name="Rectangle 5">
              <a:extLst>
                <a:ext uri="{FF2B5EF4-FFF2-40B4-BE49-F238E27FC236}">
                  <a16:creationId xmlns:a16="http://schemas.microsoft.com/office/drawing/2014/main" id="{93F43C99-1F7C-4FDD-A83D-A8AE75A9F8D8}"/>
                </a:ext>
              </a:extLst>
            </p:cNvPr>
            <p:cNvSpPr>
              <a:spLocks noChangeArrowheads="1"/>
            </p:cNvSpPr>
            <p:nvPr/>
          </p:nvSpPr>
          <p:spPr bwMode="auto">
            <a:xfrm>
              <a:off x="56" y="492"/>
              <a:ext cx="2484" cy="3120"/>
            </a:xfrm>
            <a:prstGeom prst="rect">
              <a:avLst/>
            </a:prstGeom>
            <a:solidFill>
              <a:srgbClr val="FFFFFF"/>
            </a:solidFill>
            <a:ln w="12700">
              <a:solidFill>
                <a:srgbClr val="0066FF"/>
              </a:solidFill>
              <a:miter lim="800000"/>
              <a:headEnd/>
              <a:tailEnd/>
            </a:ln>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Text Box 6">
              <a:extLst>
                <a:ext uri="{FF2B5EF4-FFF2-40B4-BE49-F238E27FC236}">
                  <a16:creationId xmlns:a16="http://schemas.microsoft.com/office/drawing/2014/main" id="{AB7439AC-FB86-4B94-865C-69D3A2599A8C}"/>
                </a:ext>
              </a:extLst>
            </p:cNvPr>
            <p:cNvSpPr txBox="1">
              <a:spLocks noChangeArrowheads="1"/>
            </p:cNvSpPr>
            <p:nvPr/>
          </p:nvSpPr>
          <p:spPr bwMode="auto">
            <a:xfrm>
              <a:off x="154" y="669"/>
              <a:ext cx="1272" cy="281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float  f1(</a:t>
              </a:r>
              <a:r>
                <a:rPr kumimoji="1"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int a</a:t>
              </a: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en-US" altLang="zh-CN" sz="2400" dirty="0">
                  <a:solidFill>
                    <a:srgbClr val="0000FF"/>
                  </a:solidFill>
                  <a:latin typeface="Times New Roman" panose="02020603050405020304" pitchFamily="18" charset="0"/>
                  <a:ea typeface="宋体" panose="02010600030101010101" pitchFamily="2" charset="-122"/>
                </a:rPr>
                <a:t>int b, c;</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char f2(</a:t>
              </a:r>
              <a:r>
                <a:rPr kumimoji="1" lang="en-US" altLang="zh-CN" sz="240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rPr>
                <a:t>int x, int y</a:t>
              </a: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dirty="0">
                  <a:solidFill>
                    <a:srgbClr val="FF9900"/>
                  </a:solidFill>
                  <a:latin typeface="Times New Roman" panose="02020603050405020304" pitchFamily="18" charset="0"/>
                  <a:ea typeface="宋体" panose="02010600030101010101" pitchFamily="2" charset="-122"/>
                </a:rPr>
                <a:t>int </a:t>
              </a:r>
              <a:r>
                <a:rPr kumimoji="1" lang="en-US" altLang="zh-CN" sz="2400" dirty="0" err="1">
                  <a:solidFill>
                    <a:srgbClr val="FF9900"/>
                  </a:solidFill>
                  <a:latin typeface="Times New Roman" panose="02020603050405020304" pitchFamily="18" charset="0"/>
                  <a:ea typeface="宋体" panose="02010600030101010101" pitchFamily="2" charset="-122"/>
                </a:rPr>
                <a:t>i</a:t>
              </a:r>
              <a:r>
                <a:rPr kumimoji="1" lang="en-US" altLang="zh-CN" sz="2400" dirty="0">
                  <a:solidFill>
                    <a:srgbClr val="FF9900"/>
                  </a:solidFill>
                  <a:latin typeface="Times New Roman" panose="02020603050405020304" pitchFamily="18" charset="0"/>
                  <a:ea typeface="宋体" panose="02010600030101010101" pitchFamily="2" charset="-122"/>
                </a:rPr>
                <a:t>, j;</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int main(void)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dirty="0">
                  <a:solidFill>
                    <a:srgbClr val="000000"/>
                  </a:solidFill>
                  <a:latin typeface="Times New Roman" panose="02020603050405020304" pitchFamily="18" charset="0"/>
                  <a:ea typeface="宋体" panose="02010600030101010101" pitchFamily="2" charset="-122"/>
                </a:rPr>
                <a:t>    </a:t>
              </a:r>
              <a:r>
                <a:rPr kumimoji="1" lang="en-US" altLang="zh-CN" sz="240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rPr>
                <a:t>int m, n;</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8" name="AutoShape 7">
              <a:extLst>
                <a:ext uri="{FF2B5EF4-FFF2-40B4-BE49-F238E27FC236}">
                  <a16:creationId xmlns:a16="http://schemas.microsoft.com/office/drawing/2014/main" id="{9EE89250-53B2-43E3-8919-2F7F0419F14A}"/>
                </a:ext>
              </a:extLst>
            </p:cNvPr>
            <p:cNvSpPr>
              <a:spLocks/>
            </p:cNvSpPr>
            <p:nvPr/>
          </p:nvSpPr>
          <p:spPr bwMode="auto">
            <a:xfrm>
              <a:off x="1551" y="779"/>
              <a:ext cx="47" cy="609"/>
            </a:xfrm>
            <a:prstGeom prst="rightBrace">
              <a:avLst>
                <a:gd name="adj1" fmla="val 121986"/>
                <a:gd name="adj2" fmla="val 50000"/>
              </a:avLst>
            </a:prstGeom>
            <a:noFill/>
            <a:ln w="952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Text Box 8">
              <a:extLst>
                <a:ext uri="{FF2B5EF4-FFF2-40B4-BE49-F238E27FC236}">
                  <a16:creationId xmlns:a16="http://schemas.microsoft.com/office/drawing/2014/main" id="{DB75C1B4-7CF6-41E4-A65A-C0E49FD6DA0D}"/>
                </a:ext>
              </a:extLst>
            </p:cNvPr>
            <p:cNvSpPr txBox="1">
              <a:spLocks noChangeArrowheads="1"/>
            </p:cNvSpPr>
            <p:nvPr/>
          </p:nvSpPr>
          <p:spPr bwMode="auto">
            <a:xfrm>
              <a:off x="1627" y="973"/>
              <a:ext cx="742"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a, b, c</a:t>
              </a:r>
              <a:r>
                <a:rPr kumimoji="1" lang="zh-CN"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有效</a:t>
              </a:r>
              <a:endPar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0" name="AutoShape 9">
              <a:extLst>
                <a:ext uri="{FF2B5EF4-FFF2-40B4-BE49-F238E27FC236}">
                  <a16:creationId xmlns:a16="http://schemas.microsoft.com/office/drawing/2014/main" id="{121C59DB-DA29-4E9D-A2B0-EA000A6968A1}"/>
                </a:ext>
              </a:extLst>
            </p:cNvPr>
            <p:cNvSpPr>
              <a:spLocks/>
            </p:cNvSpPr>
            <p:nvPr/>
          </p:nvSpPr>
          <p:spPr bwMode="auto">
            <a:xfrm>
              <a:off x="1563" y="1765"/>
              <a:ext cx="47" cy="609"/>
            </a:xfrm>
            <a:prstGeom prst="rightBrace">
              <a:avLst>
                <a:gd name="adj1" fmla="val 116135"/>
                <a:gd name="adj2" fmla="val 50000"/>
              </a:avLst>
            </a:prstGeom>
            <a:noFill/>
            <a:ln w="952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Text Box 10">
              <a:extLst>
                <a:ext uri="{FF2B5EF4-FFF2-40B4-BE49-F238E27FC236}">
                  <a16:creationId xmlns:a16="http://schemas.microsoft.com/office/drawing/2014/main" id="{1C021938-9AF8-4984-AD9E-5CE8164AD7E2}"/>
                </a:ext>
              </a:extLst>
            </p:cNvPr>
            <p:cNvSpPr txBox="1">
              <a:spLocks noChangeArrowheads="1"/>
            </p:cNvSpPr>
            <p:nvPr/>
          </p:nvSpPr>
          <p:spPr bwMode="auto">
            <a:xfrm>
              <a:off x="1667" y="1878"/>
              <a:ext cx="842"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rPr>
                <a:t>x, y, </a:t>
              </a:r>
              <a:r>
                <a:rPr kumimoji="1" lang="en-US" altLang="zh-CN" sz="2400" b="0" i="0" u="none" strike="noStrike" kern="1200" cap="none" spc="0" normalizeH="0" baseline="0" noProof="0" dirty="0" err="1">
                  <a:ln>
                    <a:noFill/>
                  </a:ln>
                  <a:solidFill>
                    <a:srgbClr val="FF9900"/>
                  </a:solidFill>
                  <a:effectLst/>
                  <a:uLnTx/>
                  <a:uFillTx/>
                  <a:latin typeface="Times New Roman" panose="02020603050405020304" pitchFamily="18" charset="0"/>
                  <a:ea typeface="宋体" panose="02010600030101010101" pitchFamily="2" charset="-122"/>
                  <a:cs typeface="+mn-cs"/>
                </a:rPr>
                <a:t>i</a:t>
              </a:r>
              <a:r>
                <a:rPr kumimoji="1" lang="en-US"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rPr>
                <a:t>, j</a:t>
              </a:r>
              <a:r>
                <a:rPr kumimoji="1" lang="zh-CN"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rPr>
                <a:t>有效</a:t>
              </a:r>
              <a:endParaRPr kumimoji="1" lang="zh-CN" altLang="en-US"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2" name="AutoShape 11">
              <a:extLst>
                <a:ext uri="{FF2B5EF4-FFF2-40B4-BE49-F238E27FC236}">
                  <a16:creationId xmlns:a16="http://schemas.microsoft.com/office/drawing/2014/main" id="{D3CFDA72-0EF8-49CD-8886-AE43442C5387}"/>
                </a:ext>
              </a:extLst>
            </p:cNvPr>
            <p:cNvSpPr>
              <a:spLocks/>
            </p:cNvSpPr>
            <p:nvPr/>
          </p:nvSpPr>
          <p:spPr bwMode="auto">
            <a:xfrm>
              <a:off x="1531" y="2759"/>
              <a:ext cx="76" cy="655"/>
            </a:xfrm>
            <a:prstGeom prst="rightBrace">
              <a:avLst>
                <a:gd name="adj1" fmla="val 147695"/>
                <a:gd name="adj2" fmla="val 50000"/>
              </a:avLst>
            </a:prstGeom>
            <a:noFill/>
            <a:ln w="952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Text Box 12">
              <a:extLst>
                <a:ext uri="{FF2B5EF4-FFF2-40B4-BE49-F238E27FC236}">
                  <a16:creationId xmlns:a16="http://schemas.microsoft.com/office/drawing/2014/main" id="{539ED568-2315-4670-A650-0295B59E18B8}"/>
                </a:ext>
              </a:extLst>
            </p:cNvPr>
            <p:cNvSpPr txBox="1">
              <a:spLocks noChangeArrowheads="1"/>
            </p:cNvSpPr>
            <p:nvPr/>
          </p:nvSpPr>
          <p:spPr bwMode="auto">
            <a:xfrm>
              <a:off x="1631" y="2942"/>
              <a:ext cx="738" cy="2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rPr>
                <a:t>m, n</a:t>
              </a:r>
              <a:r>
                <a:rPr kumimoji="1" lang="zh-CN" altLang="zh-CN" sz="2400" b="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rPr>
                <a:t>有效</a:t>
              </a:r>
              <a:endParaRPr kumimoji="1" lang="zh-CN" altLang="en-US" sz="2400" b="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endParaRPr>
            </a:p>
          </p:txBody>
        </p:sp>
      </p:grpSp>
    </p:spTree>
    <p:custDataLst>
      <p:tags r:id="rId1"/>
    </p:custDataLst>
    <p:extLst>
      <p:ext uri="{BB962C8B-B14F-4D97-AF65-F5344CB8AC3E}">
        <p14:creationId xmlns:p14="http://schemas.microsoft.com/office/powerpoint/2010/main" val="38636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a:xfrm>
            <a:off x="669925" y="1045845"/>
            <a:ext cx="10852150" cy="5203190"/>
          </a:xfrm>
        </p:spPr>
        <p:txBody>
          <a:bodyPr>
            <a:normAutofit/>
          </a:bodyPr>
          <a:lstStyle/>
          <a:p>
            <a:r>
              <a:rPr lang="en-US" altLang="zh-CN" dirty="0">
                <a:sym typeface="+mn-ea"/>
              </a:rPr>
              <a:t>1.</a:t>
            </a:r>
            <a:r>
              <a:rPr lang="zh-CN" altLang="en-US" dirty="0"/>
              <a:t>局部变量</a:t>
            </a:r>
          </a:p>
        </p:txBody>
      </p:sp>
      <p:sp>
        <p:nvSpPr>
          <p:cNvPr id="14" name="Text Box 6">
            <a:extLst>
              <a:ext uri="{FF2B5EF4-FFF2-40B4-BE49-F238E27FC236}">
                <a16:creationId xmlns:a16="http://schemas.microsoft.com/office/drawing/2014/main" id="{B26B983A-F1A6-4899-B46B-C1571FBBAF27}"/>
              </a:ext>
            </a:extLst>
          </p:cNvPr>
          <p:cNvSpPr txBox="1">
            <a:spLocks noChangeArrowheads="1"/>
          </p:cNvSpPr>
          <p:nvPr/>
        </p:nvSpPr>
        <p:spPr bwMode="auto">
          <a:xfrm>
            <a:off x="370730" y="1740656"/>
            <a:ext cx="11450540" cy="4968054"/>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2">
            <a:no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#include &lt;</a:t>
            </a:r>
            <a:r>
              <a:rPr lang="en-US" altLang="zh-CN" sz="2400" kern="0" dirty="0" err="1">
                <a:solidFill>
                  <a:srgbClr val="000000"/>
                </a:solidFill>
                <a:cs typeface="Times New Roman" pitchFamily="18" charset="0"/>
              </a:rPr>
              <a:t>stdio.h</a:t>
            </a:r>
            <a:r>
              <a:rPr lang="en-US" altLang="zh-CN" sz="2400" kern="0" dirty="0">
                <a:solidFill>
                  <a:srgbClr val="000000"/>
                </a:solidFill>
                <a:cs typeface="Times New Roman" pitchFamily="18" charset="0"/>
              </a:rPr>
              <a:t>&gt;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void sub(void);</a:t>
            </a:r>
          </a:p>
          <a:p>
            <a:pPr lvl="0" eaLnBrk="1" fontAlgn="base" hangingPunct="1">
              <a:spcBef>
                <a:spcPct val="0"/>
              </a:spcBef>
              <a:spcAft>
                <a:spcPct val="0"/>
              </a:spcAft>
              <a:buClrTx/>
              <a:buSzTx/>
              <a:buNone/>
              <a:defRPr/>
            </a:pPr>
            <a:endParaRPr lang="en-US" altLang="zh-CN" sz="2400" kern="0" dirty="0">
              <a:solidFill>
                <a:srgbClr val="000000"/>
              </a:solidFill>
              <a:cs typeface="Times New Roman" pitchFamily="18" charset="0"/>
            </a:endParaRP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       int a, 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 = 3;</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b = 4;</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main:a</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d,b</a:t>
            </a:r>
            <a:r>
              <a:rPr lang="en-US" altLang="zh-CN" sz="2400" kern="0" dirty="0">
                <a:solidFill>
                  <a:srgbClr val="000000"/>
                </a:solidFill>
                <a:cs typeface="Times New Roman" pitchFamily="18" charset="0"/>
              </a:rPr>
              <a:t>=%d\n", a, 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sub();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main:a</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d,b</a:t>
            </a:r>
            <a:r>
              <a:rPr lang="en-US" altLang="zh-CN" sz="2400" kern="0" dirty="0">
                <a:solidFill>
                  <a:srgbClr val="000000"/>
                </a:solidFill>
                <a:cs typeface="Times New Roman" pitchFamily="18" charset="0"/>
              </a:rPr>
              <a:t>=%d\n", a, 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endParaRPr lang="en-US" altLang="zh-CN" sz="2400" kern="0" dirty="0">
              <a:solidFill>
                <a:srgbClr val="000000"/>
              </a:solidFill>
              <a:cs typeface="Times New Roman" pitchFamily="18" charset="0"/>
            </a:endParaRP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void sub(void) {</a:t>
            </a:r>
          </a:p>
          <a:p>
            <a:pPr lvl="0" eaLnBrk="1" fontAlgn="base" hangingPunct="1">
              <a:spcBef>
                <a:spcPct val="0"/>
              </a:spcBef>
              <a:spcAft>
                <a:spcPct val="0"/>
              </a:spcAft>
              <a:buClrTx/>
              <a:buSzTx/>
              <a:buNone/>
              <a:defRPr/>
            </a:pPr>
            <a:r>
              <a:rPr lang="en-US" altLang="zh-CN" sz="2400" kern="0" dirty="0">
                <a:solidFill>
                  <a:srgbClr val="00B0F0"/>
                </a:solidFill>
                <a:cs typeface="Times New Roman" pitchFamily="18" charset="0"/>
              </a:rPr>
              <a:t>       int a, 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 = 6;</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b = 7;</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sub:a</a:t>
            </a:r>
            <a:r>
              <a:rPr lang="en-US" altLang="zh-CN" sz="2400" kern="0" dirty="0">
                <a:solidFill>
                  <a:srgbClr val="000000"/>
                </a:solidFill>
                <a:cs typeface="Times New Roman" pitchFamily="18" charset="0"/>
              </a:rPr>
              <a:t>=%</a:t>
            </a:r>
            <a:r>
              <a:rPr lang="en-US" altLang="zh-CN" sz="2400" kern="0" dirty="0" err="1">
                <a:solidFill>
                  <a:srgbClr val="000000"/>
                </a:solidFill>
                <a:cs typeface="Times New Roman" pitchFamily="18" charset="0"/>
              </a:rPr>
              <a:t>d,b</a:t>
            </a:r>
            <a:r>
              <a:rPr lang="en-US" altLang="zh-CN" sz="2400" kern="0" dirty="0">
                <a:solidFill>
                  <a:srgbClr val="000000"/>
                </a:solidFill>
                <a:cs typeface="Times New Roman" pitchFamily="18" charset="0"/>
              </a:rPr>
              <a:t>=%d\n", a, b);</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p:txBody>
      </p:sp>
      <p:sp>
        <p:nvSpPr>
          <p:cNvPr id="18" name="文本框 17">
            <a:extLst>
              <a:ext uri="{FF2B5EF4-FFF2-40B4-BE49-F238E27FC236}">
                <a16:creationId xmlns:a16="http://schemas.microsoft.com/office/drawing/2014/main" id="{6B35ED8C-0E5C-468E-AC3A-F2A82ABBD0FE}"/>
              </a:ext>
            </a:extLst>
          </p:cNvPr>
          <p:cNvSpPr txBox="1"/>
          <p:nvPr/>
        </p:nvSpPr>
        <p:spPr>
          <a:xfrm>
            <a:off x="7959257" y="78921"/>
            <a:ext cx="2139042" cy="1569660"/>
          </a:xfrm>
          <a:prstGeom prst="rect">
            <a:avLst/>
          </a:prstGeom>
          <a:noFill/>
          <a:ln>
            <a:solidFill>
              <a:srgbClr val="0066FF"/>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Arial"/>
                <a:ea typeface="微软雅黑"/>
                <a:cs typeface="+mn-cs"/>
              </a:rPr>
              <a:t>运行结果：</a:t>
            </a:r>
            <a:endParaRPr kumimoji="0" lang="en-US" altLang="zh-CN" sz="24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Arial"/>
                <a:ea typeface="微软雅黑"/>
                <a:cs typeface="+mn-cs"/>
              </a:rPr>
              <a:t>main:a=3,b=4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Arial"/>
                <a:ea typeface="微软雅黑"/>
                <a:cs typeface="+mn-cs"/>
              </a:rPr>
              <a:t>sub:a=6,b=7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Arial"/>
                <a:ea typeface="微软雅黑"/>
                <a:cs typeface="+mn-cs"/>
              </a:rPr>
              <a:t>main:a=3,b=4</a:t>
            </a:r>
          </a:p>
        </p:txBody>
      </p:sp>
      <p:graphicFrame>
        <p:nvGraphicFramePr>
          <p:cNvPr id="4" name="表格 3">
            <a:extLst>
              <a:ext uri="{FF2B5EF4-FFF2-40B4-BE49-F238E27FC236}">
                <a16:creationId xmlns:a16="http://schemas.microsoft.com/office/drawing/2014/main" id="{62272DA1-28C4-4B23-A5EC-98A2B3043293}"/>
              </a:ext>
            </a:extLst>
          </p:cNvPr>
          <p:cNvGraphicFramePr>
            <a:graphicFrameLocks noGrp="1"/>
          </p:cNvGraphicFramePr>
          <p:nvPr>
            <p:extLst>
              <p:ext uri="{D42A27DB-BD31-4B8C-83A1-F6EECF244321}">
                <p14:modId xmlns:p14="http://schemas.microsoft.com/office/powerpoint/2010/main" val="3554186975"/>
              </p:ext>
            </p:extLst>
          </p:nvPr>
        </p:nvGraphicFramePr>
        <p:xfrm>
          <a:off x="8442580" y="3647440"/>
          <a:ext cx="1430867" cy="2926080"/>
        </p:xfrm>
        <a:graphic>
          <a:graphicData uri="http://schemas.openxmlformats.org/drawingml/2006/table">
            <a:tbl>
              <a:tblPr bandRow="1">
                <a:tableStyleId>{5C22544A-7EE6-4342-B048-85BDC9FD1C3A}</a:tableStyleId>
              </a:tblPr>
              <a:tblGrid>
                <a:gridCol w="1430867">
                  <a:extLst>
                    <a:ext uri="{9D8B030D-6E8A-4147-A177-3AD203B41FA5}">
                      <a16:colId xmlns:a16="http://schemas.microsoft.com/office/drawing/2014/main" val="2879211857"/>
                    </a:ext>
                  </a:extLst>
                </a:gridCol>
              </a:tblGrid>
              <a:tr h="3251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solidFill>
                            <a:schemeClr val="tx1"/>
                          </a:solidFill>
                          <a:latin typeface="Times New Roman" panose="02020603050405020304" pitchFamily="18" charset="0"/>
                          <a:cs typeface="Times New Roman" panose="02020603050405020304" pitchFamily="18" charset="0"/>
                        </a:rPr>
                        <a:t>内存空间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4269428"/>
                  </a:ext>
                </a:extLst>
              </a:tr>
              <a:tr h="3251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5741293"/>
                  </a:ext>
                </a:extLst>
              </a:tr>
              <a:tr h="325199">
                <a:tc>
                  <a:txBody>
                    <a:bodyPr/>
                    <a:lstStyle/>
                    <a:p>
                      <a:pPr algn="ctr"/>
                      <a:endParaRPr lang="zh-CN" altLang="en-US" sz="18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483964"/>
                  </a:ext>
                </a:extLst>
              </a:tr>
              <a:tr h="325199">
                <a:tc>
                  <a:txBody>
                    <a:bodyPr/>
                    <a:lstStyle/>
                    <a:p>
                      <a:pPr algn="ctr"/>
                      <a:endParaRPr lang="zh-CN" altLang="en-US" sz="18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1260572"/>
                  </a:ext>
                </a:extLst>
              </a:tr>
              <a:tr h="325199">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9400806"/>
                  </a:ext>
                </a:extLst>
              </a:tr>
              <a:tr h="325199">
                <a:tc>
                  <a:txBody>
                    <a:bodyPr/>
                    <a:lstStyle/>
                    <a:p>
                      <a:pPr algn="ctr"/>
                      <a:endParaRPr lang="zh-CN" altLang="en-US" sz="1800"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560298"/>
                  </a:ext>
                </a:extLst>
              </a:tr>
              <a:tr h="3251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800"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4532595"/>
                  </a:ext>
                </a:extLst>
              </a:tr>
              <a:tr h="325199">
                <a:tc>
                  <a:txBody>
                    <a:bodyPr/>
                    <a:lstStyle/>
                    <a:p>
                      <a:pPr algn="ctr"/>
                      <a:r>
                        <a:rPr lang="en-US" altLang="zh-CN"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331773"/>
                  </a:ext>
                </a:extLst>
              </a:tr>
            </a:tbl>
          </a:graphicData>
        </a:graphic>
      </p:graphicFrame>
      <p:sp>
        <p:nvSpPr>
          <p:cNvPr id="5" name="文本框 4">
            <a:extLst>
              <a:ext uri="{FF2B5EF4-FFF2-40B4-BE49-F238E27FC236}">
                <a16:creationId xmlns:a16="http://schemas.microsoft.com/office/drawing/2014/main" id="{68272C9F-9DE6-48BE-9F54-13FD04D8DB4D}"/>
              </a:ext>
            </a:extLst>
          </p:cNvPr>
          <p:cNvSpPr txBox="1"/>
          <p:nvPr/>
        </p:nvSpPr>
        <p:spPr>
          <a:xfrm>
            <a:off x="8537784" y="4376691"/>
            <a:ext cx="1287262" cy="369332"/>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cs typeface="Times New Roman" panose="02020603050405020304" pitchFamily="18" charset="0"/>
              </a:rPr>
              <a:t>main: a = 3</a:t>
            </a:r>
            <a:endParaRPr lang="zh-CN" altLang="en-US" dirty="0"/>
          </a:p>
        </p:txBody>
      </p:sp>
      <p:sp>
        <p:nvSpPr>
          <p:cNvPr id="8" name="文本框 7">
            <a:extLst>
              <a:ext uri="{FF2B5EF4-FFF2-40B4-BE49-F238E27FC236}">
                <a16:creationId xmlns:a16="http://schemas.microsoft.com/office/drawing/2014/main" id="{E0506E72-62B9-4FFB-808D-99BAA0CACC4A}"/>
              </a:ext>
            </a:extLst>
          </p:cNvPr>
          <p:cNvSpPr txBox="1"/>
          <p:nvPr/>
        </p:nvSpPr>
        <p:spPr>
          <a:xfrm>
            <a:off x="8514382" y="4741148"/>
            <a:ext cx="1287262" cy="369332"/>
          </a:xfrm>
          <a:prstGeom prst="rect">
            <a:avLst/>
          </a:prstGeom>
          <a:noFill/>
        </p:spPr>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main: b = 4</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31BEC52B-8965-4F78-8E75-B4E616638FF1}"/>
              </a:ext>
            </a:extLst>
          </p:cNvPr>
          <p:cNvSpPr/>
          <p:nvPr/>
        </p:nvSpPr>
        <p:spPr>
          <a:xfrm>
            <a:off x="8630588" y="5469457"/>
            <a:ext cx="1090362" cy="369332"/>
          </a:xfrm>
          <a:prstGeom prst="rect">
            <a:avLst/>
          </a:prstGeom>
        </p:spPr>
        <p:txBody>
          <a:bodyPr wrap="none">
            <a:spAutoFit/>
          </a:bodyPr>
          <a:lstStyle/>
          <a:p>
            <a:pPr algn="ctr"/>
            <a:r>
              <a:rPr lang="en-US" altLang="zh-CN" dirty="0">
                <a:solidFill>
                  <a:srgbClr val="00B0F0"/>
                </a:solidFill>
                <a:latin typeface="Times New Roman" panose="02020603050405020304" pitchFamily="18" charset="0"/>
                <a:cs typeface="Times New Roman" panose="02020603050405020304" pitchFamily="18" charset="0"/>
              </a:rPr>
              <a:t>sub: a = 6</a:t>
            </a:r>
            <a:endParaRPr lang="zh-CN" altLang="en-US" dirty="0">
              <a:solidFill>
                <a:srgbClr val="00B0F0"/>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F9E80BC6-F088-4080-ADCD-9E03AE670791}"/>
              </a:ext>
            </a:extLst>
          </p:cNvPr>
          <p:cNvSpPr/>
          <p:nvPr/>
        </p:nvSpPr>
        <p:spPr>
          <a:xfrm>
            <a:off x="8630588" y="5834856"/>
            <a:ext cx="1103186" cy="369332"/>
          </a:xfrm>
          <a:prstGeom prst="rect">
            <a:avLst/>
          </a:prstGeom>
        </p:spPr>
        <p:txBody>
          <a:bodyPr wrap="none">
            <a:spAutoFit/>
          </a:bodyPr>
          <a:lstStyle/>
          <a:p>
            <a:pPr lvl="0" algn="ctr">
              <a:defRPr/>
            </a:pPr>
            <a:r>
              <a:rPr lang="en-US" altLang="zh-CN" dirty="0">
                <a:solidFill>
                  <a:srgbClr val="00B0F0"/>
                </a:solidFill>
                <a:latin typeface="Times New Roman" panose="02020603050405020304" pitchFamily="18" charset="0"/>
                <a:cs typeface="Times New Roman" panose="02020603050405020304" pitchFamily="18" charset="0"/>
              </a:rPr>
              <a:t>sub: b = 7</a:t>
            </a:r>
            <a:endParaRPr lang="zh-CN" altLang="en-US" dirty="0">
              <a:solidFill>
                <a:srgbClr val="00B0F0"/>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309FB56B-1675-4A3C-86CD-ED5B791CE1A8}"/>
              </a:ext>
            </a:extLst>
          </p:cNvPr>
          <p:cNvSpPr/>
          <p:nvPr/>
        </p:nvSpPr>
        <p:spPr>
          <a:xfrm>
            <a:off x="8537784" y="4373293"/>
            <a:ext cx="928459" cy="369332"/>
          </a:xfrm>
          <a:prstGeom prst="rect">
            <a:avLst/>
          </a:prstGeom>
        </p:spPr>
        <p:txBody>
          <a:bodyPr wrap="none">
            <a:spAutoFit/>
          </a:bodyPr>
          <a:lstStyle/>
          <a:p>
            <a:r>
              <a:rPr lang="en-US" altLang="zh-CN" dirty="0">
                <a:solidFill>
                  <a:srgbClr val="FF0000"/>
                </a:solidFill>
                <a:latin typeface="Times New Roman" panose="02020603050405020304" pitchFamily="18" charset="0"/>
                <a:cs typeface="Times New Roman" panose="02020603050405020304" pitchFamily="18" charset="0"/>
              </a:rPr>
              <a:t>main: a </a:t>
            </a:r>
            <a:endParaRPr lang="zh-CN" altLang="en-US" dirty="0"/>
          </a:p>
        </p:txBody>
      </p:sp>
      <p:sp>
        <p:nvSpPr>
          <p:cNvPr id="11" name="矩形 10">
            <a:extLst>
              <a:ext uri="{FF2B5EF4-FFF2-40B4-BE49-F238E27FC236}">
                <a16:creationId xmlns:a16="http://schemas.microsoft.com/office/drawing/2014/main" id="{633FBDCA-5799-44B1-A78C-B251FD849AFB}"/>
              </a:ext>
            </a:extLst>
          </p:cNvPr>
          <p:cNvSpPr/>
          <p:nvPr/>
        </p:nvSpPr>
        <p:spPr>
          <a:xfrm>
            <a:off x="8540380" y="4735179"/>
            <a:ext cx="941283" cy="369332"/>
          </a:xfrm>
          <a:prstGeom prst="rect">
            <a:avLst/>
          </a:prstGeom>
        </p:spPr>
        <p:txBody>
          <a:bodyPr wrap="none">
            <a:spAutoFit/>
          </a:bodyPr>
          <a:lstStyle/>
          <a:p>
            <a:r>
              <a:rPr lang="en-US" altLang="zh-CN" dirty="0">
                <a:solidFill>
                  <a:srgbClr val="FF0000"/>
                </a:solidFill>
                <a:latin typeface="Times New Roman" panose="02020603050405020304" pitchFamily="18" charset="0"/>
                <a:cs typeface="Times New Roman" panose="02020603050405020304" pitchFamily="18" charset="0"/>
              </a:rPr>
              <a:t>main: b </a:t>
            </a:r>
            <a:endParaRPr lang="zh-CN" altLang="en-US" dirty="0"/>
          </a:p>
        </p:txBody>
      </p:sp>
      <p:sp>
        <p:nvSpPr>
          <p:cNvPr id="12" name="矩形 11">
            <a:extLst>
              <a:ext uri="{FF2B5EF4-FFF2-40B4-BE49-F238E27FC236}">
                <a16:creationId xmlns:a16="http://schemas.microsoft.com/office/drawing/2014/main" id="{258D6728-CEFD-423A-86D9-6787B66BE58C}"/>
              </a:ext>
            </a:extLst>
          </p:cNvPr>
          <p:cNvSpPr/>
          <p:nvPr/>
        </p:nvSpPr>
        <p:spPr>
          <a:xfrm>
            <a:off x="8635080" y="5468433"/>
            <a:ext cx="787395" cy="369332"/>
          </a:xfrm>
          <a:prstGeom prst="rect">
            <a:avLst/>
          </a:prstGeom>
        </p:spPr>
        <p:txBody>
          <a:bodyPr wrap="none">
            <a:spAutoFit/>
          </a:bodyPr>
          <a:lstStyle/>
          <a:p>
            <a:r>
              <a:rPr lang="en-US" altLang="zh-CN" dirty="0">
                <a:solidFill>
                  <a:srgbClr val="00B0F0"/>
                </a:solidFill>
                <a:latin typeface="Times New Roman" panose="02020603050405020304" pitchFamily="18" charset="0"/>
                <a:cs typeface="Times New Roman" panose="02020603050405020304" pitchFamily="18" charset="0"/>
              </a:rPr>
              <a:t>sub: a </a:t>
            </a:r>
            <a:endParaRPr lang="zh-CN" altLang="en-US" dirty="0"/>
          </a:p>
        </p:txBody>
      </p:sp>
      <p:sp>
        <p:nvSpPr>
          <p:cNvPr id="13" name="矩形 12">
            <a:extLst>
              <a:ext uri="{FF2B5EF4-FFF2-40B4-BE49-F238E27FC236}">
                <a16:creationId xmlns:a16="http://schemas.microsoft.com/office/drawing/2014/main" id="{C3276E40-B7A4-44B0-9D54-CB04F5E74948}"/>
              </a:ext>
            </a:extLst>
          </p:cNvPr>
          <p:cNvSpPr/>
          <p:nvPr/>
        </p:nvSpPr>
        <p:spPr>
          <a:xfrm>
            <a:off x="8639466" y="5829911"/>
            <a:ext cx="800219" cy="369332"/>
          </a:xfrm>
          <a:prstGeom prst="rect">
            <a:avLst/>
          </a:prstGeom>
        </p:spPr>
        <p:txBody>
          <a:bodyPr wrap="none">
            <a:spAutoFit/>
          </a:bodyPr>
          <a:lstStyle/>
          <a:p>
            <a:r>
              <a:rPr lang="en-US" altLang="zh-CN" dirty="0">
                <a:solidFill>
                  <a:srgbClr val="00B0F0"/>
                </a:solidFill>
                <a:latin typeface="Times New Roman" panose="02020603050405020304" pitchFamily="18" charset="0"/>
                <a:cs typeface="Times New Roman" panose="02020603050405020304" pitchFamily="18" charset="0"/>
              </a:rPr>
              <a:t>sub: b </a:t>
            </a:r>
            <a:endParaRPr lang="zh-CN" altLang="en-US" dirty="0"/>
          </a:p>
        </p:txBody>
      </p:sp>
      <p:sp>
        <p:nvSpPr>
          <p:cNvPr id="15" name="箭头: 右 14">
            <a:extLst>
              <a:ext uri="{FF2B5EF4-FFF2-40B4-BE49-F238E27FC236}">
                <a16:creationId xmlns:a16="http://schemas.microsoft.com/office/drawing/2014/main" id="{FAC4473A-E2EF-43F4-8B09-C141F05B8F79}"/>
              </a:ext>
            </a:extLst>
          </p:cNvPr>
          <p:cNvSpPr/>
          <p:nvPr/>
        </p:nvSpPr>
        <p:spPr>
          <a:xfrm>
            <a:off x="213064" y="3329126"/>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2FD3830F-477E-485D-AE1C-AC8F605AC87A}"/>
              </a:ext>
            </a:extLst>
          </p:cNvPr>
          <p:cNvSpPr/>
          <p:nvPr/>
        </p:nvSpPr>
        <p:spPr>
          <a:xfrm>
            <a:off x="213064" y="3714188"/>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319BC9E1-CD73-4003-89AC-94F1AF2E2625}"/>
              </a:ext>
            </a:extLst>
          </p:cNvPr>
          <p:cNvSpPr/>
          <p:nvPr/>
        </p:nvSpPr>
        <p:spPr>
          <a:xfrm>
            <a:off x="213063" y="4048635"/>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920341C6-9028-4899-87D2-030409E0D676}"/>
              </a:ext>
            </a:extLst>
          </p:cNvPr>
          <p:cNvSpPr/>
          <p:nvPr/>
        </p:nvSpPr>
        <p:spPr>
          <a:xfrm>
            <a:off x="213063" y="4795650"/>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BADFC756-CB19-41E1-AEC8-5EB10B8537F6}"/>
              </a:ext>
            </a:extLst>
          </p:cNvPr>
          <p:cNvSpPr/>
          <p:nvPr/>
        </p:nvSpPr>
        <p:spPr>
          <a:xfrm>
            <a:off x="5769669" y="2215124"/>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42F2DF54-2487-43EB-9354-7771B1177512}"/>
              </a:ext>
            </a:extLst>
          </p:cNvPr>
          <p:cNvSpPr/>
          <p:nvPr/>
        </p:nvSpPr>
        <p:spPr>
          <a:xfrm>
            <a:off x="5769668" y="2597862"/>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66A44C75-A1FD-430E-B6E1-06A137DD9DA1}"/>
              </a:ext>
            </a:extLst>
          </p:cNvPr>
          <p:cNvSpPr/>
          <p:nvPr/>
        </p:nvSpPr>
        <p:spPr>
          <a:xfrm>
            <a:off x="5769668" y="2951987"/>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949B1BB9-CFB1-4FCF-B287-6782869F01FC}"/>
              </a:ext>
            </a:extLst>
          </p:cNvPr>
          <p:cNvSpPr/>
          <p:nvPr/>
        </p:nvSpPr>
        <p:spPr>
          <a:xfrm>
            <a:off x="5769668" y="3341558"/>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41227B87-43C0-40F1-ACB9-F9C45C76BB22}"/>
              </a:ext>
            </a:extLst>
          </p:cNvPr>
          <p:cNvSpPr/>
          <p:nvPr/>
        </p:nvSpPr>
        <p:spPr>
          <a:xfrm>
            <a:off x="201363" y="4440880"/>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AA33D1E8-6897-454E-A575-5D63D8FAC592}"/>
              </a:ext>
            </a:extLst>
          </p:cNvPr>
          <p:cNvSpPr/>
          <p:nvPr/>
        </p:nvSpPr>
        <p:spPr>
          <a:xfrm>
            <a:off x="201362" y="5184367"/>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5D57215A-8AB9-4F7C-B0BE-1C270B3A8A09}"/>
              </a:ext>
            </a:extLst>
          </p:cNvPr>
          <p:cNvSpPr/>
          <p:nvPr/>
        </p:nvSpPr>
        <p:spPr>
          <a:xfrm>
            <a:off x="201362" y="5531028"/>
            <a:ext cx="456861" cy="2485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242451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9"/>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25"/>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21"/>
                                        </p:tgtEl>
                                        <p:attrNameLst>
                                          <p:attrName>style.visibility</p:attrName>
                                        </p:attrNameLst>
                                      </p:cBhvr>
                                      <p:to>
                                        <p:strVal val="hidden"/>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22"/>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23"/>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24"/>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12"/>
                                        </p:tgtEl>
                                        <p:attrNameLst>
                                          <p:attrName>style.visibility</p:attrName>
                                        </p:attrNameLst>
                                      </p:cBhvr>
                                      <p:to>
                                        <p:strVal val="hidden"/>
                                      </p:to>
                                    </p:set>
                                  </p:childTnLst>
                                </p:cTn>
                              </p:par>
                              <p:par>
                                <p:cTn id="84" presetID="1" presetClass="exit" presetSubtype="0" fill="hold" grpId="1" nodeType="withEffect">
                                  <p:stCondLst>
                                    <p:cond delay="0"/>
                                  </p:stCondLst>
                                  <p:childTnLst>
                                    <p:set>
                                      <p:cBhvr>
                                        <p:cTn id="85" dur="1" fill="hold">
                                          <p:stCondLst>
                                            <p:cond delay="0"/>
                                          </p:stCondLst>
                                        </p:cTn>
                                        <p:tgtEl>
                                          <p:spTgt spid="13"/>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7"/>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9"/>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1" nodeType="clickEffect">
                                  <p:stCondLst>
                                    <p:cond delay="0"/>
                                  </p:stCondLst>
                                  <p:childTnLst>
                                    <p:set>
                                      <p:cBhvr>
                                        <p:cTn id="93" dur="1" fill="hold">
                                          <p:stCondLst>
                                            <p:cond delay="0"/>
                                          </p:stCondLst>
                                        </p:cTn>
                                        <p:tgtEl>
                                          <p:spTgt spid="20"/>
                                        </p:tgtEl>
                                        <p:attrNameLst>
                                          <p:attrName>style.visibility</p:attrName>
                                        </p:attrNameLst>
                                      </p:cBhvr>
                                      <p:to>
                                        <p:strVal val="hidden"/>
                                      </p:to>
                                    </p:set>
                                  </p:childTnLst>
                                </p:cTn>
                              </p:par>
                              <p:par>
                                <p:cTn id="94" presetID="1"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1" nodeType="clickEffect">
                                  <p:stCondLst>
                                    <p:cond delay="0"/>
                                  </p:stCondLst>
                                  <p:childTnLst>
                                    <p:set>
                                      <p:cBhvr>
                                        <p:cTn id="101" dur="1" fill="hold">
                                          <p:stCondLst>
                                            <p:cond delay="0"/>
                                          </p:stCondLst>
                                        </p:cTn>
                                        <p:tgtEl>
                                          <p:spTgt spid="26"/>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2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27"/>
                                        </p:tgtEl>
                                        <p:attrNameLst>
                                          <p:attrName>style.visibility</p:attrName>
                                        </p:attrNameLst>
                                      </p:cBhvr>
                                      <p:to>
                                        <p:strVal val="hidden"/>
                                      </p:to>
                                    </p:set>
                                  </p:childTnLst>
                                </p:cTn>
                              </p:par>
                              <p:par>
                                <p:cTn id="108" presetID="1" presetClass="exit" presetSubtype="0" fill="hold" grpId="1" nodeType="withEffect">
                                  <p:stCondLst>
                                    <p:cond delay="0"/>
                                  </p:stCondLst>
                                  <p:childTnLst>
                                    <p:set>
                                      <p:cBhvr>
                                        <p:cTn id="109" dur="1" fill="hold">
                                          <p:stCondLst>
                                            <p:cond delay="0"/>
                                          </p:stCondLst>
                                        </p:cTn>
                                        <p:tgtEl>
                                          <p:spTgt spid="10"/>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1"/>
                                        </p:tgtEl>
                                        <p:attrNameLst>
                                          <p:attrName>style.visibility</p:attrName>
                                        </p:attrNameLst>
                                      </p:cBhvr>
                                      <p:to>
                                        <p:strVal val="hidden"/>
                                      </p:to>
                                    </p:set>
                                  </p:childTnLst>
                                </p:cTn>
                              </p:par>
                              <p:par>
                                <p:cTn id="112" presetID="1" presetClass="exit" presetSubtype="0" fill="hold" grpId="1" nodeType="withEffect">
                                  <p:stCondLst>
                                    <p:cond delay="0"/>
                                  </p:stCondLst>
                                  <p:childTnLst>
                                    <p:set>
                                      <p:cBhvr>
                                        <p:cTn id="113" dur="1" fill="hold">
                                          <p:stCondLst>
                                            <p:cond delay="0"/>
                                          </p:stCondLst>
                                        </p:cTn>
                                        <p:tgtEl>
                                          <p:spTgt spid="5"/>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8" grpId="0"/>
      <p:bldP spid="8" grpId="1"/>
      <p:bldP spid="7" grpId="0"/>
      <p:bldP spid="7" grpId="1"/>
      <p:bldP spid="9" grpId="0"/>
      <p:bldP spid="9" grpId="1"/>
      <p:bldP spid="10" grpId="0"/>
      <p:bldP spid="10" grpId="1"/>
      <p:bldP spid="11" grpId="0"/>
      <p:bldP spid="11" grpId="1"/>
      <p:bldP spid="12" grpId="0"/>
      <p:bldP spid="12" grpId="1"/>
      <p:bldP spid="13" grpId="0"/>
      <p:bldP spid="13" grpId="1"/>
      <p:bldP spid="15" grpId="0" animBg="1"/>
      <p:bldP spid="15" grpId="1" animBg="1"/>
      <p:bldP spid="17" grpId="0" animBg="1"/>
      <p:bldP spid="17"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p:txBody>
          <a:bodyPr>
            <a:normAutofit/>
          </a:bodyPr>
          <a:lstStyle/>
          <a:p>
            <a:r>
              <a:rPr lang="en-US" altLang="zh-CN" dirty="0">
                <a:sym typeface="+mn-ea"/>
              </a:rPr>
              <a:t>2.</a:t>
            </a:r>
            <a:r>
              <a:rPr lang="zh-CN" altLang="en-US" dirty="0"/>
              <a:t>全局变量</a:t>
            </a:r>
          </a:p>
          <a:p>
            <a:pPr lvl="1"/>
            <a:r>
              <a:rPr lang="zh-CN" altLang="en-US" dirty="0"/>
              <a:t>在所有函数外部声明的变量称为全局变量。</a:t>
            </a:r>
          </a:p>
          <a:p>
            <a:pPr lvl="1"/>
            <a:r>
              <a:rPr lang="zh-CN" altLang="en-US" dirty="0"/>
              <a:t>全局变量可以在整个程序的所有函数中访问，包括其定义之后的所有函数。</a:t>
            </a:r>
          </a:p>
          <a:p>
            <a:pPr lvl="1"/>
            <a:r>
              <a:rPr lang="zh-CN" altLang="en-US" dirty="0"/>
              <a:t>全局变量在程序启动时创建，在程序结束时销毁。</a:t>
            </a:r>
            <a:endParaRPr lang="en-US" altLang="zh-CN" dirty="0"/>
          </a:p>
          <a:p>
            <a:pPr lvl="1"/>
            <a:r>
              <a:rPr lang="zh-CN" altLang="en-US" dirty="0"/>
              <a:t>若全局变量与局部变量同名，则全局变量被屏蔽。</a:t>
            </a:r>
            <a:endParaRPr lang="en-US" altLang="zh-CN" dirty="0"/>
          </a:p>
          <a:p>
            <a:pPr lvl="1"/>
            <a:r>
              <a:rPr lang="zh-CN" altLang="en-US" dirty="0"/>
              <a:t>全局变量降低了函数的通用性、可移植性，降低了程序清晰性，尽可能减少使用。</a:t>
            </a:r>
          </a:p>
          <a:p>
            <a:pPr lvl="1"/>
            <a:endParaRPr lang="zh-CN" altLang="en-US" dirty="0"/>
          </a:p>
        </p:txBody>
      </p:sp>
    </p:spTree>
    <p:custDataLst>
      <p:tags r:id="rId1"/>
    </p:custDataLst>
    <p:extLst>
      <p:ext uri="{BB962C8B-B14F-4D97-AF65-F5344CB8AC3E}">
        <p14:creationId xmlns:p14="http://schemas.microsoft.com/office/powerpoint/2010/main" val="124423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p:txBody>
          <a:bodyPr>
            <a:normAutofit/>
          </a:bodyPr>
          <a:lstStyle/>
          <a:p>
            <a:r>
              <a:rPr lang="en-US" altLang="zh-CN" dirty="0">
                <a:sym typeface="+mn-ea"/>
              </a:rPr>
              <a:t>2.</a:t>
            </a:r>
            <a:r>
              <a:rPr lang="zh-CN" altLang="en-US" dirty="0"/>
              <a:t>全局变量</a:t>
            </a:r>
          </a:p>
        </p:txBody>
      </p:sp>
      <p:sp>
        <p:nvSpPr>
          <p:cNvPr id="4" name="Text Box 2">
            <a:extLst>
              <a:ext uri="{FF2B5EF4-FFF2-40B4-BE49-F238E27FC236}">
                <a16:creationId xmlns:a16="http://schemas.microsoft.com/office/drawing/2014/main" id="{261E2C2C-0277-41D6-95A9-326B73B2436A}"/>
              </a:ext>
            </a:extLst>
          </p:cNvPr>
          <p:cNvSpPr txBox="1">
            <a:spLocks noChangeArrowheads="1"/>
          </p:cNvSpPr>
          <p:nvPr/>
        </p:nvSpPr>
        <p:spPr bwMode="auto">
          <a:xfrm>
            <a:off x="4120827" y="981347"/>
            <a:ext cx="4605748" cy="5262979"/>
          </a:xfrm>
          <a:prstGeom prst="rect">
            <a:avLst/>
          </a:prstGeom>
          <a:solidFill>
            <a:schemeClr val="bg1"/>
          </a:solidFill>
          <a:ln w="12700">
            <a:solidFill>
              <a:srgbClr val="0000FF"/>
            </a:solidFill>
            <a:miter lim="800000"/>
            <a:headEnd/>
            <a:tailEnd/>
          </a:ln>
        </p:spPr>
        <p:txBody>
          <a:bodyPr wrap="none">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#include&lt;stdio.h&gt;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mn-cs"/>
              </a:rPr>
              <a:t>int s;</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int sum(int a, int b)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s = a +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return s;</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int main(void) {</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int a = 2, b = 3, c;</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c = sum(a,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printf</a:t>
            </a: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("c=%d, s=%d\n", c, s);</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return 0;</a:t>
            </a:r>
          </a:p>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5" name="Group 3">
            <a:extLst>
              <a:ext uri="{FF2B5EF4-FFF2-40B4-BE49-F238E27FC236}">
                <a16:creationId xmlns:a16="http://schemas.microsoft.com/office/drawing/2014/main" id="{A7C330EC-C813-4E1E-B1C0-7A3F5EDC958A}"/>
              </a:ext>
            </a:extLst>
          </p:cNvPr>
          <p:cNvGrpSpPr>
            <a:grpSpLocks/>
          </p:cNvGrpSpPr>
          <p:nvPr/>
        </p:nvGrpSpPr>
        <p:grpSpPr bwMode="auto">
          <a:xfrm>
            <a:off x="6976514" y="1559038"/>
            <a:ext cx="2512270" cy="3868841"/>
            <a:chOff x="4208" y="204"/>
            <a:chExt cx="935" cy="2408"/>
          </a:xfrm>
        </p:grpSpPr>
        <p:grpSp>
          <p:nvGrpSpPr>
            <p:cNvPr id="6" name="Group 4">
              <a:extLst>
                <a:ext uri="{FF2B5EF4-FFF2-40B4-BE49-F238E27FC236}">
                  <a16:creationId xmlns:a16="http://schemas.microsoft.com/office/drawing/2014/main" id="{4FCBDA10-7323-4711-A536-6EB6E10FEABF}"/>
                </a:ext>
              </a:extLst>
            </p:cNvPr>
            <p:cNvGrpSpPr>
              <a:grpSpLocks/>
            </p:cNvGrpSpPr>
            <p:nvPr/>
          </p:nvGrpSpPr>
          <p:grpSpPr bwMode="auto">
            <a:xfrm>
              <a:off x="4208" y="204"/>
              <a:ext cx="696" cy="2408"/>
              <a:chOff x="4208" y="204"/>
              <a:chExt cx="696" cy="2408"/>
            </a:xfrm>
          </p:grpSpPr>
          <p:sp>
            <p:nvSpPr>
              <p:cNvPr id="9" name="Line 5">
                <a:extLst>
                  <a:ext uri="{FF2B5EF4-FFF2-40B4-BE49-F238E27FC236}">
                    <a16:creationId xmlns:a16="http://schemas.microsoft.com/office/drawing/2014/main" id="{A1DA65C6-F96C-499D-AE89-7AFA68642669}"/>
                  </a:ext>
                </a:extLst>
              </p:cNvPr>
              <p:cNvSpPr>
                <a:spLocks noChangeShapeType="1"/>
              </p:cNvSpPr>
              <p:nvPr/>
            </p:nvSpPr>
            <p:spPr bwMode="auto">
              <a:xfrm>
                <a:off x="4208" y="204"/>
                <a:ext cx="69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0" name="Line 6">
                <a:extLst>
                  <a:ext uri="{FF2B5EF4-FFF2-40B4-BE49-F238E27FC236}">
                    <a16:creationId xmlns:a16="http://schemas.microsoft.com/office/drawing/2014/main" id="{2E82B28E-7D08-4CFE-A044-1513FE96B88F}"/>
                  </a:ext>
                </a:extLst>
              </p:cNvPr>
              <p:cNvSpPr>
                <a:spLocks noChangeShapeType="1"/>
              </p:cNvSpPr>
              <p:nvPr/>
            </p:nvSpPr>
            <p:spPr bwMode="auto">
              <a:xfrm>
                <a:off x="4904" y="204"/>
                <a:ext cx="0" cy="2408"/>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grpSp>
        <p:sp>
          <p:nvSpPr>
            <p:cNvPr id="7" name="Text Box 7">
              <a:extLst>
                <a:ext uri="{FF2B5EF4-FFF2-40B4-BE49-F238E27FC236}">
                  <a16:creationId xmlns:a16="http://schemas.microsoft.com/office/drawing/2014/main" id="{18940BEF-1066-4CE5-8846-02679CAFC93E}"/>
                </a:ext>
              </a:extLst>
            </p:cNvPr>
            <p:cNvSpPr txBox="1">
              <a:spLocks noChangeArrowheads="1"/>
            </p:cNvSpPr>
            <p:nvPr/>
          </p:nvSpPr>
          <p:spPr bwMode="auto">
            <a:xfrm>
              <a:off x="4873" y="1357"/>
              <a:ext cx="270"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的作用域</a:t>
              </a:r>
            </a:p>
          </p:txBody>
        </p:sp>
        <p:sp>
          <p:nvSpPr>
            <p:cNvPr id="8" name="Text Box 9">
              <a:extLst>
                <a:ext uri="{FF2B5EF4-FFF2-40B4-BE49-F238E27FC236}">
                  <a16:creationId xmlns:a16="http://schemas.microsoft.com/office/drawing/2014/main" id="{6336F614-54A8-4FF0-9E74-077E0D443B67}"/>
                </a:ext>
              </a:extLst>
            </p:cNvPr>
            <p:cNvSpPr txBox="1">
              <a:spLocks noChangeArrowheads="1"/>
            </p:cNvSpPr>
            <p:nvPr/>
          </p:nvSpPr>
          <p:spPr bwMode="auto">
            <a:xfrm>
              <a:off x="4919" y="1102"/>
              <a:ext cx="17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en-US" altLang="zh-CN" sz="2800" b="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rPr>
                <a:t>s</a:t>
              </a:r>
            </a:p>
          </p:txBody>
        </p:sp>
      </p:grpSp>
    </p:spTree>
    <p:custDataLst>
      <p:tags r:id="rId1"/>
    </p:custDataLst>
    <p:extLst>
      <p:ext uri="{BB962C8B-B14F-4D97-AF65-F5344CB8AC3E}">
        <p14:creationId xmlns:p14="http://schemas.microsoft.com/office/powerpoint/2010/main" val="338741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4.3.1 </a:t>
            </a:r>
            <a:r>
              <a:rPr lang="zh-CN" altLang="en-US" dirty="0"/>
              <a:t>变量作用域</a:t>
            </a:r>
          </a:p>
        </p:txBody>
      </p:sp>
      <p:sp>
        <p:nvSpPr>
          <p:cNvPr id="3" name="内容占位符 2"/>
          <p:cNvSpPr>
            <a:spLocks noGrp="1"/>
          </p:cNvSpPr>
          <p:nvPr>
            <p:ph idx="1"/>
          </p:nvPr>
        </p:nvSpPr>
        <p:spPr/>
        <p:txBody>
          <a:bodyPr>
            <a:normAutofit/>
          </a:bodyPr>
          <a:lstStyle/>
          <a:p>
            <a:r>
              <a:rPr lang="en-US" altLang="zh-CN" dirty="0">
                <a:sym typeface="+mn-ea"/>
              </a:rPr>
              <a:t>2.</a:t>
            </a:r>
            <a:r>
              <a:rPr lang="zh-CN" altLang="en-US" dirty="0"/>
              <a:t>全局变量</a:t>
            </a:r>
          </a:p>
        </p:txBody>
      </p:sp>
      <p:sp>
        <p:nvSpPr>
          <p:cNvPr id="11" name="Text Box 6">
            <a:extLst>
              <a:ext uri="{FF2B5EF4-FFF2-40B4-BE49-F238E27FC236}">
                <a16:creationId xmlns:a16="http://schemas.microsoft.com/office/drawing/2014/main" id="{2E4836E0-DF29-47AE-B82B-C3201A8E52E4}"/>
              </a:ext>
            </a:extLst>
          </p:cNvPr>
          <p:cNvSpPr txBox="1">
            <a:spLocks noChangeArrowheads="1"/>
          </p:cNvSpPr>
          <p:nvPr/>
        </p:nvSpPr>
        <p:spPr bwMode="auto">
          <a:xfrm>
            <a:off x="1621031" y="2170395"/>
            <a:ext cx="9249131" cy="4286920"/>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2">
            <a:no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#include &lt;</a:t>
            </a:r>
            <a:r>
              <a:rPr kumimoji="1" lang="en-US" altLang="zh-CN" sz="24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stdio.h</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&gt;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FF"/>
                </a:solidFill>
                <a:effectLst/>
                <a:uLnTx/>
                <a:uFillTx/>
                <a:latin typeface="Times New Roman" pitchFamily="18" charset="0"/>
                <a:ea typeface="宋体" pitchFamily="2" charset="-122"/>
                <a:cs typeface="Times New Roman" pitchFamily="18" charset="0"/>
              </a:rPr>
              <a:t>int a = 3, b = 5;</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max(</a:t>
            </a:r>
            <a:r>
              <a:rPr kumimoji="1" lang="en-US" altLang="zh-CN" sz="2400" b="1" i="0" u="none" strike="noStrike" kern="0" cap="none" spc="0" normalizeH="0" baseline="0" noProof="0" dirty="0">
                <a:ln>
                  <a:noFill/>
                </a:ln>
                <a:solidFill>
                  <a:srgbClr val="00B050"/>
                </a:solidFill>
                <a:effectLst/>
                <a:uLnTx/>
                <a:uFillTx/>
                <a:latin typeface="Times New Roman" pitchFamily="18" charset="0"/>
                <a:ea typeface="宋体" pitchFamily="2" charset="-122"/>
                <a:cs typeface="Times New Roman" pitchFamily="18" charset="0"/>
              </a:rPr>
              <a:t>int a, int b</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int c;</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c = a &gt; b ? a : b;</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c;</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int main(void)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0" cap="none" spc="0" normalizeH="0" baseline="0" noProof="0" dirty="0">
                <a:ln>
                  <a:noFill/>
                </a:ln>
                <a:solidFill>
                  <a:srgbClr val="FFC000"/>
                </a:solidFill>
                <a:effectLst/>
                <a:uLnTx/>
                <a:uFillTx/>
                <a:latin typeface="Times New Roman" pitchFamily="18" charset="0"/>
                <a:ea typeface="宋体" pitchFamily="2" charset="-122"/>
                <a:cs typeface="Times New Roman" pitchFamily="18" charset="0"/>
              </a:rPr>
              <a:t>int a = 8;</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a:t>
            </a:r>
            <a:r>
              <a:rPr kumimoji="1" lang="en-US" altLang="zh-CN" sz="2400" b="1" i="0" u="none" strike="noStrike" kern="0" cap="none" spc="0" normalizeH="0" baseline="0" noProof="0" dirty="0" err="1">
                <a:ln>
                  <a:noFill/>
                </a:ln>
                <a:solidFill>
                  <a:srgbClr val="000000"/>
                </a:solidFill>
                <a:effectLst/>
                <a:uLnTx/>
                <a:uFillTx/>
                <a:latin typeface="Times New Roman" pitchFamily="18" charset="0"/>
                <a:ea typeface="宋体" pitchFamily="2" charset="-122"/>
                <a:cs typeface="Times New Roman" pitchFamily="18" charset="0"/>
              </a:rPr>
              <a:t>printf</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("max=%d", max(a, b));</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      return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p:txBody>
      </p:sp>
      <p:sp>
        <p:nvSpPr>
          <p:cNvPr id="12" name="文本框 11">
            <a:extLst>
              <a:ext uri="{FF2B5EF4-FFF2-40B4-BE49-F238E27FC236}">
                <a16:creationId xmlns:a16="http://schemas.microsoft.com/office/drawing/2014/main" id="{D87301C5-E1BF-46E5-8253-9F0634F3F404}"/>
              </a:ext>
            </a:extLst>
          </p:cNvPr>
          <p:cNvSpPr txBox="1"/>
          <p:nvPr/>
        </p:nvSpPr>
        <p:spPr>
          <a:xfrm>
            <a:off x="7959257" y="722421"/>
            <a:ext cx="2139042" cy="830997"/>
          </a:xfrm>
          <a:prstGeom prst="rect">
            <a:avLst/>
          </a:prstGeom>
          <a:noFill/>
          <a:ln>
            <a:solidFill>
              <a:srgbClr val="0066FF"/>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Arial"/>
                <a:ea typeface="微软雅黑"/>
                <a:cs typeface="+mn-cs"/>
              </a:rPr>
              <a:t>运行结果：</a:t>
            </a:r>
            <a:endParaRPr kumimoji="0" lang="en-US" altLang="zh-CN" sz="24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Arial"/>
                <a:ea typeface="微软雅黑"/>
                <a:cs typeface="+mn-cs"/>
              </a:rPr>
              <a:t>max=8</a:t>
            </a:r>
          </a:p>
        </p:txBody>
      </p:sp>
    </p:spTree>
    <p:custDataLst>
      <p:tags r:id="rId1"/>
    </p:custDataLst>
    <p:extLst>
      <p:ext uri="{BB962C8B-B14F-4D97-AF65-F5344CB8AC3E}">
        <p14:creationId xmlns:p14="http://schemas.microsoft.com/office/powerpoint/2010/main" val="3286547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4.3.2 </a:t>
            </a:r>
            <a:r>
              <a:rPr lang="zh-CN" altLang="en-US" dirty="0"/>
              <a:t>变量的存储类别</a:t>
            </a:r>
          </a:p>
        </p:txBody>
      </p:sp>
      <p:sp>
        <p:nvSpPr>
          <p:cNvPr id="3" name="内容占位符 2"/>
          <p:cNvSpPr>
            <a:spLocks noGrp="1"/>
          </p:cNvSpPr>
          <p:nvPr>
            <p:ph idx="1"/>
          </p:nvPr>
        </p:nvSpPr>
        <p:spPr/>
        <p:txBody>
          <a:bodyPr>
            <a:normAutofit/>
          </a:bodyPr>
          <a:lstStyle/>
          <a:p>
            <a:r>
              <a:rPr lang="en-US" altLang="zh-CN" dirty="0">
                <a:sym typeface="+mn-ea"/>
              </a:rPr>
              <a:t>1.</a:t>
            </a:r>
            <a:r>
              <a:rPr lang="zh-CN" altLang="en-US" dirty="0"/>
              <a:t>存储属性</a:t>
            </a:r>
          </a:p>
          <a:p>
            <a:pPr lvl="1"/>
            <a:r>
              <a:rPr lang="zh-CN" altLang="en-US" dirty="0"/>
              <a:t>变量的完整定义格式：</a:t>
            </a:r>
            <a:endParaRPr lang="en-US" altLang="zh-CN" dirty="0"/>
          </a:p>
          <a:p>
            <a:pPr marL="457200" lvl="1" indent="0">
              <a:buNone/>
            </a:pPr>
            <a:r>
              <a:rPr kumimoji="1" lang="en-US" altLang="zh-CN" sz="3200" dirty="0">
                <a:solidFill>
                  <a:srgbClr val="0000FF"/>
                </a:solidFill>
                <a:ea typeface="宋体" panose="02010600030101010101" pitchFamily="2" charset="-122"/>
              </a:rPr>
              <a:t>	</a:t>
            </a:r>
            <a:r>
              <a:rPr lang="en-US" altLang="zh-CN" dirty="0">
                <a:solidFill>
                  <a:srgbClr val="0000FF"/>
                </a:solidFill>
              </a:rPr>
              <a:t>[</a:t>
            </a:r>
            <a:r>
              <a:rPr lang="zh-CN" altLang="en-US" dirty="0">
                <a:solidFill>
                  <a:srgbClr val="0000FF"/>
                </a:solidFill>
              </a:rPr>
              <a:t>存储类型</a:t>
            </a:r>
            <a:r>
              <a:rPr lang="en-US" altLang="zh-CN" dirty="0">
                <a:solidFill>
                  <a:srgbClr val="0000FF"/>
                </a:solidFill>
              </a:rPr>
              <a:t>]    </a:t>
            </a:r>
            <a:r>
              <a:rPr lang="zh-CN" altLang="en-US" dirty="0">
                <a:solidFill>
                  <a:srgbClr val="0000FF"/>
                </a:solidFill>
              </a:rPr>
              <a:t>数据类型    变量表</a:t>
            </a:r>
            <a:r>
              <a:rPr lang="en-US" altLang="zh-CN" dirty="0">
                <a:solidFill>
                  <a:srgbClr val="0000FF"/>
                </a:solidFill>
              </a:rPr>
              <a:t>;</a:t>
            </a:r>
          </a:p>
          <a:p>
            <a:pPr lvl="1"/>
            <a:r>
              <a:rPr lang="zh-CN" altLang="en-US" dirty="0"/>
              <a:t>存储类型包含：</a:t>
            </a:r>
            <a:endParaRPr lang="en-US" altLang="zh-CN" dirty="0"/>
          </a:p>
          <a:p>
            <a:pPr lvl="2"/>
            <a:r>
              <a:rPr lang="en-US" altLang="zh-CN" sz="3000" b="1" dirty="0">
                <a:solidFill>
                  <a:schemeClr val="accent2">
                    <a:lumMod val="50000"/>
                  </a:schemeClr>
                </a:solidFill>
                <a:latin typeface="楷体" panose="02010609060101010101" charset="-122"/>
                <a:ea typeface="楷体" panose="02010609060101010101" charset="-122"/>
              </a:rPr>
              <a:t>auto</a:t>
            </a:r>
            <a:r>
              <a:rPr lang="zh-CN" altLang="en-US" sz="3000" b="1" dirty="0">
                <a:solidFill>
                  <a:schemeClr val="accent2">
                    <a:lumMod val="50000"/>
                  </a:schemeClr>
                </a:solidFill>
                <a:latin typeface="楷体" panose="02010609060101010101" charset="-122"/>
                <a:ea typeface="楷体" panose="02010609060101010101" charset="-122"/>
              </a:rPr>
              <a:t>自动变量</a:t>
            </a:r>
            <a:endParaRPr lang="en-US" altLang="zh-CN" sz="3000" b="1" dirty="0">
              <a:solidFill>
                <a:schemeClr val="accent2">
                  <a:lumMod val="50000"/>
                </a:schemeClr>
              </a:solidFill>
              <a:latin typeface="楷体" panose="02010609060101010101" charset="-122"/>
              <a:ea typeface="楷体" panose="02010609060101010101" charset="-122"/>
            </a:endParaRPr>
          </a:p>
          <a:p>
            <a:pPr lvl="2"/>
            <a:r>
              <a:rPr lang="en-US" altLang="zh-CN" sz="3000" b="1" dirty="0">
                <a:solidFill>
                  <a:schemeClr val="accent2">
                    <a:lumMod val="50000"/>
                  </a:schemeClr>
                </a:solidFill>
                <a:latin typeface="楷体" panose="02010609060101010101" charset="-122"/>
                <a:ea typeface="楷体" panose="02010609060101010101" charset="-122"/>
              </a:rPr>
              <a:t>static</a:t>
            </a:r>
            <a:r>
              <a:rPr lang="zh-CN" altLang="en-US" sz="3000" b="1" dirty="0">
                <a:solidFill>
                  <a:schemeClr val="accent2">
                    <a:lumMod val="50000"/>
                  </a:schemeClr>
                </a:solidFill>
                <a:latin typeface="楷体" panose="02010609060101010101" charset="-122"/>
                <a:ea typeface="楷体" panose="02010609060101010101" charset="-122"/>
              </a:rPr>
              <a:t>静态变量</a:t>
            </a:r>
            <a:endParaRPr lang="en-US" altLang="zh-CN" sz="3000" b="1" dirty="0">
              <a:solidFill>
                <a:schemeClr val="accent2">
                  <a:lumMod val="50000"/>
                </a:schemeClr>
              </a:solidFill>
              <a:latin typeface="楷体" panose="02010609060101010101" charset="-122"/>
              <a:ea typeface="楷体" panose="02010609060101010101" charset="-122"/>
            </a:endParaRPr>
          </a:p>
          <a:p>
            <a:pPr lvl="2"/>
            <a:r>
              <a:rPr lang="en-US" altLang="zh-CN" sz="3000" b="1" dirty="0">
                <a:solidFill>
                  <a:schemeClr val="accent2">
                    <a:lumMod val="50000"/>
                  </a:schemeClr>
                </a:solidFill>
                <a:latin typeface="楷体" panose="02010609060101010101" charset="-122"/>
                <a:ea typeface="楷体" panose="02010609060101010101" charset="-122"/>
              </a:rPr>
              <a:t>register</a:t>
            </a:r>
            <a:r>
              <a:rPr lang="zh-CN" altLang="en-US" sz="3000" b="1" dirty="0">
                <a:solidFill>
                  <a:schemeClr val="accent2">
                    <a:lumMod val="50000"/>
                  </a:schemeClr>
                </a:solidFill>
                <a:latin typeface="楷体" panose="02010609060101010101" charset="-122"/>
                <a:ea typeface="楷体" panose="02010609060101010101" charset="-122"/>
              </a:rPr>
              <a:t>寄存器变量</a:t>
            </a:r>
            <a:endParaRPr lang="en-US" altLang="zh-CN" sz="3000" b="1" dirty="0">
              <a:solidFill>
                <a:schemeClr val="accent2">
                  <a:lumMod val="50000"/>
                </a:schemeClr>
              </a:solidFill>
              <a:latin typeface="楷体" panose="02010609060101010101" charset="-122"/>
              <a:ea typeface="楷体" panose="02010609060101010101" charset="-122"/>
            </a:endParaRPr>
          </a:p>
          <a:p>
            <a:pPr lvl="2"/>
            <a:r>
              <a:rPr lang="en-US" altLang="zh-CN" sz="3000" b="1" dirty="0">
                <a:solidFill>
                  <a:schemeClr val="accent2">
                    <a:lumMod val="50000"/>
                  </a:schemeClr>
                </a:solidFill>
                <a:latin typeface="楷体" panose="02010609060101010101" charset="-122"/>
                <a:ea typeface="楷体" panose="02010609060101010101" charset="-122"/>
              </a:rPr>
              <a:t>extern</a:t>
            </a:r>
            <a:r>
              <a:rPr lang="zh-CN" altLang="en-US" sz="3000" b="1" dirty="0">
                <a:solidFill>
                  <a:schemeClr val="accent2">
                    <a:lumMod val="50000"/>
                  </a:schemeClr>
                </a:solidFill>
                <a:latin typeface="楷体" panose="02010609060101010101" charset="-122"/>
                <a:ea typeface="楷体" panose="02010609060101010101" charset="-122"/>
              </a:rPr>
              <a:t>外部变量</a:t>
            </a:r>
            <a:endParaRPr lang="en-US" altLang="zh-CN" dirty="0"/>
          </a:p>
        </p:txBody>
      </p:sp>
    </p:spTree>
    <p:custDataLst>
      <p:tags r:id="rId1"/>
    </p:custDataLst>
    <p:extLst>
      <p:ext uri="{BB962C8B-B14F-4D97-AF65-F5344CB8AC3E}">
        <p14:creationId xmlns:p14="http://schemas.microsoft.com/office/powerpoint/2010/main" val="3806502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4.3.2 </a:t>
            </a:r>
            <a:r>
              <a:rPr lang="zh-CN" altLang="en-US" dirty="0"/>
              <a:t>变量的存储类别</a:t>
            </a:r>
          </a:p>
        </p:txBody>
      </p:sp>
      <p:sp>
        <p:nvSpPr>
          <p:cNvPr id="3" name="内容占位符 2"/>
          <p:cNvSpPr>
            <a:spLocks noGrp="1"/>
          </p:cNvSpPr>
          <p:nvPr>
            <p:ph idx="1"/>
          </p:nvPr>
        </p:nvSpPr>
        <p:spPr>
          <a:xfrm>
            <a:off x="669925" y="1137919"/>
            <a:ext cx="10852150" cy="5584613"/>
          </a:xfrm>
        </p:spPr>
        <p:txBody>
          <a:bodyPr>
            <a:normAutofit fontScale="40000" lnSpcReduction="20000"/>
          </a:bodyPr>
          <a:lstStyle/>
          <a:p>
            <a:pPr>
              <a:lnSpc>
                <a:spcPct val="150000"/>
              </a:lnSpc>
            </a:pPr>
            <a:r>
              <a:rPr lang="en-US" altLang="zh-CN" sz="6700" dirty="0"/>
              <a:t>1.</a:t>
            </a:r>
            <a:r>
              <a:rPr lang="zh-CN" altLang="en-US" sz="6700" dirty="0"/>
              <a:t>存储属性</a:t>
            </a:r>
          </a:p>
          <a:p>
            <a:pPr lvl="1">
              <a:lnSpc>
                <a:spcPct val="120000"/>
              </a:lnSpc>
              <a:spcBef>
                <a:spcPts val="1800"/>
              </a:spcBef>
            </a:pPr>
            <a:r>
              <a:rPr lang="zh-CN" altLang="en-US" sz="5500" dirty="0"/>
              <a:t>自动变量（</a:t>
            </a:r>
            <a:r>
              <a:rPr lang="en-US" altLang="zh-CN" sz="5500" dirty="0"/>
              <a:t>auto</a:t>
            </a:r>
            <a:r>
              <a:rPr lang="zh-CN" altLang="en-US" sz="5500" dirty="0"/>
              <a:t>）：函数内部声明的局部变量，默认情况下，若未指明存储类型，则所有局部变量都是自动变量。自动变量在函数调用时被创建，在函数执行完毕后被销毁。它们存储在栈上，且没有初始化时的默认值。</a:t>
            </a:r>
          </a:p>
          <a:p>
            <a:pPr lvl="1">
              <a:lnSpc>
                <a:spcPct val="120000"/>
              </a:lnSpc>
              <a:spcBef>
                <a:spcPts val="1800"/>
              </a:spcBef>
            </a:pPr>
            <a:r>
              <a:rPr lang="zh-CN" altLang="en-US" sz="5500" dirty="0"/>
              <a:t>静态变量（</a:t>
            </a:r>
            <a:r>
              <a:rPr lang="en-US" altLang="zh-CN" sz="5500" dirty="0"/>
              <a:t>static</a:t>
            </a:r>
            <a:r>
              <a:rPr lang="zh-CN" altLang="en-US" sz="5500" dirty="0"/>
              <a:t>）：局部的静态变量在函数内部使用</a:t>
            </a:r>
            <a:r>
              <a:rPr lang="en-US" altLang="zh-CN" sz="5500" dirty="0"/>
              <a:t>static</a:t>
            </a:r>
            <a:r>
              <a:rPr lang="zh-CN" altLang="en-US" sz="5500" dirty="0"/>
              <a:t>关键字声明，它们在整个程序的执行期间都存在，并且只被初始化一次。静态变量存储在静态存储区。如果没有显式初始化静态变量，它们会被自动初始化为</a:t>
            </a:r>
            <a:r>
              <a:rPr lang="en-US" altLang="zh-CN" sz="5500" dirty="0"/>
              <a:t>0</a:t>
            </a:r>
            <a:r>
              <a:rPr lang="zh-CN" altLang="en-US" sz="5500" dirty="0"/>
              <a:t>。</a:t>
            </a:r>
          </a:p>
          <a:p>
            <a:pPr lvl="1">
              <a:lnSpc>
                <a:spcPct val="120000"/>
              </a:lnSpc>
              <a:spcBef>
                <a:spcPts val="1800"/>
              </a:spcBef>
            </a:pPr>
            <a:r>
              <a:rPr lang="zh-CN" altLang="en-US" sz="5500" dirty="0"/>
              <a:t>寄存器变量（</a:t>
            </a:r>
            <a:r>
              <a:rPr lang="en-US" altLang="zh-CN" sz="5500" dirty="0"/>
              <a:t>register</a:t>
            </a:r>
            <a:r>
              <a:rPr lang="zh-CN" altLang="en-US" sz="5500" dirty="0"/>
              <a:t>）：寄存器变量是使用</a:t>
            </a:r>
            <a:r>
              <a:rPr lang="en-US" altLang="zh-CN" sz="5500" dirty="0"/>
              <a:t>register</a:t>
            </a:r>
            <a:r>
              <a:rPr lang="zh-CN" altLang="en-US" sz="5500" dirty="0"/>
              <a:t>声明的局部变量，建议编译器将其存储在</a:t>
            </a:r>
            <a:r>
              <a:rPr lang="en-US" altLang="zh-CN" sz="5500" dirty="0"/>
              <a:t>CPU</a:t>
            </a:r>
            <a:r>
              <a:rPr lang="zh-CN" altLang="en-US" sz="5500" dirty="0"/>
              <a:t>的寄存器中，主要用于频繁引用且需要加速计算的变量。由于寄存器数量有限，编译器可能会忽略</a:t>
            </a:r>
            <a:r>
              <a:rPr lang="en-US" altLang="zh-CN" sz="5500" dirty="0"/>
              <a:t>register</a:t>
            </a:r>
            <a:r>
              <a:rPr lang="zh-CN" altLang="en-US" sz="5500" dirty="0"/>
              <a:t>关键字的请求。</a:t>
            </a:r>
          </a:p>
          <a:p>
            <a:pPr lvl="1">
              <a:lnSpc>
                <a:spcPct val="120000"/>
              </a:lnSpc>
              <a:spcBef>
                <a:spcPts val="1800"/>
              </a:spcBef>
            </a:pPr>
            <a:r>
              <a:rPr lang="zh-CN" altLang="en-US" sz="5500" dirty="0"/>
              <a:t>外部变量（</a:t>
            </a:r>
            <a:r>
              <a:rPr lang="en-US" altLang="zh-CN" sz="5500" dirty="0"/>
              <a:t>extern</a:t>
            </a:r>
            <a:r>
              <a:rPr lang="zh-CN" altLang="en-US" sz="5500" dirty="0"/>
              <a:t>）：外部变量是在函数外部使用</a:t>
            </a:r>
            <a:r>
              <a:rPr lang="en-US" altLang="zh-CN" sz="5500" dirty="0"/>
              <a:t>extern</a:t>
            </a:r>
            <a:r>
              <a:rPr lang="zh-CN" altLang="en-US" sz="5500" dirty="0"/>
              <a:t>关键字声明的全局变量，表示该变量是在其他源文件中定义的全局变量。</a:t>
            </a:r>
            <a:endParaRPr lang="en-US" altLang="zh-CN" sz="5500" dirty="0"/>
          </a:p>
        </p:txBody>
      </p:sp>
    </p:spTree>
    <p:custDataLst>
      <p:tags r:id="rId1"/>
    </p:custDataLst>
    <p:extLst>
      <p:ext uri="{BB962C8B-B14F-4D97-AF65-F5344CB8AC3E}">
        <p14:creationId xmlns:p14="http://schemas.microsoft.com/office/powerpoint/2010/main" val="424195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4.3.2 </a:t>
            </a:r>
            <a:r>
              <a:rPr lang="zh-CN" altLang="en-US" dirty="0"/>
              <a:t>变量的存储类别</a:t>
            </a:r>
          </a:p>
        </p:txBody>
      </p:sp>
      <p:sp>
        <p:nvSpPr>
          <p:cNvPr id="3" name="内容占位符 2"/>
          <p:cNvSpPr>
            <a:spLocks noGrp="1"/>
          </p:cNvSpPr>
          <p:nvPr>
            <p:ph idx="1"/>
          </p:nvPr>
        </p:nvSpPr>
        <p:spPr/>
        <p:txBody>
          <a:bodyPr>
            <a:normAutofit/>
          </a:bodyPr>
          <a:lstStyle/>
          <a:p>
            <a:r>
              <a:rPr lang="en-US" altLang="zh-CN" dirty="0">
                <a:sym typeface="+mn-ea"/>
              </a:rPr>
              <a:t>1.</a:t>
            </a:r>
            <a:r>
              <a:rPr lang="zh-CN" altLang="en-US" dirty="0"/>
              <a:t>存储属性</a:t>
            </a:r>
          </a:p>
          <a:p>
            <a:pPr lvl="1"/>
            <a:r>
              <a:rPr lang="zh-CN" altLang="en-US" dirty="0"/>
              <a:t>变量的存储区域：</a:t>
            </a:r>
            <a:endParaRPr lang="en-US" altLang="zh-CN" dirty="0"/>
          </a:p>
          <a:p>
            <a:pPr marL="457200" lvl="1" indent="0">
              <a:buNone/>
            </a:pPr>
            <a:r>
              <a:rPr kumimoji="1" lang="en-US" altLang="zh-CN" sz="3200" dirty="0">
                <a:solidFill>
                  <a:srgbClr val="0000FF"/>
                </a:solidFill>
                <a:ea typeface="宋体" panose="02010600030101010101" pitchFamily="2" charset="-122"/>
              </a:rPr>
              <a:t>	</a:t>
            </a:r>
            <a:endParaRPr lang="en-US" altLang="zh-CN" dirty="0"/>
          </a:p>
        </p:txBody>
      </p:sp>
      <p:sp>
        <p:nvSpPr>
          <p:cNvPr id="12" name="AutoShape 11">
            <a:extLst>
              <a:ext uri="{FF2B5EF4-FFF2-40B4-BE49-F238E27FC236}">
                <a16:creationId xmlns:a16="http://schemas.microsoft.com/office/drawing/2014/main" id="{2C978EF3-E690-4BE6-AF07-DEECB585932B}"/>
              </a:ext>
            </a:extLst>
          </p:cNvPr>
          <p:cNvSpPr>
            <a:spLocks noChangeArrowheads="1"/>
          </p:cNvSpPr>
          <p:nvPr/>
        </p:nvSpPr>
        <p:spPr bwMode="auto">
          <a:xfrm>
            <a:off x="3982246" y="3067391"/>
            <a:ext cx="1407789" cy="289889"/>
          </a:xfrm>
          <a:prstGeom prst="leftArrow">
            <a:avLst>
              <a:gd name="adj1" fmla="val 50000"/>
              <a:gd name="adj2" fmla="val 10808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AutoShape 12">
            <a:extLst>
              <a:ext uri="{FF2B5EF4-FFF2-40B4-BE49-F238E27FC236}">
                <a16:creationId xmlns:a16="http://schemas.microsoft.com/office/drawing/2014/main" id="{4642BCF7-A431-4A23-87D2-B06B5EB77DD3}"/>
              </a:ext>
            </a:extLst>
          </p:cNvPr>
          <p:cNvSpPr>
            <a:spLocks noChangeArrowheads="1"/>
          </p:cNvSpPr>
          <p:nvPr/>
        </p:nvSpPr>
        <p:spPr bwMode="auto">
          <a:xfrm>
            <a:off x="3982246" y="3586909"/>
            <a:ext cx="1407789" cy="289889"/>
          </a:xfrm>
          <a:prstGeom prst="leftArrow">
            <a:avLst>
              <a:gd name="adj1" fmla="val 50000"/>
              <a:gd name="adj2" fmla="val 10808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Text Box 13">
            <a:extLst>
              <a:ext uri="{FF2B5EF4-FFF2-40B4-BE49-F238E27FC236}">
                <a16:creationId xmlns:a16="http://schemas.microsoft.com/office/drawing/2014/main" id="{6530B005-9354-4FA3-9E0D-6FA939872D01}"/>
              </a:ext>
            </a:extLst>
          </p:cNvPr>
          <p:cNvSpPr txBox="1">
            <a:spLocks noChangeArrowheads="1"/>
          </p:cNvSpPr>
          <p:nvPr/>
        </p:nvSpPr>
        <p:spPr bwMode="auto">
          <a:xfrm>
            <a:off x="5466078" y="2964207"/>
            <a:ext cx="36022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全局变量、局部</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static</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变量</a:t>
            </a:r>
          </a:p>
        </p:txBody>
      </p:sp>
      <p:sp>
        <p:nvSpPr>
          <p:cNvPr id="15" name="Text Box 14">
            <a:extLst>
              <a:ext uri="{FF2B5EF4-FFF2-40B4-BE49-F238E27FC236}">
                <a16:creationId xmlns:a16="http://schemas.microsoft.com/office/drawing/2014/main" id="{199144E2-D611-42B0-A17E-304343E9DE96}"/>
              </a:ext>
            </a:extLst>
          </p:cNvPr>
          <p:cNvSpPr txBox="1">
            <a:spLocks noChangeArrowheads="1"/>
          </p:cNvSpPr>
          <p:nvPr/>
        </p:nvSpPr>
        <p:spPr bwMode="auto">
          <a:xfrm>
            <a:off x="5546906" y="3508682"/>
            <a:ext cx="1944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局部</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auto</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变量</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graphicFrame>
        <p:nvGraphicFramePr>
          <p:cNvPr id="17" name="表格 17">
            <a:extLst>
              <a:ext uri="{FF2B5EF4-FFF2-40B4-BE49-F238E27FC236}">
                <a16:creationId xmlns:a16="http://schemas.microsoft.com/office/drawing/2014/main" id="{77AB01E6-15D4-454D-BD31-FF0C3068F52E}"/>
              </a:ext>
            </a:extLst>
          </p:cNvPr>
          <p:cNvGraphicFramePr>
            <a:graphicFrameLocks noGrp="1"/>
          </p:cNvGraphicFramePr>
          <p:nvPr/>
        </p:nvGraphicFramePr>
        <p:xfrm>
          <a:off x="1503361" y="2968672"/>
          <a:ext cx="2154238" cy="914400"/>
        </p:xfrm>
        <a:graphic>
          <a:graphicData uri="http://schemas.openxmlformats.org/drawingml/2006/table">
            <a:tbl>
              <a:tblPr firstRow="1" bandRow="1">
                <a:tableStyleId>{2D5ABB26-0587-4C30-8999-92F81FD0307C}</a:tableStyleId>
              </a:tblPr>
              <a:tblGrid>
                <a:gridCol w="2154238">
                  <a:extLst>
                    <a:ext uri="{9D8B030D-6E8A-4147-A177-3AD203B41FA5}">
                      <a16:colId xmlns:a16="http://schemas.microsoft.com/office/drawing/2014/main" val="151395562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dirty="0">
                          <a:solidFill>
                            <a:schemeClr val="accent2"/>
                          </a:solidFill>
                          <a:latin typeface="Times New Roman" panose="02020603050405020304" pitchFamily="18" charset="0"/>
                          <a:ea typeface="隶书" panose="02010509060101010101" pitchFamily="49" charset="-122"/>
                        </a:rPr>
                        <a:t>静态存储区</a:t>
                      </a:r>
                      <a:endParaRPr lang="zh-CN"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75696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dirty="0">
                          <a:solidFill>
                            <a:srgbClr val="0000FF"/>
                          </a:solidFill>
                          <a:latin typeface="Times New Roman" panose="02020603050405020304" pitchFamily="18" charset="0"/>
                          <a:ea typeface="隶书" panose="02010509060101010101" pitchFamily="49" charset="-122"/>
                        </a:rPr>
                        <a:t>动态存储区</a:t>
                      </a:r>
                      <a:endParaRPr kumimoji="1" lang="zh-CN" altLang="en-US" sz="2400" b="0" dirty="0">
                        <a:solidFill>
                          <a:schemeClr val="tx1"/>
                        </a:solidFill>
                        <a:latin typeface="Times New Roman" panose="02020603050405020304" pitchFamily="18" charset="0"/>
                        <a:ea typeface="隶书" panose="020105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6404452"/>
                  </a:ext>
                </a:extLst>
              </a:tr>
            </a:tbl>
          </a:graphicData>
        </a:graphic>
      </p:graphicFrame>
      <p:sp>
        <p:nvSpPr>
          <p:cNvPr id="19" name="文本框 18">
            <a:extLst>
              <a:ext uri="{FF2B5EF4-FFF2-40B4-BE49-F238E27FC236}">
                <a16:creationId xmlns:a16="http://schemas.microsoft.com/office/drawing/2014/main" id="{A278B51F-5577-4471-8157-29E343086807}"/>
              </a:ext>
            </a:extLst>
          </p:cNvPr>
          <p:cNvSpPr txBox="1"/>
          <p:nvPr/>
        </p:nvSpPr>
        <p:spPr>
          <a:xfrm>
            <a:off x="1876585" y="2502542"/>
            <a:ext cx="140778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7030A0"/>
                </a:solidFill>
                <a:effectLst/>
                <a:uLnTx/>
                <a:uFillTx/>
                <a:latin typeface="Times New Roman" panose="02020603050405020304" pitchFamily="18" charset="0"/>
                <a:ea typeface="隶书" panose="02010509060101010101" pitchFamily="49" charset="-122"/>
                <a:cs typeface="+mn-cs"/>
              </a:rPr>
              <a:t>内存</a:t>
            </a:r>
            <a:endParaRPr kumimoji="0" lang="zh-CN" altLang="en-US" sz="2400" b="0" i="0" u="none" strike="noStrike" kern="1200" cap="none" spc="0" normalizeH="0" baseline="0" noProof="0" dirty="0">
              <a:ln>
                <a:noFill/>
              </a:ln>
              <a:solidFill>
                <a:srgbClr val="7030A0"/>
              </a:solidFill>
              <a:effectLst/>
              <a:uLnTx/>
              <a:uFillTx/>
              <a:latin typeface="Arial"/>
              <a:ea typeface="微软雅黑"/>
              <a:cs typeface="+mn-cs"/>
            </a:endParaRPr>
          </a:p>
        </p:txBody>
      </p:sp>
      <p:sp>
        <p:nvSpPr>
          <p:cNvPr id="20" name="文本框 19">
            <a:extLst>
              <a:ext uri="{FF2B5EF4-FFF2-40B4-BE49-F238E27FC236}">
                <a16:creationId xmlns:a16="http://schemas.microsoft.com/office/drawing/2014/main" id="{CB6E5C67-12EA-4339-B2A0-580D2ED463E5}"/>
              </a:ext>
            </a:extLst>
          </p:cNvPr>
          <p:cNvSpPr txBox="1"/>
          <p:nvPr/>
        </p:nvSpPr>
        <p:spPr>
          <a:xfrm>
            <a:off x="1857922" y="4424165"/>
            <a:ext cx="1407789"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B050"/>
                </a:solidFill>
                <a:effectLst/>
                <a:uLnTx/>
                <a:uFillTx/>
                <a:latin typeface="Times New Roman" panose="02020603050405020304" pitchFamily="18" charset="0"/>
                <a:ea typeface="隶书" panose="02010509060101010101" pitchFamily="49" charset="-122"/>
                <a:cs typeface="+mn-cs"/>
              </a:rPr>
              <a:t>寄存器</a:t>
            </a:r>
            <a:endParaRPr kumimoji="0" lang="zh-CN" altLang="en-US" sz="2400" b="0" i="0" u="none" strike="noStrike" kern="1200" cap="none" spc="0" normalizeH="0" baseline="0" noProof="0" dirty="0">
              <a:ln>
                <a:noFill/>
              </a:ln>
              <a:solidFill>
                <a:srgbClr val="00B050"/>
              </a:solidFill>
              <a:effectLst/>
              <a:uLnTx/>
              <a:uFillTx/>
              <a:latin typeface="Arial"/>
              <a:ea typeface="微软雅黑"/>
              <a:cs typeface="+mn-cs"/>
            </a:endParaRPr>
          </a:p>
        </p:txBody>
      </p:sp>
      <p:graphicFrame>
        <p:nvGraphicFramePr>
          <p:cNvPr id="22" name="表格 17">
            <a:extLst>
              <a:ext uri="{FF2B5EF4-FFF2-40B4-BE49-F238E27FC236}">
                <a16:creationId xmlns:a16="http://schemas.microsoft.com/office/drawing/2014/main" id="{F31FCD64-D634-4E1B-B9F6-5CA8B109C735}"/>
              </a:ext>
            </a:extLst>
          </p:cNvPr>
          <p:cNvGraphicFramePr>
            <a:graphicFrameLocks noGrp="1"/>
          </p:cNvGraphicFramePr>
          <p:nvPr/>
        </p:nvGraphicFramePr>
        <p:xfrm>
          <a:off x="1484697" y="4885830"/>
          <a:ext cx="2154238" cy="461665"/>
        </p:xfrm>
        <a:graphic>
          <a:graphicData uri="http://schemas.openxmlformats.org/drawingml/2006/table">
            <a:tbl>
              <a:tblPr firstRow="1" bandRow="1">
                <a:tableStyleId>{2D5ABB26-0587-4C30-8999-92F81FD0307C}</a:tableStyleId>
              </a:tblPr>
              <a:tblGrid>
                <a:gridCol w="2154238">
                  <a:extLst>
                    <a:ext uri="{9D8B030D-6E8A-4147-A177-3AD203B41FA5}">
                      <a16:colId xmlns:a16="http://schemas.microsoft.com/office/drawing/2014/main" val="1513955625"/>
                    </a:ext>
                  </a:extLst>
                </a:gridCol>
              </a:tblGrid>
              <a:tr h="461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2400" b="0" dirty="0">
                        <a:solidFill>
                          <a:schemeClr val="tx1"/>
                        </a:solidFill>
                        <a:latin typeface="Times New Roman" panose="02020603050405020304" pitchFamily="18" charset="0"/>
                        <a:ea typeface="隶书" panose="020105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7569660"/>
                  </a:ext>
                </a:extLst>
              </a:tr>
            </a:tbl>
          </a:graphicData>
        </a:graphic>
      </p:graphicFrame>
      <p:sp>
        <p:nvSpPr>
          <p:cNvPr id="23" name="AutoShape 11">
            <a:extLst>
              <a:ext uri="{FF2B5EF4-FFF2-40B4-BE49-F238E27FC236}">
                <a16:creationId xmlns:a16="http://schemas.microsoft.com/office/drawing/2014/main" id="{06A83182-ADA7-4E07-94D9-5213037E2408}"/>
              </a:ext>
            </a:extLst>
          </p:cNvPr>
          <p:cNvSpPr>
            <a:spLocks noChangeArrowheads="1"/>
          </p:cNvSpPr>
          <p:nvPr/>
        </p:nvSpPr>
        <p:spPr bwMode="auto">
          <a:xfrm>
            <a:off x="3982245" y="4996862"/>
            <a:ext cx="1407789" cy="289889"/>
          </a:xfrm>
          <a:prstGeom prst="leftArrow">
            <a:avLst>
              <a:gd name="adj1" fmla="val 50000"/>
              <a:gd name="adj2" fmla="val 10808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Text Box 14">
            <a:extLst>
              <a:ext uri="{FF2B5EF4-FFF2-40B4-BE49-F238E27FC236}">
                <a16:creationId xmlns:a16="http://schemas.microsoft.com/office/drawing/2014/main" id="{18921BDA-1509-41E9-9E64-53DD748B58E1}"/>
              </a:ext>
            </a:extLst>
          </p:cNvPr>
          <p:cNvSpPr txBox="1">
            <a:spLocks noChangeArrowheads="1"/>
          </p:cNvSpPr>
          <p:nvPr/>
        </p:nvSpPr>
        <p:spPr bwMode="auto">
          <a:xfrm>
            <a:off x="5592759" y="4885830"/>
            <a:ext cx="19447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register</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变量</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custDataLst>
      <p:tags r:id="rId1"/>
    </p:custDataLst>
    <p:extLst>
      <p:ext uri="{BB962C8B-B14F-4D97-AF65-F5344CB8AC3E}">
        <p14:creationId xmlns:p14="http://schemas.microsoft.com/office/powerpoint/2010/main" val="19037189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4.3.2 </a:t>
            </a:r>
            <a:r>
              <a:rPr lang="zh-CN" altLang="en-US" dirty="0"/>
              <a:t>变量的存储类别</a:t>
            </a:r>
          </a:p>
        </p:txBody>
      </p:sp>
      <p:sp>
        <p:nvSpPr>
          <p:cNvPr id="3" name="内容占位符 2"/>
          <p:cNvSpPr>
            <a:spLocks noGrp="1"/>
          </p:cNvSpPr>
          <p:nvPr>
            <p:ph idx="1"/>
          </p:nvPr>
        </p:nvSpPr>
        <p:spPr>
          <a:xfrm>
            <a:off x="669925" y="1137920"/>
            <a:ext cx="10852150" cy="5598782"/>
          </a:xfrm>
        </p:spPr>
        <p:txBody>
          <a:bodyPr>
            <a:normAutofit fontScale="92500" lnSpcReduction="10000"/>
          </a:bodyPr>
          <a:lstStyle/>
          <a:p>
            <a:r>
              <a:rPr lang="en-US" altLang="zh-CN" dirty="0">
                <a:sym typeface="+mn-ea"/>
              </a:rPr>
              <a:t>1.</a:t>
            </a:r>
            <a:r>
              <a:rPr lang="zh-CN" altLang="en-US" dirty="0"/>
              <a:t>存储属性</a:t>
            </a:r>
            <a:endParaRPr lang="en-US" altLang="zh-CN" dirty="0"/>
          </a:p>
          <a:p>
            <a:endParaRPr lang="en-US" altLang="zh-CN" dirty="0"/>
          </a:p>
          <a:p>
            <a:endParaRPr lang="en-US" altLang="zh-CN" dirty="0"/>
          </a:p>
          <a:p>
            <a:endParaRPr lang="en-US" altLang="zh-CN" dirty="0"/>
          </a:p>
          <a:p>
            <a:endParaRPr lang="en-US" altLang="zh-CN" dirty="0"/>
          </a:p>
          <a:p>
            <a:pPr lvl="1"/>
            <a:r>
              <a:rPr lang="zh-CN" altLang="en-US" sz="2800" dirty="0"/>
              <a:t>局部变量若未说明存储类型，默认为</a:t>
            </a:r>
            <a:r>
              <a:rPr lang="en-US" altLang="zh-CN" sz="2800" dirty="0"/>
              <a:t>auto</a:t>
            </a:r>
            <a:r>
              <a:rPr lang="zh-CN" altLang="en-US" sz="2800" dirty="0"/>
              <a:t>型。</a:t>
            </a:r>
            <a:endParaRPr lang="en-US" altLang="zh-CN" sz="2800" dirty="0"/>
          </a:p>
          <a:p>
            <a:pPr lvl="1"/>
            <a:r>
              <a:rPr lang="en-US" altLang="zh-CN" sz="2800" dirty="0"/>
              <a:t>register</a:t>
            </a:r>
            <a:r>
              <a:rPr lang="zh-CN" altLang="en-US" sz="2800" dirty="0"/>
              <a:t>变量存储在寄存器中，计算速度更快。</a:t>
            </a:r>
          </a:p>
          <a:p>
            <a:pPr lvl="1"/>
            <a:r>
              <a:rPr lang="zh-CN" altLang="en-US" sz="2800" dirty="0"/>
              <a:t>局部</a:t>
            </a:r>
            <a:r>
              <a:rPr lang="en-US" altLang="zh-CN" sz="2800" dirty="0"/>
              <a:t>static</a:t>
            </a:r>
            <a:r>
              <a:rPr lang="zh-CN" altLang="en-US" sz="2800" dirty="0"/>
              <a:t>变量具有全局寿命和局部可见性。</a:t>
            </a:r>
          </a:p>
          <a:p>
            <a:pPr lvl="1"/>
            <a:r>
              <a:rPr lang="zh-CN" altLang="en-US" sz="2800" dirty="0"/>
              <a:t>局部</a:t>
            </a:r>
            <a:r>
              <a:rPr lang="en-US" altLang="zh-CN" sz="2800" dirty="0"/>
              <a:t>static</a:t>
            </a:r>
            <a:r>
              <a:rPr lang="zh-CN" altLang="en-US" sz="2800" dirty="0"/>
              <a:t>变量</a:t>
            </a:r>
            <a:r>
              <a:rPr lang="zh-CN" altLang="en-US" sz="2800" dirty="0">
                <a:solidFill>
                  <a:srgbClr val="FF0000"/>
                </a:solidFill>
              </a:rPr>
              <a:t>只初始化一次</a:t>
            </a:r>
            <a:r>
              <a:rPr lang="zh-CN" altLang="en-US" sz="2800" dirty="0"/>
              <a:t>。之后再次调用函数不会重新初始化该变量，而是继续使用上一次调用结束时的值。</a:t>
            </a:r>
            <a:endParaRPr lang="en-US" altLang="zh-CN" sz="2800" dirty="0"/>
          </a:p>
        </p:txBody>
      </p:sp>
      <p:grpSp>
        <p:nvGrpSpPr>
          <p:cNvPr id="138" name="组合 137">
            <a:extLst>
              <a:ext uri="{FF2B5EF4-FFF2-40B4-BE49-F238E27FC236}">
                <a16:creationId xmlns:a16="http://schemas.microsoft.com/office/drawing/2014/main" id="{BE70A02E-6AD2-42C0-A406-DE0869EC5E28}"/>
              </a:ext>
            </a:extLst>
          </p:cNvPr>
          <p:cNvGrpSpPr/>
          <p:nvPr/>
        </p:nvGrpSpPr>
        <p:grpSpPr>
          <a:xfrm>
            <a:off x="1397712" y="1828799"/>
            <a:ext cx="10805659" cy="2631233"/>
            <a:chOff x="247650" y="990600"/>
            <a:chExt cx="9596438" cy="3892550"/>
          </a:xfrm>
        </p:grpSpPr>
        <p:grpSp>
          <p:nvGrpSpPr>
            <p:cNvPr id="139" name="Group 3">
              <a:extLst>
                <a:ext uri="{FF2B5EF4-FFF2-40B4-BE49-F238E27FC236}">
                  <a16:creationId xmlns:a16="http://schemas.microsoft.com/office/drawing/2014/main" id="{0EBDA769-A476-4A6A-B2F1-3988B34A9AC2}"/>
                </a:ext>
              </a:extLst>
            </p:cNvPr>
            <p:cNvGrpSpPr>
              <a:grpSpLocks/>
            </p:cNvGrpSpPr>
            <p:nvPr/>
          </p:nvGrpSpPr>
          <p:grpSpPr bwMode="auto">
            <a:xfrm>
              <a:off x="303259" y="990600"/>
              <a:ext cx="8612141" cy="3810000"/>
              <a:chOff x="191" y="660"/>
              <a:chExt cx="5412" cy="2340"/>
            </a:xfrm>
          </p:grpSpPr>
          <p:grpSp>
            <p:nvGrpSpPr>
              <p:cNvPr id="175" name="Group 4">
                <a:extLst>
                  <a:ext uri="{FF2B5EF4-FFF2-40B4-BE49-F238E27FC236}">
                    <a16:creationId xmlns:a16="http://schemas.microsoft.com/office/drawing/2014/main" id="{3FC9CA4F-54EA-4475-A7F8-8FC36A3C8185}"/>
                  </a:ext>
                </a:extLst>
              </p:cNvPr>
              <p:cNvGrpSpPr>
                <a:grpSpLocks/>
              </p:cNvGrpSpPr>
              <p:nvPr/>
            </p:nvGrpSpPr>
            <p:grpSpPr bwMode="auto">
              <a:xfrm>
                <a:off x="192" y="660"/>
                <a:ext cx="5400" cy="2340"/>
                <a:chOff x="180" y="396"/>
                <a:chExt cx="5400" cy="3672"/>
              </a:xfrm>
            </p:grpSpPr>
            <p:sp>
              <p:nvSpPr>
                <p:cNvPr id="194" name="Rectangle 5">
                  <a:extLst>
                    <a:ext uri="{FF2B5EF4-FFF2-40B4-BE49-F238E27FC236}">
                      <a16:creationId xmlns:a16="http://schemas.microsoft.com/office/drawing/2014/main" id="{31FBEA3C-EF2A-4D14-9FC1-EA38372E5709}"/>
                    </a:ext>
                  </a:extLst>
                </p:cNvPr>
                <p:cNvSpPr>
                  <a:spLocks noChangeArrowheads="1"/>
                </p:cNvSpPr>
                <p:nvPr/>
              </p:nvSpPr>
              <p:spPr bwMode="auto">
                <a:xfrm>
                  <a:off x="180" y="408"/>
                  <a:ext cx="5400" cy="3660"/>
                </a:xfrm>
                <a:prstGeom prst="rect">
                  <a:avLst/>
                </a:prstGeom>
                <a:solidFill>
                  <a:srgbClr val="FFFFFF"/>
                </a:solidFill>
                <a:ln w="38100">
                  <a:solidFill>
                    <a:schemeClr val="tx1"/>
                  </a:solidFill>
                  <a:miter lim="800000"/>
                  <a:headEnd/>
                  <a:tailEnd/>
                </a:ln>
              </p:spPr>
              <p:txBody>
                <a:bodyPr wrap="none" anchor="ct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5" name="Line 6">
                  <a:extLst>
                    <a:ext uri="{FF2B5EF4-FFF2-40B4-BE49-F238E27FC236}">
                      <a16:creationId xmlns:a16="http://schemas.microsoft.com/office/drawing/2014/main" id="{EF63DFAA-3507-4A11-83D6-CF70F564C668}"/>
                    </a:ext>
                  </a:extLst>
                </p:cNvPr>
                <p:cNvSpPr>
                  <a:spLocks noChangeShapeType="1"/>
                </p:cNvSpPr>
                <p:nvPr/>
              </p:nvSpPr>
              <p:spPr bwMode="auto">
                <a:xfrm>
                  <a:off x="1008" y="396"/>
                  <a:ext cx="0" cy="36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grpSp>
          <p:sp>
            <p:nvSpPr>
              <p:cNvPr id="176" name="Line 7">
                <a:extLst>
                  <a:ext uri="{FF2B5EF4-FFF2-40B4-BE49-F238E27FC236}">
                    <a16:creationId xmlns:a16="http://schemas.microsoft.com/office/drawing/2014/main" id="{C5A53305-0A24-4574-87A0-BB80CBA797B4}"/>
                  </a:ext>
                </a:extLst>
              </p:cNvPr>
              <p:cNvSpPr>
                <a:spLocks noChangeShapeType="1"/>
              </p:cNvSpPr>
              <p:nvPr/>
            </p:nvSpPr>
            <p:spPr bwMode="auto">
              <a:xfrm flipV="1">
                <a:off x="198" y="948"/>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77" name="Line 8">
                <a:extLst>
                  <a:ext uri="{FF2B5EF4-FFF2-40B4-BE49-F238E27FC236}">
                    <a16:creationId xmlns:a16="http://schemas.microsoft.com/office/drawing/2014/main" id="{1C64D4CB-B89A-478A-8B9A-074B292E14F2}"/>
                  </a:ext>
                </a:extLst>
              </p:cNvPr>
              <p:cNvSpPr>
                <a:spLocks noChangeShapeType="1"/>
              </p:cNvSpPr>
              <p:nvPr/>
            </p:nvSpPr>
            <p:spPr bwMode="auto">
              <a:xfrm flipV="1">
                <a:off x="191" y="1236"/>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78" name="Line 9">
                <a:extLst>
                  <a:ext uri="{FF2B5EF4-FFF2-40B4-BE49-F238E27FC236}">
                    <a16:creationId xmlns:a16="http://schemas.microsoft.com/office/drawing/2014/main" id="{D7A4119A-BB69-489C-AF0E-2E2A21C22D6C}"/>
                  </a:ext>
                </a:extLst>
              </p:cNvPr>
              <p:cNvSpPr>
                <a:spLocks noChangeShapeType="1"/>
              </p:cNvSpPr>
              <p:nvPr/>
            </p:nvSpPr>
            <p:spPr bwMode="auto">
              <a:xfrm flipV="1">
                <a:off x="191" y="1524"/>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79" name="Line 10">
                <a:extLst>
                  <a:ext uri="{FF2B5EF4-FFF2-40B4-BE49-F238E27FC236}">
                    <a16:creationId xmlns:a16="http://schemas.microsoft.com/office/drawing/2014/main" id="{1B672EB6-AD63-4694-A9AA-1A2317689B72}"/>
                  </a:ext>
                </a:extLst>
              </p:cNvPr>
              <p:cNvSpPr>
                <a:spLocks noChangeShapeType="1"/>
              </p:cNvSpPr>
              <p:nvPr/>
            </p:nvSpPr>
            <p:spPr bwMode="auto">
              <a:xfrm flipV="1">
                <a:off x="191" y="1812"/>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0" name="Line 11">
                <a:extLst>
                  <a:ext uri="{FF2B5EF4-FFF2-40B4-BE49-F238E27FC236}">
                    <a16:creationId xmlns:a16="http://schemas.microsoft.com/office/drawing/2014/main" id="{4F095458-FFB1-4FFD-8D9D-FC084B1C4BED}"/>
                  </a:ext>
                </a:extLst>
              </p:cNvPr>
              <p:cNvSpPr>
                <a:spLocks noChangeShapeType="1"/>
              </p:cNvSpPr>
              <p:nvPr/>
            </p:nvSpPr>
            <p:spPr bwMode="auto">
              <a:xfrm>
                <a:off x="3696" y="660"/>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1" name="Line 12">
                <a:extLst>
                  <a:ext uri="{FF2B5EF4-FFF2-40B4-BE49-F238E27FC236}">
                    <a16:creationId xmlns:a16="http://schemas.microsoft.com/office/drawing/2014/main" id="{A6BE6140-8F37-4CCB-B94C-16057E710011}"/>
                  </a:ext>
                </a:extLst>
              </p:cNvPr>
              <p:cNvSpPr>
                <a:spLocks noChangeShapeType="1"/>
              </p:cNvSpPr>
              <p:nvPr/>
            </p:nvSpPr>
            <p:spPr bwMode="auto">
              <a:xfrm>
                <a:off x="1788" y="948"/>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2" name="Line 13">
                <a:extLst>
                  <a:ext uri="{FF2B5EF4-FFF2-40B4-BE49-F238E27FC236}">
                    <a16:creationId xmlns:a16="http://schemas.microsoft.com/office/drawing/2014/main" id="{AC0E4B1B-0949-4502-8BF0-7EFA8ABD189F}"/>
                  </a:ext>
                </a:extLst>
              </p:cNvPr>
              <p:cNvSpPr>
                <a:spLocks noChangeShapeType="1"/>
              </p:cNvSpPr>
              <p:nvPr/>
            </p:nvSpPr>
            <p:spPr bwMode="auto">
              <a:xfrm>
                <a:off x="2752" y="960"/>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3" name="Line 14">
                <a:extLst>
                  <a:ext uri="{FF2B5EF4-FFF2-40B4-BE49-F238E27FC236}">
                    <a16:creationId xmlns:a16="http://schemas.microsoft.com/office/drawing/2014/main" id="{07D0FF89-6F58-4FC1-BA1B-ED9F5AB418A8}"/>
                  </a:ext>
                </a:extLst>
              </p:cNvPr>
              <p:cNvSpPr>
                <a:spLocks noChangeShapeType="1"/>
              </p:cNvSpPr>
              <p:nvPr/>
            </p:nvSpPr>
            <p:spPr bwMode="auto">
              <a:xfrm>
                <a:off x="3692" y="960"/>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4" name="Line 16">
                <a:extLst>
                  <a:ext uri="{FF2B5EF4-FFF2-40B4-BE49-F238E27FC236}">
                    <a16:creationId xmlns:a16="http://schemas.microsoft.com/office/drawing/2014/main" id="{375B4542-654B-4D75-B400-E365ADE30964}"/>
                  </a:ext>
                </a:extLst>
              </p:cNvPr>
              <p:cNvSpPr>
                <a:spLocks noChangeShapeType="1"/>
              </p:cNvSpPr>
              <p:nvPr/>
            </p:nvSpPr>
            <p:spPr bwMode="auto">
              <a:xfrm>
                <a:off x="2752" y="1248"/>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5" name="Line 17">
                <a:extLst>
                  <a:ext uri="{FF2B5EF4-FFF2-40B4-BE49-F238E27FC236}">
                    <a16:creationId xmlns:a16="http://schemas.microsoft.com/office/drawing/2014/main" id="{D7207F5F-1672-4F65-B455-4F67A4D22239}"/>
                  </a:ext>
                </a:extLst>
              </p:cNvPr>
              <p:cNvSpPr>
                <a:spLocks noChangeShapeType="1"/>
              </p:cNvSpPr>
              <p:nvPr/>
            </p:nvSpPr>
            <p:spPr bwMode="auto">
              <a:xfrm>
                <a:off x="2752" y="1548"/>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6" name="Line 18">
                <a:extLst>
                  <a:ext uri="{FF2B5EF4-FFF2-40B4-BE49-F238E27FC236}">
                    <a16:creationId xmlns:a16="http://schemas.microsoft.com/office/drawing/2014/main" id="{1049202A-5B8C-4FE8-B030-6A114ABAF99D}"/>
                  </a:ext>
                </a:extLst>
              </p:cNvPr>
              <p:cNvSpPr>
                <a:spLocks noChangeShapeType="1"/>
              </p:cNvSpPr>
              <p:nvPr/>
            </p:nvSpPr>
            <p:spPr bwMode="auto">
              <a:xfrm>
                <a:off x="1788" y="1536"/>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7" name="Line 19">
                <a:extLst>
                  <a:ext uri="{FF2B5EF4-FFF2-40B4-BE49-F238E27FC236}">
                    <a16:creationId xmlns:a16="http://schemas.microsoft.com/office/drawing/2014/main" id="{55968E6A-5BE7-45B8-BCA5-3DE8E52F86D1}"/>
                  </a:ext>
                </a:extLst>
              </p:cNvPr>
              <p:cNvSpPr>
                <a:spLocks noChangeShapeType="1"/>
              </p:cNvSpPr>
              <p:nvPr/>
            </p:nvSpPr>
            <p:spPr bwMode="auto">
              <a:xfrm flipV="1">
                <a:off x="191" y="2100"/>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8" name="Line 20">
                <a:extLst>
                  <a:ext uri="{FF2B5EF4-FFF2-40B4-BE49-F238E27FC236}">
                    <a16:creationId xmlns:a16="http://schemas.microsoft.com/office/drawing/2014/main" id="{B971D92D-6E8F-4C42-81FE-083667923897}"/>
                  </a:ext>
                </a:extLst>
              </p:cNvPr>
              <p:cNvSpPr>
                <a:spLocks noChangeShapeType="1"/>
              </p:cNvSpPr>
              <p:nvPr/>
            </p:nvSpPr>
            <p:spPr bwMode="auto">
              <a:xfrm>
                <a:off x="2752" y="1824"/>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9" name="Line 21">
                <a:extLst>
                  <a:ext uri="{FF2B5EF4-FFF2-40B4-BE49-F238E27FC236}">
                    <a16:creationId xmlns:a16="http://schemas.microsoft.com/office/drawing/2014/main" id="{BE25E6AA-8739-4756-A64B-2761B01A0E08}"/>
                  </a:ext>
                </a:extLst>
              </p:cNvPr>
              <p:cNvSpPr>
                <a:spLocks noChangeShapeType="1"/>
              </p:cNvSpPr>
              <p:nvPr/>
            </p:nvSpPr>
            <p:spPr bwMode="auto">
              <a:xfrm flipV="1">
                <a:off x="203" y="2388"/>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0" name="Line 22">
                <a:extLst>
                  <a:ext uri="{FF2B5EF4-FFF2-40B4-BE49-F238E27FC236}">
                    <a16:creationId xmlns:a16="http://schemas.microsoft.com/office/drawing/2014/main" id="{5606BA4B-583C-4ACD-9026-6D32CDE53DD7}"/>
                  </a:ext>
                </a:extLst>
              </p:cNvPr>
              <p:cNvSpPr>
                <a:spLocks noChangeShapeType="1"/>
              </p:cNvSpPr>
              <p:nvPr/>
            </p:nvSpPr>
            <p:spPr bwMode="auto">
              <a:xfrm>
                <a:off x="3692" y="2112"/>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1" name="Line 24">
                <a:extLst>
                  <a:ext uri="{FF2B5EF4-FFF2-40B4-BE49-F238E27FC236}">
                    <a16:creationId xmlns:a16="http://schemas.microsoft.com/office/drawing/2014/main" id="{C1A35DF1-B776-4937-8678-202F2070D845}"/>
                  </a:ext>
                </a:extLst>
              </p:cNvPr>
              <p:cNvSpPr>
                <a:spLocks noChangeShapeType="1"/>
              </p:cNvSpPr>
              <p:nvPr/>
            </p:nvSpPr>
            <p:spPr bwMode="auto">
              <a:xfrm>
                <a:off x="2752" y="2388"/>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2" name="Line 25">
                <a:extLst>
                  <a:ext uri="{FF2B5EF4-FFF2-40B4-BE49-F238E27FC236}">
                    <a16:creationId xmlns:a16="http://schemas.microsoft.com/office/drawing/2014/main" id="{D7B5F683-D716-4ED5-B268-A6B3D39AD0AB}"/>
                  </a:ext>
                </a:extLst>
              </p:cNvPr>
              <p:cNvSpPr>
                <a:spLocks noChangeShapeType="1"/>
              </p:cNvSpPr>
              <p:nvPr/>
            </p:nvSpPr>
            <p:spPr bwMode="auto">
              <a:xfrm flipV="1">
                <a:off x="191" y="2676"/>
                <a:ext cx="5400" cy="1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3" name="Line 26">
                <a:extLst>
                  <a:ext uri="{FF2B5EF4-FFF2-40B4-BE49-F238E27FC236}">
                    <a16:creationId xmlns:a16="http://schemas.microsoft.com/office/drawing/2014/main" id="{09B28444-C442-4434-8B63-750069A04021}"/>
                  </a:ext>
                </a:extLst>
              </p:cNvPr>
              <p:cNvSpPr>
                <a:spLocks noChangeShapeType="1"/>
              </p:cNvSpPr>
              <p:nvPr/>
            </p:nvSpPr>
            <p:spPr bwMode="auto">
              <a:xfrm>
                <a:off x="2753" y="2688"/>
                <a:ext cx="0" cy="3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grpSp>
        <p:grpSp>
          <p:nvGrpSpPr>
            <p:cNvPr id="140" name="Group 27">
              <a:extLst>
                <a:ext uri="{FF2B5EF4-FFF2-40B4-BE49-F238E27FC236}">
                  <a16:creationId xmlns:a16="http://schemas.microsoft.com/office/drawing/2014/main" id="{6EFB6644-2B6C-458D-8F5F-3B32330C4E82}"/>
                </a:ext>
              </a:extLst>
            </p:cNvPr>
            <p:cNvGrpSpPr>
              <a:grpSpLocks/>
            </p:cNvGrpSpPr>
            <p:nvPr/>
          </p:nvGrpSpPr>
          <p:grpSpPr bwMode="auto">
            <a:xfrm>
              <a:off x="266700" y="1922467"/>
              <a:ext cx="6777038" cy="473076"/>
              <a:chOff x="168" y="1211"/>
              <a:chExt cx="4269" cy="298"/>
            </a:xfrm>
          </p:grpSpPr>
          <p:sp>
            <p:nvSpPr>
              <p:cNvPr id="172" name="Text Box 28">
                <a:extLst>
                  <a:ext uri="{FF2B5EF4-FFF2-40B4-BE49-F238E27FC236}">
                    <a16:creationId xmlns:a16="http://schemas.microsoft.com/office/drawing/2014/main" id="{95242C88-C29C-4D50-B378-1AAEAB662D5D}"/>
                  </a:ext>
                </a:extLst>
              </p:cNvPr>
              <p:cNvSpPr txBox="1">
                <a:spLocks noChangeArrowheads="1"/>
              </p:cNvSpPr>
              <p:nvPr/>
            </p:nvSpPr>
            <p:spPr bwMode="auto">
              <a:xfrm>
                <a:off x="3937" y="1211"/>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9900"/>
                    </a:solidFill>
                    <a:effectLst/>
                    <a:uLnTx/>
                    <a:uFillTx/>
                    <a:latin typeface="Times New Roman" panose="02020603050405020304" pitchFamily="18" charset="0"/>
                    <a:ea typeface="隶书" panose="02010509060101010101" pitchFamily="49" charset="-122"/>
                    <a:cs typeface="+mn-cs"/>
                  </a:rPr>
                  <a:t>静态</a:t>
                </a:r>
                <a:endParaRPr kumimoji="1" lang="zh-CN" altLang="en-US" sz="2000" b="0" i="0" u="none" strike="noStrike" kern="1200" cap="none" spc="0" normalizeH="0" baseline="0" noProof="0" dirty="0">
                  <a:ln>
                    <a:noFill/>
                  </a:ln>
                  <a:solidFill>
                    <a:srgbClr val="009900"/>
                  </a:solidFill>
                  <a:effectLst/>
                  <a:uLnTx/>
                  <a:uFillTx/>
                  <a:latin typeface="Times New Roman" panose="02020603050405020304" pitchFamily="18" charset="0"/>
                  <a:ea typeface="宋体" panose="02010600030101010101" pitchFamily="2" charset="-122"/>
                  <a:cs typeface="+mn-cs"/>
                </a:endParaRPr>
              </a:p>
            </p:txBody>
          </p:sp>
          <p:sp>
            <p:nvSpPr>
              <p:cNvPr id="173" name="Text Box 29">
                <a:extLst>
                  <a:ext uri="{FF2B5EF4-FFF2-40B4-BE49-F238E27FC236}">
                    <a16:creationId xmlns:a16="http://schemas.microsoft.com/office/drawing/2014/main" id="{6D71CB3A-0FFB-4274-ADE9-0AAF896A1423}"/>
                  </a:ext>
                </a:extLst>
              </p:cNvPr>
              <p:cNvSpPr txBox="1">
                <a:spLocks noChangeArrowheads="1"/>
              </p:cNvSpPr>
              <p:nvPr/>
            </p:nvSpPr>
            <p:spPr bwMode="auto">
              <a:xfrm>
                <a:off x="1510" y="1221"/>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a:ln>
                      <a:noFill/>
                    </a:ln>
                    <a:solidFill>
                      <a:srgbClr val="FF9900"/>
                    </a:solidFill>
                    <a:effectLst/>
                    <a:uLnTx/>
                    <a:uFillTx/>
                    <a:latin typeface="Times New Roman" panose="02020603050405020304" pitchFamily="18" charset="0"/>
                    <a:ea typeface="隶书" panose="02010509060101010101" pitchFamily="49" charset="-122"/>
                    <a:cs typeface="+mn-cs"/>
                  </a:rPr>
                  <a:t>动态</a:t>
                </a:r>
                <a:endParaRPr kumimoji="1" lang="zh-CN" altLang="en-US" sz="2000" b="0" i="0" u="none" strike="noStrike" kern="120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sp>
            <p:nvSpPr>
              <p:cNvPr id="174" name="Text Box 30">
                <a:extLst>
                  <a:ext uri="{FF2B5EF4-FFF2-40B4-BE49-F238E27FC236}">
                    <a16:creationId xmlns:a16="http://schemas.microsoft.com/office/drawing/2014/main" id="{544AFF97-0548-4C04-9E9B-BDBE578F590E}"/>
                  </a:ext>
                </a:extLst>
              </p:cNvPr>
              <p:cNvSpPr txBox="1">
                <a:spLocks noChangeArrowheads="1"/>
              </p:cNvSpPr>
              <p:nvPr/>
            </p:nvSpPr>
            <p:spPr bwMode="auto">
              <a:xfrm>
                <a:off x="168" y="1218"/>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存储方式</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41" name="Group 31">
              <a:extLst>
                <a:ext uri="{FF2B5EF4-FFF2-40B4-BE49-F238E27FC236}">
                  <a16:creationId xmlns:a16="http://schemas.microsoft.com/office/drawing/2014/main" id="{A24CF7E3-941C-422D-99FB-28DEAB797D71}"/>
                </a:ext>
              </a:extLst>
            </p:cNvPr>
            <p:cNvGrpSpPr>
              <a:grpSpLocks/>
            </p:cNvGrpSpPr>
            <p:nvPr/>
          </p:nvGrpSpPr>
          <p:grpSpPr bwMode="auto">
            <a:xfrm>
              <a:off x="361951" y="2840041"/>
              <a:ext cx="7456488" cy="484188"/>
              <a:chOff x="228" y="1789"/>
              <a:chExt cx="4697" cy="305"/>
            </a:xfrm>
          </p:grpSpPr>
          <p:sp>
            <p:nvSpPr>
              <p:cNvPr id="169" name="Text Box 32">
                <a:extLst>
                  <a:ext uri="{FF2B5EF4-FFF2-40B4-BE49-F238E27FC236}">
                    <a16:creationId xmlns:a16="http://schemas.microsoft.com/office/drawing/2014/main" id="{651E556F-6AE7-4311-BEBC-499DD675DCC1}"/>
                  </a:ext>
                </a:extLst>
              </p:cNvPr>
              <p:cNvSpPr txBox="1">
                <a:spLocks noChangeArrowheads="1"/>
              </p:cNvSpPr>
              <p:nvPr/>
            </p:nvSpPr>
            <p:spPr bwMode="auto">
              <a:xfrm>
                <a:off x="3273" y="1803"/>
                <a:ext cx="16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a:ln>
                      <a:noFill/>
                    </a:ln>
                    <a:solidFill>
                      <a:srgbClr val="009900"/>
                    </a:solidFill>
                    <a:effectLst/>
                    <a:uLnTx/>
                    <a:uFillTx/>
                    <a:latin typeface="Times New Roman" panose="02020603050405020304" pitchFamily="18" charset="0"/>
                    <a:ea typeface="隶书" panose="02010509060101010101" pitchFamily="49" charset="-122"/>
                    <a:cs typeface="+mn-cs"/>
                  </a:rPr>
                  <a:t>程序整个运行期间</a:t>
                </a:r>
                <a:endParaRPr kumimoji="1" lang="zh-CN" altLang="en-US" sz="2000" b="0" i="0" u="none" strike="noStrike" kern="120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70" name="Text Box 33">
                <a:extLst>
                  <a:ext uri="{FF2B5EF4-FFF2-40B4-BE49-F238E27FC236}">
                    <a16:creationId xmlns:a16="http://schemas.microsoft.com/office/drawing/2014/main" id="{A6FA10EF-3D7D-45D6-9E07-940C3E7A2553}"/>
                  </a:ext>
                </a:extLst>
              </p:cNvPr>
              <p:cNvSpPr txBox="1">
                <a:spLocks noChangeArrowheads="1"/>
              </p:cNvSpPr>
              <p:nvPr/>
            </p:nvSpPr>
            <p:spPr bwMode="auto">
              <a:xfrm>
                <a:off x="970" y="1789"/>
                <a:ext cx="18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a:ln>
                      <a:noFill/>
                    </a:ln>
                    <a:solidFill>
                      <a:srgbClr val="FF9900"/>
                    </a:solidFill>
                    <a:effectLst/>
                    <a:uLnTx/>
                    <a:uFillTx/>
                    <a:latin typeface="Times New Roman" panose="02020603050405020304" pitchFamily="18" charset="0"/>
                    <a:ea typeface="隶书" panose="02010509060101010101" pitchFamily="49" charset="-122"/>
                    <a:cs typeface="+mn-cs"/>
                  </a:rPr>
                  <a:t>函数调用开始至结束</a:t>
                </a:r>
                <a:endParaRPr kumimoji="1" lang="zh-CN" altLang="en-US" sz="2000" b="0" i="0" u="none" strike="noStrike" kern="1200" cap="none" spc="0" normalizeH="0" baseline="0" noProof="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sp>
            <p:nvSpPr>
              <p:cNvPr id="171" name="Text Box 34">
                <a:extLst>
                  <a:ext uri="{FF2B5EF4-FFF2-40B4-BE49-F238E27FC236}">
                    <a16:creationId xmlns:a16="http://schemas.microsoft.com/office/drawing/2014/main" id="{4B4F2794-D80C-4021-A4F6-4986E8ACF3F2}"/>
                  </a:ext>
                </a:extLst>
              </p:cNvPr>
              <p:cNvSpPr txBox="1">
                <a:spLocks noChangeArrowheads="1"/>
              </p:cNvSpPr>
              <p:nvPr/>
            </p:nvSpPr>
            <p:spPr bwMode="auto">
              <a:xfrm>
                <a:off x="228" y="1806"/>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生存期</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42" name="Group 35">
              <a:extLst>
                <a:ext uri="{FF2B5EF4-FFF2-40B4-BE49-F238E27FC236}">
                  <a16:creationId xmlns:a16="http://schemas.microsoft.com/office/drawing/2014/main" id="{45A98FEB-0273-4106-B33D-477D88D2FAA4}"/>
                </a:ext>
              </a:extLst>
            </p:cNvPr>
            <p:cNvGrpSpPr>
              <a:grpSpLocks/>
            </p:cNvGrpSpPr>
            <p:nvPr/>
          </p:nvGrpSpPr>
          <p:grpSpPr bwMode="auto">
            <a:xfrm>
              <a:off x="438150" y="3687767"/>
              <a:ext cx="9405938" cy="698501"/>
              <a:chOff x="261" y="2300"/>
              <a:chExt cx="5925" cy="440"/>
            </a:xfrm>
          </p:grpSpPr>
          <p:sp>
            <p:nvSpPr>
              <p:cNvPr id="166" name="Text Box 36">
                <a:extLst>
                  <a:ext uri="{FF2B5EF4-FFF2-40B4-BE49-F238E27FC236}">
                    <a16:creationId xmlns:a16="http://schemas.microsoft.com/office/drawing/2014/main" id="{47A3B981-7596-41A1-8D80-6978D970042E}"/>
                  </a:ext>
                </a:extLst>
              </p:cNvPr>
              <p:cNvSpPr txBox="1">
                <a:spLocks noChangeArrowheads="1"/>
              </p:cNvSpPr>
              <p:nvPr/>
            </p:nvSpPr>
            <p:spPr bwMode="auto">
              <a:xfrm>
                <a:off x="2888" y="2300"/>
                <a:ext cx="3298"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lvl="0">
                  <a:spcBef>
                    <a:spcPct val="0"/>
                  </a:spcBef>
                  <a:buClrTx/>
                  <a:buNone/>
                </a:pPr>
                <a:r>
                  <a:rPr kumimoji="1" lang="zh-CN" altLang="en-US" sz="2400" b="0" dirty="0">
                    <a:solidFill>
                      <a:srgbClr val="5596CD"/>
                    </a:solidFill>
                    <a:latin typeface="Times New Roman" panose="02020603050405020304" pitchFamily="18" charset="0"/>
                    <a:ea typeface="隶书" panose="02010509060101010101" pitchFamily="49" charset="-122"/>
                  </a:rPr>
                  <a:t>程序启动时进行初始化（仅一次）</a:t>
                </a:r>
                <a:endParaRPr kumimoji="1" lang="zh-CN" altLang="en-US" sz="20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67" name="Text Box 37">
                <a:extLst>
                  <a:ext uri="{FF2B5EF4-FFF2-40B4-BE49-F238E27FC236}">
                    <a16:creationId xmlns:a16="http://schemas.microsoft.com/office/drawing/2014/main" id="{A656BF8C-B6F5-430F-9DB5-9CA3DC0A3A52}"/>
                  </a:ext>
                </a:extLst>
              </p:cNvPr>
              <p:cNvSpPr txBox="1">
                <a:spLocks noChangeArrowheads="1"/>
              </p:cNvSpPr>
              <p:nvPr/>
            </p:nvSpPr>
            <p:spPr bwMode="auto">
              <a:xfrm>
                <a:off x="970" y="2300"/>
                <a:ext cx="1816"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lvl="0">
                  <a:spcBef>
                    <a:spcPct val="0"/>
                  </a:spcBef>
                  <a:buClrTx/>
                  <a:buNone/>
                </a:pPr>
                <a:r>
                  <a:rPr kumimoji="1" lang="zh-CN" altLang="en-US" sz="2400" b="0" dirty="0">
                    <a:solidFill>
                      <a:srgbClr val="FF9900"/>
                    </a:solidFill>
                    <a:latin typeface="Times New Roman" panose="02020603050405020304" pitchFamily="18" charset="0"/>
                    <a:ea typeface="隶书" panose="02010509060101010101" pitchFamily="49" charset="-122"/>
                  </a:rPr>
                  <a:t>每次函数调用时初始化</a:t>
                </a:r>
              </a:p>
            </p:txBody>
          </p:sp>
          <p:sp>
            <p:nvSpPr>
              <p:cNvPr id="168" name="Text Box 38">
                <a:extLst>
                  <a:ext uri="{FF2B5EF4-FFF2-40B4-BE49-F238E27FC236}">
                    <a16:creationId xmlns:a16="http://schemas.microsoft.com/office/drawing/2014/main" id="{8858AEC3-5DB4-4EE3-BAD2-63E4F2FD2F51}"/>
                  </a:ext>
                </a:extLst>
              </p:cNvPr>
              <p:cNvSpPr txBox="1">
                <a:spLocks noChangeArrowheads="1"/>
              </p:cNvSpPr>
              <p:nvPr/>
            </p:nvSpPr>
            <p:spPr bwMode="auto">
              <a:xfrm>
                <a:off x="261" y="2302"/>
                <a:ext cx="62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初始化</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43" name="Group 39">
              <a:extLst>
                <a:ext uri="{FF2B5EF4-FFF2-40B4-BE49-F238E27FC236}">
                  <a16:creationId xmlns:a16="http://schemas.microsoft.com/office/drawing/2014/main" id="{FD4CC550-195C-4B77-83AB-7E35A02D3A23}"/>
                </a:ext>
              </a:extLst>
            </p:cNvPr>
            <p:cNvGrpSpPr>
              <a:grpSpLocks/>
            </p:cNvGrpSpPr>
            <p:nvPr/>
          </p:nvGrpSpPr>
          <p:grpSpPr bwMode="auto">
            <a:xfrm>
              <a:off x="266700" y="4187825"/>
              <a:ext cx="7289800" cy="695325"/>
              <a:chOff x="168" y="2638"/>
              <a:chExt cx="4592" cy="438"/>
            </a:xfrm>
          </p:grpSpPr>
          <p:sp>
            <p:nvSpPr>
              <p:cNvPr id="163" name="Text Box 40">
                <a:extLst>
                  <a:ext uri="{FF2B5EF4-FFF2-40B4-BE49-F238E27FC236}">
                    <a16:creationId xmlns:a16="http://schemas.microsoft.com/office/drawing/2014/main" id="{EB0B45D7-4E24-4EE7-B09F-254E74E06A08}"/>
                  </a:ext>
                </a:extLst>
              </p:cNvPr>
              <p:cNvSpPr txBox="1">
                <a:spLocks noChangeArrowheads="1"/>
              </p:cNvSpPr>
              <p:nvPr/>
            </p:nvSpPr>
            <p:spPr bwMode="auto">
              <a:xfrm>
                <a:off x="3577" y="2707"/>
                <a:ext cx="11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9900"/>
                    </a:solidFill>
                    <a:effectLst/>
                    <a:uLnTx/>
                    <a:uFillTx/>
                    <a:latin typeface="Times New Roman" panose="02020603050405020304" pitchFamily="18" charset="0"/>
                    <a:ea typeface="隶书" panose="02010509060101010101" pitchFamily="49" charset="-122"/>
                    <a:cs typeface="+mn-cs"/>
                  </a:rPr>
                  <a:t>自动赋初值</a:t>
                </a:r>
                <a:r>
                  <a:rPr kumimoji="1" lang="en-US" altLang="zh-CN" sz="2400" b="0" i="0" u="none" strike="noStrike" kern="1200" cap="none" spc="0" normalizeH="0" baseline="0" noProof="0" dirty="0">
                    <a:ln>
                      <a:noFill/>
                    </a:ln>
                    <a:solidFill>
                      <a:srgbClr val="009900"/>
                    </a:solidFill>
                    <a:effectLst/>
                    <a:uLnTx/>
                    <a:uFillTx/>
                    <a:latin typeface="Times New Roman" panose="02020603050405020304" pitchFamily="18" charset="0"/>
                    <a:ea typeface="隶书" panose="02010509060101010101" pitchFamily="49" charset="-122"/>
                    <a:cs typeface="+mn-cs"/>
                  </a:rPr>
                  <a:t>0</a:t>
                </a:r>
                <a:endParaRPr kumimoji="1" lang="zh-CN" altLang="en-US" sz="20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64" name="Text Box 41">
                <a:extLst>
                  <a:ext uri="{FF2B5EF4-FFF2-40B4-BE49-F238E27FC236}">
                    <a16:creationId xmlns:a16="http://schemas.microsoft.com/office/drawing/2014/main" id="{CC6BDCB3-D093-4FC1-B59A-BCD8A82D4285}"/>
                  </a:ext>
                </a:extLst>
              </p:cNvPr>
              <p:cNvSpPr txBox="1">
                <a:spLocks noChangeArrowheads="1"/>
              </p:cNvSpPr>
              <p:nvPr/>
            </p:nvSpPr>
            <p:spPr bwMode="auto">
              <a:xfrm>
                <a:off x="1494" y="2638"/>
                <a:ext cx="62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FF9900"/>
                    </a:solidFill>
                    <a:effectLst/>
                    <a:uLnTx/>
                    <a:uFillTx/>
                    <a:latin typeface="Times New Roman" panose="02020603050405020304" pitchFamily="18" charset="0"/>
                    <a:ea typeface="隶书" panose="02010509060101010101" pitchFamily="49" charset="-122"/>
                    <a:cs typeface="+mn-cs"/>
                  </a:rPr>
                  <a:t>随机值</a:t>
                </a:r>
                <a:endParaRPr kumimoji="1" lang="zh-CN" altLang="en-US" sz="2000" b="0" i="0" u="none" strike="noStrike" kern="1200" cap="none" spc="0" normalizeH="0" baseline="0" noProof="0" dirty="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sp>
            <p:nvSpPr>
              <p:cNvPr id="165" name="Text Box 42">
                <a:extLst>
                  <a:ext uri="{FF2B5EF4-FFF2-40B4-BE49-F238E27FC236}">
                    <a16:creationId xmlns:a16="http://schemas.microsoft.com/office/drawing/2014/main" id="{1F0DF3D4-970D-4305-A00D-97FB0053B88D}"/>
                  </a:ext>
                </a:extLst>
              </p:cNvPr>
              <p:cNvSpPr txBox="1">
                <a:spLocks noChangeArrowheads="1"/>
              </p:cNvSpPr>
              <p:nvPr/>
            </p:nvSpPr>
            <p:spPr bwMode="auto">
              <a:xfrm>
                <a:off x="168" y="2697"/>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未赋初值</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44" name="Group 43">
              <a:extLst>
                <a:ext uri="{FF2B5EF4-FFF2-40B4-BE49-F238E27FC236}">
                  <a16:creationId xmlns:a16="http://schemas.microsoft.com/office/drawing/2014/main" id="{8059B1CF-3C1B-4518-A116-82D704D3BF25}"/>
                </a:ext>
              </a:extLst>
            </p:cNvPr>
            <p:cNvGrpSpPr>
              <a:grpSpLocks/>
            </p:cNvGrpSpPr>
            <p:nvPr/>
          </p:nvGrpSpPr>
          <p:grpSpPr bwMode="auto">
            <a:xfrm>
              <a:off x="376238" y="2379663"/>
              <a:ext cx="7162800" cy="495300"/>
              <a:chOff x="237" y="1499"/>
              <a:chExt cx="4512" cy="312"/>
            </a:xfrm>
          </p:grpSpPr>
          <p:sp>
            <p:nvSpPr>
              <p:cNvPr id="159" name="Text Box 44">
                <a:extLst>
                  <a:ext uri="{FF2B5EF4-FFF2-40B4-BE49-F238E27FC236}">
                    <a16:creationId xmlns:a16="http://schemas.microsoft.com/office/drawing/2014/main" id="{191322FF-CA75-4236-9903-C9FF10E8504A}"/>
                  </a:ext>
                </a:extLst>
              </p:cNvPr>
              <p:cNvSpPr txBox="1">
                <a:spLocks noChangeArrowheads="1"/>
              </p:cNvSpPr>
              <p:nvPr/>
            </p:nvSpPr>
            <p:spPr bwMode="auto">
              <a:xfrm>
                <a:off x="3673" y="1499"/>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a:ln>
                      <a:noFill/>
                    </a:ln>
                    <a:solidFill>
                      <a:srgbClr val="009900"/>
                    </a:solidFill>
                    <a:effectLst/>
                    <a:uLnTx/>
                    <a:uFillTx/>
                    <a:latin typeface="Times New Roman" panose="02020603050405020304" pitchFamily="18" charset="0"/>
                    <a:ea typeface="隶书" panose="02010509060101010101" pitchFamily="49" charset="-122"/>
                    <a:cs typeface="+mn-cs"/>
                  </a:rPr>
                  <a:t>静态存储区</a:t>
                </a:r>
                <a:endParaRPr kumimoji="1" lang="zh-CN" altLang="en-US" sz="2000" b="0" i="0" u="none" strike="noStrike" kern="120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60" name="Text Box 45">
                <a:extLst>
                  <a:ext uri="{FF2B5EF4-FFF2-40B4-BE49-F238E27FC236}">
                    <a16:creationId xmlns:a16="http://schemas.microsoft.com/office/drawing/2014/main" id="{3B687DC9-1981-4482-AB24-A7CB2076B4F0}"/>
                  </a:ext>
                </a:extLst>
              </p:cNvPr>
              <p:cNvSpPr txBox="1">
                <a:spLocks noChangeArrowheads="1"/>
              </p:cNvSpPr>
              <p:nvPr/>
            </p:nvSpPr>
            <p:spPr bwMode="auto">
              <a:xfrm>
                <a:off x="1042" y="1519"/>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FF9900"/>
                    </a:solidFill>
                    <a:effectLst/>
                    <a:uLnTx/>
                    <a:uFillTx/>
                    <a:latin typeface="Times New Roman" panose="02020603050405020304" pitchFamily="18" charset="0"/>
                    <a:ea typeface="隶书" panose="02010509060101010101" pitchFamily="49" charset="-122"/>
                    <a:cs typeface="+mn-cs"/>
                  </a:rPr>
                  <a:t>动态区</a:t>
                </a:r>
                <a:endParaRPr kumimoji="1" lang="zh-CN" altLang="en-US" sz="2000" b="0" i="0" u="none" strike="noStrike" kern="1200" cap="none" spc="0" normalizeH="0" baseline="0" noProof="0" dirty="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sp>
            <p:nvSpPr>
              <p:cNvPr id="161" name="Text Box 46">
                <a:extLst>
                  <a:ext uri="{FF2B5EF4-FFF2-40B4-BE49-F238E27FC236}">
                    <a16:creationId xmlns:a16="http://schemas.microsoft.com/office/drawing/2014/main" id="{7DB0C769-61F4-4434-8DB5-540EAE41290F}"/>
                  </a:ext>
                </a:extLst>
              </p:cNvPr>
              <p:cNvSpPr txBox="1">
                <a:spLocks noChangeArrowheads="1"/>
              </p:cNvSpPr>
              <p:nvPr/>
            </p:nvSpPr>
            <p:spPr bwMode="auto">
              <a:xfrm>
                <a:off x="237" y="1523"/>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存储区</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2" name="Text Box 47">
                <a:extLst>
                  <a:ext uri="{FF2B5EF4-FFF2-40B4-BE49-F238E27FC236}">
                    <a16:creationId xmlns:a16="http://schemas.microsoft.com/office/drawing/2014/main" id="{4EE6E93D-01EC-4352-B03D-B4132110B39C}"/>
                  </a:ext>
                </a:extLst>
              </p:cNvPr>
              <p:cNvSpPr txBox="1">
                <a:spLocks noChangeArrowheads="1"/>
              </p:cNvSpPr>
              <p:nvPr/>
            </p:nvSpPr>
            <p:spPr bwMode="auto">
              <a:xfrm>
                <a:off x="1966" y="1519"/>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FF9900"/>
                    </a:solidFill>
                    <a:effectLst/>
                    <a:uLnTx/>
                    <a:uFillTx/>
                    <a:latin typeface="Times New Roman" panose="02020603050405020304" pitchFamily="18" charset="0"/>
                    <a:ea typeface="隶书" panose="02010509060101010101" pitchFamily="49" charset="-122"/>
                    <a:cs typeface="+mn-cs"/>
                  </a:rPr>
                  <a:t>寄存器</a:t>
                </a:r>
                <a:endParaRPr kumimoji="1" lang="zh-CN" altLang="en-US" sz="2000" b="0" i="0" u="none" strike="noStrike" kern="1200" cap="none" spc="0" normalizeH="0" baseline="0" noProof="0" dirty="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grpSp>
        <p:grpSp>
          <p:nvGrpSpPr>
            <p:cNvPr id="145" name="Group 48">
              <a:extLst>
                <a:ext uri="{FF2B5EF4-FFF2-40B4-BE49-F238E27FC236}">
                  <a16:creationId xmlns:a16="http://schemas.microsoft.com/office/drawing/2014/main" id="{E147B2F8-F11D-4F0B-9EB1-3B35808398D5}"/>
                </a:ext>
              </a:extLst>
            </p:cNvPr>
            <p:cNvGrpSpPr>
              <a:grpSpLocks/>
            </p:cNvGrpSpPr>
            <p:nvPr/>
          </p:nvGrpSpPr>
          <p:grpSpPr bwMode="auto">
            <a:xfrm>
              <a:off x="2925763" y="1016000"/>
              <a:ext cx="5118100" cy="457200"/>
              <a:chOff x="1843" y="640"/>
              <a:chExt cx="3224" cy="288"/>
            </a:xfrm>
          </p:grpSpPr>
          <p:sp>
            <p:nvSpPr>
              <p:cNvPr id="157" name="Text Box 49">
                <a:extLst>
                  <a:ext uri="{FF2B5EF4-FFF2-40B4-BE49-F238E27FC236}">
                    <a16:creationId xmlns:a16="http://schemas.microsoft.com/office/drawing/2014/main" id="{E89E87AF-F289-4EBD-9268-96875ADF9CAD}"/>
                  </a:ext>
                </a:extLst>
              </p:cNvPr>
              <p:cNvSpPr txBox="1">
                <a:spLocks noChangeArrowheads="1"/>
              </p:cNvSpPr>
              <p:nvPr/>
            </p:nvSpPr>
            <p:spPr bwMode="auto">
              <a:xfrm>
                <a:off x="1843" y="640"/>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zh-CN" sz="2400" b="0" i="0" u="none" strike="noStrike" kern="1200" cap="none" spc="0" normalizeH="0" baseline="0" noProof="0">
                    <a:ln>
                      <a:noFill/>
                    </a:ln>
                    <a:solidFill>
                      <a:srgbClr val="FF9900"/>
                    </a:solidFill>
                    <a:effectLst/>
                    <a:uLnTx/>
                    <a:uFillTx/>
                    <a:latin typeface="Times New Roman" panose="02020603050405020304" pitchFamily="18" charset="0"/>
                    <a:ea typeface="隶书" panose="02010509060101010101" pitchFamily="49" charset="-122"/>
                    <a:cs typeface="+mn-cs"/>
                  </a:rPr>
                  <a:t>局部变量</a:t>
                </a:r>
                <a:endParaRPr kumimoji="1" lang="zh-CN" altLang="en-US" sz="2400" b="0" i="0" u="none" strike="noStrike" kern="120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58" name="Text Box 50">
                <a:extLst>
                  <a:ext uri="{FF2B5EF4-FFF2-40B4-BE49-F238E27FC236}">
                    <a16:creationId xmlns:a16="http://schemas.microsoft.com/office/drawing/2014/main" id="{C0C50076-1ECE-4FD6-ADB3-10D7F8900651}"/>
                  </a:ext>
                </a:extLst>
              </p:cNvPr>
              <p:cNvSpPr txBox="1">
                <a:spLocks noChangeArrowheads="1"/>
              </p:cNvSpPr>
              <p:nvPr/>
            </p:nvSpPr>
            <p:spPr bwMode="auto">
              <a:xfrm>
                <a:off x="4183" y="640"/>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a:ln>
                      <a:noFill/>
                    </a:ln>
                    <a:solidFill>
                      <a:srgbClr val="008000"/>
                    </a:solidFill>
                    <a:effectLst/>
                    <a:uLnTx/>
                    <a:uFillTx/>
                    <a:latin typeface="Times New Roman" panose="02020603050405020304" pitchFamily="18" charset="0"/>
                    <a:ea typeface="隶书" panose="02010509060101010101" pitchFamily="49" charset="-122"/>
                    <a:cs typeface="+mn-cs"/>
                  </a:rPr>
                  <a:t>全局</a:t>
                </a:r>
                <a:r>
                  <a:rPr kumimoji="1" lang="zh-CN" altLang="zh-CN" sz="2400" b="0" i="0" u="none" strike="noStrike" kern="1200" cap="none" spc="0" normalizeH="0" baseline="0" noProof="0">
                    <a:ln>
                      <a:noFill/>
                    </a:ln>
                    <a:solidFill>
                      <a:srgbClr val="008000"/>
                    </a:solidFill>
                    <a:effectLst/>
                    <a:uLnTx/>
                    <a:uFillTx/>
                    <a:latin typeface="Times New Roman" panose="02020603050405020304" pitchFamily="18" charset="0"/>
                    <a:ea typeface="隶书" panose="02010509060101010101" pitchFamily="49" charset="-122"/>
                    <a:cs typeface="+mn-cs"/>
                  </a:rPr>
                  <a:t>变量</a:t>
                </a:r>
                <a:endParaRPr kumimoji="1" lang="zh-CN" altLang="en-US" sz="2400" b="0" i="0" u="none" strike="noStrike" kern="120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grpSp>
        <p:grpSp>
          <p:nvGrpSpPr>
            <p:cNvPr id="146" name="Group 51">
              <a:extLst>
                <a:ext uri="{FF2B5EF4-FFF2-40B4-BE49-F238E27FC236}">
                  <a16:creationId xmlns:a16="http://schemas.microsoft.com/office/drawing/2014/main" id="{F248C99D-59C8-4BDC-BA97-11580B4DDFDB}"/>
                </a:ext>
              </a:extLst>
            </p:cNvPr>
            <p:cNvGrpSpPr>
              <a:grpSpLocks/>
            </p:cNvGrpSpPr>
            <p:nvPr/>
          </p:nvGrpSpPr>
          <p:grpSpPr bwMode="auto">
            <a:xfrm>
              <a:off x="447675" y="3178174"/>
              <a:ext cx="7508875" cy="755649"/>
              <a:chOff x="282" y="2002"/>
              <a:chExt cx="4730" cy="476"/>
            </a:xfrm>
          </p:grpSpPr>
          <p:sp>
            <p:nvSpPr>
              <p:cNvPr id="154" name="Text Box 52">
                <a:extLst>
                  <a:ext uri="{FF2B5EF4-FFF2-40B4-BE49-F238E27FC236}">
                    <a16:creationId xmlns:a16="http://schemas.microsoft.com/office/drawing/2014/main" id="{4AF7698D-BBCB-44AD-A700-8A792ECCA567}"/>
                  </a:ext>
                </a:extLst>
              </p:cNvPr>
              <p:cNvSpPr txBox="1">
                <a:spLocks noChangeArrowheads="1"/>
              </p:cNvSpPr>
              <p:nvPr/>
            </p:nvSpPr>
            <p:spPr bwMode="auto">
              <a:xfrm>
                <a:off x="282" y="2118"/>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作用域</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5" name="Text Box 53">
                <a:extLst>
                  <a:ext uri="{FF2B5EF4-FFF2-40B4-BE49-F238E27FC236}">
                    <a16:creationId xmlns:a16="http://schemas.microsoft.com/office/drawing/2014/main" id="{E9371ED7-D2B8-4F57-9865-5E94437A1CA4}"/>
                  </a:ext>
                </a:extLst>
              </p:cNvPr>
              <p:cNvSpPr txBox="1">
                <a:spLocks noChangeArrowheads="1"/>
              </p:cNvSpPr>
              <p:nvPr/>
            </p:nvSpPr>
            <p:spPr bwMode="auto">
              <a:xfrm>
                <a:off x="1080" y="2002"/>
                <a:ext cx="2404"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FF9900"/>
                    </a:solidFill>
                    <a:effectLst/>
                    <a:uLnTx/>
                    <a:uFillTx/>
                    <a:latin typeface="Times New Roman" panose="02020603050405020304" pitchFamily="18" charset="0"/>
                    <a:ea typeface="隶书" panose="02010509060101010101" pitchFamily="49" charset="-122"/>
                    <a:cs typeface="+mn-cs"/>
                  </a:rPr>
                  <a:t>定义变量的函数或语句块内</a:t>
                </a:r>
              </a:p>
            </p:txBody>
          </p:sp>
          <p:sp>
            <p:nvSpPr>
              <p:cNvPr id="156" name="Text Box 54">
                <a:extLst>
                  <a:ext uri="{FF2B5EF4-FFF2-40B4-BE49-F238E27FC236}">
                    <a16:creationId xmlns:a16="http://schemas.microsoft.com/office/drawing/2014/main" id="{CA6AA191-B625-46AE-9472-ECDE643B3FC7}"/>
                  </a:ext>
                </a:extLst>
              </p:cNvPr>
              <p:cNvSpPr txBox="1">
                <a:spLocks noChangeArrowheads="1"/>
              </p:cNvSpPr>
              <p:nvPr/>
            </p:nvSpPr>
            <p:spPr bwMode="auto">
              <a:xfrm>
                <a:off x="4117" y="2095"/>
                <a:ext cx="89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5596CD"/>
                    </a:solidFill>
                    <a:effectLst/>
                    <a:uLnTx/>
                    <a:uFillTx/>
                    <a:latin typeface="Times New Roman" panose="02020603050405020304" pitchFamily="18" charset="0"/>
                    <a:ea typeface="隶书" panose="02010509060101010101" pitchFamily="49" charset="-122"/>
                    <a:cs typeface="+mn-cs"/>
                  </a:rPr>
                  <a:t>整个文件</a:t>
                </a:r>
                <a:endParaRPr kumimoji="1" lang="zh-CN" altLang="en-US" sz="2000" b="0" i="0" u="none" strike="noStrike" kern="1200" cap="none" spc="0" normalizeH="0" baseline="0" noProof="0" dirty="0">
                  <a:ln>
                    <a:noFill/>
                  </a:ln>
                  <a:solidFill>
                    <a:srgbClr val="339933"/>
                  </a:solidFill>
                  <a:effectLst/>
                  <a:uLnTx/>
                  <a:uFillTx/>
                  <a:latin typeface="Times New Roman" panose="02020603050405020304" pitchFamily="18" charset="0"/>
                  <a:ea typeface="宋体" panose="02010600030101010101" pitchFamily="2" charset="-122"/>
                  <a:cs typeface="+mn-cs"/>
                </a:endParaRPr>
              </a:p>
            </p:txBody>
          </p:sp>
        </p:grpSp>
        <p:grpSp>
          <p:nvGrpSpPr>
            <p:cNvPr id="147" name="Group 57">
              <a:extLst>
                <a:ext uri="{FF2B5EF4-FFF2-40B4-BE49-F238E27FC236}">
                  <a16:creationId xmlns:a16="http://schemas.microsoft.com/office/drawing/2014/main" id="{A78C4377-DB83-4283-8262-097A66406311}"/>
                </a:ext>
              </a:extLst>
            </p:cNvPr>
            <p:cNvGrpSpPr>
              <a:grpSpLocks/>
            </p:cNvGrpSpPr>
            <p:nvPr/>
          </p:nvGrpSpPr>
          <p:grpSpPr bwMode="auto">
            <a:xfrm>
              <a:off x="247650" y="1438276"/>
              <a:ext cx="8108950" cy="514350"/>
              <a:chOff x="156" y="906"/>
              <a:chExt cx="5108" cy="324"/>
            </a:xfrm>
          </p:grpSpPr>
          <p:sp>
            <p:nvSpPr>
              <p:cNvPr id="148" name="Text Box 58">
                <a:extLst>
                  <a:ext uri="{FF2B5EF4-FFF2-40B4-BE49-F238E27FC236}">
                    <a16:creationId xmlns:a16="http://schemas.microsoft.com/office/drawing/2014/main" id="{E41D8CDB-CB9A-4E3D-B643-12967A78AD97}"/>
                  </a:ext>
                </a:extLst>
              </p:cNvPr>
              <p:cNvSpPr txBox="1">
                <a:spLocks noChangeArrowheads="1"/>
              </p:cNvSpPr>
              <p:nvPr/>
            </p:nvSpPr>
            <p:spPr bwMode="auto">
              <a:xfrm>
                <a:off x="1887" y="906"/>
                <a:ext cx="6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003366"/>
                    </a:solidFill>
                    <a:effectLst/>
                    <a:uLnTx/>
                    <a:uFillTx/>
                    <a:latin typeface="Times New Roman" panose="02020603050405020304" pitchFamily="18" charset="0"/>
                    <a:ea typeface="宋体" panose="02010600030101010101" pitchFamily="2" charset="-122"/>
                    <a:cs typeface="+mn-cs"/>
                  </a:rPr>
                  <a:t>register</a:t>
                </a:r>
              </a:p>
            </p:txBody>
          </p:sp>
          <p:sp>
            <p:nvSpPr>
              <p:cNvPr id="149" name="Text Box 59">
                <a:extLst>
                  <a:ext uri="{FF2B5EF4-FFF2-40B4-BE49-F238E27FC236}">
                    <a16:creationId xmlns:a16="http://schemas.microsoft.com/office/drawing/2014/main" id="{3D4F64BA-A022-4FFF-98B9-BFF834E07BA8}"/>
                  </a:ext>
                </a:extLst>
              </p:cNvPr>
              <p:cNvSpPr txBox="1">
                <a:spLocks noChangeArrowheads="1"/>
              </p:cNvSpPr>
              <p:nvPr/>
            </p:nvSpPr>
            <p:spPr bwMode="auto">
              <a:xfrm>
                <a:off x="2768" y="924"/>
                <a:ext cx="9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5596CD"/>
                    </a:solidFill>
                    <a:effectLst/>
                    <a:uLnTx/>
                    <a:uFillTx/>
                    <a:latin typeface="Times New Roman" panose="02020603050405020304" pitchFamily="18" charset="0"/>
                    <a:ea typeface="隶书" panose="02010509060101010101" pitchFamily="49" charset="-122"/>
                    <a:cs typeface="+mn-cs"/>
                  </a:rPr>
                  <a:t>局部</a:t>
                </a:r>
                <a:r>
                  <a:rPr kumimoji="1" lang="en-US" altLang="zh-CN" sz="2400" b="0" i="0" u="none" strike="noStrike" kern="1200" cap="none" spc="0" normalizeH="0" baseline="0" noProof="0" dirty="0">
                    <a:ln>
                      <a:noFill/>
                    </a:ln>
                    <a:solidFill>
                      <a:srgbClr val="5596CD"/>
                    </a:solidFill>
                    <a:effectLst/>
                    <a:uLnTx/>
                    <a:uFillTx/>
                    <a:latin typeface="Times New Roman" panose="02020603050405020304" pitchFamily="18" charset="0"/>
                    <a:ea typeface="宋体" panose="02010600030101010101" pitchFamily="2" charset="-122"/>
                    <a:cs typeface="+mn-cs"/>
                  </a:rPr>
                  <a:t>static</a:t>
                </a:r>
                <a:endParaRPr kumimoji="1" lang="en-US"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50" name="Text Box 60">
                <a:extLst>
                  <a:ext uri="{FF2B5EF4-FFF2-40B4-BE49-F238E27FC236}">
                    <a16:creationId xmlns:a16="http://schemas.microsoft.com/office/drawing/2014/main" id="{83AF7D18-EB8B-4A73-BF9B-5753B8336E8F}"/>
                  </a:ext>
                </a:extLst>
              </p:cNvPr>
              <p:cNvSpPr txBox="1">
                <a:spLocks noChangeArrowheads="1"/>
              </p:cNvSpPr>
              <p:nvPr/>
            </p:nvSpPr>
            <p:spPr bwMode="auto">
              <a:xfrm>
                <a:off x="1131" y="932"/>
                <a:ext cx="4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auto</a:t>
                </a:r>
                <a:endParaRPr kumimoji="1" lang="en-US"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51" name="Text Box 61">
                <a:extLst>
                  <a:ext uri="{FF2B5EF4-FFF2-40B4-BE49-F238E27FC236}">
                    <a16:creationId xmlns:a16="http://schemas.microsoft.com/office/drawing/2014/main" id="{686577E4-3A83-4B24-87F3-1F71B32B0B59}"/>
                  </a:ext>
                </a:extLst>
              </p:cNvPr>
              <p:cNvSpPr txBox="1">
                <a:spLocks noChangeArrowheads="1"/>
              </p:cNvSpPr>
              <p:nvPr/>
            </p:nvSpPr>
            <p:spPr bwMode="auto">
              <a:xfrm>
                <a:off x="4306" y="931"/>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996600"/>
                    </a:solidFill>
                    <a:effectLst/>
                    <a:uLnTx/>
                    <a:uFillTx/>
                    <a:latin typeface="Times New Roman" panose="02020603050405020304" pitchFamily="18" charset="0"/>
                    <a:ea typeface="隶书" panose="02010509060101010101" pitchFamily="49" charset="-122"/>
                    <a:cs typeface="+mn-cs"/>
                  </a:rPr>
                  <a:t>全局</a:t>
                </a:r>
                <a:endParaRPr kumimoji="1" lang="en-US" altLang="zh-CN" sz="2400" b="0" i="0" u="none" strike="noStrike" kern="1200" cap="none" spc="0" normalizeH="0" baseline="0" noProof="0" dirty="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52" name="Text Box 62">
                <a:extLst>
                  <a:ext uri="{FF2B5EF4-FFF2-40B4-BE49-F238E27FC236}">
                    <a16:creationId xmlns:a16="http://schemas.microsoft.com/office/drawing/2014/main" id="{A85C75C0-9388-49E7-840F-23A7734919B5}"/>
                  </a:ext>
                </a:extLst>
              </p:cNvPr>
              <p:cNvSpPr txBox="1">
                <a:spLocks noChangeArrowheads="1"/>
              </p:cNvSpPr>
              <p:nvPr/>
            </p:nvSpPr>
            <p:spPr bwMode="auto">
              <a:xfrm>
                <a:off x="5148" y="939"/>
                <a:ext cx="1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srgbClr val="FF9900"/>
                  </a:solidFill>
                  <a:effectLst/>
                  <a:uLnTx/>
                  <a:uFillTx/>
                  <a:latin typeface="Times New Roman" panose="02020603050405020304" pitchFamily="18" charset="0"/>
                  <a:ea typeface="宋体" panose="02010600030101010101" pitchFamily="2" charset="-122"/>
                  <a:cs typeface="+mn-cs"/>
                </a:endParaRPr>
              </a:p>
            </p:txBody>
          </p:sp>
          <p:sp>
            <p:nvSpPr>
              <p:cNvPr id="153" name="Text Box 63">
                <a:extLst>
                  <a:ext uri="{FF2B5EF4-FFF2-40B4-BE49-F238E27FC236}">
                    <a16:creationId xmlns:a16="http://schemas.microsoft.com/office/drawing/2014/main" id="{E50BE165-F185-477B-B3FD-C314FE52A420}"/>
                  </a:ext>
                </a:extLst>
              </p:cNvPr>
              <p:cNvSpPr txBox="1">
                <a:spLocks noChangeArrowheads="1"/>
              </p:cNvSpPr>
              <p:nvPr/>
            </p:nvSpPr>
            <p:spPr bwMode="auto">
              <a:xfrm>
                <a:off x="156" y="939"/>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Font typeface="Wingdings" panose="05000000000000000000" pitchFamily="2" charset="2"/>
                  <a:buChar char="v"/>
                  <a:defRPr sz="2800" b="1">
                    <a:solidFill>
                      <a:schemeClr val="accent1"/>
                    </a:solidFill>
                    <a:latin typeface="Verdana" panose="020B0604030504040204" pitchFamily="34" charset="0"/>
                  </a:defRPr>
                </a:lvl1pPr>
                <a:lvl2pPr marL="742950" indent="-285750">
                  <a:spcBef>
                    <a:spcPct val="20000"/>
                  </a:spcBef>
                  <a:buClr>
                    <a:schemeClr val="tx2"/>
                  </a:buClr>
                  <a:buSzPct val="60000"/>
                  <a:buFont typeface="Wingdings" panose="05000000000000000000" pitchFamily="2" charset="2"/>
                  <a:buChar char="n"/>
                  <a:defRPr sz="2400">
                    <a:solidFill>
                      <a:schemeClr val="tx2"/>
                    </a:solidFill>
                    <a:latin typeface="Verdana" panose="020B0604030504040204" pitchFamily="34" charset="0"/>
                  </a:defRPr>
                </a:lvl2pPr>
                <a:lvl3pPr marL="1143000" indent="-228600">
                  <a:spcBef>
                    <a:spcPct val="20000"/>
                  </a:spcBef>
                  <a:buClr>
                    <a:schemeClr val="hlink"/>
                  </a:buClr>
                  <a:buSzPct val="60000"/>
                  <a:buFont typeface="Wingdings" panose="05000000000000000000" pitchFamily="2" charset="2"/>
                  <a:buChar char="n"/>
                  <a:defRPr sz="2400">
                    <a:solidFill>
                      <a:schemeClr val="tx2"/>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Verdan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Verdana" panose="020B060403050404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隶书" panose="02010509060101010101" pitchFamily="49" charset="-122"/>
                    <a:cs typeface="+mn-cs"/>
                  </a:rPr>
                  <a:t>存储类别</a:t>
                </a:r>
                <a:endParaRPr kumimoji="1"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spTree>
    <p:custDataLst>
      <p:tags r:id="rId1"/>
    </p:custDataLst>
    <p:extLst>
      <p:ext uri="{BB962C8B-B14F-4D97-AF65-F5344CB8AC3E}">
        <p14:creationId xmlns:p14="http://schemas.microsoft.com/office/powerpoint/2010/main" val="35530191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4.3.2 </a:t>
            </a:r>
            <a:r>
              <a:rPr lang="zh-CN" altLang="en-US" dirty="0"/>
              <a:t>变量的存储类别</a:t>
            </a:r>
          </a:p>
        </p:txBody>
      </p:sp>
      <p:sp>
        <p:nvSpPr>
          <p:cNvPr id="3" name="内容占位符 2"/>
          <p:cNvSpPr>
            <a:spLocks noGrp="1"/>
          </p:cNvSpPr>
          <p:nvPr>
            <p:ph idx="1"/>
          </p:nvPr>
        </p:nvSpPr>
        <p:spPr/>
        <p:txBody>
          <a:bodyPr>
            <a:normAutofit/>
          </a:bodyPr>
          <a:lstStyle/>
          <a:p>
            <a:r>
              <a:rPr lang="en-US" altLang="zh-CN" dirty="0">
                <a:sym typeface="+mn-ea"/>
              </a:rPr>
              <a:t>2.</a:t>
            </a:r>
            <a:r>
              <a:rPr lang="en-US" altLang="zh-CN" dirty="0"/>
              <a:t>static</a:t>
            </a:r>
            <a:r>
              <a:rPr lang="zh-CN" altLang="en-US" dirty="0"/>
              <a:t>局部变量</a:t>
            </a:r>
            <a:endParaRPr lang="en-US" altLang="zh-CN" dirty="0"/>
          </a:p>
        </p:txBody>
      </p:sp>
      <p:sp>
        <p:nvSpPr>
          <p:cNvPr id="66" name="Text Box 6">
            <a:extLst>
              <a:ext uri="{FF2B5EF4-FFF2-40B4-BE49-F238E27FC236}">
                <a16:creationId xmlns:a16="http://schemas.microsoft.com/office/drawing/2014/main" id="{DCC58D52-7A76-46CE-9CCB-098AA86AC04A}"/>
              </a:ext>
            </a:extLst>
          </p:cNvPr>
          <p:cNvSpPr txBox="1">
            <a:spLocks noChangeArrowheads="1"/>
          </p:cNvSpPr>
          <p:nvPr/>
        </p:nvSpPr>
        <p:spPr bwMode="auto">
          <a:xfrm>
            <a:off x="422824" y="2005196"/>
            <a:ext cx="3724275" cy="4697467"/>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o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#include &lt;</a:t>
            </a:r>
            <a:r>
              <a:rPr lang="en-US" altLang="zh-CN" sz="2400" kern="0" dirty="0" err="1">
                <a:solidFill>
                  <a:srgbClr val="000000"/>
                </a:solidFill>
                <a:cs typeface="Times New Roman" pitchFamily="18" charset="0"/>
              </a:rPr>
              <a:t>stdio.h</a:t>
            </a:r>
            <a:r>
              <a:rPr lang="en-US" altLang="zh-CN" sz="2400" kern="0" dirty="0">
                <a:solidFill>
                  <a:srgbClr val="000000"/>
                </a:solidFill>
                <a:cs typeface="Times New Roman" pitchFamily="18" charset="0"/>
              </a:rPr>
              <a:t>&gt;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void increment(void)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int x =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x++;</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("%d\n", x);</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int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for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 0;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&lt; 3;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increment();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p>
        </p:txBody>
      </p:sp>
      <p:sp>
        <p:nvSpPr>
          <p:cNvPr id="68" name="文本框 67">
            <a:extLst>
              <a:ext uri="{FF2B5EF4-FFF2-40B4-BE49-F238E27FC236}">
                <a16:creationId xmlns:a16="http://schemas.microsoft.com/office/drawing/2014/main" id="{AA0F3082-3AC8-41C8-918E-484EDB7F2440}"/>
              </a:ext>
            </a:extLst>
          </p:cNvPr>
          <p:cNvSpPr txBox="1"/>
          <p:nvPr/>
        </p:nvSpPr>
        <p:spPr>
          <a:xfrm>
            <a:off x="4320626" y="2005196"/>
            <a:ext cx="1607260" cy="2585323"/>
          </a:xfrm>
          <a:prstGeom prst="rect">
            <a:avLst/>
          </a:prstGeom>
          <a:noFill/>
          <a:ln w="12700">
            <a:solidFill>
              <a:srgbClr val="0066FF"/>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运行结果：</a:t>
            </a:r>
            <a:endParaRPr kumimoji="0" lang="en-US" altLang="zh-CN" sz="18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000000"/>
              </a:solidFill>
              <a:latin typeface="Arial"/>
              <a:ea typeface="微软雅黑"/>
            </a:endParaRPr>
          </a:p>
          <a:p>
            <a:pPr lvl="0"/>
            <a:r>
              <a:rPr lang="zh-CN" altLang="en-US" dirty="0">
                <a:solidFill>
                  <a:srgbClr val="000000"/>
                </a:solidFill>
              </a:rPr>
              <a:t>每次进入</a:t>
            </a:r>
            <a:r>
              <a:rPr lang="en-US" altLang="zh-CN" dirty="0">
                <a:solidFill>
                  <a:srgbClr val="000000"/>
                </a:solidFill>
              </a:rPr>
              <a:t>increment()</a:t>
            </a:r>
            <a:r>
              <a:rPr lang="zh-CN" altLang="en-US" dirty="0">
                <a:solidFill>
                  <a:srgbClr val="000000"/>
                </a:solidFill>
              </a:rPr>
              <a:t>函数，</a:t>
            </a:r>
            <a:r>
              <a:rPr lang="en-US" altLang="zh-CN" dirty="0">
                <a:solidFill>
                  <a:srgbClr val="000000"/>
                </a:solidFill>
              </a:rPr>
              <a:t>x</a:t>
            </a:r>
            <a:r>
              <a:rPr lang="zh-CN" altLang="en-US" dirty="0">
                <a:solidFill>
                  <a:srgbClr val="000000"/>
                </a:solidFill>
              </a:rPr>
              <a:t>会被重新初始化为</a:t>
            </a:r>
            <a:r>
              <a:rPr lang="en-US" altLang="zh-CN" dirty="0">
                <a:solidFill>
                  <a:srgbClr val="000000"/>
                </a:solidFill>
              </a:rPr>
              <a:t>0</a:t>
            </a:r>
            <a:r>
              <a:rPr lang="zh-CN" altLang="en-US" dirty="0">
                <a:solidFill>
                  <a:srgbClr val="000000"/>
                </a:solidFill>
              </a:rPr>
              <a: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69" name="Text Box 6">
            <a:extLst>
              <a:ext uri="{FF2B5EF4-FFF2-40B4-BE49-F238E27FC236}">
                <a16:creationId xmlns:a16="http://schemas.microsoft.com/office/drawing/2014/main" id="{13D866E2-B5D3-49E6-8B76-72043C81A50D}"/>
              </a:ext>
            </a:extLst>
          </p:cNvPr>
          <p:cNvSpPr txBox="1">
            <a:spLocks noChangeArrowheads="1"/>
          </p:cNvSpPr>
          <p:nvPr/>
        </p:nvSpPr>
        <p:spPr bwMode="auto">
          <a:xfrm>
            <a:off x="6096000" y="1945929"/>
            <a:ext cx="3505200" cy="4697467"/>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o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#include &lt;</a:t>
            </a:r>
            <a:r>
              <a:rPr lang="en-US" altLang="zh-CN" sz="2400" kern="0" dirty="0" err="1">
                <a:solidFill>
                  <a:srgbClr val="000000"/>
                </a:solidFill>
                <a:cs typeface="Times New Roman" pitchFamily="18" charset="0"/>
              </a:rPr>
              <a:t>stdio.h</a:t>
            </a:r>
            <a:r>
              <a:rPr lang="en-US" altLang="zh-CN" sz="2400" kern="0" dirty="0">
                <a:solidFill>
                  <a:srgbClr val="000000"/>
                </a:solidFill>
                <a:cs typeface="Times New Roman" pitchFamily="18" charset="0"/>
              </a:rPr>
              <a:t>&gt;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void increment(void)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a:solidFill>
                  <a:srgbClr val="FF0000"/>
                </a:solidFill>
                <a:cs typeface="Times New Roman" pitchFamily="18" charset="0"/>
              </a:rPr>
              <a:t>static</a:t>
            </a:r>
            <a:r>
              <a:rPr lang="en-US" altLang="zh-CN" sz="2400" kern="0" dirty="0">
                <a:solidFill>
                  <a:srgbClr val="000000"/>
                </a:solidFill>
                <a:cs typeface="Times New Roman" pitchFamily="18" charset="0"/>
              </a:rPr>
              <a:t> int x =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x++;</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("%d\n", x);</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int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for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 0;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&lt; 3; </a:t>
            </a:r>
            <a:r>
              <a:rPr lang="en-US" altLang="zh-CN" sz="2400" kern="0" dirty="0" err="1">
                <a:solidFill>
                  <a:srgbClr val="000000"/>
                </a:solidFill>
                <a:cs typeface="Times New Roman" pitchFamily="18" charset="0"/>
              </a:rPr>
              <a:t>i</a:t>
            </a:r>
            <a:r>
              <a:rPr lang="en-US" altLang="zh-CN" sz="2400" kern="0" dirty="0">
                <a:solidFill>
                  <a:srgbClr val="000000"/>
                </a:solidFill>
                <a:cs typeface="Times New Roman" pitchFamily="18" charset="0"/>
              </a:rPr>
              <a:t>++)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increment();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0" cap="none" spc="0" normalizeH="0" baseline="0" noProof="0" dirty="0">
              <a:ln>
                <a:noFill/>
              </a:ln>
              <a:solidFill>
                <a:srgbClr val="000000"/>
              </a:solidFill>
              <a:effectLst/>
              <a:uLnTx/>
              <a:uFillTx/>
              <a:cs typeface="Times New Roman" pitchFamily="18" charset="0"/>
            </a:endParaRPr>
          </a:p>
        </p:txBody>
      </p:sp>
      <p:sp>
        <p:nvSpPr>
          <p:cNvPr id="70" name="文本框 69">
            <a:extLst>
              <a:ext uri="{FF2B5EF4-FFF2-40B4-BE49-F238E27FC236}">
                <a16:creationId xmlns:a16="http://schemas.microsoft.com/office/drawing/2014/main" id="{CE2502C0-F3EC-41DD-B2D3-7D065A00AD0C}"/>
              </a:ext>
            </a:extLst>
          </p:cNvPr>
          <p:cNvSpPr txBox="1"/>
          <p:nvPr/>
        </p:nvSpPr>
        <p:spPr>
          <a:xfrm>
            <a:off x="9769314" y="1969925"/>
            <a:ext cx="2168685" cy="3693319"/>
          </a:xfrm>
          <a:prstGeom prst="rect">
            <a:avLst/>
          </a:prstGeom>
          <a:noFill/>
          <a:ln w="12700">
            <a:solidFill>
              <a:srgbClr val="0066FF"/>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运行结果：</a:t>
            </a:r>
            <a:endParaRPr kumimoji="0" lang="en-US" altLang="zh-CN" sz="1800" b="0" i="0" u="none" strike="noStrike" kern="1200" cap="none" spc="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000000"/>
              </a:solidFill>
              <a:latin typeface="Arial"/>
              <a:ea typeface="微软雅黑"/>
            </a:endParaRPr>
          </a:p>
          <a:p>
            <a:pPr lvl="0"/>
            <a:r>
              <a:rPr lang="en-US" altLang="zh-CN" dirty="0">
                <a:solidFill>
                  <a:srgbClr val="000000"/>
                </a:solidFill>
              </a:rPr>
              <a:t>x</a:t>
            </a:r>
            <a:r>
              <a:rPr lang="zh-CN" altLang="en-US" dirty="0">
                <a:solidFill>
                  <a:srgbClr val="000000"/>
                </a:solidFill>
              </a:rPr>
              <a:t>为</a:t>
            </a:r>
            <a:r>
              <a:rPr lang="en-US" altLang="zh-CN" dirty="0">
                <a:solidFill>
                  <a:srgbClr val="000000"/>
                </a:solidFill>
              </a:rPr>
              <a:t>static</a:t>
            </a:r>
            <a:r>
              <a:rPr lang="zh-CN" altLang="en-US" dirty="0">
                <a:solidFill>
                  <a:srgbClr val="000000"/>
                </a:solidFill>
              </a:rPr>
              <a:t>局部变量，仅在程序启动时初始化为</a:t>
            </a:r>
            <a:r>
              <a:rPr lang="en-US" altLang="zh-CN" dirty="0">
                <a:solidFill>
                  <a:srgbClr val="000000"/>
                </a:solidFill>
              </a:rPr>
              <a:t>0</a:t>
            </a:r>
            <a:r>
              <a:rPr lang="zh-CN" altLang="en-US" dirty="0">
                <a:solidFill>
                  <a:srgbClr val="000000"/>
                </a:solidFill>
              </a:rPr>
              <a:t>（仅执行一次）。</a:t>
            </a:r>
            <a:endParaRPr lang="en-US" altLang="zh-CN" dirty="0">
              <a:solidFill>
                <a:srgbClr val="000000"/>
              </a:solidFill>
            </a:endParaRPr>
          </a:p>
          <a:p>
            <a:pPr lvl="0"/>
            <a:r>
              <a:rPr lang="zh-CN" altLang="en-US" dirty="0">
                <a:solidFill>
                  <a:srgbClr val="000000"/>
                </a:solidFill>
              </a:rPr>
              <a:t>在下次</a:t>
            </a:r>
            <a:r>
              <a:rPr lang="en-US" altLang="zh-CN" dirty="0">
                <a:solidFill>
                  <a:srgbClr val="000000"/>
                </a:solidFill>
              </a:rPr>
              <a:t>increment()</a:t>
            </a:r>
            <a:r>
              <a:rPr lang="zh-CN" altLang="en-US" dirty="0">
                <a:solidFill>
                  <a:srgbClr val="000000"/>
                </a:solidFill>
              </a:rPr>
              <a:t>函数调用时，</a:t>
            </a:r>
            <a:r>
              <a:rPr lang="en-US" altLang="zh-CN" dirty="0">
                <a:solidFill>
                  <a:srgbClr val="000000"/>
                </a:solidFill>
              </a:rPr>
              <a:t>x</a:t>
            </a:r>
            <a:r>
              <a:rPr lang="zh-CN" altLang="en-US" dirty="0">
                <a:solidFill>
                  <a:srgbClr val="000000"/>
                </a:solidFill>
              </a:rPr>
              <a:t>的初值保持与上一次调用结束时一致。</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17845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ppt_x"/>
                                          </p:val>
                                        </p:tav>
                                        <p:tav tm="100000">
                                          <p:val>
                                            <p:strVal val="#ppt_x"/>
                                          </p:val>
                                        </p:tav>
                                      </p:tavLst>
                                    </p:anim>
                                    <p:anim calcmode="lin" valueType="num">
                                      <p:cBhvr additive="base">
                                        <p:cTn id="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additive="base">
                                        <p:cTn id="13" dur="500" fill="hold"/>
                                        <p:tgtEl>
                                          <p:spTgt spid="70"/>
                                        </p:tgtEl>
                                        <p:attrNameLst>
                                          <p:attrName>ppt_x</p:attrName>
                                        </p:attrNameLst>
                                      </p:cBhvr>
                                      <p:tavLst>
                                        <p:tav tm="0">
                                          <p:val>
                                            <p:strVal val="#ppt_x"/>
                                          </p:val>
                                        </p:tav>
                                        <p:tav tm="100000">
                                          <p:val>
                                            <p:strVal val="#ppt_x"/>
                                          </p:val>
                                        </p:tav>
                                      </p:tavLst>
                                    </p:anim>
                                    <p:anim calcmode="lin" valueType="num">
                                      <p:cBhvr additive="base">
                                        <p:cTn id="14"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7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36914" y="1389743"/>
            <a:ext cx="9144000" cy="2387600"/>
          </a:xfrm>
        </p:spPr>
        <p:txBody>
          <a:bodyPr>
            <a:normAutofit fontScale="90000"/>
          </a:bodyPr>
          <a:lstStyle/>
          <a:p>
            <a:pPr>
              <a:lnSpc>
                <a:spcPct val="200000"/>
              </a:lnSpc>
            </a:pPr>
            <a:br>
              <a:rPr lang="en-US" altLang="zh-CN" dirty="0">
                <a:latin typeface="微软雅黑" panose="020B0503020204020204" pitchFamily="34" charset="-122"/>
                <a:ea typeface="微软雅黑" panose="020B0503020204020204" pitchFamily="34" charset="-122"/>
              </a:rPr>
            </a:br>
            <a:r>
              <a:rPr lang="en-US" altLang="zh-CN" sz="4900" dirty="0">
                <a:latin typeface="微软雅黑" panose="020B0503020204020204" pitchFamily="34" charset="-122"/>
                <a:ea typeface="微软雅黑" panose="020B0503020204020204" pitchFamily="34" charset="-122"/>
              </a:rPr>
              <a:t>4.4 </a:t>
            </a:r>
            <a:r>
              <a:rPr lang="zh-CN" altLang="en-US" sz="4900" dirty="0">
                <a:latin typeface="微软雅黑" panose="020B0503020204020204" pitchFamily="34" charset="-122"/>
                <a:ea typeface="微软雅黑" panose="020B0503020204020204" pitchFamily="34" charset="-122"/>
              </a:rPr>
              <a:t>编译预处理</a:t>
            </a: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1524000" y="4436609"/>
            <a:ext cx="9144000" cy="1655762"/>
          </a:xfrm>
        </p:spPr>
        <p:txBody>
          <a:bodyPr>
            <a:normAutofit/>
          </a:bodyPr>
          <a:lstStyle/>
          <a:p>
            <a:pPr>
              <a:lnSpc>
                <a:spcPct val="150000"/>
              </a:lnSpc>
            </a:pPr>
            <a:r>
              <a:rPr lang="zh-CN" altLang="en-US" sz="2800" dirty="0">
                <a:latin typeface="微软雅黑" panose="020B0503020204020204" pitchFamily="34" charset="-122"/>
                <a:ea typeface="微软雅黑" panose="020B0503020204020204" pitchFamily="34" charset="-122"/>
              </a:rPr>
              <a:t>中国计量大学  </a:t>
            </a:r>
            <a:r>
              <a:rPr lang="en-US" altLang="zh-CN" sz="2800" dirty="0">
                <a:latin typeface="微软雅黑" panose="020B0503020204020204" pitchFamily="34" charset="-122"/>
                <a:ea typeface="微软雅黑" panose="020B0503020204020204" pitchFamily="34" charset="-122"/>
              </a:rPr>
              <a:t>C</a:t>
            </a:r>
            <a:r>
              <a:rPr lang="zh-CN" altLang="en-US" sz="2800" dirty="0">
                <a:latin typeface="微软雅黑" panose="020B0503020204020204" pitchFamily="34" charset="-122"/>
                <a:ea typeface="微软雅黑" panose="020B0503020204020204" pitchFamily="34" charset="-122"/>
              </a:rPr>
              <a:t>语言程序设计</a:t>
            </a:r>
            <a:endParaRPr lang="en-US" altLang="zh-CN" sz="28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26024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6A48D-B8D4-430A-AE1C-E921A6F75A10}"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2" name="图片 1">
            <a:extLst>
              <a:ext uri="{FF2B5EF4-FFF2-40B4-BE49-F238E27FC236}">
                <a16:creationId xmlns:a16="http://schemas.microsoft.com/office/drawing/2014/main" id="{0836D5D3-4320-C7D7-7E65-ADAE5B9DAB59}"/>
              </a:ext>
            </a:extLst>
          </p:cNvPr>
          <p:cNvPicPr>
            <a:picLocks noChangeAspect="1"/>
          </p:cNvPicPr>
          <p:nvPr/>
        </p:nvPicPr>
        <p:blipFill>
          <a:blip r:embed="rId2"/>
          <a:stretch>
            <a:fillRect/>
          </a:stretch>
        </p:blipFill>
        <p:spPr>
          <a:xfrm>
            <a:off x="2628900" y="2583243"/>
            <a:ext cx="4892357" cy="1691513"/>
          </a:xfrm>
          <a:prstGeom prst="rect">
            <a:avLst/>
          </a:prstGeom>
        </p:spPr>
      </p:pic>
    </p:spTree>
    <p:extLst>
      <p:ext uri="{BB962C8B-B14F-4D97-AF65-F5344CB8AC3E}">
        <p14:creationId xmlns:p14="http://schemas.microsoft.com/office/powerpoint/2010/main" val="1932524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编译预处理</a:t>
            </a:r>
          </a:p>
        </p:txBody>
      </p:sp>
      <p:sp>
        <p:nvSpPr>
          <p:cNvPr id="3" name="内容占位符 2"/>
          <p:cNvSpPr>
            <a:spLocks noGrp="1"/>
          </p:cNvSpPr>
          <p:nvPr>
            <p:ph idx="1"/>
          </p:nvPr>
        </p:nvSpPr>
        <p:spPr>
          <a:xfrm>
            <a:off x="669925" y="1142364"/>
            <a:ext cx="10636704" cy="5314951"/>
          </a:xfrm>
        </p:spPr>
        <p:txBody>
          <a:bodyPr>
            <a:normAutofit/>
          </a:bodyPr>
          <a:lstStyle/>
          <a:p>
            <a:pPr lvl="1"/>
            <a:r>
              <a:rPr lang="zh-CN" altLang="en-US" dirty="0"/>
              <a:t>在</a:t>
            </a:r>
            <a:r>
              <a:rPr lang="en-US" altLang="zh-CN" dirty="0"/>
              <a:t>C</a:t>
            </a:r>
            <a:r>
              <a:rPr lang="zh-CN" altLang="en-US" dirty="0"/>
              <a:t>语言中，编译预处理是编译过程中的一个阶段，它是在实际编译之前执行的一系列文本处理操作。</a:t>
            </a:r>
            <a:endParaRPr lang="en-US" altLang="zh-CN" dirty="0"/>
          </a:p>
          <a:p>
            <a:pPr lvl="1"/>
            <a:r>
              <a:rPr lang="zh-CN" altLang="en-US" dirty="0"/>
              <a:t>以</a:t>
            </a:r>
            <a:r>
              <a:rPr lang="en-US" altLang="zh-CN" dirty="0"/>
              <a:t>“#”</a:t>
            </a:r>
            <a:r>
              <a:rPr lang="zh-CN" altLang="en-US" dirty="0"/>
              <a:t>符号开头的指令，称为编译预处理指令，在实际编译之前对源代码进行一些宏替换、文件包含和条件编译等操作。</a:t>
            </a:r>
            <a:endParaRPr lang="en-US" altLang="zh-CN" dirty="0"/>
          </a:p>
          <a:p>
            <a:pPr lvl="1"/>
            <a:r>
              <a:rPr lang="zh-CN" altLang="en-US" dirty="0"/>
              <a:t>编译预处理指令一般占单独书写行。</a:t>
            </a:r>
            <a:endParaRPr lang="en-US" altLang="zh-CN" dirty="0"/>
          </a:p>
          <a:p>
            <a:pPr lvl="1"/>
            <a:r>
              <a:rPr lang="zh-CN" altLang="en-US" dirty="0"/>
              <a:t>与一般语句不一样，编译预处理指令末尾不加分号。</a:t>
            </a:r>
            <a:endParaRPr lang="en-US" altLang="zh-CN" dirty="0"/>
          </a:p>
          <a:p>
            <a:pPr lvl="1"/>
            <a:r>
              <a:rPr lang="zh-CN" altLang="en-US" dirty="0"/>
              <a:t>常见编译预处理指令：</a:t>
            </a:r>
            <a:endParaRPr lang="en-US" altLang="zh-CN" dirty="0"/>
          </a:p>
          <a:p>
            <a:pPr lvl="2">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宏定义</a:t>
            </a:r>
            <a:r>
              <a:rPr lang="en-US" altLang="zh-CN" sz="2800" b="1" dirty="0">
                <a:solidFill>
                  <a:schemeClr val="accent2">
                    <a:lumMod val="50000"/>
                  </a:schemeClr>
                </a:solidFill>
                <a:latin typeface="楷体" panose="02010609060101010101" charset="-122"/>
                <a:ea typeface="楷体" panose="02010609060101010101" charset="-122"/>
              </a:rPr>
              <a:t>	#define</a:t>
            </a:r>
          </a:p>
          <a:p>
            <a:pPr lvl="2">
              <a:lnSpc>
                <a:spcPct val="100000"/>
              </a:lnSpc>
            </a:pPr>
            <a:r>
              <a:rPr lang="zh-CN" altLang="en-US" sz="2800" b="1" dirty="0">
                <a:solidFill>
                  <a:schemeClr val="accent2">
                    <a:lumMod val="50000"/>
                  </a:schemeClr>
                </a:solidFill>
                <a:latin typeface="楷体" panose="02010609060101010101" charset="-122"/>
                <a:ea typeface="楷体" panose="02010609060101010101" charset="-122"/>
              </a:rPr>
              <a:t>文件包含</a:t>
            </a:r>
            <a:r>
              <a:rPr lang="en-US" altLang="zh-CN" sz="2800" b="1" dirty="0">
                <a:solidFill>
                  <a:schemeClr val="accent2">
                    <a:lumMod val="50000"/>
                  </a:schemeClr>
                </a:solidFill>
                <a:latin typeface="楷体" panose="02010609060101010101" charset="-122"/>
                <a:ea typeface="楷体" panose="02010609060101010101" charset="-122"/>
              </a:rPr>
              <a:t>	#include</a:t>
            </a:r>
            <a:endParaRPr dirty="0"/>
          </a:p>
        </p:txBody>
      </p:sp>
    </p:spTree>
    <p:custDataLst>
      <p:tags r:id="rId1"/>
    </p:custDataLst>
    <p:extLst>
      <p:ext uri="{BB962C8B-B14F-4D97-AF65-F5344CB8AC3E}">
        <p14:creationId xmlns:p14="http://schemas.microsoft.com/office/powerpoint/2010/main" val="2564415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4" name="图片 3" descr="C语言程序设计"/>
          <p:cNvPicPr>
            <a:picLocks noChangeAspect="1"/>
          </p:cNvPicPr>
          <p:nvPr/>
        </p:nvPicPr>
        <p:blipFill>
          <a:blip r:embed="rId2"/>
          <a:stretch>
            <a:fillRect/>
          </a:stretch>
        </p:blipFill>
        <p:spPr>
          <a:xfrm>
            <a:off x="0" y="0"/>
            <a:ext cx="12192000" cy="6858000"/>
          </a:xfrm>
          <a:prstGeom prst="rect">
            <a:avLst/>
          </a:prstGeom>
        </p:spPr>
      </p:pic>
      <p:pic>
        <p:nvPicPr>
          <p:cNvPr id="6" name="图片 5" descr="未标题-1"/>
          <p:cNvPicPr>
            <a:picLocks noChangeAspect="1"/>
          </p:cNvPicPr>
          <p:nvPr/>
        </p:nvPicPr>
        <p:blipFill>
          <a:blip r:embed="rId3"/>
          <a:stretch>
            <a:fillRect/>
          </a:stretch>
        </p:blipFill>
        <p:spPr>
          <a:xfrm>
            <a:off x="3020695" y="600710"/>
            <a:ext cx="5625465" cy="1209040"/>
          </a:xfrm>
          <a:prstGeom prst="rect">
            <a:avLst/>
          </a:prstGeom>
        </p:spPr>
      </p:pic>
      <p:sp>
        <p:nvSpPr>
          <p:cNvPr id="10" name="文本框 9"/>
          <p:cNvSpPr txBox="1"/>
          <p:nvPr/>
        </p:nvSpPr>
        <p:spPr>
          <a:xfrm>
            <a:off x="3168650" y="803275"/>
            <a:ext cx="6002655" cy="81534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a:ln>
                  <a:noFill/>
                </a:ln>
                <a:solidFill>
                  <a:prstClr val="white"/>
                </a:solidFill>
                <a:effectLst/>
                <a:uLnTx/>
                <a:uFillTx/>
                <a:latin typeface="锐字潮牌真言简2.0免费 大粗" panose="02020300000000000000" charset="-122"/>
                <a:ea typeface="锐字潮牌真言简2.0免费 大粗" panose="02020300000000000000" charset="-122"/>
                <a:cs typeface="锐字潮牌真言简2.0免费 大粗" panose="02020300000000000000" charset="-122"/>
              </a:rPr>
              <a:t>编译预处理实例</a:t>
            </a:r>
          </a:p>
        </p:txBody>
      </p:sp>
      <p:pic>
        <p:nvPicPr>
          <p:cNvPr id="7" name="图片 6" descr="未标1题-1"/>
          <p:cNvPicPr>
            <a:picLocks noChangeAspect="1"/>
          </p:cNvPicPr>
          <p:nvPr/>
        </p:nvPicPr>
        <p:blipFill>
          <a:blip r:embed="rId4"/>
          <a:stretch>
            <a:fillRect/>
          </a:stretch>
        </p:blipFill>
        <p:spPr>
          <a:xfrm>
            <a:off x="601345" y="1618615"/>
            <a:ext cx="802640" cy="600075"/>
          </a:xfrm>
          <a:prstGeom prst="rect">
            <a:avLst/>
          </a:prstGeom>
        </p:spPr>
      </p:pic>
      <p:sp>
        <p:nvSpPr>
          <p:cNvPr id="8" name="内容占位符 2"/>
          <p:cNvSpPr txBox="1">
            <a:spLocks/>
          </p:cNvSpPr>
          <p:nvPr/>
        </p:nvSpPr>
        <p:spPr>
          <a:xfrm>
            <a:off x="1243584" y="1618615"/>
            <a:ext cx="10167755" cy="4722494"/>
          </a:xfrm>
          <a:prstGeom prst="rect">
            <a:avLst/>
          </a:prstGeom>
        </p:spPr>
        <p:txBody>
          <a:bodyPr vert="horz" wrap="square" lIns="90170" tIns="46990" rIns="90170" bIns="4699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3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00000"/>
              </a:lnSpc>
              <a:spcBef>
                <a:spcPts val="0"/>
              </a:spcBef>
              <a:spcAft>
                <a:spcPts val="0"/>
              </a:spcAft>
              <a:buFont typeface="Arial" panose="020B0604020202020204" pitchFamily="34" charset="0"/>
              <a:buChar char="•"/>
              <a:tabLst>
                <a:tab pos="1609725" algn="l"/>
              </a:tabLst>
              <a:defRPr kumimoji="0" lang="zh-CN" altLang="en-US" sz="3200" b="1" i="0" u="none" strike="noStrike" kern="1200" cap="none" spc="150" normalizeH="0" baseline="0" noProof="1" dirty="0">
                <a:solidFill>
                  <a:schemeClr val="accent2">
                    <a:lumMod val="50000"/>
                  </a:schemeClr>
                </a:solidFill>
                <a:uFillTx/>
                <a:latin typeface="楷体" panose="02010609060101010101" charset="-122"/>
                <a:ea typeface="楷体" panose="0201060906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r>
              <a:rPr kumimoji="0" lang="en-US" altLang="zh-CN" sz="2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2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编译预处理实例</a:t>
            </a:r>
            <a:r>
              <a:rPr kumimoji="0" lang="en-US" altLang="zh-CN" sz="2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a:t>
            </a:r>
            <a:r>
              <a:rPr kumimoji="0" lang="zh-CN" altLang="en-US" sz="240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rPr>
              <a:t>编写一个程序，输入圆的半径，计算圆面积。 </a:t>
            </a:r>
          </a:p>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en-US" sz="1050" b="0" i="0" u="none" strike="noStrike" kern="1200" cap="none" spc="150" normalizeH="0" baseline="0" noProof="1">
              <a:ln>
                <a:noFill/>
              </a:ln>
              <a:solidFill>
                <a:srgbClr val="000000"/>
              </a:solidFill>
              <a:effectLst/>
              <a:uLnTx/>
              <a:uFillTx/>
              <a:latin typeface="Arial" panose="020B0604020202020204" pitchFamily="34" charset="0"/>
              <a:ea typeface="微软雅黑" panose="020B0503020204020204" charset="-122"/>
              <a:cs typeface="+mn-cs"/>
              <a:sym typeface="+mn-ea"/>
            </a:endParaRPr>
          </a:p>
        </p:txBody>
      </p:sp>
      <p:sp>
        <p:nvSpPr>
          <p:cNvPr id="9" name="文本框 8">
            <a:extLst>
              <a:ext uri="{FF2B5EF4-FFF2-40B4-BE49-F238E27FC236}">
                <a16:creationId xmlns:a16="http://schemas.microsoft.com/office/drawing/2014/main" id="{45A417A5-71BA-4A70-A26A-4AF2B54C3B76}"/>
              </a:ext>
            </a:extLst>
          </p:cNvPr>
          <p:cNvSpPr txBox="1"/>
          <p:nvPr/>
        </p:nvSpPr>
        <p:spPr>
          <a:xfrm>
            <a:off x="702733" y="2282508"/>
            <a:ext cx="11091334" cy="3238280"/>
          </a:xfrm>
          <a:prstGeom prst="rect">
            <a:avLst/>
          </a:prstGeom>
          <a:noFill/>
        </p:spPr>
        <p:txBody>
          <a:bodyPr wrap="square" numCol="2">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文件包含</a:t>
            </a: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#include &lt;</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stdio.h</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不带参数的宏定义</a:t>
            </a: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#define  PI  3.141593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zh-CN" altLang="en-US"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带参数的宏定义</a:t>
            </a: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#define  </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area_of_circle</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(r)  (PI * (r) * (r))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int main(void)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double r, area;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scanf</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lf</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&amp;r);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area = </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area_of_circle</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200" b="1"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printf</a:t>
            </a: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("area=%.3f\n", area);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return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p>
        </p:txBody>
      </p:sp>
      <p:sp>
        <p:nvSpPr>
          <p:cNvPr id="11" name="文本框 10">
            <a:extLst>
              <a:ext uri="{FF2B5EF4-FFF2-40B4-BE49-F238E27FC236}">
                <a16:creationId xmlns:a16="http://schemas.microsoft.com/office/drawing/2014/main" id="{DE040311-FC7F-4F1C-8D75-6F57C8942421}"/>
              </a:ext>
            </a:extLst>
          </p:cNvPr>
          <p:cNvSpPr txBox="1"/>
          <p:nvPr/>
        </p:nvSpPr>
        <p:spPr>
          <a:xfrm>
            <a:off x="7835174" y="5329653"/>
            <a:ext cx="1621971"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运行结果：</a:t>
            </a:r>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sng" strike="noStrike" kern="1200" cap="none" spc="0" normalizeH="0" baseline="0" noProof="0" dirty="0">
                <a:ln>
                  <a:noFill/>
                </a:ln>
                <a:solidFill>
                  <a:prstClr val="black"/>
                </a:solidFill>
                <a:effectLst/>
                <a:uLnTx/>
                <a:uFillTx/>
                <a:latin typeface="等线"/>
                <a:ea typeface="等线" panose="02010600030101010101" pitchFamily="2" charset="-122"/>
                <a:cs typeface="+mn-cs"/>
              </a:rPr>
              <a:t>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area=314.159</a:t>
            </a:r>
          </a:p>
        </p:txBody>
      </p:sp>
    </p:spTree>
    <p:extLst>
      <p:ext uri="{BB962C8B-B14F-4D97-AF65-F5344CB8AC3E}">
        <p14:creationId xmlns:p14="http://schemas.microsoft.com/office/powerpoint/2010/main" val="24518258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5203190"/>
          </a:xfrm>
        </p:spPr>
        <p:txBody>
          <a:bodyPr>
            <a:normAutofit fontScale="92500" lnSpcReduction="20000"/>
          </a:bodyPr>
          <a:lstStyle/>
          <a:p>
            <a:r>
              <a:rPr lang="en-US" altLang="zh-CN" dirty="0">
                <a:sym typeface="+mn-ea"/>
              </a:rPr>
              <a:t>1.</a:t>
            </a:r>
            <a:r>
              <a:rPr lang="zh-CN" altLang="en-US" dirty="0"/>
              <a:t> 宏定义的概念和语法</a:t>
            </a:r>
          </a:p>
          <a:p>
            <a:pPr lvl="1"/>
            <a:r>
              <a:rPr lang="zh-CN" altLang="en-US" dirty="0"/>
              <a:t>宏定义创建简单的代码文本替换规则，使得在代码中可以用一个简单或易懂的标识符（宏名）来表示一个值、一个表达式或一段代码片段（宏体）。</a:t>
            </a:r>
            <a:endParaRPr lang="en-US" altLang="zh-CN" dirty="0"/>
          </a:p>
          <a:p>
            <a:pPr lvl="1"/>
            <a:endParaRPr lang="en-US" altLang="zh-CN" dirty="0"/>
          </a:p>
          <a:p>
            <a:pPr lvl="1"/>
            <a:r>
              <a:rPr lang="zh-CN" altLang="en-US" dirty="0"/>
              <a:t>宏定义的作用是在编译过程之前，对源代码进行宏替换，将宏名替换为其所定义的宏体。该过程称为宏展开。</a:t>
            </a:r>
            <a:endParaRPr lang="en-US" altLang="zh-CN" dirty="0"/>
          </a:p>
          <a:p>
            <a:pPr lvl="1"/>
            <a:endParaRPr lang="en-US" altLang="zh-CN" dirty="0"/>
          </a:p>
          <a:p>
            <a:pPr lvl="1"/>
            <a:r>
              <a:rPr lang="zh-CN" altLang="en-US" dirty="0"/>
              <a:t>语法格式：</a:t>
            </a:r>
            <a:endParaRPr lang="en-US" altLang="zh-CN" dirty="0"/>
          </a:p>
          <a:p>
            <a:pPr marL="457200" lvl="1" indent="0">
              <a:buNone/>
            </a:pPr>
            <a:r>
              <a:rPr lang="zh-CN" altLang="en-US" sz="2600" dirty="0"/>
              <a:t>不带参数的宏定义：</a:t>
            </a:r>
            <a:r>
              <a:rPr lang="en-US" altLang="zh-CN" sz="2600" dirty="0"/>
              <a:t>	#define	</a:t>
            </a:r>
            <a:r>
              <a:rPr lang="zh-CN" altLang="en-US" sz="2600" dirty="0"/>
              <a:t>宏名</a:t>
            </a:r>
            <a:r>
              <a:rPr lang="en-US" altLang="zh-CN" sz="2600" dirty="0"/>
              <a:t>		</a:t>
            </a:r>
            <a:r>
              <a:rPr lang="zh-CN" altLang="en-US" sz="2600" dirty="0"/>
              <a:t>宏体</a:t>
            </a:r>
            <a:endParaRPr lang="en-US" altLang="zh-CN" sz="2600" dirty="0"/>
          </a:p>
          <a:p>
            <a:pPr marL="457200" lvl="1" indent="0">
              <a:buNone/>
            </a:pPr>
            <a:r>
              <a:rPr lang="en-US" altLang="zh-CN" sz="2600" dirty="0"/>
              <a:t>	</a:t>
            </a:r>
            <a:r>
              <a:rPr lang="zh-CN" altLang="en-US" sz="2600" dirty="0"/>
              <a:t>例：</a:t>
            </a:r>
            <a:r>
              <a:rPr lang="en-US" altLang="zh-CN" sz="2600" dirty="0"/>
              <a:t>		</a:t>
            </a:r>
            <a:r>
              <a:rPr lang="en-US" altLang="zh-CN" sz="2600" dirty="0">
                <a:solidFill>
                  <a:srgbClr val="00B050"/>
                </a:solidFill>
              </a:rPr>
              <a:t>#define	PI		3.141593</a:t>
            </a:r>
          </a:p>
          <a:p>
            <a:pPr marL="457200" lvl="1" indent="0">
              <a:buNone/>
            </a:pPr>
            <a:endParaRPr lang="en-US" altLang="zh-CN" sz="2600" dirty="0"/>
          </a:p>
          <a:p>
            <a:pPr marL="457200" lvl="1" indent="0">
              <a:buNone/>
            </a:pPr>
            <a:r>
              <a:rPr lang="zh-CN" altLang="en-US" sz="2600" dirty="0"/>
              <a:t>带参数的宏定义：</a:t>
            </a:r>
            <a:r>
              <a:rPr lang="en-US" altLang="zh-CN" sz="2600" dirty="0"/>
              <a:t>	#define	</a:t>
            </a:r>
            <a:r>
              <a:rPr lang="zh-CN" altLang="en-US" sz="2600" dirty="0"/>
              <a:t>宏名</a:t>
            </a:r>
            <a:r>
              <a:rPr lang="en-US" altLang="zh-CN" sz="2600" dirty="0"/>
              <a:t>(</a:t>
            </a:r>
            <a:r>
              <a:rPr lang="zh-CN" altLang="en-US" sz="2600" dirty="0"/>
              <a:t>形参表</a:t>
            </a:r>
            <a:r>
              <a:rPr lang="en-US" altLang="zh-CN" sz="2600" dirty="0"/>
              <a:t>)	</a:t>
            </a:r>
            <a:r>
              <a:rPr lang="zh-CN" altLang="en-US" sz="2600" dirty="0"/>
              <a:t>宏体</a:t>
            </a:r>
            <a:endParaRPr lang="en-US" altLang="zh-CN" sz="2600" dirty="0"/>
          </a:p>
          <a:p>
            <a:pPr marL="457200" lvl="1" indent="0">
              <a:buNone/>
            </a:pPr>
            <a:r>
              <a:rPr lang="en-US" altLang="zh-CN" sz="2600" dirty="0"/>
              <a:t>	</a:t>
            </a:r>
            <a:r>
              <a:rPr lang="zh-CN" altLang="en-US" sz="2600" dirty="0"/>
              <a:t>例：</a:t>
            </a:r>
            <a:r>
              <a:rPr lang="en-US" altLang="zh-CN" sz="2600" dirty="0"/>
              <a:t>		</a:t>
            </a:r>
            <a:r>
              <a:rPr lang="en-US" altLang="zh-CN" sz="2600" dirty="0">
                <a:solidFill>
                  <a:srgbClr val="00B050"/>
                </a:solidFill>
              </a:rPr>
              <a:t>#define	area(a, b) 	((a) * (b))</a:t>
            </a:r>
          </a:p>
        </p:txBody>
      </p:sp>
    </p:spTree>
    <p:custDataLst>
      <p:tags r:id="rId1"/>
    </p:custDataLst>
    <p:extLst>
      <p:ext uri="{BB962C8B-B14F-4D97-AF65-F5344CB8AC3E}">
        <p14:creationId xmlns:p14="http://schemas.microsoft.com/office/powerpoint/2010/main" val="507437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5203190"/>
          </a:xfrm>
        </p:spPr>
        <p:txBody>
          <a:bodyPr>
            <a:normAutofit/>
          </a:bodyPr>
          <a:lstStyle/>
          <a:p>
            <a:r>
              <a:rPr lang="en-US" altLang="zh-CN" dirty="0">
                <a:sym typeface="+mn-ea"/>
              </a:rPr>
              <a:t>1.</a:t>
            </a:r>
            <a:r>
              <a:rPr lang="zh-CN" altLang="en-US" dirty="0"/>
              <a:t> 宏定义的概念和语法</a:t>
            </a:r>
          </a:p>
          <a:p>
            <a:pPr lvl="1"/>
            <a:r>
              <a:rPr lang="zh-CN" altLang="en-US" dirty="0"/>
              <a:t>注意：</a:t>
            </a:r>
            <a:endParaRPr lang="en-US" altLang="zh-CN" dirty="0"/>
          </a:p>
          <a:p>
            <a:pPr lvl="2"/>
            <a:r>
              <a:rPr lang="zh-CN" altLang="en-US" sz="2800" b="1" dirty="0">
                <a:solidFill>
                  <a:schemeClr val="accent2">
                    <a:lumMod val="50000"/>
                  </a:schemeClr>
                </a:solidFill>
                <a:latin typeface="楷体" panose="02010609060101010101" charset="-122"/>
                <a:ea typeface="楷体" panose="02010609060101010101" charset="-122"/>
              </a:rPr>
              <a:t>在宏定义中，需要使用空格（或制表符）来分隔</a:t>
            </a:r>
            <a:r>
              <a:rPr lang="en-US" altLang="zh-CN" sz="2800" b="1" dirty="0">
                <a:solidFill>
                  <a:schemeClr val="accent2">
                    <a:lumMod val="50000"/>
                  </a:schemeClr>
                </a:solidFill>
                <a:latin typeface="楷体" panose="02010609060101010101" charset="-122"/>
                <a:ea typeface="楷体" panose="02010609060101010101" charset="-122"/>
              </a:rPr>
              <a:t>#define</a:t>
            </a:r>
            <a:r>
              <a:rPr lang="zh-CN" altLang="en-US" sz="2800" b="1" dirty="0">
                <a:solidFill>
                  <a:schemeClr val="accent2">
                    <a:lumMod val="50000"/>
                  </a:schemeClr>
                </a:solidFill>
                <a:latin typeface="楷体" panose="02010609060101010101" charset="-122"/>
                <a:ea typeface="楷体" panose="02010609060101010101" charset="-122"/>
              </a:rPr>
              <a:t>、宏名、宏体。</a:t>
            </a:r>
            <a:r>
              <a:rPr lang="zh-CN" altLang="en-US" sz="2800" b="1" dirty="0">
                <a:solidFill>
                  <a:srgbClr val="FF0000"/>
                </a:solidFill>
                <a:latin typeface="楷体" panose="02010609060101010101" charset="-122"/>
                <a:ea typeface="楷体" panose="02010609060101010101" charset="-122"/>
              </a:rPr>
              <a:t>宏名中不允许有空格</a:t>
            </a:r>
            <a:r>
              <a:rPr lang="zh-CN" altLang="en-US" sz="2800" b="1" dirty="0">
                <a:solidFill>
                  <a:schemeClr val="accent2">
                    <a:lumMod val="50000"/>
                  </a:schemeClr>
                </a:solidFill>
                <a:latin typeface="楷体" panose="02010609060101010101" charset="-122"/>
                <a:ea typeface="楷体" panose="02010609060101010101" charset="-122"/>
              </a:rPr>
              <a:t>。</a:t>
            </a:r>
            <a:endParaRPr lang="en-US" altLang="zh-CN" sz="2800" b="1" dirty="0">
              <a:solidFill>
                <a:schemeClr val="accent2">
                  <a:lumMod val="50000"/>
                </a:schemeClr>
              </a:solidFill>
              <a:latin typeface="楷体" panose="02010609060101010101" charset="-122"/>
              <a:ea typeface="楷体" panose="02010609060101010101" charset="-122"/>
            </a:endParaRPr>
          </a:p>
          <a:p>
            <a:pPr lvl="2"/>
            <a:r>
              <a:rPr lang="zh-CN" altLang="en-US" sz="2800" b="1" dirty="0">
                <a:solidFill>
                  <a:schemeClr val="accent2">
                    <a:lumMod val="50000"/>
                  </a:schemeClr>
                </a:solidFill>
                <a:latin typeface="楷体" panose="02010609060101010101" charset="-122"/>
                <a:ea typeface="楷体" panose="02010609060101010101" charset="-122"/>
              </a:rPr>
              <a:t>宏体可以为空，意为将宏名替换为空。</a:t>
            </a:r>
            <a:endParaRPr lang="en-US" altLang="zh-CN" sz="2800" b="1" dirty="0">
              <a:solidFill>
                <a:schemeClr val="accent2">
                  <a:lumMod val="50000"/>
                </a:schemeClr>
              </a:solidFill>
              <a:latin typeface="楷体" panose="02010609060101010101" charset="-122"/>
              <a:ea typeface="楷体" panose="02010609060101010101" charset="-122"/>
            </a:endParaRPr>
          </a:p>
          <a:p>
            <a:pPr lvl="2"/>
            <a:r>
              <a:rPr lang="zh-CN" altLang="en-US" sz="2800" b="1" dirty="0">
                <a:solidFill>
                  <a:schemeClr val="accent2">
                    <a:lumMod val="50000"/>
                  </a:schemeClr>
                </a:solidFill>
                <a:latin typeface="楷体" panose="02010609060101010101" charset="-122"/>
                <a:ea typeface="楷体" panose="02010609060101010101" charset="-122"/>
              </a:rPr>
              <a:t>宏定义只是</a:t>
            </a:r>
            <a:r>
              <a:rPr lang="zh-CN" altLang="en-US" sz="2800" b="1" dirty="0">
                <a:solidFill>
                  <a:srgbClr val="FF0000"/>
                </a:solidFill>
                <a:latin typeface="楷体" panose="02010609060101010101" charset="-122"/>
                <a:ea typeface="楷体" panose="02010609060101010101" charset="-122"/>
              </a:rPr>
              <a:t>简单的代码替换，没有语法检查</a:t>
            </a:r>
            <a:r>
              <a:rPr lang="zh-CN" altLang="en-US" sz="2800" b="1" dirty="0">
                <a:solidFill>
                  <a:schemeClr val="accent2">
                    <a:lumMod val="50000"/>
                  </a:schemeClr>
                </a:solidFill>
                <a:latin typeface="楷体" panose="02010609060101010101" charset="-122"/>
                <a:ea typeface="楷体" panose="02010609060101010101" charset="-122"/>
              </a:rPr>
              <a:t>。</a:t>
            </a:r>
            <a:endParaRPr lang="en-US" altLang="zh-CN" sz="2800" b="1" dirty="0">
              <a:solidFill>
                <a:schemeClr val="accent2">
                  <a:lumMod val="50000"/>
                </a:schemeClr>
              </a:solidFill>
              <a:latin typeface="楷体" panose="02010609060101010101" charset="-122"/>
              <a:ea typeface="楷体" panose="02010609060101010101" charset="-122"/>
            </a:endParaRPr>
          </a:p>
          <a:p>
            <a:pPr lvl="2"/>
            <a:endParaRPr lang="en-US" altLang="zh-CN" sz="28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2784110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5203190"/>
          </a:xfrm>
        </p:spPr>
        <p:txBody>
          <a:bodyPr>
            <a:normAutofit lnSpcReduction="10000"/>
          </a:bodyPr>
          <a:lstStyle/>
          <a:p>
            <a:r>
              <a:rPr lang="en-US" altLang="zh-CN" dirty="0"/>
              <a:t>2</a:t>
            </a:r>
            <a:r>
              <a:rPr lang="en-US" altLang="zh-CN" dirty="0">
                <a:sym typeface="+mn-ea"/>
              </a:rPr>
              <a:t>.</a:t>
            </a:r>
            <a:r>
              <a:rPr lang="zh-CN" altLang="en-US" dirty="0"/>
              <a:t> 不带参数的宏定义</a:t>
            </a:r>
          </a:p>
          <a:p>
            <a:pPr lvl="1"/>
            <a:r>
              <a:rPr lang="zh-CN" altLang="en-US" dirty="0"/>
              <a:t>例：</a:t>
            </a:r>
            <a:endParaRPr lang="en-US" altLang="zh-CN" dirty="0"/>
          </a:p>
          <a:p>
            <a:pPr lvl="2"/>
            <a:r>
              <a:rPr lang="zh-CN" altLang="en-US" sz="2800" b="1" dirty="0">
                <a:solidFill>
                  <a:schemeClr val="accent2">
                    <a:lumMod val="50000"/>
                  </a:schemeClr>
                </a:solidFill>
                <a:latin typeface="楷体" panose="02010609060101010101" charset="-122"/>
                <a:ea typeface="楷体" panose="02010609060101010101" charset="-122"/>
              </a:rPr>
              <a:t>定义圆周率：</a:t>
            </a:r>
            <a:r>
              <a:rPr lang="en-US" altLang="zh-CN" sz="2800" b="1" dirty="0">
                <a:solidFill>
                  <a:schemeClr val="accent2">
                    <a:lumMod val="50000"/>
                  </a:schemeClr>
                </a:solidFill>
                <a:latin typeface="楷体" panose="02010609060101010101" charset="-122"/>
                <a:ea typeface="楷体" panose="02010609060101010101" charset="-122"/>
              </a:rPr>
              <a:t>		#define PI 3.141593</a:t>
            </a:r>
          </a:p>
          <a:p>
            <a:pPr lvl="2"/>
            <a:r>
              <a:rPr lang="zh-CN" altLang="en-US" sz="2800" b="1" dirty="0">
                <a:solidFill>
                  <a:schemeClr val="accent2">
                    <a:lumMod val="50000"/>
                  </a:schemeClr>
                </a:solidFill>
                <a:latin typeface="楷体" panose="02010609060101010101" charset="-122"/>
                <a:ea typeface="楷体" panose="02010609060101010101" charset="-122"/>
              </a:rPr>
              <a:t>定义错误码：</a:t>
            </a:r>
            <a:r>
              <a:rPr lang="en-US" altLang="zh-CN" sz="2800" b="1" dirty="0">
                <a:solidFill>
                  <a:schemeClr val="accent2">
                    <a:lumMod val="50000"/>
                  </a:schemeClr>
                </a:solidFill>
                <a:latin typeface="楷体" panose="02010609060101010101" charset="-122"/>
                <a:ea typeface="楷体" panose="02010609060101010101" charset="-122"/>
              </a:rPr>
              <a:t>		#define ERROR_CODE -1</a:t>
            </a:r>
          </a:p>
          <a:p>
            <a:pPr lvl="2"/>
            <a:r>
              <a:rPr lang="zh-CN" altLang="en-US" sz="2800" b="1" dirty="0">
                <a:solidFill>
                  <a:schemeClr val="accent2">
                    <a:lumMod val="50000"/>
                  </a:schemeClr>
                </a:solidFill>
                <a:latin typeface="楷体" panose="02010609060101010101" charset="-122"/>
                <a:ea typeface="楷体" panose="02010609060101010101" charset="-122"/>
              </a:rPr>
              <a:t>定义最大值：</a:t>
            </a:r>
            <a:r>
              <a:rPr lang="en-US" altLang="zh-CN" sz="2800" b="1" dirty="0">
                <a:solidFill>
                  <a:schemeClr val="accent2">
                    <a:lumMod val="50000"/>
                  </a:schemeClr>
                </a:solidFill>
                <a:latin typeface="楷体" panose="02010609060101010101" charset="-122"/>
                <a:ea typeface="楷体" panose="02010609060101010101" charset="-122"/>
              </a:rPr>
              <a:t>		#define MAX_VALUE 100</a:t>
            </a:r>
          </a:p>
          <a:p>
            <a:pPr lvl="2"/>
            <a:r>
              <a:rPr lang="zh-CN" altLang="en-US" sz="2800" b="1" dirty="0">
                <a:solidFill>
                  <a:schemeClr val="accent2">
                    <a:lumMod val="50000"/>
                  </a:schemeClr>
                </a:solidFill>
                <a:latin typeface="楷体" panose="02010609060101010101" charset="-122"/>
                <a:ea typeface="楷体" panose="02010609060101010101" charset="-122"/>
              </a:rPr>
              <a:t>定义真伪：</a:t>
            </a:r>
            <a:r>
              <a:rPr lang="en-US" altLang="zh-CN" sz="2800" b="1" dirty="0">
                <a:solidFill>
                  <a:schemeClr val="accent2">
                    <a:lumMod val="50000"/>
                  </a:schemeClr>
                </a:solidFill>
                <a:latin typeface="楷体" panose="02010609060101010101" charset="-122"/>
                <a:ea typeface="楷体" panose="02010609060101010101" charset="-122"/>
              </a:rPr>
              <a:t>		#define TRUE 1</a:t>
            </a:r>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				#define FALSE 0</a:t>
            </a:r>
          </a:p>
          <a:p>
            <a:pPr lvl="2"/>
            <a:r>
              <a:rPr lang="zh-CN" altLang="en-US" sz="2800" b="1" dirty="0">
                <a:solidFill>
                  <a:schemeClr val="accent2">
                    <a:lumMod val="50000"/>
                  </a:schemeClr>
                </a:solidFill>
                <a:latin typeface="楷体" panose="02010609060101010101" charset="-122"/>
                <a:ea typeface="楷体" panose="02010609060101010101" charset="-122"/>
              </a:rPr>
              <a:t>定义调试开关：</a:t>
            </a:r>
            <a:r>
              <a:rPr lang="en-US" altLang="zh-CN" sz="2800" b="1" dirty="0">
                <a:solidFill>
                  <a:schemeClr val="accent2">
                    <a:lumMod val="50000"/>
                  </a:schemeClr>
                </a:solidFill>
                <a:latin typeface="楷体" panose="02010609060101010101" charset="-122"/>
                <a:ea typeface="楷体" panose="02010609060101010101" charset="-122"/>
              </a:rPr>
              <a:t>	#define DEBUG 0</a:t>
            </a:r>
          </a:p>
          <a:p>
            <a:pPr marL="914400" lvl="2" indent="0">
              <a:buNone/>
            </a:pPr>
            <a:endParaRPr lang="en-US" altLang="zh-CN" sz="28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2453037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5559213"/>
          </a:xfrm>
        </p:spPr>
        <p:txBody>
          <a:bodyPr>
            <a:normAutofit lnSpcReduction="10000"/>
          </a:bodyPr>
          <a:lstStyle/>
          <a:p>
            <a:r>
              <a:rPr lang="en-US" altLang="zh-CN" dirty="0"/>
              <a:t>2</a:t>
            </a:r>
            <a:r>
              <a:rPr lang="en-US" altLang="zh-CN" dirty="0">
                <a:sym typeface="+mn-ea"/>
              </a:rPr>
              <a:t>.</a:t>
            </a:r>
            <a:r>
              <a:rPr lang="zh-CN" altLang="en-US" dirty="0"/>
              <a:t> 不带参数的宏定义</a:t>
            </a:r>
          </a:p>
          <a:p>
            <a:pPr lvl="1"/>
            <a:r>
              <a:rPr lang="zh-CN" altLang="en-US" dirty="0"/>
              <a:t>宏展开的过程：直接替换</a:t>
            </a:r>
            <a:endParaRPr lang="en-US" altLang="zh-CN" dirty="0"/>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假如程序开头有定义</a:t>
            </a:r>
            <a:r>
              <a:rPr lang="en-US" altLang="zh-CN" sz="2800" b="1" dirty="0">
                <a:solidFill>
                  <a:schemeClr val="accent2">
                    <a:lumMod val="50000"/>
                  </a:schemeClr>
                </a:solidFill>
                <a:latin typeface="楷体" panose="02010609060101010101" charset="-122"/>
                <a:ea typeface="楷体" panose="02010609060101010101" charset="-122"/>
              </a:rPr>
              <a:t>	#define PI 3.141593</a:t>
            </a: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则表达式</a:t>
            </a:r>
            <a:r>
              <a:rPr lang="en-US" altLang="zh-CN" sz="2800" b="1" dirty="0">
                <a:solidFill>
                  <a:schemeClr val="accent2">
                    <a:lumMod val="50000"/>
                  </a:schemeClr>
                </a:solidFill>
                <a:latin typeface="楷体" panose="02010609060101010101" charset="-122"/>
                <a:ea typeface="楷体" panose="02010609060101010101" charset="-122"/>
              </a:rPr>
              <a:t>			area = PI * r * r;</a:t>
            </a: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会被替换为</a:t>
            </a:r>
            <a:r>
              <a:rPr lang="en-US" altLang="zh-CN" sz="2800" b="1" dirty="0">
                <a:solidFill>
                  <a:schemeClr val="accent2">
                    <a:lumMod val="50000"/>
                  </a:schemeClr>
                </a:solidFill>
                <a:latin typeface="楷体" panose="02010609060101010101" charset="-122"/>
                <a:ea typeface="楷体" panose="02010609060101010101" charset="-122"/>
              </a:rPr>
              <a:t>		area = 3.141593 * r * r;</a:t>
            </a:r>
          </a:p>
          <a:p>
            <a:pPr lvl="1"/>
            <a:r>
              <a:rPr lang="zh-CN" altLang="en-US" dirty="0"/>
              <a:t>宏定义可以嵌套：</a:t>
            </a:r>
            <a:endParaRPr lang="en-US" altLang="zh-CN" dirty="0"/>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#define	WIDTH	80</a:t>
            </a:r>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#define	LENGTH	(WIDTH+40)</a:t>
            </a: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则</a:t>
            </a:r>
            <a:r>
              <a:rPr lang="en-US" altLang="zh-CN" sz="2800" b="1" dirty="0">
                <a:solidFill>
                  <a:schemeClr val="accent2">
                    <a:lumMod val="50000"/>
                  </a:schemeClr>
                </a:solidFill>
                <a:latin typeface="楷体" panose="02010609060101010101" charset="-122"/>
                <a:ea typeface="楷体" panose="02010609060101010101" charset="-122"/>
              </a:rPr>
              <a:t>LENGTH</a:t>
            </a:r>
            <a:r>
              <a:rPr lang="zh-CN" altLang="en-US" sz="2800" b="1" dirty="0">
                <a:solidFill>
                  <a:schemeClr val="accent2">
                    <a:lumMod val="50000"/>
                  </a:schemeClr>
                </a:solidFill>
                <a:latin typeface="楷体" panose="02010609060101010101" charset="-122"/>
                <a:ea typeface="楷体" panose="02010609060101010101" charset="-122"/>
              </a:rPr>
              <a:t>被展开为</a:t>
            </a:r>
            <a:r>
              <a:rPr lang="en-US" altLang="zh-CN" sz="2800" b="1" dirty="0">
                <a:solidFill>
                  <a:schemeClr val="accent2">
                    <a:lumMod val="50000"/>
                  </a:schemeClr>
                </a:solidFill>
                <a:latin typeface="楷体" panose="02010609060101010101" charset="-122"/>
                <a:ea typeface="楷体" panose="02010609060101010101" charset="-122"/>
              </a:rPr>
              <a:t>(80+40)</a:t>
            </a:r>
            <a:r>
              <a:rPr lang="zh-CN" altLang="en-US" sz="2800" b="1" dirty="0">
                <a:solidFill>
                  <a:schemeClr val="accent2">
                    <a:lumMod val="50000"/>
                  </a:schemeClr>
                </a:solidFill>
                <a:latin typeface="楷体" panose="02010609060101010101" charset="-122"/>
                <a:ea typeface="楷体" panose="02010609060101010101" charset="-122"/>
              </a:rPr>
              <a:t>。</a:t>
            </a:r>
            <a:endParaRPr lang="en-US" altLang="zh-CN" sz="2800" b="1" dirty="0">
              <a:solidFill>
                <a:schemeClr val="accent2">
                  <a:lumMod val="50000"/>
                </a:schemeClr>
              </a:solidFill>
              <a:latin typeface="楷体" panose="02010609060101010101" charset="-122"/>
              <a:ea typeface="楷体" panose="02010609060101010101" charset="-122"/>
            </a:endParaRPr>
          </a:p>
          <a:p>
            <a:pPr lvl="1"/>
            <a:endParaRPr lang="en-US" altLang="zh-CN" dirty="0"/>
          </a:p>
          <a:p>
            <a:pPr marL="914400" lvl="2" indent="0">
              <a:buNone/>
            </a:pPr>
            <a:endParaRPr lang="en-US" altLang="zh-CN" sz="28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3857572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535747" cy="5626774"/>
          </a:xfrm>
        </p:spPr>
        <p:txBody>
          <a:bodyPr>
            <a:normAutofit fontScale="92500" lnSpcReduction="10000"/>
          </a:bodyPr>
          <a:lstStyle/>
          <a:p>
            <a:r>
              <a:rPr lang="en-US" altLang="zh-CN" dirty="0"/>
              <a:t>3</a:t>
            </a:r>
            <a:r>
              <a:rPr lang="en-US" altLang="zh-CN" dirty="0">
                <a:sym typeface="+mn-ea"/>
              </a:rPr>
              <a:t>.</a:t>
            </a:r>
            <a:r>
              <a:rPr lang="zh-CN" altLang="en-US" dirty="0"/>
              <a:t> 带参数的宏定义</a:t>
            </a:r>
          </a:p>
          <a:p>
            <a:pPr lvl="1"/>
            <a:r>
              <a:rPr lang="zh-CN" altLang="en-US" dirty="0"/>
              <a:t>例：</a:t>
            </a:r>
            <a:endParaRPr lang="en-US" altLang="zh-CN" dirty="0"/>
          </a:p>
          <a:p>
            <a:pPr lvl="2"/>
            <a:r>
              <a:rPr lang="zh-CN" altLang="en-US" sz="2800" b="1" dirty="0">
                <a:solidFill>
                  <a:schemeClr val="accent2">
                    <a:lumMod val="50000"/>
                  </a:schemeClr>
                </a:solidFill>
                <a:latin typeface="楷体" panose="02010609060101010101" charset="-122"/>
                <a:ea typeface="楷体" panose="02010609060101010101" charset="-122"/>
              </a:rPr>
              <a:t>定义长方形面积计算：</a:t>
            </a:r>
            <a:endParaRPr lang="en-US" altLang="zh-CN" sz="2800" b="1" dirty="0">
              <a:solidFill>
                <a:schemeClr val="accent2">
                  <a:lumMod val="50000"/>
                </a:schemeClr>
              </a:solidFill>
              <a:latin typeface="楷体" panose="02010609060101010101" charset="-122"/>
              <a:ea typeface="楷体" panose="02010609060101010101" charset="-122"/>
            </a:endParaRPr>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#define RECTANGLE_AREA(a, b) ((a) * (b))</a:t>
            </a: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宏定义后，可以使用</a:t>
            </a:r>
            <a:endParaRPr lang="en-US" altLang="zh-CN" sz="2800" b="1" dirty="0">
              <a:solidFill>
                <a:schemeClr val="accent2">
                  <a:lumMod val="50000"/>
                </a:schemeClr>
              </a:solidFill>
              <a:latin typeface="楷体" panose="02010609060101010101" charset="-122"/>
              <a:ea typeface="楷体" panose="02010609060101010101" charset="-122"/>
            </a:endParaRPr>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int area = RECTANGLE_AREA(3, 4);</a:t>
            </a: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进行面积计算。带参数宏定义的调用与函数的调用类似。</a:t>
            </a:r>
            <a:endParaRPr lang="en-US" altLang="zh-CN" sz="2800" b="1" dirty="0">
              <a:solidFill>
                <a:schemeClr val="accent2">
                  <a:lumMod val="50000"/>
                </a:schemeClr>
              </a:solidFill>
              <a:latin typeface="楷体" panose="02010609060101010101" charset="-122"/>
              <a:ea typeface="楷体" panose="02010609060101010101" charset="-122"/>
            </a:endParaRPr>
          </a:p>
          <a:p>
            <a:pPr marL="914400" lvl="2" indent="0">
              <a:buNone/>
            </a:pPr>
            <a:r>
              <a:rPr lang="zh-CN" altLang="en-US" sz="2800" b="1" dirty="0">
                <a:solidFill>
                  <a:schemeClr val="accent2">
                    <a:lumMod val="50000"/>
                  </a:schemeClr>
                </a:solidFill>
                <a:latin typeface="楷体" panose="02010609060101010101" charset="-122"/>
                <a:ea typeface="楷体" panose="02010609060101010101" charset="-122"/>
              </a:rPr>
              <a:t>在编译预处理时，会展开成</a:t>
            </a:r>
            <a:endParaRPr lang="en-US" altLang="zh-CN" sz="2800" b="1" dirty="0">
              <a:solidFill>
                <a:schemeClr val="accent2">
                  <a:lumMod val="50000"/>
                </a:schemeClr>
              </a:solidFill>
              <a:latin typeface="楷体" panose="02010609060101010101" charset="-122"/>
              <a:ea typeface="楷体" panose="02010609060101010101" charset="-122"/>
            </a:endParaRPr>
          </a:p>
          <a:p>
            <a:pPr marL="914400" lvl="2" indent="0">
              <a:buNone/>
            </a:pPr>
            <a:r>
              <a:rPr lang="en-US" altLang="zh-CN" sz="2800" b="1" dirty="0">
                <a:solidFill>
                  <a:schemeClr val="accent2">
                    <a:lumMod val="50000"/>
                  </a:schemeClr>
                </a:solidFill>
                <a:latin typeface="楷体" panose="02010609060101010101" charset="-122"/>
                <a:ea typeface="楷体" panose="02010609060101010101" charset="-122"/>
              </a:rPr>
              <a:t>int area = ((3) * (4));</a:t>
            </a:r>
          </a:p>
          <a:p>
            <a:pPr marL="914400" lvl="2" indent="0">
              <a:buNone/>
            </a:pPr>
            <a:endParaRPr lang="en-US" altLang="zh-CN" sz="28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1252801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5203190"/>
          </a:xfrm>
        </p:spPr>
        <p:txBody>
          <a:bodyPr>
            <a:normAutofit/>
          </a:bodyPr>
          <a:lstStyle/>
          <a:p>
            <a:r>
              <a:rPr lang="en-US" altLang="zh-CN" dirty="0"/>
              <a:t>3</a:t>
            </a:r>
            <a:r>
              <a:rPr lang="en-US" altLang="zh-CN" dirty="0">
                <a:sym typeface="+mn-ea"/>
              </a:rPr>
              <a:t>.</a:t>
            </a:r>
            <a:r>
              <a:rPr lang="zh-CN" altLang="en-US" dirty="0"/>
              <a:t> 带参数的宏定义</a:t>
            </a:r>
          </a:p>
          <a:p>
            <a:pPr lvl="1"/>
            <a:r>
              <a:rPr lang="zh-CN" altLang="en-US" dirty="0"/>
              <a:t>带参数的宏定义与函数的优缺点对比：</a:t>
            </a:r>
            <a:endParaRPr lang="en-US" altLang="zh-CN" dirty="0"/>
          </a:p>
          <a:p>
            <a:pPr marL="914400" lvl="2" indent="0">
              <a:buNone/>
            </a:pPr>
            <a:endParaRPr lang="en-US" altLang="zh-CN" sz="2800" b="1" dirty="0">
              <a:solidFill>
                <a:schemeClr val="accent2">
                  <a:lumMod val="50000"/>
                </a:schemeClr>
              </a:solidFill>
              <a:latin typeface="楷体" panose="02010609060101010101" charset="-122"/>
              <a:ea typeface="楷体" panose="02010609060101010101" charset="-122"/>
            </a:endParaRPr>
          </a:p>
        </p:txBody>
      </p:sp>
      <p:graphicFrame>
        <p:nvGraphicFramePr>
          <p:cNvPr id="6" name="表格 5">
            <a:extLst>
              <a:ext uri="{FF2B5EF4-FFF2-40B4-BE49-F238E27FC236}">
                <a16:creationId xmlns:a16="http://schemas.microsoft.com/office/drawing/2014/main" id="{D5E8ACE2-6E79-419B-B0E0-0F6409762D32}"/>
              </a:ext>
            </a:extLst>
          </p:cNvPr>
          <p:cNvGraphicFramePr>
            <a:graphicFrameLocks noGrp="1"/>
          </p:cNvGraphicFramePr>
          <p:nvPr>
            <p:extLst>
              <p:ext uri="{D42A27DB-BD31-4B8C-83A1-F6EECF244321}">
                <p14:modId xmlns:p14="http://schemas.microsoft.com/office/powerpoint/2010/main" val="3756917905"/>
              </p:ext>
            </p:extLst>
          </p:nvPr>
        </p:nvGraphicFramePr>
        <p:xfrm>
          <a:off x="445374" y="2492375"/>
          <a:ext cx="11301251" cy="4179500"/>
        </p:xfrm>
        <a:graphic>
          <a:graphicData uri="http://schemas.openxmlformats.org/drawingml/2006/table">
            <a:tbl>
              <a:tblPr firstRow="1" firstCol="1" bandRow="1" bandCol="1">
                <a:tableStyleId>{69012ECD-51FC-41F1-AA8D-1B2483CD663E}</a:tableStyleId>
              </a:tblPr>
              <a:tblGrid>
                <a:gridCol w="2187338">
                  <a:extLst>
                    <a:ext uri="{9D8B030D-6E8A-4147-A177-3AD203B41FA5}">
                      <a16:colId xmlns:a16="http://schemas.microsoft.com/office/drawing/2014/main" val="1212372623"/>
                    </a:ext>
                  </a:extLst>
                </a:gridCol>
                <a:gridCol w="3686780">
                  <a:extLst>
                    <a:ext uri="{9D8B030D-6E8A-4147-A177-3AD203B41FA5}">
                      <a16:colId xmlns:a16="http://schemas.microsoft.com/office/drawing/2014/main" val="2264205215"/>
                    </a:ext>
                  </a:extLst>
                </a:gridCol>
                <a:gridCol w="5427133">
                  <a:extLst>
                    <a:ext uri="{9D8B030D-6E8A-4147-A177-3AD203B41FA5}">
                      <a16:colId xmlns:a16="http://schemas.microsoft.com/office/drawing/2014/main" val="2370626887"/>
                    </a:ext>
                  </a:extLst>
                </a:gridCol>
              </a:tblGrid>
              <a:tr h="304108">
                <a:tc>
                  <a:txBody>
                    <a:bodyPr/>
                    <a:lstStyle/>
                    <a:p>
                      <a:pPr indent="0" algn="just">
                        <a:lnSpc>
                          <a:spcPct val="100000"/>
                        </a:lnSpc>
                        <a:spcAft>
                          <a:spcPts val="0"/>
                        </a:spcAft>
                      </a:pPr>
                      <a:r>
                        <a:rPr lang="en-US" sz="2200" kern="100" dirty="0">
                          <a:effectLst/>
                          <a:latin typeface="宋体" panose="02010600030101010101" pitchFamily="2" charset="-122"/>
                          <a:ea typeface="宋体" panose="02010600030101010101" pitchFamily="2" charset="-122"/>
                        </a:rPr>
                        <a:t> </a:t>
                      </a:r>
                      <a:endParaRPr lang="zh-CN" sz="2200" kern="100" dirty="0">
                        <a:effectLst/>
                        <a:latin typeface="宋体" panose="02010600030101010101" pitchFamily="2" charset="-122"/>
                        <a:ea typeface="宋体" panose="02010600030101010101" pitchFamily="2" charset="-122"/>
                      </a:endParaRPr>
                    </a:p>
                  </a:txBody>
                  <a:tcPr marL="68580" marR="68580" marT="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indent="0" algn="ctr">
                        <a:lnSpc>
                          <a:spcPct val="100000"/>
                        </a:lnSpc>
                        <a:spcAft>
                          <a:spcPts val="0"/>
                        </a:spcAft>
                      </a:pPr>
                      <a:r>
                        <a:rPr lang="zh-CN" sz="2200" kern="100" dirty="0">
                          <a:effectLst/>
                          <a:latin typeface="宋体" panose="02010600030101010101" pitchFamily="2" charset="-122"/>
                          <a:ea typeface="宋体" panose="02010600030101010101" pitchFamily="2" charset="-122"/>
                        </a:rPr>
                        <a:t>函数</a:t>
                      </a:r>
                    </a:p>
                  </a:txBody>
                  <a:tcPr marL="68580" marR="68580" marT="0" marB="0">
                    <a:lnT w="12700" cap="flat" cmpd="sng" algn="ctr">
                      <a:solidFill>
                        <a:schemeClr val="tx1"/>
                      </a:solidFill>
                      <a:prstDash val="solid"/>
                      <a:round/>
                      <a:headEnd type="none" w="med" len="med"/>
                      <a:tailEnd type="none" w="med" len="med"/>
                    </a:lnT>
                  </a:tcPr>
                </a:tc>
                <a:tc>
                  <a:txBody>
                    <a:bodyPr/>
                    <a:lstStyle/>
                    <a:p>
                      <a:pPr indent="0" algn="ctr">
                        <a:lnSpc>
                          <a:spcPct val="100000"/>
                        </a:lnSpc>
                        <a:spcAft>
                          <a:spcPts val="0"/>
                        </a:spcAft>
                      </a:pPr>
                      <a:r>
                        <a:rPr lang="zh-CN" sz="2200" kern="100">
                          <a:effectLst/>
                          <a:latin typeface="宋体" panose="02010600030101010101" pitchFamily="2" charset="-122"/>
                          <a:ea typeface="宋体" panose="02010600030101010101" pitchFamily="2" charset="-122"/>
                        </a:rPr>
                        <a:t>带参数的宏定义</a:t>
                      </a:r>
                    </a:p>
                  </a:txBody>
                  <a:tcPr marL="68580" marR="68580" marT="0" marB="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84512277"/>
                  </a:ext>
                </a:extLst>
              </a:tr>
              <a:tr h="608217">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工作流程</a:t>
                      </a:r>
                    </a:p>
                  </a:txBody>
                  <a:tcPr marL="68580" marR="68580" marT="0" marB="0">
                    <a:lnL w="12700" cap="flat" cmpd="sng" algn="ctr">
                      <a:solidFill>
                        <a:schemeClr val="tx1"/>
                      </a:solidFill>
                      <a:prstDash val="solid"/>
                      <a:round/>
                      <a:headEnd type="none" w="med" len="med"/>
                      <a:tailEnd type="none" w="med" len="med"/>
                    </a:lnL>
                  </a:tcPr>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实参表达式求值→函数调用→获取返回值</a:t>
                      </a:r>
                    </a:p>
                  </a:txBody>
                  <a:tcPr marL="68580" marR="68580" marT="0" marB="0"/>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宏展开→展开后的表达式求值</a:t>
                      </a:r>
                    </a:p>
                  </a:txBody>
                  <a:tcPr marL="68580" marR="68580"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41862438"/>
                  </a:ext>
                </a:extLst>
              </a:tr>
              <a:tr h="304108">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内存分配</a:t>
                      </a:r>
                    </a:p>
                  </a:txBody>
                  <a:tcPr marL="68580" marR="68580" marT="0" marB="0">
                    <a:lnL w="12700" cap="flat" cmpd="sng" algn="ctr">
                      <a:solidFill>
                        <a:schemeClr val="tx1"/>
                      </a:solidFill>
                      <a:prstDash val="solid"/>
                      <a:round/>
                      <a:headEnd type="none" w="med" len="med"/>
                      <a:tailEnd type="none" w="med" len="med"/>
                    </a:lnL>
                  </a:tcPr>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函数调用需要分配内存</a:t>
                      </a:r>
                    </a:p>
                  </a:txBody>
                  <a:tcPr marL="68580" marR="68580" marT="0" marB="0"/>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宏定义不需要分配内存</a:t>
                      </a:r>
                    </a:p>
                  </a:txBody>
                  <a:tcPr marL="68580" marR="68580"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15090863"/>
                  </a:ext>
                </a:extLst>
              </a:tr>
              <a:tr h="912325">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运行时额外开销</a:t>
                      </a:r>
                    </a:p>
                  </a:txBody>
                  <a:tcPr marL="68580" marR="68580" marT="0" marB="0">
                    <a:lnL w="12700" cap="flat" cmpd="sng" algn="ctr">
                      <a:solidFill>
                        <a:schemeClr val="tx1"/>
                      </a:solidFill>
                      <a:prstDash val="solid"/>
                      <a:round/>
                      <a:headEnd type="none" w="med" len="med"/>
                      <a:tailEnd type="none" w="med" len="med"/>
                    </a:lnL>
                  </a:tcPr>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函数调用需要额外系统开销</a:t>
                      </a:r>
                    </a:p>
                  </a:txBody>
                  <a:tcPr marL="68580" marR="68580" marT="0" marB="0"/>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宏展开在编译预处理时进行，运行时没有额外开销，非常高效，可以用于代替短小而频繁调用的函数，用于加速。</a:t>
                      </a:r>
                    </a:p>
                  </a:txBody>
                  <a:tcPr marL="68580" marR="68580"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92204008"/>
                  </a:ext>
                </a:extLst>
              </a:tr>
              <a:tr h="494654">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参数检查</a:t>
                      </a:r>
                    </a:p>
                  </a:txBody>
                  <a:tcPr marL="68580" marR="68580" marT="0" marB="0">
                    <a:lnL w="12700" cap="flat" cmpd="sng" algn="ctr">
                      <a:solidFill>
                        <a:schemeClr val="tx1"/>
                      </a:solidFill>
                      <a:prstDash val="solid"/>
                      <a:round/>
                      <a:headEnd type="none" w="med" len="med"/>
                      <a:tailEnd type="none" w="med" len="med"/>
                    </a:lnL>
                  </a:tcPr>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会检查形参与实参类型是否匹配</a:t>
                      </a:r>
                    </a:p>
                  </a:txBody>
                  <a:tcPr marL="68580" marR="68580" marT="0" marB="0"/>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没有参数类型检查</a:t>
                      </a:r>
                    </a:p>
                  </a:txBody>
                  <a:tcPr marL="68580" marR="68580"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62564830"/>
                  </a:ext>
                </a:extLst>
              </a:tr>
              <a:tr h="608217">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副作用</a:t>
                      </a:r>
                    </a:p>
                  </a:txBody>
                  <a:tcPr marL="68580" marR="68580" marT="0" marB="0">
                    <a:lnL w="12700" cap="flat" cmpd="sng" algn="ctr">
                      <a:solidFill>
                        <a:schemeClr val="tx1"/>
                      </a:solidFill>
                      <a:prstDash val="solid"/>
                      <a:round/>
                      <a:headEnd type="none" w="med" len="med"/>
                      <a:tailEnd type="none" w="med" len="med"/>
                    </a:lnL>
                  </a:tcPr>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无</a:t>
                      </a:r>
                    </a:p>
                  </a:txBody>
                  <a:tcPr marL="68580" marR="68580" marT="0" marB="0"/>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若编写不合理，宏展开时容易产生副作用（边际效应），导致错误。</a:t>
                      </a:r>
                    </a:p>
                  </a:txBody>
                  <a:tcPr marL="68580" marR="68580" marT="0"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74492289"/>
                  </a:ext>
                </a:extLst>
              </a:tr>
              <a:tr h="491420">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使用难易程度</a:t>
                      </a:r>
                    </a:p>
                  </a:txBody>
                  <a:tcPr marL="68580" marR="68580" marT="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indent="0" algn="just">
                        <a:lnSpc>
                          <a:spcPct val="100000"/>
                        </a:lnSpc>
                        <a:spcAft>
                          <a:spcPts val="0"/>
                        </a:spcAft>
                      </a:pPr>
                      <a:r>
                        <a:rPr lang="zh-CN" sz="2200" kern="100">
                          <a:effectLst/>
                          <a:latin typeface="宋体" panose="02010600030101010101" pitchFamily="2" charset="-122"/>
                          <a:ea typeface="宋体" panose="02010600030101010101" pitchFamily="2" charset="-122"/>
                        </a:rPr>
                        <a:t>编写、调试简单，可读性强</a:t>
                      </a:r>
                    </a:p>
                  </a:txBody>
                  <a:tcPr marL="68580" marR="68580" marT="0" marB="0">
                    <a:lnB w="12700" cap="flat" cmpd="sng" algn="ctr">
                      <a:solidFill>
                        <a:schemeClr val="tx1"/>
                      </a:solidFill>
                      <a:prstDash val="solid"/>
                      <a:round/>
                      <a:headEnd type="none" w="med" len="med"/>
                      <a:tailEnd type="none" w="med" len="med"/>
                    </a:lnB>
                  </a:tcPr>
                </a:tc>
                <a:tc>
                  <a:txBody>
                    <a:bodyPr/>
                    <a:lstStyle/>
                    <a:p>
                      <a:pPr indent="0" algn="just">
                        <a:lnSpc>
                          <a:spcPct val="100000"/>
                        </a:lnSpc>
                        <a:spcAft>
                          <a:spcPts val="0"/>
                        </a:spcAft>
                      </a:pPr>
                      <a:r>
                        <a:rPr lang="zh-CN" sz="2200" kern="100" dirty="0">
                          <a:effectLst/>
                          <a:latin typeface="宋体" panose="02010600030101010101" pitchFamily="2" charset="-122"/>
                          <a:ea typeface="宋体" panose="02010600030101010101" pitchFamily="2" charset="-122"/>
                        </a:rPr>
                        <a:t>编写、调试难度大</a:t>
                      </a:r>
                    </a:p>
                  </a:txBody>
                  <a:tcPr marL="68580" marR="68580" marT="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334198"/>
                  </a:ext>
                </a:extLst>
              </a:tr>
            </a:tbl>
          </a:graphicData>
        </a:graphic>
      </p:graphicFrame>
    </p:spTree>
    <p:custDataLst>
      <p:tags r:id="rId1"/>
    </p:custDataLst>
    <p:extLst>
      <p:ext uri="{BB962C8B-B14F-4D97-AF65-F5344CB8AC3E}">
        <p14:creationId xmlns:p14="http://schemas.microsoft.com/office/powerpoint/2010/main" val="34204314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19"/>
            <a:ext cx="11301251" cy="5660813"/>
          </a:xfrm>
        </p:spPr>
        <p:txBody>
          <a:bodyPr>
            <a:normAutofit fontScale="92500" lnSpcReduction="10000"/>
          </a:bodyPr>
          <a:lstStyle/>
          <a:p>
            <a:r>
              <a:rPr lang="en-US" altLang="zh-CN" dirty="0"/>
              <a:t>4</a:t>
            </a:r>
            <a:r>
              <a:rPr lang="en-US" altLang="zh-CN" dirty="0">
                <a:sym typeface="+mn-ea"/>
              </a:rPr>
              <a:t>.</a:t>
            </a:r>
            <a:r>
              <a:rPr lang="zh-CN" altLang="en-US" dirty="0"/>
              <a:t> 宏定义的副作用</a:t>
            </a:r>
            <a:endParaRPr lang="en-US" altLang="zh-CN" dirty="0"/>
          </a:p>
          <a:p>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endParaRPr lang="en-US" altLang="zh-CN" dirty="0"/>
          </a:p>
          <a:p>
            <a:pPr lvl="1"/>
            <a:r>
              <a:rPr lang="en-US" altLang="zh-CN" sz="2400" noProof="0" dirty="0">
                <a:solidFill>
                  <a:srgbClr val="00B0F0"/>
                </a:solidFill>
              </a:rPr>
              <a:t>SQUARE(a + b)</a:t>
            </a:r>
            <a:r>
              <a:rPr lang="en-US" altLang="zh-CN" sz="2400" noProof="0" dirty="0"/>
              <a:t> </a:t>
            </a:r>
            <a:r>
              <a:rPr lang="zh-CN" altLang="en-US" sz="2400" noProof="0" dirty="0"/>
              <a:t>宏展开后为</a:t>
            </a:r>
            <a:r>
              <a:rPr lang="en-US" altLang="zh-CN" sz="2400" noProof="0" dirty="0"/>
              <a:t>: </a:t>
            </a:r>
            <a:r>
              <a:rPr lang="en-US" altLang="zh-CN" sz="2400" noProof="0" dirty="0">
                <a:solidFill>
                  <a:srgbClr val="00B0F0"/>
                </a:solidFill>
              </a:rPr>
              <a:t>(a + b * a + b)</a:t>
            </a:r>
          </a:p>
          <a:p>
            <a:pPr lvl="1"/>
            <a:r>
              <a:rPr lang="zh-CN" altLang="en-US" sz="2400" noProof="0" dirty="0"/>
              <a:t>计算结果为</a:t>
            </a:r>
            <a:r>
              <a:rPr lang="en-US" altLang="zh-CN" sz="2400" noProof="0" dirty="0">
                <a:solidFill>
                  <a:srgbClr val="00B0F0"/>
                </a:solidFill>
              </a:rPr>
              <a:t>(5 + 2 * 5 + 2) = 17</a:t>
            </a:r>
            <a:endParaRPr lang="en-US" altLang="zh-CN" sz="2400" dirty="0">
              <a:solidFill>
                <a:srgbClr val="00B0F0"/>
              </a:solidFill>
            </a:endParaRPr>
          </a:p>
          <a:p>
            <a:pPr lvl="1"/>
            <a:r>
              <a:rPr lang="zh-CN" altLang="en-US" sz="2400" dirty="0"/>
              <a:t>更正方法：</a:t>
            </a:r>
            <a:r>
              <a:rPr lang="it-IT" altLang="zh-CN" sz="2400" dirty="0"/>
              <a:t>#define SQUARE(x) </a:t>
            </a:r>
            <a:r>
              <a:rPr lang="it-IT" altLang="zh-CN" sz="2400" dirty="0">
                <a:solidFill>
                  <a:srgbClr val="0000FF"/>
                </a:solidFill>
              </a:rPr>
              <a:t>(</a:t>
            </a:r>
            <a:r>
              <a:rPr lang="en-US" altLang="zh-CN" sz="2400" dirty="0">
                <a:solidFill>
                  <a:srgbClr val="FF0000"/>
                </a:solidFill>
              </a:rPr>
              <a:t>(</a:t>
            </a:r>
            <a:r>
              <a:rPr lang="it-IT" altLang="zh-CN" sz="2400" dirty="0"/>
              <a:t>x</a:t>
            </a:r>
            <a:r>
              <a:rPr lang="it-IT" altLang="zh-CN" sz="2400" dirty="0">
                <a:solidFill>
                  <a:srgbClr val="FF0000"/>
                </a:solidFill>
              </a:rPr>
              <a:t>)</a:t>
            </a:r>
            <a:r>
              <a:rPr lang="it-IT" altLang="zh-CN" sz="2400" dirty="0"/>
              <a:t> * </a:t>
            </a:r>
            <a:r>
              <a:rPr lang="it-IT" altLang="zh-CN" sz="2400" dirty="0">
                <a:solidFill>
                  <a:srgbClr val="FF0000"/>
                </a:solidFill>
              </a:rPr>
              <a:t>(</a:t>
            </a:r>
            <a:r>
              <a:rPr lang="it-IT" altLang="zh-CN" sz="2400" dirty="0"/>
              <a:t>x</a:t>
            </a:r>
            <a:r>
              <a:rPr lang="it-IT" altLang="zh-CN" sz="2400" dirty="0">
                <a:solidFill>
                  <a:srgbClr val="FF0000"/>
                </a:solidFill>
              </a:rPr>
              <a:t>)</a:t>
            </a:r>
            <a:r>
              <a:rPr lang="it-IT" altLang="zh-CN" sz="2400" dirty="0">
                <a:solidFill>
                  <a:srgbClr val="0000FF"/>
                </a:solidFill>
              </a:rPr>
              <a:t>)</a:t>
            </a:r>
          </a:p>
          <a:p>
            <a:pPr lvl="1"/>
            <a:r>
              <a:rPr lang="zh-CN" altLang="en-US" sz="2400" dirty="0"/>
              <a:t>展开后：</a:t>
            </a:r>
            <a:r>
              <a:rPr lang="en-US" altLang="zh-CN" sz="2400" dirty="0">
                <a:solidFill>
                  <a:srgbClr val="0000FF"/>
                </a:solidFill>
              </a:rPr>
              <a:t>(</a:t>
            </a:r>
            <a:r>
              <a:rPr lang="en-US" altLang="zh-CN" sz="2400" dirty="0">
                <a:solidFill>
                  <a:srgbClr val="FF0000"/>
                </a:solidFill>
              </a:rPr>
              <a:t>(</a:t>
            </a:r>
            <a:r>
              <a:rPr lang="en-US" altLang="zh-CN" sz="2400" dirty="0"/>
              <a:t>a + b</a:t>
            </a:r>
            <a:r>
              <a:rPr lang="en-US" altLang="zh-CN" sz="2400" dirty="0">
                <a:solidFill>
                  <a:srgbClr val="FF0000"/>
                </a:solidFill>
              </a:rPr>
              <a:t>)</a:t>
            </a:r>
            <a:r>
              <a:rPr lang="en-US" altLang="zh-CN" sz="2400" dirty="0"/>
              <a:t> * </a:t>
            </a:r>
            <a:r>
              <a:rPr lang="en-US" altLang="zh-CN" sz="2400" dirty="0">
                <a:solidFill>
                  <a:srgbClr val="FF0000"/>
                </a:solidFill>
              </a:rPr>
              <a:t>(</a:t>
            </a:r>
            <a:r>
              <a:rPr lang="en-US" altLang="zh-CN" sz="2400" dirty="0"/>
              <a:t>a + b</a:t>
            </a:r>
            <a:r>
              <a:rPr lang="en-US" altLang="zh-CN" sz="2400" dirty="0">
                <a:solidFill>
                  <a:srgbClr val="FF0000"/>
                </a:solidFill>
              </a:rPr>
              <a:t>)</a:t>
            </a:r>
            <a:r>
              <a:rPr lang="en-US" altLang="zh-CN" sz="2400" dirty="0">
                <a:solidFill>
                  <a:srgbClr val="0000FF"/>
                </a:solidFill>
              </a:rPr>
              <a:t>)</a:t>
            </a:r>
            <a:r>
              <a:rPr lang="en-US" altLang="zh-CN" sz="2400" dirty="0"/>
              <a:t> </a:t>
            </a:r>
          </a:p>
          <a:p>
            <a:pPr lvl="1">
              <a:lnSpc>
                <a:spcPct val="110000"/>
              </a:lnSpc>
            </a:pPr>
            <a:r>
              <a:rPr lang="zh-CN" altLang="en-US" sz="2400" dirty="0"/>
              <a:t>计算结果为</a:t>
            </a:r>
            <a:r>
              <a:rPr lang="en-US" altLang="zh-CN" sz="2400" dirty="0"/>
              <a:t>((5 + 2) * (5 + 2)) = 49</a:t>
            </a:r>
          </a:p>
          <a:p>
            <a:pPr lvl="1"/>
            <a:endParaRPr lang="zh-CN" altLang="en-US" dirty="0"/>
          </a:p>
          <a:p>
            <a:pPr marL="457200" lvl="1" indent="0">
              <a:buNone/>
            </a:pPr>
            <a:endParaRPr lang="en-US" altLang="zh-CN" sz="2800" b="1" dirty="0">
              <a:solidFill>
                <a:schemeClr val="accent2">
                  <a:lumMod val="50000"/>
                </a:schemeClr>
              </a:solidFill>
              <a:latin typeface="楷体" panose="02010609060101010101" charset="-122"/>
              <a:ea typeface="楷体" panose="02010609060101010101" charset="-122"/>
            </a:endParaRPr>
          </a:p>
        </p:txBody>
      </p:sp>
      <p:sp>
        <p:nvSpPr>
          <p:cNvPr id="4" name="Text Box 6">
            <a:extLst>
              <a:ext uri="{FF2B5EF4-FFF2-40B4-BE49-F238E27FC236}">
                <a16:creationId xmlns:a16="http://schemas.microsoft.com/office/drawing/2014/main" id="{82EBC199-AFD3-4789-B447-11161DC27C7E}"/>
              </a:ext>
            </a:extLst>
          </p:cNvPr>
          <p:cNvSpPr txBox="1">
            <a:spLocks noChangeArrowheads="1"/>
          </p:cNvSpPr>
          <p:nvPr/>
        </p:nvSpPr>
        <p:spPr bwMode="auto">
          <a:xfrm>
            <a:off x="669925" y="1846689"/>
            <a:ext cx="11025811" cy="3046988"/>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#include &lt;</a:t>
            </a:r>
            <a:r>
              <a:rPr lang="en-US" altLang="zh-CN" sz="2400" kern="0" dirty="0" err="1">
                <a:solidFill>
                  <a:srgbClr val="000000"/>
                </a:solidFill>
                <a:cs typeface="Times New Roman" pitchFamily="18" charset="0"/>
              </a:rPr>
              <a:t>stdio.h</a:t>
            </a:r>
            <a:r>
              <a:rPr lang="en-US" altLang="zh-CN" sz="2400" kern="0" dirty="0">
                <a:solidFill>
                  <a:srgbClr val="000000"/>
                </a:solidFill>
                <a:cs typeface="Times New Roman" pitchFamily="18" charset="0"/>
              </a:rPr>
              <a:t>&gt;</a:t>
            </a:r>
          </a:p>
          <a:p>
            <a:pPr lvl="0" eaLnBrk="1" fontAlgn="base" hangingPunct="1">
              <a:spcBef>
                <a:spcPct val="0"/>
              </a:spcBef>
              <a:spcAft>
                <a:spcPct val="0"/>
              </a:spcAft>
              <a:buClrTx/>
              <a:buSzTx/>
              <a:buNone/>
              <a:defRPr/>
            </a:pPr>
            <a:r>
              <a:rPr lang="en-US" altLang="zh-CN" sz="2400" kern="0" dirty="0">
                <a:solidFill>
                  <a:srgbClr val="FF0000"/>
                </a:solidFill>
                <a:cs typeface="Times New Roman" pitchFamily="18" charset="0"/>
              </a:rPr>
              <a:t>#define SQUARE(x)  (x * x)</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int a = 5, b = 2;</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int result = </a:t>
            </a:r>
            <a:r>
              <a:rPr lang="en-US" altLang="zh-CN" sz="2400" kern="0" dirty="0">
                <a:solidFill>
                  <a:srgbClr val="00B0F0"/>
                </a:solidFill>
                <a:cs typeface="Times New Roman" pitchFamily="18" charset="0"/>
              </a:rPr>
              <a:t>SQUARE(a + b)</a:t>
            </a:r>
            <a:r>
              <a:rPr lang="en-US" altLang="zh-CN" sz="2400" kern="0" dirty="0">
                <a:solidFill>
                  <a:srgbClr val="00000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a:t>
            </a:r>
            <a:r>
              <a:rPr lang="en-US" altLang="zh-CN" sz="2400" kern="0" dirty="0" err="1">
                <a:solidFill>
                  <a:srgbClr val="000000"/>
                </a:solidFill>
                <a:cs typeface="Times New Roman" pitchFamily="18" charset="0"/>
              </a:rPr>
              <a:t>printf</a:t>
            </a:r>
            <a:r>
              <a:rPr lang="en-US" altLang="zh-CN" sz="2400" kern="0" dirty="0">
                <a:solidFill>
                  <a:srgbClr val="000000"/>
                </a:solidFill>
                <a:cs typeface="Times New Roman" pitchFamily="18" charset="0"/>
              </a:rPr>
              <a:t>("Result: %d\n", result);</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0000"/>
                </a:solidFill>
                <a:cs typeface="Times New Roman" pitchFamily="18" charset="0"/>
              </a:rPr>
              <a:t>}</a:t>
            </a:r>
            <a:endPar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Times New Roman" pitchFamily="18" charset="0"/>
            </a:endParaRPr>
          </a:p>
        </p:txBody>
      </p:sp>
      <p:pic>
        <p:nvPicPr>
          <p:cNvPr id="5" name="图片 4">
            <a:extLst>
              <a:ext uri="{FF2B5EF4-FFF2-40B4-BE49-F238E27FC236}">
                <a16:creationId xmlns:a16="http://schemas.microsoft.com/office/drawing/2014/main" id="{B37D56CC-E966-4B8B-9DD7-2E311B9819EF}"/>
              </a:ext>
            </a:extLst>
          </p:cNvPr>
          <p:cNvPicPr>
            <a:picLocks noChangeAspect="1"/>
          </p:cNvPicPr>
          <p:nvPr/>
        </p:nvPicPr>
        <p:blipFill>
          <a:blip r:embed="rId3"/>
          <a:stretch>
            <a:fillRect/>
          </a:stretch>
        </p:blipFill>
        <p:spPr>
          <a:xfrm>
            <a:off x="5595249" y="3661758"/>
            <a:ext cx="2950084" cy="517025"/>
          </a:xfrm>
          <a:prstGeom prst="rect">
            <a:avLst/>
          </a:prstGeom>
        </p:spPr>
      </p:pic>
      <p:pic>
        <p:nvPicPr>
          <p:cNvPr id="3074" name="Picture 2" descr="查看图片">
            <a:extLst>
              <a:ext uri="{FF2B5EF4-FFF2-40B4-BE49-F238E27FC236}">
                <a16:creationId xmlns:a16="http://schemas.microsoft.com/office/drawing/2014/main" id="{953E028C-860E-4F52-8643-964768F3C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9883" y="3051600"/>
            <a:ext cx="2008456" cy="17373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5626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4.4.1 </a:t>
            </a:r>
            <a:r>
              <a:rPr lang="zh-CN" altLang="en-US" dirty="0"/>
              <a:t>宏定义</a:t>
            </a:r>
          </a:p>
        </p:txBody>
      </p:sp>
      <p:sp>
        <p:nvSpPr>
          <p:cNvPr id="3" name="内容占位符 2"/>
          <p:cNvSpPr>
            <a:spLocks noGrp="1"/>
          </p:cNvSpPr>
          <p:nvPr>
            <p:ph idx="1"/>
          </p:nvPr>
        </p:nvSpPr>
        <p:spPr>
          <a:xfrm>
            <a:off x="220824" y="1137920"/>
            <a:ext cx="11301251" cy="4856480"/>
          </a:xfrm>
        </p:spPr>
        <p:txBody>
          <a:bodyPr>
            <a:normAutofit/>
          </a:bodyPr>
          <a:lstStyle/>
          <a:p>
            <a:r>
              <a:rPr lang="en-US" altLang="zh-CN" dirty="0"/>
              <a:t>4</a:t>
            </a:r>
            <a:r>
              <a:rPr lang="en-US" altLang="zh-CN" dirty="0">
                <a:sym typeface="+mn-ea"/>
              </a:rPr>
              <a:t>.</a:t>
            </a:r>
            <a:r>
              <a:rPr lang="zh-CN" altLang="en-US" dirty="0"/>
              <a:t> 宏定义的副作用</a:t>
            </a:r>
            <a:endParaRPr lang="en-US" altLang="zh-CN" dirty="0"/>
          </a:p>
          <a:p>
            <a:pPr lvl="1"/>
            <a:r>
              <a:rPr lang="zh-CN" altLang="en-US" dirty="0"/>
              <a:t>注意：</a:t>
            </a:r>
            <a:endParaRPr lang="en-US" altLang="zh-CN" dirty="0"/>
          </a:p>
          <a:p>
            <a:pPr lvl="2"/>
            <a:r>
              <a:rPr lang="zh-CN" altLang="en-US" sz="2800" b="1" dirty="0">
                <a:solidFill>
                  <a:schemeClr val="accent2">
                    <a:lumMod val="50000"/>
                  </a:schemeClr>
                </a:solidFill>
                <a:latin typeface="楷体" panose="02010609060101010101" charset="-122"/>
                <a:ea typeface="楷体" panose="02010609060101010101" charset="-122"/>
              </a:rPr>
              <a:t>阅读已别人写好的宏定义时</a:t>
            </a:r>
            <a:r>
              <a:rPr lang="en-US" altLang="zh-CN" sz="2800" b="1" dirty="0">
                <a:solidFill>
                  <a:schemeClr val="accent2">
                    <a:lumMod val="50000"/>
                  </a:schemeClr>
                </a:solidFill>
                <a:latin typeface="楷体" panose="02010609060101010101" charset="-122"/>
                <a:ea typeface="楷体" panose="02010609060101010101" charset="-122"/>
              </a:rPr>
              <a:t>,</a:t>
            </a:r>
            <a:r>
              <a:rPr lang="zh-CN" altLang="en-US" sz="2800" b="1" dirty="0">
                <a:solidFill>
                  <a:schemeClr val="accent2">
                    <a:lumMod val="50000"/>
                  </a:schemeClr>
                </a:solidFill>
                <a:latin typeface="楷体" panose="02010609060101010101" charset="-122"/>
                <a:ea typeface="楷体" panose="02010609060101010101" charset="-122"/>
              </a:rPr>
              <a:t>按照</a:t>
            </a:r>
            <a:r>
              <a:rPr lang="zh-CN" altLang="en-US" sz="2800" b="1" dirty="0">
                <a:solidFill>
                  <a:srgbClr val="00B050"/>
                </a:solidFill>
                <a:latin typeface="楷体" panose="02010609060101010101" charset="-122"/>
                <a:ea typeface="楷体" panose="02010609060101010101" charset="-122"/>
              </a:rPr>
              <a:t>先展开，再求值</a:t>
            </a:r>
            <a:r>
              <a:rPr lang="zh-CN" altLang="en-US" sz="2800" b="1" dirty="0">
                <a:solidFill>
                  <a:schemeClr val="accent2">
                    <a:lumMod val="50000"/>
                  </a:schemeClr>
                </a:solidFill>
                <a:latin typeface="楷体" panose="02010609060101010101" charset="-122"/>
                <a:ea typeface="楷体" panose="02010609060101010101" charset="-122"/>
              </a:rPr>
              <a:t>的方式进行解读。展开过程按宏定义</a:t>
            </a:r>
            <a:r>
              <a:rPr lang="zh-CN" altLang="en-US" sz="2800" b="1" dirty="0">
                <a:solidFill>
                  <a:srgbClr val="00B050"/>
                </a:solidFill>
                <a:latin typeface="楷体" panose="02010609060101010101" charset="-122"/>
                <a:ea typeface="楷体" panose="02010609060101010101" charset="-122"/>
              </a:rPr>
              <a:t>原样替换</a:t>
            </a:r>
            <a:r>
              <a:rPr lang="zh-CN" altLang="en-US" sz="2800" b="1" dirty="0">
                <a:solidFill>
                  <a:schemeClr val="accent2">
                    <a:lumMod val="50000"/>
                  </a:schemeClr>
                </a:solidFill>
                <a:latin typeface="楷体" panose="02010609060101010101" charset="-122"/>
                <a:ea typeface="楷体" panose="02010609060101010101" charset="-122"/>
              </a:rPr>
              <a:t>。</a:t>
            </a:r>
            <a:endParaRPr lang="en-US" altLang="zh-CN" sz="2800" b="1" dirty="0">
              <a:solidFill>
                <a:schemeClr val="accent2">
                  <a:lumMod val="50000"/>
                </a:schemeClr>
              </a:solidFill>
              <a:latin typeface="楷体" panose="02010609060101010101" charset="-122"/>
              <a:ea typeface="楷体" panose="02010609060101010101" charset="-122"/>
            </a:endParaRPr>
          </a:p>
          <a:p>
            <a:pPr lvl="2"/>
            <a:r>
              <a:rPr lang="zh-CN" altLang="en-US" sz="2800" b="1" dirty="0">
                <a:solidFill>
                  <a:schemeClr val="accent2">
                    <a:lumMod val="50000"/>
                  </a:schemeClr>
                </a:solidFill>
                <a:latin typeface="楷体" panose="02010609060101010101" charset="-122"/>
                <a:ea typeface="楷体" panose="02010609060101010101" charset="-122"/>
              </a:rPr>
              <a:t>自己编写宏定义时：宏体中对</a:t>
            </a:r>
            <a:r>
              <a:rPr lang="zh-CN" altLang="en-US" sz="2800" b="1" dirty="0">
                <a:solidFill>
                  <a:srgbClr val="FF0000"/>
                </a:solidFill>
                <a:latin typeface="楷体" panose="02010609060101010101" charset="-122"/>
                <a:ea typeface="楷体" panose="02010609060101010101" charset="-122"/>
              </a:rPr>
              <a:t>所有参数加括号，</a:t>
            </a:r>
            <a:r>
              <a:rPr lang="zh-CN" altLang="en-US" sz="2800" b="1" dirty="0">
                <a:solidFill>
                  <a:schemeClr val="accent2">
                    <a:lumMod val="50000"/>
                  </a:schemeClr>
                </a:solidFill>
                <a:latin typeface="楷体" panose="02010609060101010101" charset="-122"/>
                <a:ea typeface="楷体" panose="02010609060101010101" charset="-122"/>
              </a:rPr>
              <a:t>同时将</a:t>
            </a:r>
            <a:r>
              <a:rPr lang="zh-CN" altLang="en-US" sz="2800" b="1" dirty="0">
                <a:solidFill>
                  <a:srgbClr val="0000FF"/>
                </a:solidFill>
                <a:latin typeface="楷体" panose="02010609060101010101" charset="-122"/>
                <a:ea typeface="楷体" panose="02010609060101010101" charset="-122"/>
              </a:rPr>
              <a:t>宏体整体外加括号</a:t>
            </a:r>
            <a:r>
              <a:rPr lang="zh-CN" altLang="en-US" sz="2800" b="1" dirty="0">
                <a:latin typeface="楷体" panose="02010609060101010101" charset="-122"/>
                <a:ea typeface="楷体" panose="02010609060101010101" charset="-122"/>
              </a:rPr>
              <a:t>。</a:t>
            </a:r>
            <a:endParaRPr lang="en-US" altLang="zh-CN" sz="2800" b="1" dirty="0">
              <a:latin typeface="楷体" panose="02010609060101010101" charset="-122"/>
              <a:ea typeface="楷体" panose="02010609060101010101" charset="-122"/>
            </a:endParaRPr>
          </a:p>
          <a:p>
            <a:pPr marL="914400" lvl="2" indent="0">
              <a:buNone/>
            </a:pPr>
            <a:r>
              <a:rPr lang="it-IT" altLang="zh-CN" sz="2800" dirty="0"/>
              <a:t>#define  SQUARE(x)   </a:t>
            </a:r>
            <a:r>
              <a:rPr lang="it-IT" altLang="zh-CN" sz="2800" dirty="0">
                <a:solidFill>
                  <a:srgbClr val="0000FF"/>
                </a:solidFill>
              </a:rPr>
              <a:t>(</a:t>
            </a:r>
            <a:r>
              <a:rPr lang="en-US" altLang="zh-CN" sz="2800" dirty="0">
                <a:solidFill>
                  <a:srgbClr val="FF0000"/>
                </a:solidFill>
              </a:rPr>
              <a:t>(</a:t>
            </a:r>
            <a:r>
              <a:rPr lang="it-IT" altLang="zh-CN" sz="2800" dirty="0"/>
              <a:t>x</a:t>
            </a:r>
            <a:r>
              <a:rPr lang="it-IT" altLang="zh-CN" sz="2800" dirty="0">
                <a:solidFill>
                  <a:srgbClr val="FF0000"/>
                </a:solidFill>
              </a:rPr>
              <a:t>)</a:t>
            </a:r>
            <a:r>
              <a:rPr lang="it-IT" altLang="zh-CN" sz="2800" dirty="0"/>
              <a:t> * </a:t>
            </a:r>
            <a:r>
              <a:rPr lang="it-IT" altLang="zh-CN" sz="2800" dirty="0">
                <a:solidFill>
                  <a:srgbClr val="FF0000"/>
                </a:solidFill>
              </a:rPr>
              <a:t>(</a:t>
            </a:r>
            <a:r>
              <a:rPr lang="it-IT" altLang="zh-CN" sz="2800" dirty="0"/>
              <a:t>x</a:t>
            </a:r>
            <a:r>
              <a:rPr lang="it-IT" altLang="zh-CN" sz="2800" dirty="0">
                <a:solidFill>
                  <a:srgbClr val="FF0000"/>
                </a:solidFill>
              </a:rPr>
              <a:t>)</a:t>
            </a:r>
            <a:r>
              <a:rPr lang="it-IT" altLang="zh-CN" sz="2800" dirty="0">
                <a:solidFill>
                  <a:srgbClr val="0000FF"/>
                </a:solidFill>
              </a:rPr>
              <a:t>)</a:t>
            </a:r>
            <a:endParaRPr lang="en-US" altLang="zh-CN" sz="2800" b="1" dirty="0">
              <a:solidFill>
                <a:srgbClr val="FF0000"/>
              </a:solidFill>
              <a:latin typeface="楷体" panose="02010609060101010101" charset="-122"/>
              <a:ea typeface="楷体" panose="02010609060101010101" charset="-122"/>
            </a:endParaRPr>
          </a:p>
          <a:p>
            <a:pPr lvl="2"/>
            <a:endParaRPr lang="en-US" altLang="zh-CN" sz="3200" b="1" dirty="0">
              <a:solidFill>
                <a:schemeClr val="accent2">
                  <a:lumMod val="50000"/>
                </a:schemeClr>
              </a:solidFill>
              <a:latin typeface="楷体" panose="02010609060101010101" charset="-122"/>
              <a:ea typeface="楷体" panose="02010609060101010101" charset="-122"/>
            </a:endParaRPr>
          </a:p>
        </p:txBody>
      </p:sp>
    </p:spTree>
    <p:custDataLst>
      <p:tags r:id="rId1"/>
    </p:custDataLst>
    <p:extLst>
      <p:ext uri="{BB962C8B-B14F-4D97-AF65-F5344CB8AC3E}">
        <p14:creationId xmlns:p14="http://schemas.microsoft.com/office/powerpoint/2010/main" val="38590708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a:t>
            </a:r>
            <a:r>
              <a:rPr lang="zh-CN" altLang="en-US" dirty="0"/>
              <a:t>文件包含</a:t>
            </a:r>
          </a:p>
        </p:txBody>
      </p:sp>
      <p:sp>
        <p:nvSpPr>
          <p:cNvPr id="3" name="内容占位符 2"/>
          <p:cNvSpPr>
            <a:spLocks noGrp="1"/>
          </p:cNvSpPr>
          <p:nvPr>
            <p:ph idx="1"/>
          </p:nvPr>
        </p:nvSpPr>
        <p:spPr/>
        <p:txBody>
          <a:bodyPr>
            <a:normAutofit/>
          </a:bodyPr>
          <a:lstStyle/>
          <a:p>
            <a:r>
              <a:rPr lang="en-US" altLang="zh-CN" dirty="0">
                <a:sym typeface="+mn-ea"/>
              </a:rPr>
              <a:t>1.</a:t>
            </a:r>
            <a:r>
              <a:rPr lang="zh-CN" altLang="en-US" dirty="0"/>
              <a:t> 文件包含的两种形式</a:t>
            </a:r>
          </a:p>
          <a:p>
            <a:pPr lvl="1">
              <a:lnSpc>
                <a:spcPct val="130000"/>
              </a:lnSpc>
            </a:pPr>
            <a:r>
              <a:rPr lang="en-US" altLang="zh-CN" dirty="0"/>
              <a:t>#include &lt;</a:t>
            </a:r>
            <a:r>
              <a:rPr lang="zh-CN" altLang="en-US" dirty="0"/>
              <a:t>文件名</a:t>
            </a:r>
            <a:r>
              <a:rPr lang="en-US" altLang="zh-CN" dirty="0"/>
              <a:t>&gt;</a:t>
            </a:r>
            <a:r>
              <a:rPr lang="zh-CN" altLang="en-US" dirty="0"/>
              <a:t>，一般用于</a:t>
            </a:r>
            <a:r>
              <a:rPr lang="zh-CN" altLang="en-US" dirty="0">
                <a:solidFill>
                  <a:srgbClr val="FF0000"/>
                </a:solidFill>
              </a:rPr>
              <a:t>标准库</a:t>
            </a:r>
            <a:r>
              <a:rPr lang="zh-CN" altLang="en-US" dirty="0"/>
              <a:t>中的头文件。</a:t>
            </a:r>
            <a:endParaRPr lang="en-US" altLang="zh-CN" dirty="0"/>
          </a:p>
          <a:p>
            <a:pPr lvl="1">
              <a:lnSpc>
                <a:spcPct val="130000"/>
              </a:lnSpc>
            </a:pPr>
            <a:r>
              <a:rPr lang="en-US" altLang="zh-CN" dirty="0"/>
              <a:t>#include "</a:t>
            </a:r>
            <a:r>
              <a:rPr lang="zh-CN" altLang="en-US" dirty="0"/>
              <a:t>文件名</a:t>
            </a:r>
            <a:r>
              <a:rPr lang="en-US" altLang="zh-CN" dirty="0"/>
              <a:t>"</a:t>
            </a:r>
            <a:r>
              <a:rPr lang="zh-CN" altLang="en-US" dirty="0"/>
              <a:t> ，一般用于</a:t>
            </a:r>
            <a:r>
              <a:rPr lang="zh-CN" altLang="en-US" dirty="0">
                <a:solidFill>
                  <a:srgbClr val="FF0000"/>
                </a:solidFill>
              </a:rPr>
              <a:t>自己编写</a:t>
            </a:r>
            <a:r>
              <a:rPr lang="zh-CN" altLang="en-US" dirty="0"/>
              <a:t>的头文件。</a:t>
            </a:r>
            <a:endParaRPr lang="en-US" altLang="zh-CN" dirty="0"/>
          </a:p>
          <a:p>
            <a:pPr lvl="1">
              <a:lnSpc>
                <a:spcPct val="130000"/>
              </a:lnSpc>
            </a:pPr>
            <a:r>
              <a:rPr lang="zh-CN" altLang="en-US" dirty="0"/>
              <a:t>文件名可以带上路径。</a:t>
            </a:r>
            <a:endParaRPr lang="en-US" altLang="zh-CN" dirty="0"/>
          </a:p>
          <a:p>
            <a:pPr lvl="1">
              <a:lnSpc>
                <a:spcPct val="130000"/>
              </a:lnSpc>
            </a:pPr>
            <a:r>
              <a:rPr lang="zh-CN" altLang="en-US" dirty="0"/>
              <a:t>区别：</a:t>
            </a:r>
            <a:endParaRPr lang="en-US" altLang="zh-CN" dirty="0"/>
          </a:p>
          <a:p>
            <a:pPr lvl="2"/>
            <a:r>
              <a:rPr lang="en-US" altLang="zh-CN" sz="3200" b="1" dirty="0">
                <a:solidFill>
                  <a:schemeClr val="accent2">
                    <a:lumMod val="50000"/>
                  </a:schemeClr>
                </a:solidFill>
                <a:latin typeface="楷体" panose="02010609060101010101" charset="-122"/>
                <a:ea typeface="楷体" panose="02010609060101010101" charset="-122"/>
              </a:rPr>
              <a:t>&lt; &gt; </a:t>
            </a:r>
            <a:r>
              <a:rPr lang="zh-CN" altLang="en-US" sz="3200" b="1" dirty="0">
                <a:solidFill>
                  <a:schemeClr val="accent2">
                    <a:lumMod val="50000"/>
                  </a:schemeClr>
                </a:solidFill>
                <a:latin typeface="楷体" panose="02010609060101010101" charset="-122"/>
                <a:ea typeface="楷体" panose="02010609060101010101" charset="-122"/>
              </a:rPr>
              <a:t>直接按编译系统的标准目录搜索。</a:t>
            </a:r>
          </a:p>
          <a:p>
            <a:pPr lvl="2"/>
            <a:r>
              <a:rPr lang="en-US" altLang="zh-CN" sz="3200" b="1" dirty="0">
                <a:solidFill>
                  <a:schemeClr val="accent2">
                    <a:lumMod val="50000"/>
                  </a:schemeClr>
                </a:solidFill>
                <a:latin typeface="楷体" panose="02010609060101010101" charset="-122"/>
                <a:ea typeface="楷体" panose="02010609060101010101" charset="-122"/>
              </a:rPr>
              <a:t>" " </a:t>
            </a:r>
            <a:r>
              <a:rPr lang="zh-CN" altLang="en-US" sz="3200" b="1" dirty="0">
                <a:solidFill>
                  <a:schemeClr val="accent2">
                    <a:lumMod val="50000"/>
                  </a:schemeClr>
                </a:solidFill>
                <a:latin typeface="楷体" panose="02010609060101010101" charset="-122"/>
                <a:ea typeface="楷体" panose="02010609060101010101" charset="-122"/>
              </a:rPr>
              <a:t>先在当前目录搜索，找不到再搜索标准目录。</a:t>
            </a:r>
            <a:endParaRPr lang="zh-CN" altLang="en-US" dirty="0"/>
          </a:p>
          <a:p>
            <a:pPr lvl="1"/>
            <a:endParaRPr lang="zh-CN" altLang="en-US" dirty="0"/>
          </a:p>
        </p:txBody>
      </p:sp>
    </p:spTree>
    <p:custDataLst>
      <p:tags r:id="rId1"/>
    </p:custDataLst>
    <p:extLst>
      <p:ext uri="{BB962C8B-B14F-4D97-AF65-F5344CB8AC3E}">
        <p14:creationId xmlns:p14="http://schemas.microsoft.com/office/powerpoint/2010/main" val="20824027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a:t>
            </a:r>
            <a:r>
              <a:rPr lang="zh-CN" altLang="en-US" dirty="0"/>
              <a:t>文件包含</a:t>
            </a:r>
          </a:p>
        </p:txBody>
      </p:sp>
      <p:sp>
        <p:nvSpPr>
          <p:cNvPr id="3" name="内容占位符 2"/>
          <p:cNvSpPr>
            <a:spLocks noGrp="1"/>
          </p:cNvSpPr>
          <p:nvPr>
            <p:ph idx="1"/>
          </p:nvPr>
        </p:nvSpPr>
        <p:spPr>
          <a:xfrm>
            <a:off x="669925" y="1137920"/>
            <a:ext cx="10852150" cy="2231080"/>
          </a:xfrm>
        </p:spPr>
        <p:txBody>
          <a:bodyPr>
            <a:normAutofit/>
          </a:bodyPr>
          <a:lstStyle/>
          <a:p>
            <a:r>
              <a:rPr lang="en-US" altLang="zh-CN" dirty="0">
                <a:sym typeface="+mn-ea"/>
              </a:rPr>
              <a:t>2.</a:t>
            </a:r>
            <a:r>
              <a:rPr lang="zh-CN" altLang="en-US" dirty="0"/>
              <a:t> 文件包含的处理流程</a:t>
            </a:r>
          </a:p>
          <a:p>
            <a:pPr lvl="1">
              <a:lnSpc>
                <a:spcPct val="130000"/>
              </a:lnSpc>
            </a:pPr>
            <a:r>
              <a:rPr lang="zh-CN" altLang="en-US" dirty="0"/>
              <a:t>编译预处理时，用被包含文件的内容取代该预处理命令，然后再对处理后的文件作一个源文件编译</a:t>
            </a:r>
            <a:r>
              <a:rPr lang="zh-CN" altLang="en-US" sz="3200" b="1" dirty="0">
                <a:solidFill>
                  <a:schemeClr val="accent2">
                    <a:lumMod val="50000"/>
                  </a:schemeClr>
                </a:solidFill>
                <a:latin typeface="楷体" panose="02010609060101010101" charset="-122"/>
                <a:ea typeface="楷体" panose="02010609060101010101" charset="-122"/>
              </a:rPr>
              <a:t>。</a:t>
            </a:r>
            <a:endParaRPr lang="zh-CN" altLang="en-US" dirty="0"/>
          </a:p>
          <a:p>
            <a:pPr lvl="1"/>
            <a:endParaRPr lang="zh-CN" altLang="en-US" dirty="0"/>
          </a:p>
        </p:txBody>
      </p:sp>
      <p:grpSp>
        <p:nvGrpSpPr>
          <p:cNvPr id="30" name="组合 29">
            <a:extLst>
              <a:ext uri="{FF2B5EF4-FFF2-40B4-BE49-F238E27FC236}">
                <a16:creationId xmlns:a16="http://schemas.microsoft.com/office/drawing/2014/main" id="{7BDC8BCC-9296-4B92-A071-6FD4E6EA409A}"/>
              </a:ext>
            </a:extLst>
          </p:cNvPr>
          <p:cNvGrpSpPr/>
          <p:nvPr/>
        </p:nvGrpSpPr>
        <p:grpSpPr>
          <a:xfrm>
            <a:off x="1627392" y="3793801"/>
            <a:ext cx="8937215" cy="1799561"/>
            <a:chOff x="946948" y="3489001"/>
            <a:chExt cx="8937215" cy="1799561"/>
          </a:xfrm>
        </p:grpSpPr>
        <p:sp>
          <p:nvSpPr>
            <p:cNvPr id="5" name="Rectangle 4">
              <a:extLst>
                <a:ext uri="{FF2B5EF4-FFF2-40B4-BE49-F238E27FC236}">
                  <a16:creationId xmlns:a16="http://schemas.microsoft.com/office/drawing/2014/main" id="{7BF1087B-BF88-4785-BACA-AD7A87A5EB76}"/>
                </a:ext>
              </a:extLst>
            </p:cNvPr>
            <p:cNvSpPr>
              <a:spLocks noChangeArrowheads="1"/>
            </p:cNvSpPr>
            <p:nvPr/>
          </p:nvSpPr>
          <p:spPr bwMode="auto">
            <a:xfrm>
              <a:off x="4012011" y="3489001"/>
              <a:ext cx="2063750" cy="1263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5">
              <a:extLst>
                <a:ext uri="{FF2B5EF4-FFF2-40B4-BE49-F238E27FC236}">
                  <a16:creationId xmlns:a16="http://schemas.microsoft.com/office/drawing/2014/main" id="{B56BBB9D-0387-439C-91EC-E868805E68E4}"/>
                </a:ext>
              </a:extLst>
            </p:cNvPr>
            <p:cNvSpPr>
              <a:spLocks noChangeArrowheads="1"/>
            </p:cNvSpPr>
            <p:nvPr/>
          </p:nvSpPr>
          <p:spPr bwMode="auto">
            <a:xfrm>
              <a:off x="4150842" y="4221438"/>
              <a:ext cx="1797043" cy="4699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Text Box 6">
              <a:extLst>
                <a:ext uri="{FF2B5EF4-FFF2-40B4-BE49-F238E27FC236}">
                  <a16:creationId xmlns:a16="http://schemas.microsoft.com/office/drawing/2014/main" id="{9450C7B3-76CC-490A-8516-AE7F8A98B737}"/>
                </a:ext>
              </a:extLst>
            </p:cNvPr>
            <p:cNvSpPr txBox="1">
              <a:spLocks noChangeArrowheads="1"/>
            </p:cNvSpPr>
            <p:nvPr/>
          </p:nvSpPr>
          <p:spPr bwMode="auto">
            <a:xfrm>
              <a:off x="4012011" y="3708256"/>
              <a:ext cx="2063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#include  "file1.h"</a:t>
              </a:r>
            </a:p>
          </p:txBody>
        </p:sp>
        <p:sp>
          <p:nvSpPr>
            <p:cNvPr id="8" name="Text Box 7">
              <a:extLst>
                <a:ext uri="{FF2B5EF4-FFF2-40B4-BE49-F238E27FC236}">
                  <a16:creationId xmlns:a16="http://schemas.microsoft.com/office/drawing/2014/main" id="{611E6D10-6BF6-4FD9-97F2-F2F41DEF6CE4}"/>
                </a:ext>
              </a:extLst>
            </p:cNvPr>
            <p:cNvSpPr txBox="1">
              <a:spLocks noChangeArrowheads="1"/>
            </p:cNvSpPr>
            <p:nvPr/>
          </p:nvSpPr>
          <p:spPr bwMode="auto">
            <a:xfrm>
              <a:off x="4628754" y="4830295"/>
              <a:ext cx="830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file2.c</a:t>
              </a:r>
            </a:p>
          </p:txBody>
        </p:sp>
        <p:sp>
          <p:nvSpPr>
            <p:cNvPr id="9" name="Text Box 8">
              <a:extLst>
                <a:ext uri="{FF2B5EF4-FFF2-40B4-BE49-F238E27FC236}">
                  <a16:creationId xmlns:a16="http://schemas.microsoft.com/office/drawing/2014/main" id="{9F3E6717-9A43-4D21-ADD1-050253428187}"/>
                </a:ext>
              </a:extLst>
            </p:cNvPr>
            <p:cNvSpPr txBox="1">
              <a:spLocks noChangeArrowheads="1"/>
            </p:cNvSpPr>
            <p:nvPr/>
          </p:nvSpPr>
          <p:spPr bwMode="auto">
            <a:xfrm>
              <a:off x="1515679" y="4352926"/>
              <a:ext cx="844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file1.h</a:t>
              </a:r>
            </a:p>
          </p:txBody>
        </p:sp>
        <p:sp>
          <p:nvSpPr>
            <p:cNvPr id="10" name="Text Box 9">
              <a:extLst>
                <a:ext uri="{FF2B5EF4-FFF2-40B4-BE49-F238E27FC236}">
                  <a16:creationId xmlns:a16="http://schemas.microsoft.com/office/drawing/2014/main" id="{5A9BA171-B943-4B1D-A978-4F5E4C34E7E2}"/>
                </a:ext>
              </a:extLst>
            </p:cNvPr>
            <p:cNvSpPr txBox="1">
              <a:spLocks noChangeArrowheads="1"/>
            </p:cNvSpPr>
            <p:nvPr/>
          </p:nvSpPr>
          <p:spPr bwMode="auto">
            <a:xfrm>
              <a:off x="8482174" y="4891687"/>
              <a:ext cx="823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file2.c</a:t>
              </a:r>
            </a:p>
          </p:txBody>
        </p:sp>
        <p:sp>
          <p:nvSpPr>
            <p:cNvPr id="12" name="Text Box 11">
              <a:extLst>
                <a:ext uri="{FF2B5EF4-FFF2-40B4-BE49-F238E27FC236}">
                  <a16:creationId xmlns:a16="http://schemas.microsoft.com/office/drawing/2014/main" id="{37DADD7D-D612-479A-AE4B-16A539468C4F}"/>
                </a:ext>
              </a:extLst>
            </p:cNvPr>
            <p:cNvSpPr txBox="1">
              <a:spLocks noChangeArrowheads="1"/>
            </p:cNvSpPr>
            <p:nvPr/>
          </p:nvSpPr>
          <p:spPr bwMode="auto">
            <a:xfrm>
              <a:off x="4859736" y="4276047"/>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B</a:t>
              </a:r>
            </a:p>
          </p:txBody>
        </p:sp>
        <p:sp>
          <p:nvSpPr>
            <p:cNvPr id="14" name="Text Box 13">
              <a:extLst>
                <a:ext uri="{FF2B5EF4-FFF2-40B4-BE49-F238E27FC236}">
                  <a16:creationId xmlns:a16="http://schemas.microsoft.com/office/drawing/2014/main" id="{07CF832B-B88F-4C74-9FE7-4E18ECC475BB}"/>
                </a:ext>
              </a:extLst>
            </p:cNvPr>
            <p:cNvSpPr txBox="1">
              <a:spLocks noChangeArrowheads="1"/>
            </p:cNvSpPr>
            <p:nvPr/>
          </p:nvSpPr>
          <p:spPr bwMode="auto">
            <a:xfrm>
              <a:off x="1834154" y="3708196"/>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p>
          </p:txBody>
        </p:sp>
        <p:sp>
          <p:nvSpPr>
            <p:cNvPr id="15" name="AutoShape 14">
              <a:extLst>
                <a:ext uri="{FF2B5EF4-FFF2-40B4-BE49-F238E27FC236}">
                  <a16:creationId xmlns:a16="http://schemas.microsoft.com/office/drawing/2014/main" id="{18CC0DFE-A71A-4443-BF82-1A3C776686D3}"/>
                </a:ext>
              </a:extLst>
            </p:cNvPr>
            <p:cNvSpPr>
              <a:spLocks noChangeArrowheads="1"/>
            </p:cNvSpPr>
            <p:nvPr/>
          </p:nvSpPr>
          <p:spPr bwMode="auto">
            <a:xfrm rot="10800000">
              <a:off x="3057054" y="3756026"/>
              <a:ext cx="846138" cy="352425"/>
            </a:xfrm>
            <a:prstGeom prst="leftArrow">
              <a:avLst>
                <a:gd name="adj1" fmla="val 50000"/>
                <a:gd name="adj2" fmla="val 6001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Rectangle 16">
              <a:extLst>
                <a:ext uri="{FF2B5EF4-FFF2-40B4-BE49-F238E27FC236}">
                  <a16:creationId xmlns:a16="http://schemas.microsoft.com/office/drawing/2014/main" id="{33F4E296-F1ED-46D3-BC4C-B5844FE968F6}"/>
                </a:ext>
              </a:extLst>
            </p:cNvPr>
            <p:cNvSpPr>
              <a:spLocks noChangeArrowheads="1"/>
            </p:cNvSpPr>
            <p:nvPr/>
          </p:nvSpPr>
          <p:spPr bwMode="auto">
            <a:xfrm>
              <a:off x="7820413" y="3492825"/>
              <a:ext cx="2063750" cy="1277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Rectangle 5">
              <a:extLst>
                <a:ext uri="{FF2B5EF4-FFF2-40B4-BE49-F238E27FC236}">
                  <a16:creationId xmlns:a16="http://schemas.microsoft.com/office/drawing/2014/main" id="{4724DB21-E3A4-47FA-B87C-9DF0B5B2FF7E}"/>
                </a:ext>
              </a:extLst>
            </p:cNvPr>
            <p:cNvSpPr>
              <a:spLocks noChangeArrowheads="1"/>
            </p:cNvSpPr>
            <p:nvPr/>
          </p:nvSpPr>
          <p:spPr bwMode="auto">
            <a:xfrm>
              <a:off x="1080301" y="3673301"/>
              <a:ext cx="1797043" cy="4699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 name="Rectangle 4">
              <a:extLst>
                <a:ext uri="{FF2B5EF4-FFF2-40B4-BE49-F238E27FC236}">
                  <a16:creationId xmlns:a16="http://schemas.microsoft.com/office/drawing/2014/main" id="{F4FB04D8-1291-4602-A811-871B5CDCAC0E}"/>
                </a:ext>
              </a:extLst>
            </p:cNvPr>
            <p:cNvSpPr>
              <a:spLocks noChangeArrowheads="1"/>
            </p:cNvSpPr>
            <p:nvPr/>
          </p:nvSpPr>
          <p:spPr bwMode="auto">
            <a:xfrm>
              <a:off x="946948" y="3489001"/>
              <a:ext cx="2063750" cy="7953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Rectangle 5">
              <a:extLst>
                <a:ext uri="{FF2B5EF4-FFF2-40B4-BE49-F238E27FC236}">
                  <a16:creationId xmlns:a16="http://schemas.microsoft.com/office/drawing/2014/main" id="{D9C5F1C2-67A7-4626-80FB-D53DDDB1BEB8}"/>
                </a:ext>
              </a:extLst>
            </p:cNvPr>
            <p:cNvSpPr>
              <a:spLocks noChangeArrowheads="1"/>
            </p:cNvSpPr>
            <p:nvPr/>
          </p:nvSpPr>
          <p:spPr bwMode="auto">
            <a:xfrm>
              <a:off x="7954971" y="3620920"/>
              <a:ext cx="1797043" cy="4699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Text Box 13">
              <a:extLst>
                <a:ext uri="{FF2B5EF4-FFF2-40B4-BE49-F238E27FC236}">
                  <a16:creationId xmlns:a16="http://schemas.microsoft.com/office/drawing/2014/main" id="{B41B6DA4-2956-4D58-8AE6-A7F076CFF836}"/>
                </a:ext>
              </a:extLst>
            </p:cNvPr>
            <p:cNvSpPr txBox="1">
              <a:spLocks noChangeArrowheads="1"/>
            </p:cNvSpPr>
            <p:nvPr/>
          </p:nvSpPr>
          <p:spPr bwMode="auto">
            <a:xfrm>
              <a:off x="8665824" y="365581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a:t>
              </a:r>
            </a:p>
          </p:txBody>
        </p:sp>
        <p:sp>
          <p:nvSpPr>
            <p:cNvPr id="25" name="Rectangle 5">
              <a:extLst>
                <a:ext uri="{FF2B5EF4-FFF2-40B4-BE49-F238E27FC236}">
                  <a16:creationId xmlns:a16="http://schemas.microsoft.com/office/drawing/2014/main" id="{B133A60E-39D6-43D5-975B-7B4581EAA105}"/>
                </a:ext>
              </a:extLst>
            </p:cNvPr>
            <p:cNvSpPr>
              <a:spLocks noChangeArrowheads="1"/>
            </p:cNvSpPr>
            <p:nvPr/>
          </p:nvSpPr>
          <p:spPr bwMode="auto">
            <a:xfrm>
              <a:off x="7947032" y="4199537"/>
              <a:ext cx="1797043" cy="4699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Text Box 11">
              <a:extLst>
                <a:ext uri="{FF2B5EF4-FFF2-40B4-BE49-F238E27FC236}">
                  <a16:creationId xmlns:a16="http://schemas.microsoft.com/office/drawing/2014/main" id="{7ECCB338-EE8E-455A-A442-4450F344BD7E}"/>
                </a:ext>
              </a:extLst>
            </p:cNvPr>
            <p:cNvSpPr txBox="1">
              <a:spLocks noChangeArrowheads="1"/>
            </p:cNvSpPr>
            <p:nvPr/>
          </p:nvSpPr>
          <p:spPr bwMode="auto">
            <a:xfrm>
              <a:off x="8668138" y="4236049"/>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eaLnBrk="0" hangingPunct="0">
                <a:defRPr>
                  <a:solidFill>
                    <a:schemeClr val="tx1"/>
                  </a:solidFill>
                  <a:latin typeface="Times New Roman" panose="02020603050405020304" pitchFamily="18" charset="0"/>
                </a:defRPr>
              </a:lvl2pPr>
              <a:lvl3pPr eaLnBrk="0" hangingPunct="0">
                <a:defRPr>
                  <a:solidFill>
                    <a:schemeClr val="tx1"/>
                  </a:solidFill>
                  <a:latin typeface="Times New Roman" panose="02020603050405020304" pitchFamily="18" charset="0"/>
                </a:defRPr>
              </a:lvl3pPr>
              <a:lvl4pPr eaLnBrk="0" hangingPunct="0">
                <a:defRPr>
                  <a:solidFill>
                    <a:schemeClr val="tx1"/>
                  </a:solidFill>
                  <a:latin typeface="Times New Roman" panose="02020603050405020304" pitchFamily="18" charset="0"/>
                </a:defRPr>
              </a:lvl4pPr>
              <a:lvl5pPr eaLnBrk="0" hangingPunct="0">
                <a:defRPr>
                  <a:solidFill>
                    <a:schemeClr val="tx1"/>
                  </a:solidFill>
                  <a:latin typeface="Times New Roman" panose="02020603050405020304" pitchFamily="18" charset="0"/>
                </a:defRPr>
              </a:lvl5pPr>
              <a:lvl6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6pPr>
              <a:lvl7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7pPr>
              <a:lvl8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8pPr>
              <a:lvl9pPr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defRPr>
              </a:lvl9pPr>
            </a:lstStyle>
            <a:p>
              <a:pPr marL="0" marR="0" lvl="0" indent="0" algn="ctr" defTabSz="914400" rtl="0" eaLnBrk="0" fontAlgn="auto" latinLnBrk="0" hangingPunct="0">
                <a:lnSpc>
                  <a:spcPct val="100000"/>
                </a:lnSpc>
                <a:spcBef>
                  <a:spcPts val="0"/>
                </a:spcBef>
                <a:spcAft>
                  <a:spcPts val="0"/>
                </a:spcAft>
                <a:buClrTx/>
                <a:buSzTx/>
                <a:buFont typeface="Wingdings" panose="05000000000000000000" pitchFamily="2" charset="2"/>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B</a:t>
              </a:r>
            </a:p>
          </p:txBody>
        </p:sp>
        <p:sp>
          <p:nvSpPr>
            <p:cNvPr id="27" name="箭头: 右 26">
              <a:extLst>
                <a:ext uri="{FF2B5EF4-FFF2-40B4-BE49-F238E27FC236}">
                  <a16:creationId xmlns:a16="http://schemas.microsoft.com/office/drawing/2014/main" id="{4634B05F-B330-4056-B693-F7EDC6A29E8D}"/>
                </a:ext>
              </a:extLst>
            </p:cNvPr>
            <p:cNvSpPr/>
            <p:nvPr/>
          </p:nvSpPr>
          <p:spPr>
            <a:xfrm>
              <a:off x="6333524" y="3711401"/>
              <a:ext cx="1331427" cy="6415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CA98D13D-D273-4610-9CB7-E4C54FC0344A}"/>
                </a:ext>
              </a:extLst>
            </p:cNvPr>
            <p:cNvSpPr txBox="1"/>
            <p:nvPr/>
          </p:nvSpPr>
          <p:spPr>
            <a:xfrm>
              <a:off x="6289624" y="4383644"/>
              <a:ext cx="14192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编译预处理</a:t>
              </a:r>
            </a:p>
          </p:txBody>
        </p:sp>
      </p:grpSp>
    </p:spTree>
    <p:custDataLst>
      <p:tags r:id="rId1"/>
    </p:custDataLst>
    <p:extLst>
      <p:ext uri="{BB962C8B-B14F-4D97-AF65-F5344CB8AC3E}">
        <p14:creationId xmlns:p14="http://schemas.microsoft.com/office/powerpoint/2010/main" val="5249532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4.4.2 </a:t>
            </a:r>
            <a:r>
              <a:rPr lang="zh-CN" altLang="en-US" dirty="0"/>
              <a:t>文件包含</a:t>
            </a:r>
          </a:p>
        </p:txBody>
      </p:sp>
      <p:sp>
        <p:nvSpPr>
          <p:cNvPr id="28" name="Text Box 6">
            <a:extLst>
              <a:ext uri="{FF2B5EF4-FFF2-40B4-BE49-F238E27FC236}">
                <a16:creationId xmlns:a16="http://schemas.microsoft.com/office/drawing/2014/main" id="{6DAF559F-A5D9-4E51-81AA-464A0B97D7A2}"/>
              </a:ext>
            </a:extLst>
          </p:cNvPr>
          <p:cNvSpPr txBox="1">
            <a:spLocks noChangeArrowheads="1"/>
          </p:cNvSpPr>
          <p:nvPr/>
        </p:nvSpPr>
        <p:spPr bwMode="auto">
          <a:xfrm>
            <a:off x="341153" y="1528192"/>
            <a:ext cx="3809607" cy="1200329"/>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s-ES" altLang="zh-CN" sz="2400" kern="0" dirty="0">
                <a:solidFill>
                  <a:srgbClr val="00B050"/>
                </a:solidFill>
                <a:cs typeface="Times New Roman" pitchFamily="18" charset="0"/>
              </a:rPr>
              <a:t>#define  add(x, y)  ((x) + (y))</a:t>
            </a:r>
          </a:p>
          <a:p>
            <a:pPr lvl="0" eaLnBrk="1" fontAlgn="base" hangingPunct="1">
              <a:spcBef>
                <a:spcPct val="0"/>
              </a:spcBef>
              <a:spcAft>
                <a:spcPct val="0"/>
              </a:spcAft>
              <a:buClrTx/>
              <a:buSzTx/>
              <a:buNone/>
              <a:defRPr/>
            </a:pPr>
            <a:r>
              <a:rPr lang="es-ES" altLang="zh-CN" sz="2400" kern="0" dirty="0">
                <a:solidFill>
                  <a:srgbClr val="00B050"/>
                </a:solidFill>
                <a:cs typeface="Times New Roman" pitchFamily="18" charset="0"/>
              </a:rPr>
              <a:t>int a = 2; // </a:t>
            </a:r>
            <a:r>
              <a:rPr lang="zh-CN" altLang="en-US" sz="2400" kern="0" dirty="0">
                <a:solidFill>
                  <a:srgbClr val="00B050"/>
                </a:solidFill>
                <a:cs typeface="Times New Roman" pitchFamily="18" charset="0"/>
              </a:rPr>
              <a:t>全局变量</a:t>
            </a:r>
          </a:p>
          <a:p>
            <a:pPr lvl="0" eaLnBrk="1" fontAlgn="base" hangingPunct="1">
              <a:spcBef>
                <a:spcPct val="0"/>
              </a:spcBef>
              <a:spcAft>
                <a:spcPct val="0"/>
              </a:spcAft>
              <a:buClrTx/>
              <a:buSzTx/>
              <a:buNone/>
              <a:defRPr/>
            </a:pPr>
            <a:r>
              <a:rPr lang="es-ES" altLang="zh-CN" sz="2400" kern="0" dirty="0">
                <a:solidFill>
                  <a:srgbClr val="00B050"/>
                </a:solidFill>
                <a:cs typeface="Times New Roman" pitchFamily="18" charset="0"/>
              </a:rPr>
              <a:t>int b = 1; // </a:t>
            </a:r>
            <a:r>
              <a:rPr lang="zh-CN" altLang="en-US" sz="2400" kern="0" dirty="0">
                <a:solidFill>
                  <a:srgbClr val="00B050"/>
                </a:solidFill>
                <a:cs typeface="Times New Roman" pitchFamily="18" charset="0"/>
              </a:rPr>
              <a:t>全局变量</a:t>
            </a:r>
            <a:endParaRPr kumimoji="1" lang="en-US" altLang="zh-CN" sz="2400" b="1" i="0" u="none" strike="noStrike" kern="0" cap="none" spc="0" normalizeH="0" baseline="0" noProof="0" dirty="0">
              <a:ln>
                <a:noFill/>
              </a:ln>
              <a:solidFill>
                <a:srgbClr val="00B050"/>
              </a:solidFill>
              <a:effectLst/>
              <a:uLnTx/>
              <a:uFillTx/>
              <a:cs typeface="Times New Roman" pitchFamily="18" charset="0"/>
            </a:endParaRPr>
          </a:p>
        </p:txBody>
      </p:sp>
      <p:sp>
        <p:nvSpPr>
          <p:cNvPr id="13" name="文本框 12">
            <a:extLst>
              <a:ext uri="{FF2B5EF4-FFF2-40B4-BE49-F238E27FC236}">
                <a16:creationId xmlns:a16="http://schemas.microsoft.com/office/drawing/2014/main" id="{532C479C-2A56-42FE-993F-54ABBF0B0406}"/>
              </a:ext>
            </a:extLst>
          </p:cNvPr>
          <p:cNvSpPr txBox="1"/>
          <p:nvPr/>
        </p:nvSpPr>
        <p:spPr>
          <a:xfrm>
            <a:off x="1652684" y="1023568"/>
            <a:ext cx="1186543" cy="523220"/>
          </a:xfrm>
          <a:prstGeom prst="rect">
            <a:avLst/>
          </a:prstGeom>
          <a:noFill/>
        </p:spPr>
        <p:txBody>
          <a:bodyPr wrap="none" rtlCol="0">
            <a:spAutoFit/>
          </a:bodyPr>
          <a:lstStyle/>
          <a:p>
            <a:r>
              <a:rPr lang="en-US" altLang="zh-CN" sz="2800" b="1" spc="150" noProof="1">
                <a:solidFill>
                  <a:schemeClr val="accent2">
                    <a:lumMod val="50000"/>
                  </a:schemeClr>
                </a:solidFill>
                <a:latin typeface="楷体" panose="02010609060101010101" charset="-122"/>
                <a:ea typeface="楷体" panose="02010609060101010101" charset="-122"/>
                <a:sym typeface="+mn-ea"/>
              </a:rPr>
              <a:t>add.h</a:t>
            </a:r>
            <a:endParaRPr lang="zh-CN" altLang="en-US" sz="2800" b="1" spc="150" noProof="1">
              <a:solidFill>
                <a:schemeClr val="accent2">
                  <a:lumMod val="50000"/>
                </a:schemeClr>
              </a:solidFill>
              <a:latin typeface="楷体" panose="02010609060101010101" charset="-122"/>
              <a:ea typeface="楷体" panose="02010609060101010101" charset="-122"/>
              <a:sym typeface="+mn-ea"/>
            </a:endParaRPr>
          </a:p>
        </p:txBody>
      </p:sp>
      <p:sp>
        <p:nvSpPr>
          <p:cNvPr id="31" name="Text Box 6">
            <a:extLst>
              <a:ext uri="{FF2B5EF4-FFF2-40B4-BE49-F238E27FC236}">
                <a16:creationId xmlns:a16="http://schemas.microsoft.com/office/drawing/2014/main" id="{4CE68E6A-FE70-4A15-B450-D1CC09B8473A}"/>
              </a:ext>
            </a:extLst>
          </p:cNvPr>
          <p:cNvSpPr txBox="1">
            <a:spLocks noChangeArrowheads="1"/>
          </p:cNvSpPr>
          <p:nvPr/>
        </p:nvSpPr>
        <p:spPr bwMode="auto">
          <a:xfrm>
            <a:off x="341153" y="3785008"/>
            <a:ext cx="3809607" cy="2308324"/>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B050"/>
                </a:solidFill>
                <a:cs typeface="Times New Roman" pitchFamily="18" charset="0"/>
              </a:rPr>
              <a:t>#include "</a:t>
            </a:r>
            <a:r>
              <a:rPr lang="en-US" altLang="zh-CN" sz="2400" kern="0" dirty="0" err="1">
                <a:solidFill>
                  <a:srgbClr val="00B050"/>
                </a:solidFill>
                <a:cs typeface="Times New Roman" pitchFamily="18" charset="0"/>
              </a:rPr>
              <a:t>add.h</a:t>
            </a:r>
            <a:r>
              <a:rPr lang="en-US" altLang="zh-CN" sz="2400" kern="0" dirty="0">
                <a:solidFill>
                  <a:srgbClr val="00B050"/>
                </a:solidFill>
                <a:cs typeface="Times New Roman" pitchFamily="18" charset="0"/>
              </a:rPr>
              <a:t>"</a:t>
            </a:r>
            <a:endParaRPr lang="en-US" altLang="zh-CN" sz="2400" kern="0" dirty="0">
              <a:solidFill>
                <a:srgbClr val="0070C0"/>
              </a:solidFill>
              <a:cs typeface="Times New Roman" pitchFamily="18" charset="0"/>
            </a:endParaRP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int c;</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c = add(a, b);</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a:t>
            </a:r>
            <a:endParaRPr kumimoji="1" lang="en-US" altLang="zh-CN" sz="2400" b="1" i="0" u="none" strike="noStrike" kern="0" cap="none" spc="0" normalizeH="0" baseline="0" noProof="0" dirty="0">
              <a:ln>
                <a:noFill/>
              </a:ln>
              <a:solidFill>
                <a:srgbClr val="0070C0"/>
              </a:solidFill>
              <a:effectLst/>
              <a:uLnTx/>
              <a:uFillTx/>
              <a:cs typeface="Times New Roman" pitchFamily="18" charset="0"/>
            </a:endParaRPr>
          </a:p>
        </p:txBody>
      </p:sp>
      <p:sp>
        <p:nvSpPr>
          <p:cNvPr id="32" name="文本框 31">
            <a:extLst>
              <a:ext uri="{FF2B5EF4-FFF2-40B4-BE49-F238E27FC236}">
                <a16:creationId xmlns:a16="http://schemas.microsoft.com/office/drawing/2014/main" id="{741FBF5B-E380-4548-B4B9-B1CE03E3F9E5}"/>
              </a:ext>
            </a:extLst>
          </p:cNvPr>
          <p:cNvSpPr txBox="1"/>
          <p:nvPr/>
        </p:nvSpPr>
        <p:spPr>
          <a:xfrm>
            <a:off x="1652683" y="3244870"/>
            <a:ext cx="1186543" cy="523220"/>
          </a:xfrm>
          <a:prstGeom prst="rect">
            <a:avLst/>
          </a:prstGeom>
          <a:noFill/>
        </p:spPr>
        <p:txBody>
          <a:bodyPr wrap="none" rtlCol="0">
            <a:spAutoFit/>
          </a:bodyPr>
          <a:lstStyle/>
          <a:p>
            <a:r>
              <a:rPr lang="en-US" altLang="zh-CN" sz="2800" b="1" spc="150" noProof="1">
                <a:solidFill>
                  <a:schemeClr val="accent2">
                    <a:lumMod val="50000"/>
                  </a:schemeClr>
                </a:solidFill>
                <a:latin typeface="楷体" panose="02010609060101010101" charset="-122"/>
                <a:ea typeface="楷体" panose="02010609060101010101" charset="-122"/>
                <a:sym typeface="+mn-ea"/>
              </a:rPr>
              <a:t>add.c</a:t>
            </a:r>
            <a:endParaRPr lang="zh-CN" altLang="en-US" sz="2800" b="1" spc="150" noProof="1">
              <a:solidFill>
                <a:schemeClr val="accent2">
                  <a:lumMod val="50000"/>
                </a:schemeClr>
              </a:solidFill>
              <a:latin typeface="楷体" panose="02010609060101010101" charset="-122"/>
              <a:ea typeface="楷体" panose="02010609060101010101" charset="-122"/>
              <a:sym typeface="+mn-ea"/>
            </a:endParaRPr>
          </a:p>
        </p:txBody>
      </p:sp>
      <p:sp>
        <p:nvSpPr>
          <p:cNvPr id="16" name="箭头: 右 15">
            <a:extLst>
              <a:ext uri="{FF2B5EF4-FFF2-40B4-BE49-F238E27FC236}">
                <a16:creationId xmlns:a16="http://schemas.microsoft.com/office/drawing/2014/main" id="{548C0A66-0C9A-46BA-9B5D-00F8754A5D64}"/>
              </a:ext>
            </a:extLst>
          </p:cNvPr>
          <p:cNvSpPr/>
          <p:nvPr/>
        </p:nvSpPr>
        <p:spPr>
          <a:xfrm>
            <a:off x="4810411" y="3244870"/>
            <a:ext cx="3049319" cy="6292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 Box 6">
            <a:extLst>
              <a:ext uri="{FF2B5EF4-FFF2-40B4-BE49-F238E27FC236}">
                <a16:creationId xmlns:a16="http://schemas.microsoft.com/office/drawing/2014/main" id="{2A509308-E624-46EB-95DD-B9E9AC837475}"/>
              </a:ext>
            </a:extLst>
          </p:cNvPr>
          <p:cNvSpPr txBox="1">
            <a:spLocks noChangeArrowheads="1"/>
          </p:cNvSpPr>
          <p:nvPr/>
        </p:nvSpPr>
        <p:spPr bwMode="auto">
          <a:xfrm>
            <a:off x="8428709" y="2313022"/>
            <a:ext cx="3425786" cy="2677656"/>
          </a:xfrm>
          <a:prstGeom prst="rect">
            <a:avLst/>
          </a:prstGeom>
          <a:noFill/>
          <a:ln w="12700" cap="sq">
            <a:solidFill>
              <a:srgbClr val="0066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bg1"/>
              </a:buClr>
              <a:buSzPct val="75000"/>
              <a:buFont typeface="Wingdings" pitchFamily="2" charset="2"/>
              <a:buChar char="n"/>
              <a:defRPr kumimoji="1" sz="3200" b="1">
                <a:solidFill>
                  <a:schemeClr val="bg2"/>
                </a:solidFill>
                <a:latin typeface="Times New Roman" pitchFamily="18" charset="0"/>
                <a:ea typeface="宋体" pitchFamily="2" charset="-122"/>
              </a:defRPr>
            </a:lvl1pPr>
            <a:lvl2pPr marL="742950" indent="-285750" eaLnBrk="0" hangingPunct="0">
              <a:spcBef>
                <a:spcPct val="20000"/>
              </a:spcBef>
              <a:buClr>
                <a:srgbClr val="CC00CC"/>
              </a:buClr>
              <a:buFont typeface="Times New Roman" pitchFamily="18" charset="0"/>
              <a:buChar char="–"/>
              <a:defRPr kumimoji="1" sz="2800" b="1">
                <a:solidFill>
                  <a:schemeClr val="bg2"/>
                </a:solidFill>
                <a:latin typeface="Times New Roman" pitchFamily="18" charset="0"/>
                <a:ea typeface="宋体" pitchFamily="2" charset="-122"/>
              </a:defRPr>
            </a:lvl2pPr>
            <a:lvl3pPr marL="1143000" indent="-228600" eaLnBrk="0" hangingPunct="0">
              <a:spcBef>
                <a:spcPct val="20000"/>
              </a:spcBef>
              <a:buClr>
                <a:schemeClr val="bg1"/>
              </a:buClr>
              <a:buFont typeface="Times New Roman" pitchFamily="18" charset="0"/>
              <a:buChar char="»"/>
              <a:defRPr kumimoji="1" sz="2400" b="1">
                <a:solidFill>
                  <a:schemeClr val="bg2"/>
                </a:solidFill>
                <a:latin typeface="Times New Roman" pitchFamily="18" charset="0"/>
                <a:ea typeface="宋体" pitchFamily="2" charset="-122"/>
              </a:defRPr>
            </a:lvl3pPr>
            <a:lvl4pPr marL="1600200" indent="-228600" eaLnBrk="0" hangingPunct="0">
              <a:spcBef>
                <a:spcPct val="20000"/>
              </a:spcBef>
              <a:buClr>
                <a:schemeClr val="tx2"/>
              </a:buClr>
              <a:buSzPct val="75000"/>
              <a:buFont typeface="Wingdings" pitchFamily="2" charset="2"/>
              <a:buChar char="n"/>
              <a:defRPr kumimoji="1" sz="2000" b="1">
                <a:solidFill>
                  <a:schemeClr val="bg2"/>
                </a:solidFill>
                <a:latin typeface="Times New Roman" pitchFamily="18" charset="0"/>
                <a:ea typeface="宋体" pitchFamily="2" charset="-122"/>
              </a:defRPr>
            </a:lvl4pPr>
            <a:lvl5pPr marL="2057400" indent="-228600" eaLnBrk="0" hangingPunct="0">
              <a:spcBef>
                <a:spcPct val="20000"/>
              </a:spcBef>
              <a:buClr>
                <a:schemeClr val="tx1"/>
              </a:buClr>
              <a:buChar char="–"/>
              <a:defRPr kumimoji="1" sz="2000" b="1">
                <a:solidFill>
                  <a:schemeClr val="bg2"/>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b="1">
                <a:solidFill>
                  <a:schemeClr val="bg2"/>
                </a:solidFill>
                <a:latin typeface="Times New Roman" pitchFamily="18" charset="0"/>
                <a:ea typeface="宋体" pitchFamily="2" charset="-122"/>
              </a:defRPr>
            </a:lvl9pPr>
          </a:lstStyle>
          <a:p>
            <a:pPr lvl="0" eaLnBrk="1" fontAlgn="base" hangingPunct="1">
              <a:spcBef>
                <a:spcPct val="0"/>
              </a:spcBef>
              <a:spcAft>
                <a:spcPct val="0"/>
              </a:spcAft>
              <a:buClrTx/>
              <a:buSzTx/>
              <a:buNone/>
              <a:defRPr/>
            </a:pPr>
            <a:r>
              <a:rPr lang="en-US" altLang="zh-CN" sz="2400" kern="0" dirty="0">
                <a:solidFill>
                  <a:srgbClr val="00B050"/>
                </a:solidFill>
                <a:cs typeface="Times New Roman" pitchFamily="18" charset="0"/>
              </a:rPr>
              <a:t>int a = 2;</a:t>
            </a:r>
          </a:p>
          <a:p>
            <a:pPr lvl="0" eaLnBrk="1" fontAlgn="base" hangingPunct="1">
              <a:spcBef>
                <a:spcPct val="0"/>
              </a:spcBef>
              <a:spcAft>
                <a:spcPct val="0"/>
              </a:spcAft>
              <a:buClrTx/>
              <a:buSzTx/>
              <a:buNone/>
              <a:defRPr/>
            </a:pPr>
            <a:r>
              <a:rPr lang="en-US" altLang="zh-CN" sz="2400" kern="0" dirty="0">
                <a:solidFill>
                  <a:srgbClr val="00B050"/>
                </a:solidFill>
                <a:cs typeface="Times New Roman" pitchFamily="18" charset="0"/>
              </a:rPr>
              <a:t>int b = 1;</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int main(void) {</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int c;</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c = </a:t>
            </a:r>
            <a:r>
              <a:rPr lang="en-US" altLang="zh-CN" sz="2400" kern="0" dirty="0">
                <a:solidFill>
                  <a:srgbClr val="00B050"/>
                </a:solidFill>
                <a:cs typeface="Times New Roman" pitchFamily="18" charset="0"/>
              </a:rPr>
              <a:t>((a) + (b))</a:t>
            </a:r>
            <a:r>
              <a:rPr lang="en-US" altLang="zh-CN" sz="2400" kern="0" dirty="0">
                <a:solidFill>
                  <a:srgbClr val="0070C0"/>
                </a:solidFill>
                <a:cs typeface="Times New Roman" pitchFamily="18" charset="0"/>
              </a:rPr>
              <a:t>;</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    return 0;</a:t>
            </a:r>
          </a:p>
          <a:p>
            <a:pPr lvl="0" eaLnBrk="1" fontAlgn="base" hangingPunct="1">
              <a:spcBef>
                <a:spcPct val="0"/>
              </a:spcBef>
              <a:spcAft>
                <a:spcPct val="0"/>
              </a:spcAft>
              <a:buClrTx/>
              <a:buSzTx/>
              <a:buNone/>
              <a:defRPr/>
            </a:pPr>
            <a:r>
              <a:rPr lang="en-US" altLang="zh-CN" sz="2400" kern="0" dirty="0">
                <a:solidFill>
                  <a:srgbClr val="0070C0"/>
                </a:solidFill>
                <a:cs typeface="Times New Roman" pitchFamily="18" charset="0"/>
              </a:rPr>
              <a:t>}</a:t>
            </a:r>
          </a:p>
        </p:txBody>
      </p:sp>
      <p:sp>
        <p:nvSpPr>
          <p:cNvPr id="18" name="矩形 17">
            <a:extLst>
              <a:ext uri="{FF2B5EF4-FFF2-40B4-BE49-F238E27FC236}">
                <a16:creationId xmlns:a16="http://schemas.microsoft.com/office/drawing/2014/main" id="{94285068-CA28-4389-94B8-4FCD39EB9A0B}"/>
              </a:ext>
            </a:extLst>
          </p:cNvPr>
          <p:cNvSpPr/>
          <p:nvPr/>
        </p:nvSpPr>
        <p:spPr>
          <a:xfrm>
            <a:off x="4387610" y="2290763"/>
            <a:ext cx="3804248" cy="954107"/>
          </a:xfrm>
          <a:prstGeom prst="rect">
            <a:avLst/>
          </a:prstGeom>
        </p:spPr>
        <p:txBody>
          <a:bodyPr wrap="none">
            <a:spAutoFit/>
          </a:bodyPr>
          <a:lstStyle/>
          <a:p>
            <a:pPr algn="ctr"/>
            <a:r>
              <a:rPr lang="zh-CN" altLang="en-US" sz="2800" b="1" spc="150" noProof="1">
                <a:solidFill>
                  <a:schemeClr val="accent2">
                    <a:lumMod val="50000"/>
                  </a:schemeClr>
                </a:solidFill>
                <a:latin typeface="楷体" panose="02010609060101010101" charset="-122"/>
                <a:ea typeface="楷体" panose="02010609060101010101" charset="-122"/>
                <a:sym typeface="+mn-ea"/>
              </a:rPr>
              <a:t>编译预处理</a:t>
            </a:r>
            <a:endParaRPr lang="en-US" altLang="zh-CN" sz="2800" b="1" spc="150" noProof="1">
              <a:solidFill>
                <a:schemeClr val="accent2">
                  <a:lumMod val="50000"/>
                </a:schemeClr>
              </a:solidFill>
              <a:latin typeface="楷体" panose="02010609060101010101" charset="-122"/>
              <a:ea typeface="楷体" panose="02010609060101010101" charset="-122"/>
              <a:sym typeface="+mn-ea"/>
            </a:endParaRPr>
          </a:p>
          <a:p>
            <a:pPr algn="ctr"/>
            <a:r>
              <a:rPr lang="zh-CN" altLang="en-US" sz="2800" b="1" spc="150" noProof="1">
                <a:solidFill>
                  <a:schemeClr val="accent2">
                    <a:lumMod val="50000"/>
                  </a:schemeClr>
                </a:solidFill>
                <a:latin typeface="楷体" panose="02010609060101010101" charset="-122"/>
                <a:ea typeface="楷体" panose="02010609060101010101" charset="-122"/>
                <a:sym typeface="+mn-ea"/>
              </a:rPr>
              <a:t>（文件包含</a:t>
            </a:r>
            <a:r>
              <a:rPr lang="en-US" altLang="zh-CN" sz="2800" b="1" spc="150" noProof="1">
                <a:solidFill>
                  <a:schemeClr val="accent2">
                    <a:lumMod val="50000"/>
                  </a:schemeClr>
                </a:solidFill>
                <a:latin typeface="楷体" panose="02010609060101010101" charset="-122"/>
                <a:ea typeface="楷体" panose="02010609060101010101" charset="-122"/>
                <a:sym typeface="+mn-ea"/>
              </a:rPr>
              <a:t>+</a:t>
            </a:r>
            <a:r>
              <a:rPr lang="zh-CN" altLang="en-US" sz="2800" b="1" spc="150" noProof="1">
                <a:solidFill>
                  <a:schemeClr val="accent2">
                    <a:lumMod val="50000"/>
                  </a:schemeClr>
                </a:solidFill>
                <a:latin typeface="楷体" panose="02010609060101010101" charset="-122"/>
                <a:ea typeface="楷体" panose="02010609060101010101" charset="-122"/>
                <a:sym typeface="+mn-ea"/>
              </a:rPr>
              <a:t>宏展开）</a:t>
            </a:r>
            <a:endParaRPr lang="en-US" altLang="zh-CN" sz="2800" b="1" spc="150" noProof="1">
              <a:solidFill>
                <a:schemeClr val="accent2">
                  <a:lumMod val="50000"/>
                </a:schemeClr>
              </a:solidFill>
              <a:latin typeface="楷体" panose="02010609060101010101" charset="-122"/>
              <a:ea typeface="楷体" panose="02010609060101010101" charset="-122"/>
              <a:sym typeface="+mn-ea"/>
            </a:endParaRPr>
          </a:p>
        </p:txBody>
      </p:sp>
      <p:sp>
        <p:nvSpPr>
          <p:cNvPr id="34" name="文本框 33">
            <a:extLst>
              <a:ext uri="{FF2B5EF4-FFF2-40B4-BE49-F238E27FC236}">
                <a16:creationId xmlns:a16="http://schemas.microsoft.com/office/drawing/2014/main" id="{A73927EA-695C-40AD-BD25-3BC1F1E410C3}"/>
              </a:ext>
            </a:extLst>
          </p:cNvPr>
          <p:cNvSpPr txBox="1"/>
          <p:nvPr/>
        </p:nvSpPr>
        <p:spPr>
          <a:xfrm>
            <a:off x="8218639" y="1730080"/>
            <a:ext cx="3845925" cy="523220"/>
          </a:xfrm>
          <a:prstGeom prst="rect">
            <a:avLst/>
          </a:prstGeom>
          <a:noFill/>
        </p:spPr>
        <p:txBody>
          <a:bodyPr wrap="none" rtlCol="0">
            <a:spAutoFit/>
          </a:bodyPr>
          <a:lstStyle/>
          <a:p>
            <a:r>
              <a:rPr lang="zh-CN" altLang="en-US" sz="2800" b="1" spc="150" noProof="1">
                <a:solidFill>
                  <a:schemeClr val="accent2">
                    <a:lumMod val="50000"/>
                  </a:schemeClr>
                </a:solidFill>
                <a:latin typeface="楷体" panose="02010609060101010101" charset="-122"/>
                <a:ea typeface="楷体" panose="02010609060101010101" charset="-122"/>
                <a:sym typeface="+mn-ea"/>
              </a:rPr>
              <a:t>编译预处理结果</a:t>
            </a:r>
            <a:r>
              <a:rPr lang="en-US" altLang="zh-CN" sz="2800" b="1" spc="150" noProof="1">
                <a:solidFill>
                  <a:schemeClr val="accent2">
                    <a:lumMod val="50000"/>
                  </a:schemeClr>
                </a:solidFill>
                <a:latin typeface="楷体" panose="02010609060101010101" charset="-122"/>
                <a:ea typeface="楷体" panose="02010609060101010101" charset="-122"/>
                <a:sym typeface="+mn-ea"/>
              </a:rPr>
              <a:t>add.i</a:t>
            </a:r>
            <a:endParaRPr lang="zh-CN" altLang="en-US" sz="2800" b="1" spc="150" noProof="1">
              <a:solidFill>
                <a:schemeClr val="accent2">
                  <a:lumMod val="50000"/>
                </a:schemeClr>
              </a:solidFill>
              <a:latin typeface="楷体" panose="02010609060101010101" charset="-122"/>
              <a:ea typeface="楷体" panose="02010609060101010101" charset="-122"/>
              <a:sym typeface="+mn-ea"/>
            </a:endParaRPr>
          </a:p>
        </p:txBody>
      </p:sp>
      <p:sp>
        <p:nvSpPr>
          <p:cNvPr id="19" name="矩形 18">
            <a:extLst>
              <a:ext uri="{FF2B5EF4-FFF2-40B4-BE49-F238E27FC236}">
                <a16:creationId xmlns:a16="http://schemas.microsoft.com/office/drawing/2014/main" id="{F601E29E-1FD3-4F8A-9E27-747499F3D7BD}"/>
              </a:ext>
            </a:extLst>
          </p:cNvPr>
          <p:cNvSpPr/>
          <p:nvPr/>
        </p:nvSpPr>
        <p:spPr>
          <a:xfrm>
            <a:off x="4396077" y="830659"/>
            <a:ext cx="3877985" cy="584775"/>
          </a:xfrm>
          <a:prstGeom prst="rect">
            <a:avLst/>
          </a:prstGeom>
        </p:spPr>
        <p:txBody>
          <a:bodyPr wrap="none">
            <a:spAutoFit/>
          </a:bodyPr>
          <a:lstStyle/>
          <a:p>
            <a:pPr algn="ctr"/>
            <a:r>
              <a:rPr lang="zh-CN" altLang="en-US" sz="3200" dirty="0">
                <a:solidFill>
                  <a:srgbClr val="FF0000"/>
                </a:solidFill>
                <a:latin typeface="Times New Roman" panose="02020603050405020304" pitchFamily="18" charset="0"/>
                <a:cs typeface="Times New Roman" panose="02020603050405020304" pitchFamily="18" charset="0"/>
              </a:rPr>
              <a:t>编译预处理综合实例</a:t>
            </a:r>
            <a:endParaRPr lang="en-US" altLang="zh-CN" sz="3200" dirty="0">
              <a:solidFill>
                <a:srgbClr val="FF0000"/>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D5D33F48-D7DB-4B29-A8E8-62C4697DE70B}"/>
              </a:ext>
            </a:extLst>
          </p:cNvPr>
          <p:cNvSpPr/>
          <p:nvPr/>
        </p:nvSpPr>
        <p:spPr>
          <a:xfrm>
            <a:off x="4223495" y="3874162"/>
            <a:ext cx="4070345" cy="1446550"/>
          </a:xfrm>
          <a:prstGeom prst="rect">
            <a:avLst/>
          </a:prstGeom>
        </p:spPr>
        <p:txBody>
          <a:bodyPr wrap="none">
            <a:spAutoFit/>
          </a:bodyPr>
          <a:lstStyle/>
          <a:p>
            <a:pPr algn="ctr"/>
            <a:r>
              <a:rPr lang="en-US" altLang="zh-CN" sz="2200" b="1" spc="150" noProof="1">
                <a:solidFill>
                  <a:schemeClr val="accent2">
                    <a:lumMod val="50000"/>
                  </a:schemeClr>
                </a:solidFill>
                <a:latin typeface="楷体" panose="02010609060101010101" charset="-122"/>
                <a:ea typeface="楷体" panose="02010609060101010101" charset="-122"/>
                <a:sym typeface="+mn-ea"/>
              </a:rPr>
              <a:t>gcc -E -P add.c -o add.i</a:t>
            </a:r>
          </a:p>
          <a:p>
            <a:pPr algn="ctr"/>
            <a:r>
              <a:rPr lang="zh-CN" altLang="en-US" sz="2200" b="1" spc="150" noProof="1">
                <a:solidFill>
                  <a:schemeClr val="accent2">
                    <a:lumMod val="50000"/>
                  </a:schemeClr>
                </a:solidFill>
                <a:latin typeface="楷体" panose="02010609060101010101" charset="-122"/>
                <a:ea typeface="楷体" panose="02010609060101010101" charset="-122"/>
                <a:sym typeface="+mn-ea"/>
              </a:rPr>
              <a:t>使用</a:t>
            </a:r>
            <a:r>
              <a:rPr lang="en-US" altLang="zh-CN" sz="2200" b="1" spc="150" noProof="1">
                <a:solidFill>
                  <a:schemeClr val="accent2">
                    <a:lumMod val="50000"/>
                  </a:schemeClr>
                </a:solidFill>
                <a:latin typeface="楷体" panose="02010609060101010101" charset="-122"/>
                <a:ea typeface="楷体" panose="02010609060101010101" charset="-122"/>
                <a:sym typeface="+mn-ea"/>
              </a:rPr>
              <a:t>gcc</a:t>
            </a:r>
            <a:r>
              <a:rPr lang="zh-CN" altLang="en-US" sz="2200" b="1" spc="150" noProof="1">
                <a:solidFill>
                  <a:schemeClr val="accent2">
                    <a:lumMod val="50000"/>
                  </a:schemeClr>
                </a:solidFill>
                <a:latin typeface="楷体" panose="02010609060101010101" charset="-122"/>
                <a:ea typeface="楷体" panose="02010609060101010101" charset="-122"/>
                <a:sym typeface="+mn-ea"/>
              </a:rPr>
              <a:t>对</a:t>
            </a:r>
            <a:r>
              <a:rPr lang="en-US" altLang="zh-CN" sz="2200" b="1" spc="150" noProof="1">
                <a:solidFill>
                  <a:schemeClr val="accent2">
                    <a:lumMod val="50000"/>
                  </a:schemeClr>
                </a:solidFill>
                <a:latin typeface="楷体" panose="02010609060101010101" charset="-122"/>
                <a:ea typeface="楷体" panose="02010609060101010101" charset="-122"/>
                <a:sym typeface="+mn-ea"/>
              </a:rPr>
              <a:t>add.c</a:t>
            </a:r>
            <a:r>
              <a:rPr lang="zh-CN" altLang="en-US" sz="2200" b="1" spc="150" noProof="1">
                <a:solidFill>
                  <a:schemeClr val="accent2">
                    <a:lumMod val="50000"/>
                  </a:schemeClr>
                </a:solidFill>
                <a:latin typeface="楷体" panose="02010609060101010101" charset="-122"/>
                <a:ea typeface="楷体" panose="02010609060101010101" charset="-122"/>
                <a:sym typeface="+mn-ea"/>
              </a:rPr>
              <a:t>进行</a:t>
            </a:r>
            <a:endParaRPr lang="en-US" altLang="zh-CN" sz="2200" b="1" spc="150" noProof="1">
              <a:solidFill>
                <a:schemeClr val="accent2">
                  <a:lumMod val="50000"/>
                </a:schemeClr>
              </a:solidFill>
              <a:latin typeface="楷体" panose="02010609060101010101" charset="-122"/>
              <a:ea typeface="楷体" panose="02010609060101010101" charset="-122"/>
              <a:sym typeface="+mn-ea"/>
            </a:endParaRPr>
          </a:p>
          <a:p>
            <a:pPr algn="ctr"/>
            <a:r>
              <a:rPr lang="zh-CN" altLang="en-US" sz="2200" b="1" spc="150" noProof="1">
                <a:solidFill>
                  <a:schemeClr val="accent2">
                    <a:lumMod val="50000"/>
                  </a:schemeClr>
                </a:solidFill>
                <a:latin typeface="楷体" panose="02010609060101010101" charset="-122"/>
                <a:ea typeface="楷体" panose="02010609060101010101" charset="-122"/>
                <a:sym typeface="+mn-ea"/>
              </a:rPr>
              <a:t>编译预处理，</a:t>
            </a:r>
            <a:endParaRPr lang="en-US" altLang="zh-CN" sz="2200" b="1" spc="150" noProof="1">
              <a:solidFill>
                <a:schemeClr val="accent2">
                  <a:lumMod val="50000"/>
                </a:schemeClr>
              </a:solidFill>
              <a:latin typeface="楷体" panose="02010609060101010101" charset="-122"/>
              <a:ea typeface="楷体" panose="02010609060101010101" charset="-122"/>
              <a:sym typeface="+mn-ea"/>
            </a:endParaRPr>
          </a:p>
          <a:p>
            <a:pPr algn="ctr"/>
            <a:r>
              <a:rPr lang="zh-CN" altLang="en-US" sz="2200" b="1" spc="150" noProof="1">
                <a:solidFill>
                  <a:schemeClr val="accent2">
                    <a:lumMod val="50000"/>
                  </a:schemeClr>
                </a:solidFill>
                <a:latin typeface="楷体" panose="02010609060101010101" charset="-122"/>
                <a:ea typeface="楷体" panose="02010609060101010101" charset="-122"/>
                <a:sym typeface="+mn-ea"/>
              </a:rPr>
              <a:t>结果输出到</a:t>
            </a:r>
            <a:r>
              <a:rPr lang="en-US" altLang="zh-CN" sz="2200" b="1" spc="150" noProof="1">
                <a:solidFill>
                  <a:schemeClr val="accent2">
                    <a:lumMod val="50000"/>
                  </a:schemeClr>
                </a:solidFill>
                <a:latin typeface="楷体" panose="02010609060101010101" charset="-122"/>
                <a:ea typeface="楷体" panose="02010609060101010101" charset="-122"/>
                <a:sym typeface="+mn-ea"/>
              </a:rPr>
              <a:t>add.i</a:t>
            </a:r>
          </a:p>
        </p:txBody>
      </p:sp>
    </p:spTree>
    <p:custDataLst>
      <p:tags r:id="rId1"/>
    </p:custDataLst>
    <p:extLst>
      <p:ext uri="{BB962C8B-B14F-4D97-AF65-F5344CB8AC3E}">
        <p14:creationId xmlns:p14="http://schemas.microsoft.com/office/powerpoint/2010/main" val="21631260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谢谢</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U5YWU2YzllNGZmZTViNjUwYjAxYWNhZmY5MDU0M2QifQ=="/>
  <p:tag name="KSO_WPP_MARK_KEY" val="c34bcdfb-13dc-4e7f-b54f-4cde71d08e73"/>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15035"/>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215035"/>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15035"/>
</p:tagLst>
</file>

<file path=ppt/tags/tag5.xml><?xml version="1.0" encoding="utf-8"?>
<p:tagLst xmlns:a="http://schemas.openxmlformats.org/drawingml/2006/main" xmlns:r="http://schemas.openxmlformats.org/officeDocument/2006/relationships" xmlns:p="http://schemas.openxmlformats.org/presentationml/2006/main">
  <p:tag name="KSO_WM_UNIT_DEFAULT_FONT" val="18;28;2"/>
  <p:tag name="KSO_WM_UNIT_BLOCK" val="0"/>
  <p:tag name="KSO_WM_UNIT_ISCONTENTSTITLE" val="0"/>
  <p:tag name="KSO_WM_UNIT_ISNUMDGMTITLE" val="0"/>
  <p:tag name="KSO_WM_UNIT_PRESET_TEXT" val="单/击/此/处/添/加/副/标/题/内/容"/>
  <p:tag name="KSO_WM_UNIT_NOCLEAR" val="0"/>
  <p:tag name="KSO_WM_UNIT_VALUE" val="58"/>
  <p:tag name="KSO_WM_UNIT_HIGHLIGHT" val="0"/>
  <p:tag name="KSO_WM_UNIT_COMPATIBLE" val="0"/>
  <p:tag name="KSO_WM_UNIT_DIAGRAM_ISNUMVISUAL" val="0"/>
  <p:tag name="KSO_WM_UNIT_DIAGRAM_ISREFERUNIT" val="0"/>
  <p:tag name="KSO_WM_UNIT_TYPE" val="b"/>
  <p:tag name="KSO_WM_UNIT_INDEX" val="1"/>
  <p:tag name="KSO_WM_UNIT_ID" val="custom20215035_1*b*1"/>
  <p:tag name="KSO_WM_TEMPLATE_CATEGORY" val="custom"/>
  <p:tag name="KSO_WM_TEMPLATE_INDEX" val="20215035"/>
  <p:tag name="KSO_WM_UNIT_LAYERLEVEL" val="1"/>
  <p:tag name="KSO_WM_TAG_VERSION" val="1.0"/>
  <p:tag name="KSO_WM_BEAUTIFY_FLAG" val="#wm#"/>
  <p:tag name="KSO_WM_CHIP_GROUPID" val="5ebd04330ac41c4a0a525403"/>
  <p:tag name="KSO_WM_CHIP_XID" val="5ebd04330ac41c4a0a525404"/>
  <p:tag name="KSO_WM_UNIT_DEC_AREA_ID" val="a7eab4dc5908499b838b73a1fa3b2bb1"/>
  <p:tag name="KSO_WM_CHIP_FILLAREA_FILL_RULE" val="{&quot;fill_align&quot;:&quot;cm&quot;,&quot;fill_mode&quot;:&quot;adaptive&quot;,&quot;sacle_strategy&quot;:&quot;smart&quot;}"/>
  <p:tag name="KSO_WM_ASSEMBLE_CHIP_INDEX" val="ffbcb33553e5437999be5be7b3e28129"/>
  <p:tag name="KSO_WM_UNIT_TEXT_FILL_FORE_SCHEMECOLOR_INDEX_BRIGHTNESS" val="0.35"/>
  <p:tag name="KSO_WM_UNIT_TEXT_FILL_FORE_SCHEMECOLOR_INDEX" val="13"/>
  <p:tag name="KSO_WM_UNIT_TEXT_FILL_TYPE" val="1"/>
  <p:tag name="KSO_WM_TEMPLATE_ASSEMBLE_XID" val="5fab4958b46e6ebd9907b66b"/>
  <p:tag name="KSO_WM_TEMPLATE_ASSEMBLE_GROUPID" val="5faa52dd0ad14824cac57d3a"/>
</p:tagLst>
</file>

<file path=ppt/tags/tag6.xml><?xml version="1.0" encoding="utf-8"?>
<p:tagLst xmlns:a="http://schemas.openxmlformats.org/drawingml/2006/main" xmlns:r="http://schemas.openxmlformats.org/officeDocument/2006/relationships" xmlns:p="http://schemas.openxmlformats.org/presentationml/2006/main">
  <p:tag name="KSO_WM_UNIT_DEFAULT_FONT" val="60;74;4"/>
  <p:tag name="KSO_WM_UNIT_BLOCK" val="0"/>
  <p:tag name="KSO_WM_UNIT_ISCONTENTSTITLE" val="0"/>
  <p:tag name="KSO_WM_UNIT_ISNUMDGMTITLE" val="0"/>
  <p:tag name="KSO_WM_UNIT_PRESET_TEXT" val="大数据产品发布会"/>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15035_1*a*1"/>
  <p:tag name="KSO_WM_TEMPLATE_CATEGORY" val="custom"/>
  <p:tag name="KSO_WM_TEMPLATE_INDEX" val="20215035"/>
  <p:tag name="KSO_WM_UNIT_LAYERLEVEL" val="1"/>
  <p:tag name="KSO_WM_TAG_VERSION" val="1.0"/>
  <p:tag name="KSO_WM_BEAUTIFY_FLAG" val="#wm#"/>
  <p:tag name="KSO_WM_CHIP_GROUPID" val="5ebd04330ac41c4a0a525403"/>
  <p:tag name="KSO_WM_CHIP_XID" val="5ebd04330ac41c4a0a525404"/>
  <p:tag name="KSO_WM_UNIT_DEC_AREA_ID" val="74e0bb5f67554d5ba3310756f96c4957"/>
  <p:tag name="KSO_WM_CHIP_FILLAREA_FILL_RULE" val="{&quot;fill_align&quot;:&quot;cm&quot;,&quot;fill_mode&quot;:&quot;adaptive&quot;,&quot;sacle_strategy&quot;:&quot;smart&quot;}"/>
  <p:tag name="KSO_WM_ASSEMBLE_CHIP_INDEX" val="ffbcb33553e5437999be5be7b3e28129"/>
  <p:tag name="KSO_WM_UNIT_TEXT_FILL_FORE_SCHEMECOLOR_INDEX_BRIGHTNESS" val="0.15"/>
  <p:tag name="KSO_WM_UNIT_TEXT_FILL_FORE_SCHEMECOLOR_INDEX" val="13"/>
  <p:tag name="KSO_WM_UNIT_TEXT_FILL_TYPE" val="1"/>
  <p:tag name="KSO_WM_TEMPLATE_ASSEMBLE_XID" val="5fab4958b46e6ebd9907b66b"/>
  <p:tag name="KSO_WM_TEMPLATE_ASSEMBLE_GROUPID" val="5faa52dd0ad14824cac57d3a"/>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0bfbdce0d6494e6fa218892f3a20235b"/>
  <p:tag name="KSO_WM_UNIT_DECORATE_INFO" val=""/>
  <p:tag name="KSO_WM_UNIT_SM_LIMIT_TYPE" val=""/>
  <p:tag name="KSO_WM_CHIP_FILLAREA_FILL_RULE" val="{&quot;fill_align&quot;:&quot;cm&quot;,&quot;fill_effect&quot;:[],&quot;fill_mode&quot;:&quot;full&quot;,&quot;sacle_strategy&quot;:&quot;stretch&quot;}"/>
  <p:tag name="KSO_WM_ASSEMBLE_CHIP_INDEX" val="521845bfda0c4d7f9e81721b313fda6e"/>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3*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d"/>
  <p:tag name="KSO_WM_UNIT_DEC_AREA_ID" val="dee9a792411d45f58c6e5b99eb87e923"/>
  <p:tag name="KSO_WM_UNIT_DECORATE_INFO" val=""/>
  <p:tag name="KSO_WM_UNIT_SM_LIMIT_TYPE" val=""/>
  <p:tag name="KSO_WM_CHIP_FILLAREA_FILL_RULE" val="{&quot;fill_align&quot;:&quot;cm&quot;,&quot;fill_effect&quot;:[],&quot;fill_mode&quot;:&quot;full&quot;,&quot;sacle_strategy&quot;:&quot;stretch&quot;}"/>
  <p:tag name="KSO_WM_ASSEMBLE_CHIP_INDEX" val="1c69729ceb794182b0b48671241df94a"/>
  <p:tag name="KSO_WM_SLIDE_BACKGROUND_TYPE" val="belt"/>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b1da29c00c7f45aeb3e2a6197fbd5a6e"/>
  <p:tag name="KSO_WM_UNIT_DECORATE_INFO" val=""/>
  <p:tag name="KSO_WM_UNIT_SM_LIMIT_TYPE" val=""/>
  <p:tag name="KSO_WM_CHIP_FILLAREA_FILL_RULE" val="{&quot;fill_align&quot;:&quot;cm&quot;,&quot;fill_effect&quot;:[],&quot;fill_mode&quot;:&quot;full&quot;,&quot;sacle_strategy&quot;:&quot;stretch&quot;}"/>
  <p:tag name="KSO_WM_ASSEMBLE_CHIP_INDEX" val="698ba860c38645fbbad577258b122222"/>
  <p:tag name="KSO_WM_SLIDE_BACKGROUND_TYPE" val="belt"/>
</p:tagLst>
</file>

<file path=ppt/tags/tag16.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7.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3*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d"/>
  <p:tag name="KSO_WM_UNIT_DEC_AREA_ID" val="dee9a792411d45f58c6e5b99eb87e923"/>
  <p:tag name="KSO_WM_UNIT_DECORATE_INFO" val=""/>
  <p:tag name="KSO_WM_UNIT_SM_LIMIT_TYPE" val=""/>
  <p:tag name="KSO_WM_CHIP_FILLAREA_FILL_RULE" val="{&quot;fill_align&quot;:&quot;cm&quot;,&quot;fill_effect&quot;:[],&quot;fill_mode&quot;:&quot;full&quot;,&quot;sacle_strategy&quot;:&quot;stretch&quot;}"/>
  <p:tag name="KSO_WM_ASSEMBLE_CHIP_INDEX" val="1c69729ceb794182b0b48671241df94a"/>
  <p:tag name="KSO_WM_SLIDE_BACKGROUND_TYPE" val="belt"/>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b1da29c00c7f45aeb3e2a6197fbd5a6e"/>
  <p:tag name="KSO_WM_UNIT_DECORATE_INFO" val=""/>
  <p:tag name="KSO_WM_UNIT_SM_LIMIT_TYPE" val=""/>
  <p:tag name="KSO_WM_CHIP_FILLAREA_FILL_RULE" val="{&quot;fill_align&quot;:&quot;cm&quot;,&quot;fill_effect&quot;:[],&quot;fill_mode&quot;:&quot;full&quot;,&quot;sacle_strategy&quot;:&quot;stretch&quot;}"/>
  <p:tag name="KSO_WM_ASSEMBLE_CHIP_INDEX" val="698ba860c38645fbbad577258b122222"/>
  <p:tag name="KSO_WM_SLIDE_BACKGROUND_TYPE" val="belt"/>
</p:tagLst>
</file>

<file path=ppt/tags/tag23.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4.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5.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6.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7.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15035"/>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hip20215035_4*i*1"/>
  <p:tag name="KSO_WM_TEMPLATE_CATEGORY" val="chip"/>
  <p:tag name="KSO_WM_TEMPLATE_INDEX" val="20215035"/>
  <p:tag name="KSO_WM_UNIT_LAYERLEVEL" val="1"/>
  <p:tag name="KSO_WM_TAG_VERSION" val="1.0"/>
  <p:tag name="KSO_WM_BEAUTIFY_FLAG" val="#wm#"/>
  <p:tag name="KSO_WM_UNIT_SUBTYPE" val="t"/>
  <p:tag name="KSO_WM_UNIT_TYPE" val="i"/>
  <p:tag name="KSO_WM_UNIT_INDEX" val="1"/>
  <p:tag name="KSO_WM_CHIP_GROUPID" val="5faa52dd0ad14824cac57d3a"/>
  <p:tag name="KSO_WM_CHIP_XID" val="5faa52dd0ad14824cac57d3e"/>
  <p:tag name="KSO_WM_UNIT_DEC_AREA_ID" val="e54d0f326d7646ff8277c3ae65b9c71b"/>
  <p:tag name="KSO_WM_UNIT_DECORATE_INFO" val=""/>
  <p:tag name="KSO_WM_UNIT_SM_LIMIT_TYPE" val=""/>
  <p:tag name="KSO_WM_CHIP_FILLAREA_FILL_RULE" val="{&quot;fill_align&quot;:&quot;cm&quot;,&quot;fill_effect&quot;:[],&quot;fill_mode&quot;:&quot;full&quot;,&quot;sacle_strategy&quot;:&quot;stretch&quot;}"/>
  <p:tag name="KSO_WM_ASSEMBLE_CHIP_INDEX" val="3fbcbfeee8e4487a97074207f33ce672"/>
</p:tagLst>
</file>

<file path=ppt/tags/tag3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3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4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5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6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heme/theme1.xml><?xml version="1.0" encoding="utf-8"?>
<a:theme xmlns:a="http://schemas.openxmlformats.org/drawingml/2006/main" name="4_Office 主题​​">
  <a:themeElements>
    <a:clrScheme name="Adjacency">
      <a:dk1>
        <a:srgbClr val="000000"/>
      </a:dk1>
      <a:lt1>
        <a:srgbClr val="FFFFFF"/>
      </a:lt1>
      <a:dk2>
        <a:srgbClr val="F0F0F0"/>
      </a:dk2>
      <a:lt2>
        <a:srgbClr val="FFFFFF"/>
      </a:lt2>
      <a:accent1>
        <a:srgbClr val="54A5BF"/>
      </a:accent1>
      <a:accent2>
        <a:srgbClr val="5596CD"/>
      </a:accent2>
      <a:accent3>
        <a:srgbClr val="6784CF"/>
      </a:accent3>
      <a:accent4>
        <a:srgbClr val="8571BD"/>
      </a:accent4>
      <a:accent5>
        <a:srgbClr val="A7609B"/>
      </a:accent5>
      <a:accent6>
        <a:srgbClr val="BE5370"/>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9525" algn="ctr">
          <a:solidFill>
            <a:srgbClr val="0070C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lIns="0" tIns="0" rIns="0" bIns="0"/>
      <a:lstStyle>
        <a:defPPr algn="ctr">
          <a:spcBef>
            <a:spcPct val="0"/>
          </a:spcBef>
          <a:buClrTx/>
          <a:buSzTx/>
          <a:buFontTx/>
          <a:buNone/>
          <a:defRPr kumimoji="0" sz="2000">
            <a:solidFill>
              <a:srgbClr val="000000"/>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7717</TotalTime>
  <Words>6172</Words>
  <Application>Microsoft Office PowerPoint</Application>
  <PresentationFormat>宽屏</PresentationFormat>
  <Paragraphs>913</Paragraphs>
  <Slides>62</Slides>
  <Notes>5</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62</vt:i4>
      </vt:variant>
    </vt:vector>
  </HeadingPairs>
  <TitlesOfParts>
    <vt:vector size="74" baseType="lpstr">
      <vt:lpstr>等线</vt:lpstr>
      <vt:lpstr>楷体</vt:lpstr>
      <vt:lpstr>锐字潮牌真言简2.0免费 大粗</vt:lpstr>
      <vt:lpstr>宋体</vt:lpstr>
      <vt:lpstr>微软雅黑</vt:lpstr>
      <vt:lpstr>Arial</vt:lpstr>
      <vt:lpstr>Calibri</vt:lpstr>
      <vt:lpstr>Times New Roman</vt:lpstr>
      <vt:lpstr>Wingdings</vt:lpstr>
      <vt:lpstr>4_Office 主题​​</vt:lpstr>
      <vt:lpstr>3_Office 主题​​</vt:lpstr>
      <vt:lpstr>Equation</vt:lpstr>
      <vt:lpstr>函数</vt:lpstr>
      <vt:lpstr>PowerPoint 演示文稿</vt:lpstr>
      <vt:lpstr>函数 4.1 函数的定义与调用</vt:lpstr>
      <vt:lpstr>PowerPoint 演示文稿</vt:lpstr>
      <vt:lpstr>函数的概念</vt:lpstr>
      <vt:lpstr>PowerPoint 演示文稿</vt:lpstr>
      <vt:lpstr>4.1.1 函数定义</vt:lpstr>
      <vt:lpstr>4.1.1 函数定义</vt:lpstr>
      <vt:lpstr>4.1.2 函数调用</vt:lpstr>
      <vt:lpstr>4.1.3 函数声明</vt:lpstr>
      <vt:lpstr>4.1.3 函数声明</vt:lpstr>
      <vt:lpstr>4.1.4 用户自定义函数实例</vt:lpstr>
      <vt:lpstr>综合实例</vt:lpstr>
      <vt:lpstr>综合实例</vt:lpstr>
      <vt:lpstr>综合实例</vt:lpstr>
      <vt:lpstr>4.1.5 函数参数传递</vt:lpstr>
      <vt:lpstr>4.1.5 函数参数传递</vt:lpstr>
      <vt:lpstr>4.1.5 函数参数传递</vt:lpstr>
      <vt:lpstr>4.1.5 函数参数传递</vt:lpstr>
      <vt:lpstr>函数 4.2 函数的嵌套调用</vt:lpstr>
      <vt:lpstr>PowerPoint 演示文稿</vt:lpstr>
      <vt:lpstr>PowerPoint 演示文稿</vt:lpstr>
      <vt:lpstr>4.2.1 函数与程序结构</vt:lpstr>
      <vt:lpstr>4.2.1 函数与程序结构</vt:lpstr>
      <vt:lpstr>4.2.2 嵌套调用</vt:lpstr>
      <vt:lpstr>4.2.2 嵌套调用</vt:lpstr>
      <vt:lpstr>4.2.3 递归函数</vt:lpstr>
      <vt:lpstr>4.2.3 递归函数</vt:lpstr>
      <vt:lpstr>4.2.3 递归函数</vt:lpstr>
      <vt:lpstr>4.2.3 递归函数</vt:lpstr>
      <vt:lpstr>4.2.3 递归函数</vt:lpstr>
      <vt:lpstr>4.2.3 递归函数</vt:lpstr>
      <vt:lpstr>函数 4.3 函数与变量</vt:lpstr>
      <vt:lpstr>PowerPoint 演示文稿</vt:lpstr>
      <vt:lpstr>PowerPoint 演示文稿</vt:lpstr>
      <vt:lpstr>4.3.1 变量作用域</vt:lpstr>
      <vt:lpstr>4.3.1 变量作用域</vt:lpstr>
      <vt:lpstr>4.3.1 变量作用域</vt:lpstr>
      <vt:lpstr>4.3.1 变量作用域</vt:lpstr>
      <vt:lpstr>4.3.1 变量作用域</vt:lpstr>
      <vt:lpstr>4.3.1 变量作用域</vt:lpstr>
      <vt:lpstr>4.3.2 变量的存储类别</vt:lpstr>
      <vt:lpstr>4.3.2 变量的存储类别</vt:lpstr>
      <vt:lpstr>4.3.2 变量的存储类别</vt:lpstr>
      <vt:lpstr>4.3.2 变量的存储类别</vt:lpstr>
      <vt:lpstr>4.3.2 变量的存储类别</vt:lpstr>
      <vt:lpstr> 4.4 编译预处理</vt:lpstr>
      <vt:lpstr>PowerPoint 演示文稿</vt:lpstr>
      <vt:lpstr>编译预处理</vt:lpstr>
      <vt:lpstr>PowerPoint 演示文稿</vt:lpstr>
      <vt:lpstr>4.4.1 宏定义</vt:lpstr>
      <vt:lpstr>4.4.1 宏定义</vt:lpstr>
      <vt:lpstr>4.4.1 宏定义</vt:lpstr>
      <vt:lpstr>4.4.1 宏定义</vt:lpstr>
      <vt:lpstr>4.4.1 宏定义</vt:lpstr>
      <vt:lpstr>4.4.1 宏定义</vt:lpstr>
      <vt:lpstr>4.4.1 宏定义</vt:lpstr>
      <vt:lpstr>4.4.1 宏定义</vt:lpstr>
      <vt:lpstr>4.4.2 文件包含</vt:lpstr>
      <vt:lpstr>4.4.2 文件包含</vt:lpstr>
      <vt:lpstr>4.4.2 文件包含</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《C语言程序设计》</dc:title>
  <dc:creator>Administrator</dc:creator>
  <cp:lastModifiedBy>燕敏 陈</cp:lastModifiedBy>
  <cp:revision>473</cp:revision>
  <dcterms:created xsi:type="dcterms:W3CDTF">2022-07-08T03:32:00Z</dcterms:created>
  <dcterms:modified xsi:type="dcterms:W3CDTF">2025-02-21T11:20:54Z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BFD466564B3A47D89E7AF80165FC8B71</vt:lpwstr>
  </property>
  <property fmtid="{D5CDD505-2E9C-101B-9397-08002B2CF9AE}" pid="3" name="KSOProductBuildVer">
    <vt:lpwstr>2052-11.1.0.11875</vt:lpwstr>
  </property>
</Properties>
</file>