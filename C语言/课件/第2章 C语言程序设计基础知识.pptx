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6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7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8.xml" ContentType="application/vnd.openxmlformats-officedocument.them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9.xml" ContentType="application/vnd.openxmlformats-officedocument.them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heme/theme10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21.xml" ContentType="application/vnd.openxmlformats-officedocument.presentationml.notesSlide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notesSlides/notesSlide22.xml" ContentType="application/vnd.openxmlformats-officedocument.presentationml.notesSlide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23.xml" ContentType="application/vnd.openxmlformats-officedocument.presentationml.notesSlide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notesSlides/notesSlide24.xml" ContentType="application/vnd.openxmlformats-officedocument.presentationml.notesSlid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notesSlides/notesSlide25.xml" ContentType="application/vnd.openxmlformats-officedocument.presentationml.notesSlide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26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notesSlides/notesSlide27.xml" ContentType="application/vnd.openxmlformats-officedocument.presentationml.notesSlide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notesSlides/notesSlide28.xml" ContentType="application/vnd.openxmlformats-officedocument.presentationml.notesSlide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29.xml" ContentType="application/vnd.openxmlformats-officedocument.presentationml.notesSlide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notesSlides/notesSlide30.xml" ContentType="application/vnd.openxmlformats-officedocument.presentationml.notesSlide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notesSlides/notesSlide31.xml" ContentType="application/vnd.openxmlformats-officedocument.presentationml.notesSlide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notesSlides/notesSlide32.xml" ContentType="application/vnd.openxmlformats-officedocument.presentationml.notesSlide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notesSlides/notesSlide33.xml" ContentType="application/vnd.openxmlformats-officedocument.presentationml.notesSlide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notesSlides/notesSlide34.xml" ContentType="application/vnd.openxmlformats-officedocument.presentationml.notesSlid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notesSlides/notesSlide35.xml" ContentType="application/vnd.openxmlformats-officedocument.presentationml.notesSlide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notesSlides/notesSlide36.xml" ContentType="application/vnd.openxmlformats-officedocument.presentationml.notesSlide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notesSlides/notesSlide37.xml" ContentType="application/vnd.openxmlformats-officedocument.presentationml.notesSlide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notesSlides/notesSlide38.xml" ContentType="application/vnd.openxmlformats-officedocument.presentationml.notesSlide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notesSlides/notesSlide39.xml" ContentType="application/vnd.openxmlformats-officedocument.presentationml.notesSlid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notesSlides/notesSlide40.xml" ContentType="application/vnd.openxmlformats-officedocument.presentationml.notesSlide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notesSlides/notesSlide41.xml" ContentType="application/vnd.openxmlformats-officedocument.presentationml.notesSlide+xml"/>
  <Override PartName="/ppt/tags/tag2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  <p:sldMasterId id="2147483682" r:id="rId2"/>
    <p:sldMasterId id="2147483694" r:id="rId3"/>
    <p:sldMasterId id="2147483704" r:id="rId4"/>
    <p:sldMasterId id="2147483717" r:id="rId5"/>
    <p:sldMasterId id="2147483729" r:id="rId6"/>
    <p:sldMasterId id="2147483741" r:id="rId7"/>
    <p:sldMasterId id="2147483753" r:id="rId8"/>
    <p:sldMasterId id="2147483767" r:id="rId9"/>
  </p:sldMasterIdLst>
  <p:notesMasterIdLst>
    <p:notesMasterId r:id="rId61"/>
  </p:notesMasterIdLst>
  <p:sldIdLst>
    <p:sldId id="299" r:id="rId10"/>
    <p:sldId id="301" r:id="rId11"/>
    <p:sldId id="322" r:id="rId12"/>
    <p:sldId id="307" r:id="rId13"/>
    <p:sldId id="309" r:id="rId14"/>
    <p:sldId id="310" r:id="rId15"/>
    <p:sldId id="300" r:id="rId16"/>
    <p:sldId id="323" r:id="rId17"/>
    <p:sldId id="320" r:id="rId18"/>
    <p:sldId id="321" r:id="rId19"/>
    <p:sldId id="317" r:id="rId20"/>
    <p:sldId id="318" r:id="rId21"/>
    <p:sldId id="319" r:id="rId22"/>
    <p:sldId id="303" r:id="rId23"/>
    <p:sldId id="325" r:id="rId24"/>
    <p:sldId id="388" r:id="rId25"/>
    <p:sldId id="390" r:id="rId26"/>
    <p:sldId id="391" r:id="rId27"/>
    <p:sldId id="396" r:id="rId28"/>
    <p:sldId id="392" r:id="rId29"/>
    <p:sldId id="393" r:id="rId30"/>
    <p:sldId id="405" r:id="rId31"/>
    <p:sldId id="400" r:id="rId32"/>
    <p:sldId id="402" r:id="rId33"/>
    <p:sldId id="409" r:id="rId34"/>
    <p:sldId id="414" r:id="rId35"/>
    <p:sldId id="359" r:id="rId36"/>
    <p:sldId id="429" r:id="rId37"/>
    <p:sldId id="422" r:id="rId38"/>
    <p:sldId id="425" r:id="rId39"/>
    <p:sldId id="426" r:id="rId40"/>
    <p:sldId id="428" r:id="rId41"/>
    <p:sldId id="431" r:id="rId42"/>
    <p:sldId id="432" r:id="rId43"/>
    <p:sldId id="433" r:id="rId44"/>
    <p:sldId id="324" r:id="rId45"/>
    <p:sldId id="434" r:id="rId46"/>
    <p:sldId id="326" r:id="rId47"/>
    <p:sldId id="327" r:id="rId48"/>
    <p:sldId id="329" r:id="rId49"/>
    <p:sldId id="435" r:id="rId50"/>
    <p:sldId id="331" r:id="rId51"/>
    <p:sldId id="332" r:id="rId52"/>
    <p:sldId id="333" r:id="rId53"/>
    <p:sldId id="334" r:id="rId54"/>
    <p:sldId id="335" r:id="rId55"/>
    <p:sldId id="336" r:id="rId56"/>
    <p:sldId id="337" r:id="rId57"/>
    <p:sldId id="338" r:id="rId58"/>
    <p:sldId id="339" r:id="rId59"/>
    <p:sldId id="269" r:id="rId60"/>
  </p:sldIdLst>
  <p:sldSz cx="12192000" cy="6858000"/>
  <p:notesSz cx="6858000" cy="9144000"/>
  <p:custDataLst>
    <p:tags r:id="rId6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27C6"/>
    <a:srgbClr val="54A5BF"/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63" Type="http://schemas.openxmlformats.org/officeDocument/2006/relationships/commentAuthors" Target="commentAuthor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tableStyles" Target="tableStyles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38048-F63A-4A4D-9D00-3E4A08633E52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E95F0-DD99-4637-B6CC-2CB7A5EF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8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同学，你好！欢迎同学们选修《麻醉学进展》这门课程。我是主讲老师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，来自浙江大学医学院附属第二医院麻醉手术部。首先我将讲述一下麻醉学概述中的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麻醉学的起源和发展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同学，你好！欢迎同学们选修《麻醉学进展》这门课程。我是主讲老师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，来自浙江大学医学院附属第二医院麻醉手术部。首先我将讲述一下麻醉学概述中的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麻醉学的起源和发展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>
                <a:solidFill>
                  <a:prstClr val="black"/>
                </a:solidFill>
              </a:rPr>
              <a:pPr/>
              <a:t>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613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D4C7B0A-FD3F-4E19-ABBA-CF9CD0CD7D8D}" type="slidenum">
              <a:rPr lang="en-US" altLang="zh-CN" smtClean="0"/>
              <a:pPr eaLnBrk="1" hangingPunct="1"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几乎包括键盘上其余全部</a:t>
            </a:r>
            <a:r>
              <a:rPr lang="en-US" altLang="zh-CN"/>
              <a:t>ASCII</a:t>
            </a:r>
            <a:r>
              <a:rPr lang="zh-CN" altLang="en-US"/>
              <a:t>可显示字符。（用于语句的分隔符，各种括号、运算符、操作符）　</a:t>
            </a:r>
          </a:p>
          <a:p>
            <a:pPr eaLnBrk="1" hangingPunct="1"/>
            <a:r>
              <a:rPr lang="zh-CN" altLang="en-US"/>
              <a:t>美国标准信息交换码。 </a:t>
            </a:r>
            <a:r>
              <a:rPr lang="en-US" altLang="zh-CN" i="1"/>
              <a:t>ASCII </a:t>
            </a:r>
            <a:r>
              <a:rPr lang="zh-CN" altLang="en-US" i="1"/>
              <a:t>字符集</a:t>
            </a:r>
            <a:r>
              <a:rPr lang="zh-CN" altLang="en-US"/>
              <a:t>是一组表示数字、字符、特殊符号的单字节代码。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5D693FE-433D-4465-83C5-048218BF8904}" type="slidenum">
              <a:rPr lang="en-US" altLang="zh-CN" smtClean="0"/>
              <a:pPr eaLnBrk="1" hangingPunct="1"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库例程的名字常以</a:t>
            </a:r>
            <a:r>
              <a:rPr lang="en-US" altLang="zh-CN"/>
              <a:t>'_'</a:t>
            </a:r>
            <a:r>
              <a:rPr lang="zh-CN" altLang="en-US"/>
              <a:t>开头，故变量名不要以其开头。被视为字母，常用于命名较长的变量名，以提高可读性。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01ED1CC-6902-45F5-9965-FFE1C4F8F722}" type="slidenum">
              <a:rPr lang="en-US" altLang="zh-CN" smtClean="0"/>
              <a:pPr eaLnBrk="1" hangingPunct="1"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关键字 </a:t>
            </a:r>
            <a:r>
              <a:rPr lang="en-US" altLang="zh-CN"/>
              <a:t>/ </a:t>
            </a:r>
            <a:r>
              <a:rPr lang="zh-CN" altLang="en-US"/>
              <a:t>保留字 －被赋于特定含义的标识符                          </a:t>
            </a:r>
            <a:r>
              <a:rPr lang="en-US" altLang="zh-CN"/>
              <a:t>ANSI C</a:t>
            </a:r>
            <a:r>
              <a:rPr lang="zh-CN" altLang="en-US"/>
              <a:t>定义了</a:t>
            </a:r>
            <a:r>
              <a:rPr lang="en-US" altLang="zh-CN"/>
              <a:t>32</a:t>
            </a:r>
            <a:r>
              <a:rPr lang="zh-CN" altLang="en-US"/>
              <a:t>个保留字</a:t>
            </a:r>
            <a:r>
              <a:rPr lang="en-US" altLang="zh-CN"/>
              <a:t>(</a:t>
            </a:r>
            <a:r>
              <a:rPr lang="zh-CN" altLang="en-US"/>
              <a:t>见表</a:t>
            </a:r>
            <a:r>
              <a:rPr lang="en-US" altLang="zh-CN"/>
              <a:t>1.2)</a:t>
            </a:r>
            <a:r>
              <a:rPr lang="zh-CN" altLang="en-US"/>
              <a:t>，规定保留字都用小写字母表示。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7648A1-F23F-4A40-A444-E606312CA1B5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 err="1"/>
              <a:t>int</a:t>
            </a:r>
            <a:r>
              <a:rPr lang="zh-CN" altLang="en-US" dirty="0"/>
              <a:t>类型，分配的字节数与机器相关，有些机器里为</a:t>
            </a:r>
            <a:r>
              <a:rPr lang="en-US" altLang="zh-CN" dirty="0"/>
              <a:t>2</a:t>
            </a:r>
            <a:r>
              <a:rPr lang="zh-CN" altLang="en-US" dirty="0"/>
              <a:t>字节                          例 </a:t>
            </a:r>
            <a:r>
              <a:rPr lang="en-US" altLang="zh-CN" dirty="0" err="1"/>
              <a:t>int</a:t>
            </a:r>
            <a:r>
              <a:rPr lang="en-US" altLang="zh-CN" dirty="0"/>
              <a:t> x=5;     --</a:t>
            </a:r>
            <a:r>
              <a:rPr lang="en-US" altLang="zh-CN" dirty="0" err="1"/>
              <a:t>int</a:t>
            </a:r>
            <a:r>
              <a:rPr lang="en-US" altLang="zh-CN" dirty="0"/>
              <a:t>/long</a:t>
            </a:r>
          </a:p>
          <a:p>
            <a:pPr eaLnBrk="1" hangingPunct="1"/>
            <a:r>
              <a:rPr lang="zh-CN" altLang="en-US" dirty="0"/>
              <a:t>在</a:t>
            </a:r>
            <a:r>
              <a:rPr lang="en-US" altLang="zh-CN" dirty="0"/>
              <a:t>C</a:t>
            </a:r>
            <a:r>
              <a:rPr lang="zh-CN" altLang="en-US" dirty="0"/>
              <a:t>语言中，</a:t>
            </a:r>
            <a:r>
              <a:rPr lang="en-US" altLang="zh-CN" dirty="0" err="1"/>
              <a:t>int</a:t>
            </a:r>
            <a:r>
              <a:rPr lang="zh-CN" altLang="en-US" dirty="0"/>
              <a:t>的表示范围，是依赖于编译器的，而</a:t>
            </a:r>
            <a:r>
              <a:rPr lang="en-US" altLang="zh-CN" dirty="0"/>
              <a:t>long </a:t>
            </a:r>
            <a:r>
              <a:rPr lang="en-US" altLang="zh-CN" dirty="0" err="1"/>
              <a:t>int</a:t>
            </a:r>
            <a:r>
              <a:rPr lang="zh-CN" altLang="en-US" dirty="0"/>
              <a:t>，也就是</a:t>
            </a:r>
            <a:r>
              <a:rPr lang="en-US" altLang="zh-CN" dirty="0"/>
              <a:t>long</a:t>
            </a:r>
            <a:r>
              <a:rPr lang="zh-CN" altLang="en-US" dirty="0"/>
              <a:t>则是固定的。所以二者范围是否相同取决于编译器。</a:t>
            </a:r>
          </a:p>
          <a:p>
            <a:pPr eaLnBrk="1" hangingPunct="1"/>
            <a:r>
              <a:rPr lang="zh-CN" altLang="en-US" dirty="0"/>
              <a:t>一、</a:t>
            </a:r>
            <a:r>
              <a:rPr lang="en-US" altLang="zh-CN" dirty="0"/>
              <a:t>16</a:t>
            </a:r>
            <a:r>
              <a:rPr lang="zh-CN" altLang="en-US" dirty="0"/>
              <a:t>位编译器：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 err="1"/>
              <a:t>int</a:t>
            </a:r>
            <a:r>
              <a:rPr lang="zh-CN" altLang="en-US" dirty="0"/>
              <a:t>占</a:t>
            </a:r>
            <a:r>
              <a:rPr lang="en-US" altLang="zh-CN" dirty="0"/>
              <a:t>2</a:t>
            </a:r>
            <a:r>
              <a:rPr lang="zh-CN" altLang="en-US" dirty="0"/>
              <a:t>字节，取值范围为</a:t>
            </a:r>
            <a:r>
              <a:rPr lang="en-US" altLang="zh-CN" dirty="0"/>
              <a:t>-32768~32767.     2</a:t>
            </a:r>
            <a:r>
              <a:rPr lang="zh-CN" altLang="en-US" dirty="0"/>
              <a:t>、</a:t>
            </a:r>
            <a:r>
              <a:rPr lang="en-US" altLang="zh-CN" dirty="0"/>
              <a:t>long </a:t>
            </a:r>
            <a:r>
              <a:rPr lang="zh-CN" altLang="en-US" dirty="0"/>
              <a:t>占</a:t>
            </a:r>
            <a:r>
              <a:rPr lang="en-US" altLang="zh-CN" dirty="0"/>
              <a:t>4</a:t>
            </a:r>
            <a:r>
              <a:rPr lang="zh-CN" altLang="en-US" dirty="0"/>
              <a:t>字节， 取值范围为</a:t>
            </a:r>
            <a:r>
              <a:rPr lang="en-US" altLang="zh-CN" dirty="0"/>
              <a:t>-2147483648~2147483647</a:t>
            </a:r>
            <a:r>
              <a:rPr lang="zh-CN" altLang="en-US" dirty="0"/>
              <a:t>。二者不同。</a:t>
            </a:r>
          </a:p>
          <a:p>
            <a:pPr eaLnBrk="1" hangingPunct="1"/>
            <a:r>
              <a:rPr lang="zh-CN" altLang="en-US" dirty="0"/>
              <a:t>二、</a:t>
            </a:r>
            <a:r>
              <a:rPr lang="en-US" altLang="zh-CN" dirty="0"/>
              <a:t>32</a:t>
            </a:r>
            <a:r>
              <a:rPr lang="zh-CN" altLang="en-US" dirty="0"/>
              <a:t>位编译器及</a:t>
            </a:r>
            <a:r>
              <a:rPr lang="en-US" altLang="zh-CN" dirty="0"/>
              <a:t>64</a:t>
            </a:r>
            <a:r>
              <a:rPr lang="zh-CN" altLang="en-US" dirty="0"/>
              <a:t>位编译器。</a:t>
            </a:r>
            <a:r>
              <a:rPr lang="en-US" altLang="zh-CN" dirty="0" err="1"/>
              <a:t>int</a:t>
            </a:r>
            <a:r>
              <a:rPr lang="zh-CN" altLang="en-US" dirty="0"/>
              <a:t>和</a:t>
            </a:r>
            <a:r>
              <a:rPr lang="en-US" altLang="zh-CN" dirty="0"/>
              <a:t>long</a:t>
            </a:r>
            <a:r>
              <a:rPr lang="zh-CN" altLang="en-US" dirty="0"/>
              <a:t>都占</a:t>
            </a:r>
            <a:r>
              <a:rPr lang="en-US" altLang="zh-CN" dirty="0"/>
              <a:t>4</a:t>
            </a:r>
            <a:r>
              <a:rPr lang="zh-CN" altLang="en-US" dirty="0"/>
              <a:t>字节， 取值范围相同， 均为</a:t>
            </a:r>
            <a:r>
              <a:rPr lang="en-US" altLang="zh-CN" dirty="0"/>
              <a:t>-2147483648~2147483647</a:t>
            </a:r>
            <a:r>
              <a:rPr lang="zh-CN" altLang="en-US" dirty="0"/>
              <a:t>。此时二者相同。</a:t>
            </a:r>
          </a:p>
        </p:txBody>
      </p:sp>
    </p:spTree>
    <p:extLst>
      <p:ext uri="{BB962C8B-B14F-4D97-AF65-F5344CB8AC3E}">
        <p14:creationId xmlns:p14="http://schemas.microsoft.com/office/powerpoint/2010/main" val="2522610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3789103-33A5-4C96-8A1C-60FA0465D257}" type="slidenum">
              <a:rPr lang="en-US" altLang="zh-CN" smtClean="0"/>
              <a:pPr eaLnBrk="1" hangingPunct="1"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FF780DD-64B4-4DD2-8A8A-AB7FCFCB0D27}" type="slidenum">
              <a:rPr lang="en-US" altLang="zh-CN" smtClean="0"/>
              <a:pPr eaLnBrk="1" hangingPunct="1"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solidFill>
                  <a:schemeClr val="bg2"/>
                </a:solidFill>
                <a:cs typeface="Times New Roman" pitchFamily="18" charset="0"/>
              </a:rPr>
              <a:t>无</a:t>
            </a:r>
            <a:r>
              <a:rPr lang="en-US" altLang="zh-CN">
                <a:solidFill>
                  <a:schemeClr val="bg2"/>
                </a:solidFill>
                <a:cs typeface="Times New Roman" pitchFamily="18" charset="0"/>
              </a:rPr>
              <a:t>’</a:t>
            </a:r>
            <a:r>
              <a:rPr lang="el-GR" altLang="zh-CN">
                <a:solidFill>
                  <a:schemeClr val="bg2"/>
                </a:solidFill>
                <a:cs typeface="Times New Roman" pitchFamily="18" charset="0"/>
              </a:rPr>
              <a:t>π</a:t>
            </a:r>
            <a:r>
              <a:rPr lang="en-US" altLang="zh-CN">
                <a:solidFill>
                  <a:schemeClr val="bg2"/>
                </a:solidFill>
                <a:cs typeface="Times New Roman" pitchFamily="18" charset="0"/>
              </a:rPr>
              <a:t>’</a:t>
            </a:r>
            <a:r>
              <a:rPr lang="zh-CN" altLang="en-US">
                <a:solidFill>
                  <a:schemeClr val="bg2"/>
                </a:solidFill>
                <a:cs typeface="Times New Roman" pitchFamily="18" charset="0"/>
              </a:rPr>
              <a:t>派 此符号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634942C-D406-484A-89C3-0042B569A971}" type="slidenum">
              <a:rPr lang="en-US" altLang="zh-CN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FF0000"/>
                </a:solidFill>
                <a:cs typeface="Times New Roman" pitchFamily="18" charset="0"/>
              </a:rPr>
              <a:t>int x, y; x = y;</a:t>
            </a:r>
            <a:r>
              <a:rPr lang="zh-CN" altLang="en-US">
                <a:solidFill>
                  <a:srgbClr val="FF0000"/>
                </a:solidFill>
                <a:cs typeface="Times New Roman" pitchFamily="18" charset="0"/>
              </a:rPr>
              <a:t>　错误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None/>
              <a:tabLst/>
              <a:defRPr/>
            </a:pPr>
            <a:fld id="{3F383BB0-9D7B-48BD-BF1B-F5C87343294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None/>
              <a:tabLst/>
              <a:defRPr/>
            </a:pPr>
            <a:fld id="{57464433-EA3E-4063-AB03-CFB35B0FF93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None/>
              <a:tabLst/>
              <a:defRPr/>
            </a:pPr>
            <a:fld id="{F92B2E6D-52B3-49C8-B3C2-CC9626B75CF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None/>
              <a:tabLst/>
              <a:defRPr/>
            </a:pPr>
            <a:fld id="{696434C1-7BB0-476D-904F-A117E17161D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None/>
              <a:tabLst/>
              <a:defRPr/>
            </a:pPr>
            <a:fld id="{704B2C09-F359-440A-86B8-AA27093A14E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>
              <a:solidFill>
                <a:srgbClr val="CC00CC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None/>
              <a:tabLst/>
              <a:defRPr/>
            </a:pPr>
            <a:fld id="{BBBD7F8D-16AA-4620-9D67-1BF16E3DF75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None/>
              <a:tabLst/>
              <a:defRPr/>
            </a:pPr>
            <a:fld id="{6FE7DC08-9FA0-47EB-BBB0-EEE3EBCE986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50000"/>
              </a:spcBef>
            </a:pPr>
            <a:endParaRPr lang="en-US" altLang="zh-CN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None/>
              <a:tabLst/>
              <a:defRPr/>
            </a:pPr>
            <a:fld id="{E335CABE-F273-48A3-953E-EF661B669A4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None/>
              <a:tabLst/>
              <a:defRPr/>
            </a:pPr>
            <a:fld id="{9177D30D-6692-4C90-9195-5F2C30F6145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None/>
              <a:tabLst/>
              <a:defRPr/>
            </a:pPr>
            <a:fld id="{0DBD2C65-469B-4F8E-9B59-72890E03343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None/>
              <a:tabLst/>
              <a:defRPr/>
            </a:pPr>
            <a:fld id="{279E0D80-2F60-4783-A84D-92ABA0B6013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8989E3-7BB5-4595-B3BA-36774BF14F7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53BD51-6355-4738-97A0-C2305795A85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55E475-CC07-4A2F-8BB1-5B8AE2D6F5A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7860DD-893F-438E-AF8D-ED883E2DEF9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A83D0B-8672-4F1D-8C35-9DBD363D94B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826654-BD9F-42AD-BDEC-7F2CCA8390A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DFB276-A9C8-4673-A66A-C4ED3F20D50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33D0BC-18FF-4810-ACE0-985DABA1C5F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C74F34-E9A0-478E-BA52-4406AE0670E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A2AA3-CC99-4A69-BF4C-6782626C6CA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F47B4-50E4-4D5E-8001-AF52C60DE3C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196B703B-ADF2-A76D-38B7-6D5FF1DEEF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F79033-ACF4-4231-991E-8D5983684357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E4F304A6-81EF-33EE-DF26-D86CF53415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6945A83B-F208-0063-B260-14F7E9CF63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x + y&gt;z * 4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1DF1DB-2C88-4F46-91C7-69A54DB4EC1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328108-D778-4F3D-A580-F5EA776FCDC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if(y)  z=x/y;    y!=0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357A6-F20A-42FC-9F2B-1D56141A687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9FCE77-995D-4401-85FC-20664ACE4E1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752CC8-C78D-4BFC-96B8-F01BF661F8A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x=(y=3*4, 4*5)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ACE1C7-130C-4CCF-9D7E-5840B1BA32B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908A7-773D-44F5-B1FF-40AAB26A3D2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/>
              <a:t>i</a:t>
            </a:r>
            <a:r>
              <a:rPr lang="en-US" altLang="en-US"/>
              <a:t>nt x=3+4u;  //x=7;    unsigned x=-3+4;//x=1;   unsigned x=-8+4;//x=</a:t>
            </a:r>
            <a:r>
              <a:rPr lang="zh-CN" altLang="en-US"/>
              <a:t>一个很大的数</a:t>
            </a:r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5D13EC-E35A-4529-A2DF-388316C252A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CA6609-8F6F-4013-BCEA-387440CCC89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10" Type="http://schemas.openxmlformats.org/officeDocument/2006/relationships/image" Target="../media/image3.png"/><Relationship Id="rId4" Type="http://schemas.openxmlformats.org/officeDocument/2006/relationships/tags" Target="../tags/tag17.xml"/><Relationship Id="rId9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5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7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8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10" Type="http://schemas.openxmlformats.org/officeDocument/2006/relationships/image" Target="../media/image3.png"/><Relationship Id="rId4" Type="http://schemas.openxmlformats.org/officeDocument/2006/relationships/tags" Target="../tags/tag42.xml"/><Relationship Id="rId9" Type="http://schemas.openxmlformats.org/officeDocument/2006/relationships/image" Target="../media/image2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slideMaster" Target="../slideMasters/slideMaster8.xml"/><Relationship Id="rId4" Type="http://schemas.openxmlformats.org/officeDocument/2006/relationships/tags" Target="../tags/tag55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4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4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4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4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4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4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4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4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slideMaster" Target="../slideMasters/slideMaster9.xml"/><Relationship Id="rId4" Type="http://schemas.openxmlformats.org/officeDocument/2006/relationships/tags" Target="../tags/tag95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4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4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4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4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4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4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4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4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4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4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4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4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4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3"/>
          <p:cNvSpPr>
            <a:spLocks noGrp="1"/>
          </p:cNvSpPr>
          <p:nvPr>
            <p:ph type="subTitle" idx="3" hasCustomPrompt="1"/>
            <p:custDataLst>
              <p:tags r:id="rId1"/>
            </p:custDataLst>
          </p:nvPr>
        </p:nvSpPr>
        <p:spPr>
          <a:xfrm>
            <a:off x="1652271" y="3649345"/>
            <a:ext cx="8890000" cy="66929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3600" b="0" i="0" u="none" strike="noStrike" kern="1200" cap="none" spc="200" normalizeH="0" baseline="0" noProof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4" name="标题 4"/>
          <p:cNvSpPr>
            <a:spLocks noGrp="1"/>
          </p:cNvSpPr>
          <p:nvPr>
            <p:ph type="ctrTitle" idx="2" hasCustomPrompt="1"/>
            <p:custDataLst>
              <p:tags r:id="rId2"/>
            </p:custDataLst>
          </p:nvPr>
        </p:nvSpPr>
        <p:spPr>
          <a:xfrm>
            <a:off x="1652271" y="2227797"/>
            <a:ext cx="8890064" cy="1112520"/>
          </a:xfrm>
        </p:spPr>
        <p:txBody>
          <a:bodyPr vert="horz" wrap="square" lIns="0" tIns="0" rIns="0" bIns="0" rtlCol="0" anchor="b" anchorCtr="0">
            <a:normAutofit lnSpcReduction="1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225" b="1" i="0" u="none" strike="noStrike" kern="1200" cap="none" spc="7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1655445" y="3486150"/>
            <a:ext cx="8909051" cy="0"/>
          </a:xfrm>
          <a:prstGeom prst="line">
            <a:avLst/>
          </a:prstGeom>
          <a:ln w="19050">
            <a:solidFill>
              <a:srgbClr val="DEDE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 userDrawn="1"/>
        </p:nvSpPr>
        <p:spPr>
          <a:xfrm>
            <a:off x="6036313" y="3401698"/>
            <a:ext cx="168275" cy="168275"/>
          </a:xfrm>
          <a:prstGeom prst="ellipse">
            <a:avLst/>
          </a:prstGeom>
          <a:solidFill>
            <a:schemeClr val="bg1"/>
          </a:solidFill>
          <a:ln>
            <a:solidFill>
              <a:srgbClr val="DEDE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 userDrawn="1"/>
        </p:nvSpPr>
        <p:spPr>
          <a:xfrm>
            <a:off x="3362973" y="4786013"/>
            <a:ext cx="2502535" cy="387985"/>
          </a:xfrm>
          <a:prstGeom prst="roundRect">
            <a:avLst/>
          </a:prstGeom>
          <a:solidFill>
            <a:schemeClr val="bg1"/>
          </a:solidFill>
          <a:ln>
            <a:solidFill>
              <a:srgbClr val="DEDE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中国计量大学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7" y="400703"/>
            <a:ext cx="10852151" cy="553085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37" y="1137920"/>
            <a:ext cx="10852151" cy="520319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1" i="0" u="none" strike="noStrike" kern="1200" cap="none" spc="150" normalizeH="0" baseline="0" noProof="1" dirty="0">
                <a:solidFill>
                  <a:schemeClr val="accent2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7" y="443248"/>
            <a:ext cx="10852151" cy="475615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7" y="1137920"/>
            <a:ext cx="5377180" cy="520319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3"/>
          </p:nvPr>
        </p:nvSpPr>
        <p:spPr>
          <a:xfrm>
            <a:off x="6111875" y="1126490"/>
            <a:ext cx="5410200" cy="520319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0"/>
            <a:ext cx="720091" cy="7200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4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29" y="952512"/>
            <a:ext cx="5283243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12"/>
            <a:ext cx="5283243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4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29" y="952526"/>
            <a:ext cx="5283243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49" y="952526"/>
            <a:ext cx="5283243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49" y="1406525"/>
            <a:ext cx="5283243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29" y="952512"/>
            <a:ext cx="5283243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12"/>
            <a:ext cx="5283243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2025/9/19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2" y="952512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436073" y="-10801"/>
            <a:ext cx="1753527" cy="1753527"/>
          </a:xfrm>
          <a:prstGeom prst="rect">
            <a:avLst/>
          </a:prstGeom>
        </p:spPr>
      </p:pic>
      <p:pic>
        <p:nvPicPr>
          <p:cNvPr id="6" name="图片 5" descr="图片2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3" y="5104479"/>
            <a:ext cx="1753527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7889-7F4F-4468-9749-CDB7CA8FB84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209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B601-5397-4551-A762-7F5F3BCCC0F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806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5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8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D89D-949D-4764-9E92-6A4C0240D47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442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BE235-6CB3-465C-B79D-2ED7CC3238A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013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9E6E-E8E9-4E10-B381-7A672952EE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06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7422-9D7F-4A51-B3C7-4F59D04F0F4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8590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337CD-AE36-4315-98EF-9C53C5C4206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732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43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B90F-2915-430D-A93A-745C87197AE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1189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4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7C2-A9DF-4F31-AD39-FEB95D02439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2253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4AEEF-2762-45C6-B123-D04A8CE9603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3241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4548-D02D-4C05-86FF-41D48D9AAF9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0839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4417" y="260350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31800" y="1412876"/>
            <a:ext cx="10972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EAF9D8-3E3E-4CCA-BC76-FCB34D5016A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64560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31801" y="260350"/>
            <a:ext cx="11165417" cy="56784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457172-6763-46CD-95EC-66B80353239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5568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2025/9/19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副标题 3"/>
          <p:cNvSpPr>
            <a:spLocks noGrp="1"/>
          </p:cNvSpPr>
          <p:nvPr>
            <p:ph type="subTitle" idx="3" hasCustomPrompt="1"/>
            <p:custDataLst>
              <p:tags r:id="rId1"/>
            </p:custDataLst>
          </p:nvPr>
        </p:nvSpPr>
        <p:spPr>
          <a:xfrm>
            <a:off x="1652271" y="3649345"/>
            <a:ext cx="8890000" cy="66929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3600" b="0" i="0" u="none" strike="noStrike" kern="1200" cap="none" spc="200" normalizeH="0" baseline="0" noProof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4" name="标题 4"/>
          <p:cNvSpPr>
            <a:spLocks noGrp="1"/>
          </p:cNvSpPr>
          <p:nvPr>
            <p:ph type="ctrTitle" idx="2" hasCustomPrompt="1"/>
            <p:custDataLst>
              <p:tags r:id="rId2"/>
            </p:custDataLst>
          </p:nvPr>
        </p:nvSpPr>
        <p:spPr>
          <a:xfrm>
            <a:off x="1652271" y="2227797"/>
            <a:ext cx="8890064" cy="1112520"/>
          </a:xfrm>
        </p:spPr>
        <p:txBody>
          <a:bodyPr vert="horz" wrap="square" lIns="0" tIns="0" rIns="0" bIns="0" rtlCol="0" anchor="b" anchorCtr="0">
            <a:normAutofit lnSpcReduction="1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225" b="1" i="0" u="none" strike="noStrike" kern="1200" cap="none" spc="7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1655445" y="3486150"/>
            <a:ext cx="8909051" cy="0"/>
          </a:xfrm>
          <a:prstGeom prst="line">
            <a:avLst/>
          </a:prstGeom>
          <a:ln w="19050">
            <a:solidFill>
              <a:srgbClr val="DEDE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 userDrawn="1"/>
        </p:nvSpPr>
        <p:spPr>
          <a:xfrm>
            <a:off x="6036313" y="3401698"/>
            <a:ext cx="168275" cy="168275"/>
          </a:xfrm>
          <a:prstGeom prst="ellipse">
            <a:avLst/>
          </a:prstGeom>
          <a:solidFill>
            <a:schemeClr val="bg1"/>
          </a:solidFill>
          <a:ln>
            <a:solidFill>
              <a:srgbClr val="DEDE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/>
          <p:nvPr userDrawn="1"/>
        </p:nvSpPr>
        <p:spPr>
          <a:xfrm>
            <a:off x="3362973" y="4786013"/>
            <a:ext cx="2502535" cy="387985"/>
          </a:xfrm>
          <a:prstGeom prst="roundRect">
            <a:avLst/>
          </a:prstGeom>
          <a:solidFill>
            <a:schemeClr val="bg1"/>
          </a:solidFill>
          <a:ln>
            <a:solidFill>
              <a:srgbClr val="DEDE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0000"/>
                </a:solidFill>
              </a:rPr>
              <a:t>中国计量大学</a:t>
            </a:r>
          </a:p>
        </p:txBody>
      </p:sp>
    </p:spTree>
    <p:extLst>
      <p:ext uri="{BB962C8B-B14F-4D97-AF65-F5344CB8AC3E}">
        <p14:creationId xmlns:p14="http://schemas.microsoft.com/office/powerpoint/2010/main" val="1450881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7" y="400703"/>
            <a:ext cx="10852151" cy="553085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37" y="1137920"/>
            <a:ext cx="10852151" cy="520319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1" i="0" u="none" strike="noStrike" kern="1200" cap="none" spc="150" normalizeH="0" baseline="0" noProof="1" dirty="0">
                <a:solidFill>
                  <a:schemeClr val="accent2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2025/9/19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4286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7" y="443248"/>
            <a:ext cx="10852151" cy="475615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7" y="1137920"/>
            <a:ext cx="5377180" cy="520319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3"/>
          </p:nvPr>
        </p:nvSpPr>
        <p:spPr>
          <a:xfrm>
            <a:off x="6111875" y="1126490"/>
            <a:ext cx="5410200" cy="520319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140633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0"/>
            <a:ext cx="720091" cy="72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2666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4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29" y="952512"/>
            <a:ext cx="5283243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12"/>
            <a:ext cx="5283243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2025/9/19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6701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4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29" y="952526"/>
            <a:ext cx="5283243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49" y="952526"/>
            <a:ext cx="5283243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49" y="1406525"/>
            <a:ext cx="5283243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2025/9/19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6894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29" y="952512"/>
            <a:ext cx="5283243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12"/>
            <a:ext cx="5283243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2025/9/19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3117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2025/9/19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2" y="952512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662118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436073" y="-10801"/>
            <a:ext cx="1753527" cy="1753527"/>
          </a:xfrm>
          <a:prstGeom prst="rect">
            <a:avLst/>
          </a:prstGeom>
        </p:spPr>
      </p:pic>
      <p:pic>
        <p:nvPicPr>
          <p:cNvPr id="6" name="图片 5" descr="图片2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3" y="5104479"/>
            <a:ext cx="1753527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2025/9/19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749668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B1D7C-C1CC-444A-B65F-51A4ABA330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9055173"/>
      </p:ext>
    </p:extLst>
  </p:cSld>
  <p:clrMapOvr>
    <a:masterClrMapping/>
  </p:clrMapOvr>
  <p:transition>
    <p:zo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7635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3978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56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81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7987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8139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410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3742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2708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43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8938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43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8980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8340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68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371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19"/>
            <a:ext cx="1447800" cy="6854825"/>
            <a:chOff x="0" y="0"/>
            <a:chExt cx="684" cy="4318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2400">
                <a:solidFill>
                  <a:srgbClr val="3333FF"/>
                </a:solidFill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48" y="103"/>
              <a:ext cx="96" cy="4126"/>
              <a:chOff x="48" y="103"/>
              <a:chExt cx="96" cy="4126"/>
            </a:xfrm>
          </p:grpSpPr>
          <p:sp>
            <p:nvSpPr>
              <p:cNvPr id="7" name="Rectangle 5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8" name="Rectangle 6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/>
            </p:nvSpPr>
            <p:spPr bwMode="auto">
              <a:xfrm>
                <a:off x="48" y="2116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/>
            </p:nvSpPr>
            <p:spPr bwMode="auto">
              <a:xfrm>
                <a:off x="48" y="2404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/>
            </p:nvSpPr>
            <p:spPr bwMode="auto">
              <a:xfrm>
                <a:off x="48" y="2549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8" name="Rectangle 16"/>
              <p:cNvSpPr>
                <a:spLocks noChangeArrowheads="1"/>
              </p:cNvSpPr>
              <p:nvPr/>
            </p:nvSpPr>
            <p:spPr bwMode="auto">
              <a:xfrm>
                <a:off x="48" y="2691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9" name="Rectangle 17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20" name="Rectangle 18"/>
              <p:cNvSpPr>
                <a:spLocks noChangeArrowheads="1"/>
              </p:cNvSpPr>
              <p:nvPr/>
            </p:nvSpPr>
            <p:spPr bwMode="auto">
              <a:xfrm>
                <a:off x="48" y="2979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21" name="Rectangle 19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22" name="Rectangle 20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23" name="Rectangle 21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24" name="Rectangle 22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25" name="Rectangle 23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26" name="Rectangle 24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27" name="Rectangle 25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28" name="Rectangle 26"/>
              <p:cNvSpPr>
                <a:spLocks noChangeArrowheads="1"/>
              </p:cNvSpPr>
              <p:nvPr/>
            </p:nvSpPr>
            <p:spPr bwMode="auto">
              <a:xfrm>
                <a:off x="48" y="4134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29" name="Rectangle 27"/>
              <p:cNvSpPr>
                <a:spLocks noChangeArrowheads="1"/>
              </p:cNvSpPr>
              <p:nvPr/>
            </p:nvSpPr>
            <p:spPr bwMode="auto">
              <a:xfrm>
                <a:off x="48" y="103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30" name="Rectangle 28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31" name="Rectangle 29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32" name="Rectangle 30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33" name="Rectangle 31"/>
              <p:cNvSpPr>
                <a:spLocks noChangeArrowheads="1"/>
              </p:cNvSpPr>
              <p:nvPr/>
            </p:nvSpPr>
            <p:spPr bwMode="auto">
              <a:xfrm>
                <a:off x="48" y="67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34" name="Rectangle 32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35" name="Rectangle 33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</p:grpSp>
      </p:grpSp>
      <p:sp>
        <p:nvSpPr>
          <p:cNvPr id="17442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 algn="ctr">
              <a:defRPr>
                <a:solidFill>
                  <a:srgbClr val="00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43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38400" y="3886200"/>
            <a:ext cx="8534400" cy="1752600"/>
          </a:xfrm>
        </p:spPr>
        <p:txBody>
          <a:bodyPr lIns="92075" tIns="46038" rIns="92075" bIns="46038"/>
          <a:lstStyle>
            <a:lvl1pPr marL="0" indent="0" algn="ctr">
              <a:buFont typeface="Wingdings" pitchFamily="2" charset="2"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36" name="Rectangle 3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4A2EDB8-8860-4803-B94A-2C75169EAC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5320729"/>
      </p:ext>
    </p:extLst>
  </p:cSld>
  <p:clrMapOvr>
    <a:masterClrMapping/>
  </p:clrMapOvr>
  <p:transition>
    <p:zo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6BBB2-8402-4BDF-BFC9-F51C90FF01DD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685028"/>
      </p:ext>
    </p:extLst>
  </p:cSld>
  <p:clrMapOvr>
    <a:masterClrMapping/>
  </p:clrMapOvr>
  <p:transition>
    <p:zo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19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AA4222-760A-4CA7-8F68-7F8375106738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813338"/>
      </p:ext>
    </p:extLst>
  </p:cSld>
  <p:clrMapOvr>
    <a:masterClrMapping/>
  </p:clrMapOvr>
  <p:transition>
    <p:zo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59984" y="19462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43184" y="19462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14ED72-E4E9-4F2C-B8CC-1622BC83A175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633475"/>
      </p:ext>
    </p:extLst>
  </p:cSld>
  <p:clrMapOvr>
    <a:masterClrMapping/>
  </p:clrMapOvr>
  <p:transition>
    <p:zo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FC8A87-5572-49D4-9A51-1BC49A4F19D0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746833"/>
      </p:ext>
    </p:extLst>
  </p:cSld>
  <p:clrMapOvr>
    <a:masterClrMapping/>
  </p:clrMapOvr>
  <p:transition>
    <p:zoom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5A1AEB-31AF-4510-9A73-E61AABD80520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691874"/>
      </p:ext>
    </p:extLst>
  </p:cSld>
  <p:clrMapOvr>
    <a:masterClrMapping/>
  </p:clrMapOvr>
  <p:transition>
    <p:zoom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B1D7C-C1CC-444A-B65F-51A4ABA3306B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539433"/>
      </p:ext>
    </p:extLst>
  </p:cSld>
  <p:clrMapOvr>
    <a:masterClrMapping/>
  </p:clrMapOvr>
  <p:transition>
    <p:zoom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9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F4211-A856-4030-B86D-DC2C67243C85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837605"/>
      </p:ext>
    </p:extLst>
  </p:cSld>
  <p:clrMapOvr>
    <a:masterClrMapping/>
  </p:clrMapOvr>
  <p:transition>
    <p:zoom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8789B0-D099-441C-A251-FE218A28B7E6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125901"/>
      </p:ext>
    </p:extLst>
  </p:cSld>
  <p:clrMapOvr>
    <a:masterClrMapping/>
  </p:clrMapOvr>
  <p:transition>
    <p:zoom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CB019-A1BE-4188-BD4F-8F6FC2382188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822483"/>
      </p:ext>
    </p:extLst>
  </p:cSld>
  <p:clrMapOvr>
    <a:masterClrMapping/>
  </p:clrMapOvr>
  <p:transition>
    <p:zoom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23917" y="609619"/>
            <a:ext cx="2599267" cy="54514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609619"/>
            <a:ext cx="7596717" cy="54514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4CC114-6554-4DBE-8490-072661F86F3A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389547"/>
      </p:ext>
    </p:extLst>
  </p:cSld>
  <p:clrMapOvr>
    <a:masterClrMapping/>
  </p:clrMapOvr>
  <p:transition>
    <p:zoom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7889-7F4F-4468-9749-CDB7CA8FB84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32930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B601-5397-4551-A762-7F5F3BCCC0F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9540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84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57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D89D-949D-4764-9E92-6A4C0240D47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43541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BE235-6CB3-465C-B79D-2ED7CC3238A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33024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9E6E-E8E9-4E10-B381-7A672952EE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4622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7422-9D7F-4A51-B3C7-4F59D04F0F4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26990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337CD-AE36-4315-98EF-9C53C5C4206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58633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533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B90F-2915-430D-A93A-745C87197AE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26400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53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7C2-A9DF-4F31-AD39-FEB95D02439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82026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4AEEF-2762-45C6-B123-D04A8CE9603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9350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4548-D02D-4C05-86FF-41D48D9AAF9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2303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" y="3"/>
            <a:ext cx="12187767" cy="6850063"/>
            <a:chOff x="0" y="0"/>
            <a:chExt cx="5758" cy="4315"/>
          </a:xfrm>
        </p:grpSpPr>
        <p:grpSp>
          <p:nvGrpSpPr>
            <p:cNvPr id="5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8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00"/>
                  </a:buClr>
                  <a:buSzPct val="70000"/>
                  <a:buFont typeface="Wingdings" pitchFamily="2" charset="2"/>
                  <a:buNone/>
                  <a:defRPr/>
                </a:pPr>
                <a:endParaRPr lang="en-US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9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00"/>
                  </a:buClr>
                  <a:buSzPct val="70000"/>
                  <a:buFont typeface="Wingdings" pitchFamily="2" charset="2"/>
                  <a:buNone/>
                  <a:defRPr/>
                </a:pPr>
                <a:endParaRPr lang="en-US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0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00"/>
                  </a:buClr>
                  <a:buSzPct val="70000"/>
                  <a:buFont typeface="Wingdings" pitchFamily="2" charset="2"/>
                  <a:buNone/>
                  <a:defRPr/>
                </a:pPr>
                <a:endParaRPr lang="en-US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1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00"/>
                  </a:buClr>
                  <a:buSzPct val="70000"/>
                  <a:buFont typeface="Wingdings" pitchFamily="2" charset="2"/>
                  <a:buNone/>
                </a:pPr>
                <a:endParaRPr lang="en-US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2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00"/>
                  </a:buClr>
                  <a:buSzPct val="70000"/>
                  <a:buFont typeface="Wingdings" pitchFamily="2" charset="2"/>
                  <a:buNone/>
                  <a:defRPr/>
                </a:pPr>
                <a:endParaRPr lang="en-US" b="1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6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00"/>
                </a:buClr>
                <a:buSzPct val="70000"/>
                <a:buFont typeface="Wingdings" pitchFamily="2" charset="2"/>
                <a:buNone/>
                <a:defRPr/>
              </a:pPr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7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326 h 1906"/>
                <a:gd name="T4" fmla="*/ 6206 w 5740"/>
                <a:gd name="T5" fmla="*/ 326 h 1906"/>
                <a:gd name="T6" fmla="*/ 6206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00"/>
                </a:buClr>
                <a:buSzPct val="70000"/>
                <a:buFont typeface="Wingdings" pitchFamily="2" charset="2"/>
                <a:buNone/>
              </a:pPr>
              <a:endParaRPr lang="en-US" b="1">
                <a:solidFill>
                  <a:srgbClr val="FFFFFF"/>
                </a:solidFill>
              </a:endParaRPr>
            </a:p>
          </p:txBody>
        </p:sp>
      </p:grpSp>
      <p:sp>
        <p:nvSpPr>
          <p:cNvPr id="146443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36728"/>
            <a:ext cx="103632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46444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quarter" idx="10"/>
          </p:nvPr>
        </p:nvSpPr>
        <p:spPr>
          <a:xfrm>
            <a:off x="609600" y="624840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5157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5475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41B4E4-832F-43D5-88F6-7E2716730956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592989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845A5-624E-48EC-B301-143FE3A51539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2402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58C26F-AB59-4856-9E5C-347F8FD47149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32244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04967-BF4B-482D-B004-B39D3FDDB829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40631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82364-6547-4FCE-81D4-011B8AC2234B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51474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C62E7-C8F5-4301-9FB3-5651C3B892DE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79042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34E638-29F4-45D9-AD0C-555B5CB8C081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8668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5FBEE5-8B47-4A99-AE3C-F63AE204CC50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73031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7EAA9-D57B-4DA7-8277-75F949DDAB56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82729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AE5276-4DA1-4274-992A-4351B190FE2F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78469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E52B5A-D090-4D22-86F3-5E25DBFBA494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35887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" y="1"/>
            <a:ext cx="12187767" cy="6850063"/>
            <a:chOff x="0" y="0"/>
            <a:chExt cx="5758" cy="4315"/>
          </a:xfrm>
        </p:grpSpPr>
        <p:grpSp>
          <p:nvGrpSpPr>
            <p:cNvPr id="5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8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9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0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1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b="1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2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6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b="1">
                <a:solidFill>
                  <a:srgbClr val="FFFFFF"/>
                </a:solidFill>
                <a:latin typeface="Times New Roman" pitchFamily="18" charset="0"/>
              </a:endParaRPr>
            </a:p>
          </p:txBody>
        </p:sp>
        <p:sp>
          <p:nvSpPr>
            <p:cNvPr id="7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709 h 1906"/>
                <a:gd name="T4" fmla="*/ 5997 w 5740"/>
                <a:gd name="T5" fmla="*/ 709 h 1906"/>
                <a:gd name="T6" fmla="*/ 5997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FFFFFF"/>
                </a:solidFill>
                <a:latin typeface="Times New Roman" pitchFamily="18" charset="0"/>
              </a:endParaRPr>
            </a:p>
          </p:txBody>
        </p:sp>
      </p:grpSp>
      <p:sp>
        <p:nvSpPr>
          <p:cNvPr id="68619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36726"/>
            <a:ext cx="103632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8620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quarter" idx="10"/>
            <p:custDataLst>
              <p:tags r:id="rId2"/>
            </p:custDataLst>
          </p:nvPr>
        </p:nvSpPr>
        <p:spPr>
          <a:xfrm>
            <a:off x="609600" y="624840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65600" y="625157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737600" y="625475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17C549-C346-4104-9E31-099CDEB440DE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878011"/>
      </p:ext>
    </p:extLst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8DE31-784D-4B15-8846-BD036714EB87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494856"/>
      </p:ext>
    </p:extLst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A85266-BD07-45DD-B794-C1EC5FD27B16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775161"/>
      </p:ext>
    </p:extLst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57E54-A8F2-416B-B2EB-A0970FA18766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86101"/>
      </p:ext>
    </p:extLst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EE82D-52BE-4154-98BF-708C958F4658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14"/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807504"/>
      </p:ext>
    </p:extLst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8C87E7-9312-4F50-BB2E-B50E5EF5FBBB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38301"/>
      </p:ext>
    </p:extLst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A5AF14-7B9B-4361-B8EE-56D0DE7BB9B6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089770"/>
      </p:ext>
    </p:extLst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71FF3-5D8E-4DBE-8DEB-8F7C26B8CBDE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810777"/>
      </p:ext>
    </p:extLst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DDAE13-DCFB-4F25-B85E-C30A8399E2CA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997367"/>
      </p:ext>
    </p:extLst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2C91B8-1779-499C-89E8-132CC9208336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344198"/>
      </p:ext>
    </p:extLst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2AB72-6FB7-4449-B7B4-C6FD488DD919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449361"/>
      </p:ext>
    </p:extLst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A8E950-1896-5DB1-5627-EB6A92AE293E}"/>
              </a:ext>
            </a:extLst>
          </p:cNvPr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" y="1"/>
            <a:ext cx="12187767" cy="6850063"/>
            <a:chOff x="0" y="0"/>
            <a:chExt cx="5758" cy="4315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C5D360C-873C-3B4C-6A59-4D84394F4A7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6" name="Freeform 4">
                <a:extLst>
                  <a:ext uri="{FF2B5EF4-FFF2-40B4-BE49-F238E27FC236}">
                    <a16:creationId xmlns:a16="http://schemas.microsoft.com/office/drawing/2014/main" id="{F733DDF5-3CB2-A780-824E-8BFD2EC5289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  <p:sp>
            <p:nvSpPr>
              <p:cNvPr id="7" name="Freeform 5">
                <a:extLst>
                  <a:ext uri="{FF2B5EF4-FFF2-40B4-BE49-F238E27FC236}">
                    <a16:creationId xmlns:a16="http://schemas.microsoft.com/office/drawing/2014/main" id="{411E0A7B-FE53-877A-64EE-000CD3EDC53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  <p:sp>
            <p:nvSpPr>
              <p:cNvPr id="8" name="Freeform 6">
                <a:extLst>
                  <a:ext uri="{FF2B5EF4-FFF2-40B4-BE49-F238E27FC236}">
                    <a16:creationId xmlns:a16="http://schemas.microsoft.com/office/drawing/2014/main" id="{7E84EC6B-4ED2-147A-AD08-E074E624697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  <p:sp>
            <p:nvSpPr>
              <p:cNvPr id="9" name="Freeform 7">
                <a:extLst>
                  <a:ext uri="{FF2B5EF4-FFF2-40B4-BE49-F238E27FC236}">
                    <a16:creationId xmlns:a16="http://schemas.microsoft.com/office/drawing/2014/main" id="{6BBDF55D-6E6B-8688-5D8B-E44A241FEC3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800"/>
              </a:p>
            </p:txBody>
          </p:sp>
          <p:sp>
            <p:nvSpPr>
              <p:cNvPr id="10" name="Freeform 8">
                <a:extLst>
                  <a:ext uri="{FF2B5EF4-FFF2-40B4-BE49-F238E27FC236}">
                    <a16:creationId xmlns:a16="http://schemas.microsoft.com/office/drawing/2014/main" id="{DAFA2267-34F5-DC2D-87E3-BD96BCD5778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</p:grpSp>
        <p:sp>
          <p:nvSpPr>
            <p:cNvPr id="4" name="Freeform 9">
              <a:extLst>
                <a:ext uri="{FF2B5EF4-FFF2-40B4-BE49-F238E27FC236}">
                  <a16:creationId xmlns:a16="http://schemas.microsoft.com/office/drawing/2014/main" id="{838FBF79-67F7-B83A-59C2-FA1F763875F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lang="en-US" sz="1800"/>
            </a:p>
          </p:txBody>
        </p:sp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772D0471-AB8E-C8AA-BAFA-8DFB41F8FF4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29 h 1906"/>
                <a:gd name="T4" fmla="*/ 6465 w 5740"/>
                <a:gd name="T5" fmla="*/ 129 h 1906"/>
                <a:gd name="T6" fmla="*/ 6465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17921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36726"/>
            <a:ext cx="103632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9212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F996742F-D12A-B3B6-44E4-532BF75BFA7E}"/>
              </a:ext>
            </a:extLst>
          </p:cNvPr>
          <p:cNvSpPr>
            <a:spLocks noGrp="1" noChangeArrowheads="1"/>
          </p:cNvSpPr>
          <p:nvPr>
            <p:ph type="dt" sz="quarter" idx="10"/>
            <p:custDataLst>
              <p:tags r:id="rId2"/>
            </p:custDataLst>
          </p:nvPr>
        </p:nvSpPr>
        <p:spPr>
          <a:xfrm>
            <a:off x="609600" y="624840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4EE1FEBD-84CF-0DF8-4E53-8F2F3543A6F8}"/>
              </a:ext>
            </a:extLst>
          </p:cNvPr>
          <p:cNvSpPr>
            <a:spLocks noGrp="1" noChangeArrowheads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65600" y="625157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A1CB5A17-B9D7-5592-CAA7-BA1CA61C4533}"/>
              </a:ext>
            </a:extLst>
          </p:cNvPr>
          <p:cNvSpPr>
            <a:spLocks noGrp="1" noChangeArrowheads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737600" y="625475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86515-126F-4B96-99D1-FD5B3F9C62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010989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6261196-D389-5242-29B5-1709BCE56557}"/>
              </a:ext>
            </a:extLst>
          </p:cNvPr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5FAD4E3-68A4-32C2-D9C7-953DDB32DE60}"/>
              </a:ext>
            </a:extLst>
          </p:cNvPr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01E22-88CA-409C-932B-8BC2FA4DF0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71BFFBCD-4680-2A42-03FE-ECA27A8EE92D}"/>
              </a:ext>
            </a:extLst>
          </p:cNvPr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716520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E91ABAE-3434-1210-C278-58B34EF1943A}"/>
              </a:ext>
            </a:extLst>
          </p:cNvPr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2F17503-BC71-4362-82F3-C7E91226F172}"/>
              </a:ext>
            </a:extLst>
          </p:cNvPr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F51CE2-9398-464B-8D27-6583F2DE88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BCB4584C-3944-13F0-B32B-E4AAC401A194}"/>
              </a:ext>
            </a:extLst>
          </p:cNvPr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994617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41287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19800" y="141287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44706F5-056F-A244-1DFB-E3F29DFB10C0}"/>
              </a:ext>
            </a:extLst>
          </p:cNvPr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3EF53B1-F2C7-069C-9858-DE40647A0B18}"/>
              </a:ext>
            </a:extLst>
          </p:cNvPr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C8557B-E775-463E-86CD-A83FD4B4B7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FAB62DE9-683B-B46F-BC46-25108484FE54}"/>
              </a:ext>
            </a:extLst>
          </p:cNvPr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187569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6CD56A0-CE7A-E0B3-ADE3-46C603497621}"/>
              </a:ext>
            </a:extLst>
          </p:cNvPr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79C819A-E1ED-4F7E-39C7-DA0EA5C0D3BA}"/>
              </a:ext>
            </a:extLst>
          </p:cNvPr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209EE-8BD9-4B55-B0D6-967BB4F864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83E1CAE8-D8E2-1184-0688-BD9BFDA30199}"/>
              </a:ext>
            </a:extLst>
          </p:cNvPr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479046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E26F5B-9973-A652-9710-717E43259913}"/>
              </a:ext>
            </a:extLst>
          </p:cNvPr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7C2301-703F-8FA1-C0AD-8406502DC681}"/>
              </a:ext>
            </a:extLst>
          </p:cNvPr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DFC33-EAEC-4AA8-B4CD-D1E63412A1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C1A3A975-0F2E-3BC1-2CD3-CD95316AF0E8}"/>
              </a:ext>
            </a:extLst>
          </p:cNvPr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017350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80A40C3-30B1-160D-5E81-A1BC7D578D93}"/>
              </a:ext>
            </a:extLst>
          </p:cNvPr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6586C9E-FB8A-198B-D304-E580AB735503}"/>
              </a:ext>
            </a:extLst>
          </p:cNvPr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499DBF-369C-4B16-B03F-47D6B0B882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E1D4C6C4-A583-6D12-18D8-E3367F298DEB}"/>
              </a:ext>
            </a:extLst>
          </p:cNvPr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691975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EA7FFB3-145B-4BD2-4F4C-882D54B92E14}"/>
              </a:ext>
            </a:extLst>
          </p:cNvPr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D9E0839-1194-9C17-2883-D66F24A24E65}"/>
              </a:ext>
            </a:extLst>
          </p:cNvPr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D2A8D3-67C4-451B-B1AD-E54094C54F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E6F8EE04-220E-E9A9-4D90-F6DEDA808B85}"/>
              </a:ext>
            </a:extLst>
          </p:cNvPr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168122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A8DF532-38C4-2028-E486-092F89EFA50B}"/>
              </a:ext>
            </a:extLst>
          </p:cNvPr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36CD72A-EA51-5ABD-6FBB-7C47A735D161}"/>
              </a:ext>
            </a:extLst>
          </p:cNvPr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58885B-E409-49EC-B397-B4958316E3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19A938F1-0D5B-DFFA-80A4-19A10D494099}"/>
              </a:ext>
            </a:extLst>
          </p:cNvPr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012902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51F09A6-D1B6-1E47-1286-B93C3E3FB014}"/>
              </a:ext>
            </a:extLst>
          </p:cNvPr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5B55C11-3109-6528-68A0-917EBCCAA2E2}"/>
              </a:ext>
            </a:extLst>
          </p:cNvPr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F479E-7C8D-4D3B-BEA9-EC0B0D6715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D1B13BF-1132-B355-B2AB-BF3A1FC27783}"/>
              </a:ext>
            </a:extLst>
          </p:cNvPr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004531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07451" y="260350"/>
            <a:ext cx="2789767" cy="56784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31800" y="260350"/>
            <a:ext cx="8172451" cy="56784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AC4375E-A597-57B5-3DAB-102A9213820F}"/>
              </a:ext>
            </a:extLst>
          </p:cNvPr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01B8EF2-2FE0-A11B-B1B7-03E9F418591D}"/>
              </a:ext>
            </a:extLst>
          </p:cNvPr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9EFB18-FC38-4B60-BEF0-6C0B192AB4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3D488BDA-AFB1-DFDE-8FAA-D473249CA96F}"/>
              </a:ext>
            </a:extLst>
          </p:cNvPr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429570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4417" y="260350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31800" y="1412876"/>
            <a:ext cx="10972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BEF455-EF25-6A04-4123-4A1DE53B0566}"/>
              </a:ext>
            </a:extLst>
          </p:cNvPr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79E780D-EADE-8C42-F707-7B404BDF8A93}"/>
              </a:ext>
            </a:extLst>
          </p:cNvPr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DC8FC-A1E2-460E-878F-4C8F1D68BB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F2167E4D-A637-FB95-E2B1-B56B53DD8A87}"/>
              </a:ext>
            </a:extLst>
          </p:cNvPr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099613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31801" y="260350"/>
            <a:ext cx="11165417" cy="56784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AB0AB9-079C-338A-DD3D-C090CC6BC37C}"/>
              </a:ext>
            </a:extLst>
          </p:cNvPr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BC6016-71E4-DBC1-7852-21BF55B3FC30}"/>
              </a:ext>
            </a:extLst>
          </p:cNvPr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37D26-4C6C-4476-934F-36163A2EF3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F89DFC11-D622-A205-D9BD-DFD968E077D3}"/>
              </a:ext>
            </a:extLst>
          </p:cNvPr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129185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4417" y="260350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412876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19800" y="1412876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91DFF7-5E15-84FF-65AE-C56D657FB8F5}"/>
              </a:ext>
            </a:extLst>
          </p:cNvPr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D0A2787-318B-5ABD-F35F-905EFD913A94}"/>
              </a:ext>
            </a:extLst>
          </p:cNvPr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F01A0-7629-4904-9312-2A8AD01E93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45F5E735-5E40-AB6F-1E6F-402FCC7276C4}"/>
              </a:ext>
            </a:extLst>
          </p:cNvPr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786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ags" Target="../tags/tag28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ags" Target="../tags/tag27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ags" Target="../tags/tag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theme" Target="../theme/theme8.xml"/><Relationship Id="rId17" Type="http://schemas.openxmlformats.org/officeDocument/2006/relationships/tags" Target="../tags/tag50.xml"/><Relationship Id="rId2" Type="http://schemas.openxmlformats.org/officeDocument/2006/relationships/slideLayout" Target="../slideLayouts/slideLayout78.xml"/><Relationship Id="rId16" Type="http://schemas.openxmlformats.org/officeDocument/2006/relationships/tags" Target="../tags/tag49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5" Type="http://schemas.openxmlformats.org/officeDocument/2006/relationships/tags" Target="../tags/tag48.xml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tags" Target="../tags/tag47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100.xml"/><Relationship Id="rId18" Type="http://schemas.openxmlformats.org/officeDocument/2006/relationships/tags" Target="../tags/tag88.xml"/><Relationship Id="rId3" Type="http://schemas.openxmlformats.org/officeDocument/2006/relationships/slideLayout" Target="../slideLayouts/slideLayout90.xml"/><Relationship Id="rId21" Type="http://schemas.openxmlformats.org/officeDocument/2006/relationships/tags" Target="../tags/tag91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17" Type="http://schemas.openxmlformats.org/officeDocument/2006/relationships/tags" Target="../tags/tag87.xml"/><Relationship Id="rId2" Type="http://schemas.openxmlformats.org/officeDocument/2006/relationships/slideLayout" Target="../slideLayouts/slideLayout89.xml"/><Relationship Id="rId16" Type="http://schemas.openxmlformats.org/officeDocument/2006/relationships/tags" Target="../tags/tag86.xml"/><Relationship Id="rId20" Type="http://schemas.openxmlformats.org/officeDocument/2006/relationships/tags" Target="../tags/tag90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theme" Target="../theme/theme9.xml"/><Relationship Id="rId10" Type="http://schemas.openxmlformats.org/officeDocument/2006/relationships/slideLayout" Target="../slideLayouts/slideLayout97.xml"/><Relationship Id="rId19" Type="http://schemas.openxmlformats.org/officeDocument/2006/relationships/tags" Target="../tags/tag89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10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69937" y="443248"/>
            <a:ext cx="10852151" cy="53403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69937" y="1130300"/>
            <a:ext cx="10852151" cy="5219700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3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tabLst>
          <a:tab pos="1609725" algn="l"/>
        </a:tabLst>
        <a:defRPr sz="3200" b="1" u="none" strike="noStrike" kern="1200" cap="none" spc="150" normalizeH="0" baseline="0">
          <a:solidFill>
            <a:schemeClr val="tx1"/>
          </a:solidFill>
          <a:uFillTx/>
          <a:latin typeface="楷体" panose="02010609060101010101" charset="-122"/>
          <a:ea typeface="楷体" panose="0201060906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74F86-9ECE-487E-870F-62CFE95345C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6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42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765" r:id="rId12"/>
    <p:sldLayoutId id="214748376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937" y="443248"/>
            <a:ext cx="10852151" cy="53403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937" y="1130300"/>
            <a:ext cx="10852151" cy="5219700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3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2025/9/19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462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16" r:id="rId1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tabLst>
          <a:tab pos="1609725" algn="l"/>
        </a:tabLst>
        <a:defRPr sz="3200" b="1" u="none" strike="noStrike" kern="1200" cap="none" spc="150" normalizeH="0" baseline="0">
          <a:solidFill>
            <a:schemeClr val="tx1"/>
          </a:solidFill>
          <a:uFillTx/>
          <a:latin typeface="楷体" panose="02010609060101010101" charset="-122"/>
          <a:ea typeface="楷体" panose="0201060906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19"/>
            <a:ext cx="1447800" cy="6854825"/>
            <a:chOff x="0" y="0"/>
            <a:chExt cx="684" cy="4318"/>
          </a:xfrm>
        </p:grpSpPr>
        <p:sp>
          <p:nvSpPr>
            <p:cNvPr id="16387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2400">
                <a:solidFill>
                  <a:srgbClr val="3333FF"/>
                </a:solidFill>
              </a:endParaRPr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1034" name="Rectangle 5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35" name="Rectangle 6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36" name="Rectangle 7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37" name="Rectangle 8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38" name="Rectangle 9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39" name="Rectangle 10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40" name="Rectangle 11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41" name="Rectangle 12"/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42" name="Rectangle 13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43" name="Rectangle 14"/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44" name="Rectangle 15"/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45" name="Rectangle 16"/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46" name="Rectangle 17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47" name="Rectangle 18"/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48" name="Rectangle 19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49" name="Rectangle 20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50" name="Rectangle 21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51" name="Rectangle 22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52" name="Rectangle 23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53" name="Rectangle 24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54" name="Rectangle 25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55" name="Rectangle 26"/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56" name="Rectangle 27"/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57" name="Rectangle 28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58" name="Rectangle 29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59" name="Rectangle 30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60" name="Rectangle 31"/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61" name="Rectangle 32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1062" name="Rectangle 33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>
                  <a:solidFill>
                    <a:srgbClr val="3333FF"/>
                  </a:solidFill>
                </a:endParaRPr>
              </a:p>
            </p:txBody>
          </p:sp>
        </p:grpSp>
      </p:grpSp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6419" name="Rectangle 3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kumimoji="0" sz="14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6420" name="Rectangle 3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7752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6421" name="Rectangle 3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9E01CE3-EF04-48F0-8F98-5FC9BC82B917}" type="slidenum">
              <a:rPr lang="en-US" altLang="zh-CN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31" name="Rectangle 3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59984" y="1946275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13566609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ransition>
    <p:zoom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60000"/>
        <a:buFont typeface="Wingdings" pitchFamily="2" charset="2"/>
        <a:buChar char="u"/>
        <a:defRPr kumimoji="1" sz="32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0000"/>
        <a:buFont typeface="Wingdings" pitchFamily="2" charset="2"/>
        <a:buChar char="t"/>
        <a:defRPr kumimoji="1" sz="32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SzPct val="100000"/>
        <a:buChar char="•"/>
        <a:defRPr kumimoji="1" sz="32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32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32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32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32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32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4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74F86-9ECE-487E-870F-62CFE95345C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45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4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970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5157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Arial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Arial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4C91E3FB-5414-47FE-A27B-A2312DD76515}" type="slidenum">
              <a:rPr lang="en-US" altLang="zh-CN">
                <a:solidFill>
                  <a:srgbClr val="FFFFFF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2" y="3"/>
            <a:ext cx="12187767" cy="6850063"/>
            <a:chOff x="0" y="0"/>
            <a:chExt cx="5758" cy="4315"/>
          </a:xfrm>
        </p:grpSpPr>
        <p:grpSp>
          <p:nvGrpSpPr>
            <p:cNvPr id="1032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45414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00"/>
                  </a:buClr>
                  <a:buSzPct val="70000"/>
                  <a:buFont typeface="Wingdings" pitchFamily="2" charset="2"/>
                  <a:buNone/>
                  <a:defRPr/>
                </a:pPr>
                <a:endParaRPr lang="en-US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45415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00"/>
                  </a:buClr>
                  <a:buSzPct val="70000"/>
                  <a:buFont typeface="Wingdings" pitchFamily="2" charset="2"/>
                  <a:buNone/>
                  <a:defRPr/>
                </a:pPr>
                <a:endParaRPr lang="en-US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45416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00"/>
                  </a:buClr>
                  <a:buSzPct val="70000"/>
                  <a:buFont typeface="Wingdings" pitchFamily="2" charset="2"/>
                  <a:buNone/>
                  <a:defRPr/>
                </a:pPr>
                <a:endParaRPr lang="en-US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038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00"/>
                  </a:buClr>
                  <a:buSzPct val="70000"/>
                  <a:buFont typeface="Wingdings" pitchFamily="2" charset="2"/>
                  <a:buNone/>
                </a:pPr>
                <a:endParaRPr lang="en-US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45418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00"/>
                  </a:buClr>
                  <a:buSzPct val="70000"/>
                  <a:buFont typeface="Wingdings" pitchFamily="2" charset="2"/>
                  <a:buNone/>
                  <a:defRPr/>
                </a:pPr>
                <a:endParaRPr lang="en-US" b="1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45419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00"/>
                </a:buClr>
                <a:buSzPct val="70000"/>
                <a:buFont typeface="Wingdings" pitchFamily="2" charset="2"/>
                <a:buNone/>
                <a:defRPr/>
              </a:pPr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1034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326 h 1906"/>
                <a:gd name="T4" fmla="*/ 6206 w 5740"/>
                <a:gd name="T5" fmla="*/ 326 h 1906"/>
                <a:gd name="T6" fmla="*/ 6206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00"/>
                </a:buClr>
                <a:buSzPct val="70000"/>
                <a:buFont typeface="Wingdings" pitchFamily="2" charset="2"/>
                <a:buNone/>
              </a:pPr>
              <a:endParaRPr lang="en-US" b="1">
                <a:solidFill>
                  <a:srgbClr val="FFFFFF"/>
                </a:solidFill>
              </a:endParaRPr>
            </a:p>
          </p:txBody>
        </p:sp>
      </p:grpSp>
      <p:sp>
        <p:nvSpPr>
          <p:cNvPr id="102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45422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Arial" charset="0"/>
              </a:defRPr>
            </a:lvl1pPr>
          </a:lstStyle>
          <a:p>
            <a:pPr algn="ctr" fontAlgn="base"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3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77011537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Garamond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Garamond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Garamond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Garamond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Garamond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Garamond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Garamond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n"/>
        <a:defRPr sz="32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" pitchFamily="2" charset="2"/>
        <a:buChar char="n"/>
        <a:defRPr sz="2800" b="1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n"/>
        <a:defRPr sz="2400" b="1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3399"/>
        </a:buClr>
        <a:buSzPct val="70000"/>
        <a:buFont typeface="Wingdings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dt" sz="half" idx="2"/>
            <p:custDataLst>
              <p:tags r:id="rId13"/>
            </p:custDataLst>
          </p:nvPr>
        </p:nvSpPr>
        <p:spPr bwMode="auto">
          <a:xfrm>
            <a:off x="609600" y="625157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sldNum" sz="quarter" idx="4"/>
            <p:custDataLst>
              <p:tags r:id="rId14"/>
            </p:custDataLst>
          </p:nvPr>
        </p:nvSpPr>
        <p:spPr bwMode="auto">
          <a:xfrm>
            <a:off x="8737600" y="6248400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F1375D1-1EFA-428C-821F-D8662FED8CE0}" type="slidenum">
              <a:rPr lang="en-US" altLang="zh-CN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1028" name="Group 4"/>
          <p:cNvGrpSpPr>
            <a:grpSpLocks/>
          </p:cNvGrpSpPr>
          <p:nvPr>
            <p:custDataLst>
              <p:tags r:id="rId15"/>
            </p:custDataLst>
          </p:nvPr>
        </p:nvGrpSpPr>
        <p:grpSpPr bwMode="auto">
          <a:xfrm>
            <a:off x="1" y="1"/>
            <a:ext cx="12187767" cy="6850063"/>
            <a:chOff x="0" y="0"/>
            <a:chExt cx="5758" cy="4315"/>
          </a:xfrm>
        </p:grpSpPr>
        <p:grpSp>
          <p:nvGrpSpPr>
            <p:cNvPr id="1032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67590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67591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67592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038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b="1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67594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67595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b="1">
                <a:solidFill>
                  <a:srgbClr val="FFFFFF"/>
                </a:solidFill>
                <a:latin typeface="Times New Roman" pitchFamily="18" charset="0"/>
              </a:endParaRPr>
            </a:p>
          </p:txBody>
        </p:sp>
        <p:sp>
          <p:nvSpPr>
            <p:cNvPr id="1034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709 h 1906"/>
                <a:gd name="T4" fmla="*/ 5997 w 5740"/>
                <a:gd name="T5" fmla="*/ 709 h 1906"/>
                <a:gd name="T6" fmla="*/ 5997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FFFFFF"/>
                </a:solidFill>
                <a:latin typeface="Times New Roman" pitchFamily="18" charset="0"/>
              </a:endParaRPr>
            </a:p>
          </p:txBody>
        </p:sp>
      </p:grpSp>
      <p:sp>
        <p:nvSpPr>
          <p:cNvPr id="1029" name="Rectangle 13"/>
          <p:cNvSpPr>
            <a:spLocks noGrp="1" noRot="1" noChangeArrowheads="1"/>
          </p:cNvSpPr>
          <p:nvPr>
            <p:ph type="title"/>
            <p:custDataLst>
              <p:tags r:id="rId16"/>
            </p:custDataLst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7598" name="Rectangle 14"/>
          <p:cNvSpPr>
            <a:spLocks noGrp="1" noChangeArrowheads="1"/>
          </p:cNvSpPr>
          <p:nvPr>
            <p:ph type="ftr" sz="quarter" idx="3"/>
            <p:custDataLst>
              <p:tags r:id="rId17"/>
            </p:custDataLst>
          </p:nvPr>
        </p:nvSpPr>
        <p:spPr bwMode="auto">
          <a:xfrm>
            <a:off x="4165600" y="6248400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31" name="Rectangle 15"/>
          <p:cNvSpPr>
            <a:spLocks noGrp="1" noChangeArrowheads="1"/>
          </p:cNvSpPr>
          <p:nvPr>
            <p:ph type="body" idx="1"/>
            <p:custDataLst>
              <p:tags r:id="rId18"/>
            </p:custDataLst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5337350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n"/>
        <a:defRPr sz="32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333FF"/>
        </a:buClr>
        <a:buSzPct val="70000"/>
        <a:buFont typeface="Wingdings" pitchFamily="2" charset="2"/>
        <a:buChar char="n"/>
        <a:defRPr sz="2800" b="1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n"/>
        <a:defRPr sz="2400" b="1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SzPct val="70000"/>
        <a:buFont typeface="Wingdings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3333FF"/>
        </a:buClr>
        <a:buSzPct val="70000"/>
        <a:buFont typeface="Wingdings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3333FF"/>
        </a:buClr>
        <a:buSzPct val="70000"/>
        <a:buFont typeface="Wingdings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3333FF"/>
        </a:buClr>
        <a:buSzPct val="70000"/>
        <a:buFont typeface="Wingdings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3333FF"/>
        </a:buClr>
        <a:buSzPct val="70000"/>
        <a:buFont typeface="Wingdings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3333FF"/>
        </a:buClr>
        <a:buSzPct val="70000"/>
        <a:buFont typeface="Wingdings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F26AE846-C2D9-2E62-5741-526D92497CFE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16"/>
            </p:custDataLst>
          </p:nvPr>
        </p:nvSpPr>
        <p:spPr bwMode="auto">
          <a:xfrm>
            <a:off x="609600" y="625157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8179" name="Rectangle 3">
            <a:extLst>
              <a:ext uri="{FF2B5EF4-FFF2-40B4-BE49-F238E27FC236}">
                <a16:creationId xmlns:a16="http://schemas.microsoft.com/office/drawing/2014/main" id="{7C75C1DE-FB65-78CE-9C87-205A636599CA}"/>
              </a:ext>
            </a:extLst>
          </p:cNvPr>
          <p:cNvSpPr>
            <a:spLocks noGrp="1" noChangeArrowheads="1"/>
          </p:cNvSpPr>
          <p:nvPr>
            <p:ph type="sldNum" sz="quarter" idx="4"/>
            <p:custDataLst>
              <p:tags r:id="rId17"/>
            </p:custDataLst>
          </p:nvPr>
        </p:nvSpPr>
        <p:spPr bwMode="auto">
          <a:xfrm>
            <a:off x="8737600" y="6248400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AD3B325-7802-498E-87DF-21FD699E49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10722557-BEFB-674A-36CE-9454F4A0F937}"/>
              </a:ext>
            </a:extLst>
          </p:cNvPr>
          <p:cNvGrpSpPr>
            <a:grpSpLocks/>
          </p:cNvGrpSpPr>
          <p:nvPr>
            <p:custDataLst>
              <p:tags r:id="rId18"/>
            </p:custDataLst>
          </p:nvPr>
        </p:nvGrpSpPr>
        <p:grpSpPr bwMode="auto">
          <a:xfrm>
            <a:off x="1" y="1"/>
            <a:ext cx="12187767" cy="6850063"/>
            <a:chOff x="0" y="0"/>
            <a:chExt cx="5758" cy="4315"/>
          </a:xfrm>
        </p:grpSpPr>
        <p:grpSp>
          <p:nvGrpSpPr>
            <p:cNvPr id="1032" name="Group 5">
              <a:extLst>
                <a:ext uri="{FF2B5EF4-FFF2-40B4-BE49-F238E27FC236}">
                  <a16:creationId xmlns:a16="http://schemas.microsoft.com/office/drawing/2014/main" id="{ED7B39EC-1E8D-AF5C-2F01-B537AF47923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78182" name="Freeform 6">
                <a:extLst>
                  <a:ext uri="{FF2B5EF4-FFF2-40B4-BE49-F238E27FC236}">
                    <a16:creationId xmlns:a16="http://schemas.microsoft.com/office/drawing/2014/main" id="{61E9FDE4-A5AF-EB88-4213-7F7035335A2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  <p:sp>
            <p:nvSpPr>
              <p:cNvPr id="178183" name="Freeform 7">
                <a:extLst>
                  <a:ext uri="{FF2B5EF4-FFF2-40B4-BE49-F238E27FC236}">
                    <a16:creationId xmlns:a16="http://schemas.microsoft.com/office/drawing/2014/main" id="{B7F8FCED-D093-FC91-4B84-57E37B5688B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  <p:sp>
            <p:nvSpPr>
              <p:cNvPr id="178184" name="Freeform 8">
                <a:extLst>
                  <a:ext uri="{FF2B5EF4-FFF2-40B4-BE49-F238E27FC236}">
                    <a16:creationId xmlns:a16="http://schemas.microsoft.com/office/drawing/2014/main" id="{22FBD012-5C6C-0004-A20C-E90EE8A6F72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  <p:sp>
            <p:nvSpPr>
              <p:cNvPr id="1038" name="Freeform 9">
                <a:extLst>
                  <a:ext uri="{FF2B5EF4-FFF2-40B4-BE49-F238E27FC236}">
                    <a16:creationId xmlns:a16="http://schemas.microsoft.com/office/drawing/2014/main" id="{1A09F367-3ACA-2273-C35E-CF091B681E3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800"/>
              </a:p>
            </p:txBody>
          </p:sp>
          <p:sp>
            <p:nvSpPr>
              <p:cNvPr id="178186" name="Freeform 10">
                <a:extLst>
                  <a:ext uri="{FF2B5EF4-FFF2-40B4-BE49-F238E27FC236}">
                    <a16:creationId xmlns:a16="http://schemas.microsoft.com/office/drawing/2014/main" id="{8F4B3CBE-BD12-AFE3-72B1-848B2613B9C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</p:grpSp>
        <p:sp>
          <p:nvSpPr>
            <p:cNvPr id="178187" name="Freeform 11">
              <a:extLst>
                <a:ext uri="{FF2B5EF4-FFF2-40B4-BE49-F238E27FC236}">
                  <a16:creationId xmlns:a16="http://schemas.microsoft.com/office/drawing/2014/main" id="{7085C14E-71E9-FED7-4A4C-C5DA74B2779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lang="en-US" sz="1800"/>
            </a:p>
          </p:txBody>
        </p:sp>
        <p:sp>
          <p:nvSpPr>
            <p:cNvPr id="1034" name="Freeform 12">
              <a:extLst>
                <a:ext uri="{FF2B5EF4-FFF2-40B4-BE49-F238E27FC236}">
                  <a16:creationId xmlns:a16="http://schemas.microsoft.com/office/drawing/2014/main" id="{DE067E9B-3A1C-1906-208B-2DDA2330BD5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29 h 1906"/>
                <a:gd name="T4" fmla="*/ 6465 w 5740"/>
                <a:gd name="T5" fmla="*/ 129 h 1906"/>
                <a:gd name="T6" fmla="*/ 6465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1029" name="Rectangle 13">
            <a:extLst>
              <a:ext uri="{FF2B5EF4-FFF2-40B4-BE49-F238E27FC236}">
                <a16:creationId xmlns:a16="http://schemas.microsoft.com/office/drawing/2014/main" id="{61B97861-7022-7CE4-1BA7-A0D818FF2C9B}"/>
              </a:ext>
            </a:extLst>
          </p:cNvPr>
          <p:cNvSpPr>
            <a:spLocks noGrp="1" noRot="1" noChangeArrowheads="1"/>
          </p:cNvSpPr>
          <p:nvPr>
            <p:ph type="title"/>
            <p:custDataLst>
              <p:tags r:id="rId19"/>
            </p:custDataLst>
          </p:nvPr>
        </p:nvSpPr>
        <p:spPr bwMode="auto">
          <a:xfrm>
            <a:off x="624417" y="260350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8190" name="Rectangle 14">
            <a:extLst>
              <a:ext uri="{FF2B5EF4-FFF2-40B4-BE49-F238E27FC236}">
                <a16:creationId xmlns:a16="http://schemas.microsoft.com/office/drawing/2014/main" id="{4A963688-C825-74A1-382A-7541486BB274}"/>
              </a:ext>
            </a:extLst>
          </p:cNvPr>
          <p:cNvSpPr>
            <a:spLocks noGrp="1" noChangeArrowheads="1"/>
          </p:cNvSpPr>
          <p:nvPr>
            <p:ph type="ftr" sz="quarter" idx="3"/>
            <p:custDataLst>
              <p:tags r:id="rId20"/>
            </p:custDataLst>
          </p:nvPr>
        </p:nvSpPr>
        <p:spPr bwMode="auto">
          <a:xfrm>
            <a:off x="4165600" y="6248400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1" name="Rectangle 15">
            <a:extLst>
              <a:ext uri="{FF2B5EF4-FFF2-40B4-BE49-F238E27FC236}">
                <a16:creationId xmlns:a16="http://schemas.microsoft.com/office/drawing/2014/main" id="{227C5E1B-3BB9-D918-BA6F-9B7E1094AE13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21"/>
            </p:custDataLst>
          </p:nvPr>
        </p:nvSpPr>
        <p:spPr bwMode="auto">
          <a:xfrm>
            <a:off x="431800" y="1412876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9474577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sz="32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333FF"/>
        </a:buClr>
        <a:buSzPct val="70000"/>
        <a:buFont typeface="Wingdings" panose="05000000000000000000" pitchFamily="2" charset="2"/>
        <a:buChar char="n"/>
        <a:defRPr sz="2800" b="1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sz="2400" b="1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SzPct val="70000"/>
        <a:buFont typeface="Wingdings" panose="05000000000000000000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3333FF"/>
        </a:buClr>
        <a:buSzPct val="70000"/>
        <a:buFont typeface="Wingdings" panose="05000000000000000000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3333FF"/>
        </a:buClr>
        <a:buSzPct val="70000"/>
        <a:buFont typeface="Wingdings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3333FF"/>
        </a:buClr>
        <a:buSzPct val="70000"/>
        <a:buFont typeface="Wingdings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3333FF"/>
        </a:buClr>
        <a:buSzPct val="70000"/>
        <a:buFont typeface="Wingdings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3333FF"/>
        </a:buClr>
        <a:buSzPct val="70000"/>
        <a:buFont typeface="Wingdings" pitchFamily="2" charset="2"/>
        <a:buChar char="n"/>
        <a:defRPr sz="20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5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67.xml"/><Relationship Id="rId4" Type="http://schemas.openxmlformats.org/officeDocument/2006/relationships/tags" Target="../tags/tag13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7" Type="http://schemas.openxmlformats.org/officeDocument/2006/relationships/image" Target="../media/image14.pn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83.xml"/><Relationship Id="rId4" Type="http://schemas.openxmlformats.org/officeDocument/2006/relationships/tags" Target="../tags/tag14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8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4" Type="http://schemas.openxmlformats.org/officeDocument/2006/relationships/notesSlide" Target="../notesSlides/notesSlide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8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4" Type="http://schemas.openxmlformats.org/officeDocument/2006/relationships/notesSlide" Target="../notesSlides/notesSlide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8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4" Type="http://schemas.openxmlformats.org/officeDocument/2006/relationships/notesSlide" Target="../notesSlides/notesSlide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7" Type="http://schemas.openxmlformats.org/officeDocument/2006/relationships/notesSlide" Target="../notesSlides/notesSlide25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53.xml"/><Relationship Id="rId4" Type="http://schemas.openxmlformats.org/officeDocument/2006/relationships/tags" Target="../tags/tag15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4" Type="http://schemas.openxmlformats.org/officeDocument/2006/relationships/notesSlide" Target="../notesSlides/notesSlide2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4" Type="http://schemas.openxmlformats.org/officeDocument/2006/relationships/notesSlide" Target="../notesSlides/notesSlide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2.xml"/><Relationship Id="rId3" Type="http://schemas.openxmlformats.org/officeDocument/2006/relationships/tags" Target="../tags/tag172.xml"/><Relationship Id="rId7" Type="http://schemas.openxmlformats.org/officeDocument/2006/relationships/slideLayout" Target="../slideLayouts/slideLayout89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4" Type="http://schemas.openxmlformats.org/officeDocument/2006/relationships/notesSlide" Target="../notesSlides/notesSlide3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22.xml"/><Relationship Id="rId4" Type="http://schemas.openxmlformats.org/officeDocument/2006/relationships/tags" Target="../tags/tag18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3" Type="http://schemas.openxmlformats.org/officeDocument/2006/relationships/tags" Target="../tags/tag184.xml"/><Relationship Id="rId7" Type="http://schemas.openxmlformats.org/officeDocument/2006/relationships/slideLayout" Target="../slideLayouts/slideLayout11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9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9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99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207.xml"/><Relationship Id="rId13" Type="http://schemas.openxmlformats.org/officeDocument/2006/relationships/tags" Target="../tags/tag212.xml"/><Relationship Id="rId18" Type="http://schemas.openxmlformats.org/officeDocument/2006/relationships/notesSlide" Target="../notesSlides/notesSlide39.xml"/><Relationship Id="rId3" Type="http://schemas.openxmlformats.org/officeDocument/2006/relationships/tags" Target="../tags/tag202.xml"/><Relationship Id="rId7" Type="http://schemas.openxmlformats.org/officeDocument/2006/relationships/tags" Target="../tags/tag206.xml"/><Relationship Id="rId12" Type="http://schemas.openxmlformats.org/officeDocument/2006/relationships/tags" Target="../tags/tag211.xml"/><Relationship Id="rId17" Type="http://schemas.openxmlformats.org/officeDocument/2006/relationships/slideLayout" Target="../slideLayouts/slideLayout11.xml"/><Relationship Id="rId2" Type="http://schemas.openxmlformats.org/officeDocument/2006/relationships/tags" Target="../tags/tag201.xml"/><Relationship Id="rId16" Type="http://schemas.openxmlformats.org/officeDocument/2006/relationships/tags" Target="../tags/tag215.xml"/><Relationship Id="rId1" Type="http://schemas.openxmlformats.org/officeDocument/2006/relationships/tags" Target="../tags/tag200.xml"/><Relationship Id="rId6" Type="http://schemas.openxmlformats.org/officeDocument/2006/relationships/tags" Target="../tags/tag205.xml"/><Relationship Id="rId11" Type="http://schemas.openxmlformats.org/officeDocument/2006/relationships/tags" Target="../tags/tag210.xml"/><Relationship Id="rId5" Type="http://schemas.openxmlformats.org/officeDocument/2006/relationships/tags" Target="../tags/tag204.xml"/><Relationship Id="rId15" Type="http://schemas.openxmlformats.org/officeDocument/2006/relationships/tags" Target="../tags/tag214.xml"/><Relationship Id="rId10" Type="http://schemas.openxmlformats.org/officeDocument/2006/relationships/tags" Target="../tags/tag209.xml"/><Relationship Id="rId4" Type="http://schemas.openxmlformats.org/officeDocument/2006/relationships/tags" Target="../tags/tag203.xml"/><Relationship Id="rId9" Type="http://schemas.openxmlformats.org/officeDocument/2006/relationships/tags" Target="../tags/tag208.xml"/><Relationship Id="rId14" Type="http://schemas.openxmlformats.org/officeDocument/2006/relationships/tags" Target="../tags/tag2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notesSlide" Target="../notesSlides/notesSlide40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21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tags" Target="../tags/tag220.xml"/><Relationship Id="rId6" Type="http://schemas.openxmlformats.org/officeDocument/2006/relationships/notesSlide" Target="../notesSlides/notesSlide41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22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36914" y="1389743"/>
            <a:ext cx="9840685" cy="2387600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语言程序设计基础知识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436609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中国计量大学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70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BBED6D6-DD33-3906-CB61-EA0AE7934A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25" y="2171700"/>
            <a:ext cx="6858396" cy="313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7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51189" y="819150"/>
            <a:ext cx="9840685" cy="1500868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4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常量、变量和数据类型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F01B8EA-37B3-D266-0299-CD52945DE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620" y="3043184"/>
            <a:ext cx="6558794" cy="299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313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304800"/>
            <a:ext cx="10363200" cy="609600"/>
          </a:xfrm>
        </p:spPr>
        <p:txBody>
          <a:bodyPr/>
          <a:lstStyle/>
          <a:p>
            <a:pPr eaLnBrk="1" hangingPunct="1"/>
            <a:r>
              <a:rPr lang="en-US" altLang="zh-CN" sz="3600" dirty="0"/>
              <a:t>2.1.1 </a:t>
            </a:r>
            <a:r>
              <a:rPr lang="zh-CN" altLang="en-US" sz="3600" dirty="0"/>
              <a:t>字符集与标识符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3200" y="1052513"/>
            <a:ext cx="11887200" cy="4608512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zh-CN" sz="3600" dirty="0"/>
              <a:t>C</a:t>
            </a:r>
            <a:r>
              <a:rPr lang="zh-CN" altLang="en-US" sz="3600" dirty="0"/>
              <a:t>语言的字符集合和字符的组合规则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1200" dirty="0"/>
          </a:p>
          <a:p>
            <a:pPr algn="just"/>
            <a:r>
              <a:rPr lang="en-US" altLang="zh-CN" dirty="0"/>
              <a:t>1. </a:t>
            </a:r>
            <a:r>
              <a:rPr lang="zh-CN" altLang="en-US" dirty="0"/>
              <a:t>字符集－基本符号是</a:t>
            </a:r>
            <a:r>
              <a:rPr lang="en-US" altLang="zh-CN" dirty="0">
                <a:solidFill>
                  <a:srgbClr val="EB27C6"/>
                </a:solidFill>
              </a:rPr>
              <a:t>ASCII</a:t>
            </a:r>
            <a:r>
              <a:rPr lang="zh-CN" altLang="en-US" dirty="0">
                <a:solidFill>
                  <a:srgbClr val="EB27C6"/>
                </a:solidFill>
              </a:rPr>
              <a:t>字符集</a:t>
            </a:r>
            <a:r>
              <a:rPr lang="zh-CN" altLang="en-US" dirty="0"/>
              <a:t>：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dirty="0"/>
              <a:t>  英文字母：</a:t>
            </a:r>
            <a:r>
              <a:rPr lang="en-US" altLang="zh-CN" dirty="0"/>
              <a:t>A</a:t>
            </a:r>
            <a:r>
              <a:rPr lang="zh-CN" altLang="en-US" dirty="0"/>
              <a:t>～</a:t>
            </a:r>
            <a:r>
              <a:rPr lang="en-US" altLang="zh-CN" dirty="0"/>
              <a:t>Z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～</a:t>
            </a:r>
            <a:r>
              <a:rPr lang="en-US" altLang="zh-CN" dirty="0"/>
              <a:t>z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dirty="0"/>
              <a:t>  </a:t>
            </a:r>
            <a:r>
              <a:rPr lang="zh-CN" altLang="en-US" dirty="0"/>
              <a:t>数字字符：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9</a:t>
            </a:r>
          </a:p>
          <a:p>
            <a:pPr algn="just">
              <a:buNone/>
            </a:pPr>
            <a:r>
              <a:rPr lang="en-US" altLang="zh-CN" dirty="0"/>
              <a:t>  </a:t>
            </a:r>
            <a:r>
              <a:rPr lang="zh-CN" altLang="en-US" dirty="0"/>
              <a:t>特殊字符：</a:t>
            </a:r>
            <a:r>
              <a:rPr lang="en-US" altLang="zh-CN" sz="3400" dirty="0"/>
              <a:t>+ – * / % &lt; &gt; [ ] ( ) { } ¦ =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3400" dirty="0"/>
              <a:t>                 &amp; ! </a:t>
            </a:r>
            <a:r>
              <a:rPr lang="zh-CN" altLang="en-US" sz="3400" dirty="0"/>
              <a:t>～ </a:t>
            </a:r>
            <a:r>
              <a:rPr lang="en-US" altLang="zh-CN" sz="3400" dirty="0"/>
              <a:t>#  ^ ″‵ ?  :  _  · </a:t>
            </a:r>
            <a:r>
              <a:rPr lang="zh-CN" altLang="en-US" sz="3400" dirty="0"/>
              <a:t>，；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　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-18288" y="4632639"/>
            <a:ext cx="2322576" cy="2246769"/>
          </a:xfrm>
          <a:prstGeom prst="rect">
            <a:avLst/>
          </a:prstGeom>
          <a:solidFill>
            <a:schemeClr val="accent1"/>
          </a:solidFill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u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t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100000"/>
              <a:buChar char="•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2"/>
                </a:solidFill>
              </a:rPr>
              <a:t>#include &lt;</a:t>
            </a:r>
            <a:r>
              <a:rPr lang="en-US" altLang="zh-CN" sz="1400" dirty="0" err="1">
                <a:solidFill>
                  <a:schemeClr val="bg2"/>
                </a:solidFill>
              </a:rPr>
              <a:t>stdio.h</a:t>
            </a:r>
            <a:r>
              <a:rPr lang="en-US" altLang="zh-CN" sz="1400" dirty="0">
                <a:solidFill>
                  <a:schemeClr val="bg2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 err="1">
                <a:solidFill>
                  <a:schemeClr val="bg2"/>
                </a:solidFill>
              </a:rPr>
              <a:t>int</a:t>
            </a:r>
            <a:r>
              <a:rPr lang="en-US" altLang="zh-CN" sz="1400" dirty="0">
                <a:solidFill>
                  <a:schemeClr val="bg2"/>
                </a:solidFill>
              </a:rPr>
              <a:t> main(void)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2"/>
                </a:solidFill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2"/>
                </a:solidFill>
              </a:rPr>
              <a:t>        </a:t>
            </a:r>
            <a:r>
              <a:rPr lang="en-US" altLang="zh-CN" sz="1400" dirty="0" err="1">
                <a:solidFill>
                  <a:schemeClr val="bg2"/>
                </a:solidFill>
              </a:rPr>
              <a:t>int</a:t>
            </a:r>
            <a:r>
              <a:rPr lang="en-US" altLang="zh-CN" sz="1400" dirty="0">
                <a:solidFill>
                  <a:schemeClr val="bg2"/>
                </a:solidFill>
              </a:rPr>
              <a:t>  x, sum; 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dirty="0">
              <a:solidFill>
                <a:schemeClr val="bg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2"/>
                </a:solidFill>
              </a:rPr>
              <a:t>        </a:t>
            </a:r>
            <a:r>
              <a:rPr lang="en-US" altLang="zh-CN" sz="1400" dirty="0" err="1">
                <a:solidFill>
                  <a:schemeClr val="bg2"/>
                </a:solidFill>
              </a:rPr>
              <a:t>scanf</a:t>
            </a:r>
            <a:r>
              <a:rPr lang="en-US" altLang="zh-CN" sz="1400" dirty="0">
                <a:solidFill>
                  <a:schemeClr val="bg2"/>
                </a:solidFill>
              </a:rPr>
              <a:t> (“%d”, &amp;x);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solidFill>
                  <a:schemeClr val="bg2"/>
                </a:solidFill>
              </a:rPr>
              <a:t>　　</a:t>
            </a:r>
            <a:r>
              <a:rPr lang="en-US" altLang="zh-CN" sz="1400" dirty="0">
                <a:solidFill>
                  <a:schemeClr val="bg2"/>
                </a:solidFill>
              </a:rPr>
              <a:t>sum = x + 5;         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2"/>
                </a:solidFill>
              </a:rPr>
              <a:t>    </a:t>
            </a:r>
            <a:r>
              <a:rPr lang="zh-CN" altLang="en-US" sz="1400" dirty="0">
                <a:solidFill>
                  <a:schemeClr val="bg2"/>
                </a:solidFill>
              </a:rPr>
              <a:t>　</a:t>
            </a:r>
            <a:r>
              <a:rPr lang="en-US" altLang="zh-CN" sz="1400" dirty="0" err="1">
                <a:solidFill>
                  <a:schemeClr val="bg2"/>
                </a:solidFill>
              </a:rPr>
              <a:t>printf</a:t>
            </a:r>
            <a:r>
              <a:rPr lang="en-US" altLang="zh-CN" sz="1400" dirty="0">
                <a:solidFill>
                  <a:schemeClr val="bg2"/>
                </a:solidFill>
              </a:rPr>
              <a:t> (“%d \n”, sum);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2"/>
                </a:solidFill>
              </a:rPr>
              <a:t>        return 0;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2"/>
                </a:solidFill>
              </a:rPr>
              <a:t>}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619" y="1120331"/>
            <a:ext cx="5071498" cy="5737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8449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06400" y="1024128"/>
            <a:ext cx="11785600" cy="521208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90000"/>
              </a:lnSpc>
            </a:pPr>
            <a:r>
              <a:rPr lang="en-US" altLang="zh-CN" sz="3600" dirty="0"/>
              <a:t>2. </a:t>
            </a:r>
            <a:r>
              <a:rPr lang="zh-CN" altLang="en-US" sz="3600" dirty="0"/>
              <a:t>标识符</a:t>
            </a:r>
            <a:r>
              <a:rPr lang="zh-CN" altLang="en-US" sz="3600" dirty="0">
                <a:latin typeface="宋体" pitchFamily="2" charset="-122"/>
              </a:rPr>
              <a:t>－程序设计过程中用到的各种元素的名字</a:t>
            </a:r>
          </a:p>
          <a:p>
            <a:pPr lvl="1" algn="just">
              <a:lnSpc>
                <a:spcPct val="90000"/>
              </a:lnSpc>
            </a:pPr>
            <a:r>
              <a:rPr lang="zh-CN" altLang="en-US" dirty="0">
                <a:latin typeface="宋体" pitchFamily="2" charset="-122"/>
              </a:rPr>
              <a:t>组成：</a:t>
            </a:r>
            <a:r>
              <a:rPr lang="zh-CN" altLang="en-US" dirty="0"/>
              <a:t>英文</a:t>
            </a:r>
            <a:r>
              <a:rPr lang="zh-CN" altLang="en-US" dirty="0">
                <a:latin typeface="宋体" pitchFamily="2" charset="-122"/>
              </a:rPr>
              <a:t>字母、数字</a:t>
            </a:r>
            <a:r>
              <a:rPr lang="zh-CN" altLang="en-US" dirty="0"/>
              <a:t>、</a:t>
            </a:r>
            <a:r>
              <a:rPr lang="zh-CN" altLang="en-US" dirty="0">
                <a:latin typeface="宋体" pitchFamily="2" charset="-122"/>
              </a:rPr>
              <a:t>下划线</a:t>
            </a:r>
            <a:r>
              <a:rPr lang="zh-CN" altLang="en-US" dirty="0"/>
              <a:t>“</a:t>
            </a:r>
            <a:r>
              <a:rPr lang="en-US" altLang="zh-CN" dirty="0">
                <a:latin typeface="宋体" pitchFamily="2" charset="-122"/>
              </a:rPr>
              <a:t>_</a:t>
            </a:r>
            <a:r>
              <a:rPr lang="en-US" altLang="zh-CN" dirty="0"/>
              <a:t>”</a:t>
            </a:r>
            <a:r>
              <a:rPr lang="zh-CN" altLang="en-US" dirty="0"/>
              <a:t>，</a:t>
            </a:r>
            <a:r>
              <a:rPr lang="zh-CN" altLang="en-US" dirty="0">
                <a:latin typeface="宋体" pitchFamily="2" charset="-122"/>
              </a:rPr>
              <a:t>首字符必须为字母或下划线</a:t>
            </a:r>
            <a:endParaRPr lang="zh-CN" altLang="en-US" dirty="0"/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/>
              <a:t>               day</a:t>
            </a:r>
            <a:r>
              <a:rPr lang="zh-CN" altLang="en-US" dirty="0"/>
              <a:t>，</a:t>
            </a:r>
            <a:r>
              <a:rPr lang="en-US" altLang="zh-CN" dirty="0"/>
              <a:t>a1</a:t>
            </a:r>
            <a:r>
              <a:rPr lang="zh-CN" altLang="en-US" dirty="0"/>
              <a:t>，</a:t>
            </a:r>
            <a:r>
              <a:rPr lang="en-US" altLang="zh-CN" dirty="0"/>
              <a:t>A_1</a:t>
            </a:r>
            <a:r>
              <a:rPr lang="zh-CN" altLang="en-US" dirty="0"/>
              <a:t>，</a:t>
            </a:r>
            <a:r>
              <a:rPr lang="en-US" altLang="zh-CN" dirty="0"/>
              <a:t>_Time</a:t>
            </a:r>
            <a:r>
              <a:rPr lang="en-US" altLang="zh-CN" dirty="0">
                <a:latin typeface="宋体" pitchFamily="2" charset="-122"/>
              </a:rPr>
              <a:t>  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√</a:t>
            </a:r>
            <a:r>
              <a:rPr lang="zh-CN" altLang="en-US" dirty="0">
                <a:latin typeface="宋体" pitchFamily="2" charset="-122"/>
              </a:rPr>
              <a:t>　　　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latin typeface="宋体" pitchFamily="2" charset="-122"/>
              </a:rPr>
              <a:t>         </a:t>
            </a:r>
            <a:r>
              <a:rPr lang="en-US" altLang="zh-CN" dirty="0">
                <a:solidFill>
                  <a:srgbClr val="EB27C6"/>
                </a:solidFill>
              </a:rPr>
              <a:t>%A</a:t>
            </a:r>
            <a:r>
              <a:rPr lang="zh-CN" altLang="en-US" dirty="0">
                <a:solidFill>
                  <a:srgbClr val="EB27C6"/>
                </a:solidFill>
              </a:rPr>
              <a:t>，</a:t>
            </a:r>
            <a:r>
              <a:rPr lang="en-US" altLang="zh-CN" dirty="0">
                <a:solidFill>
                  <a:srgbClr val="EB27C6"/>
                </a:solidFill>
              </a:rPr>
              <a:t>356B</a:t>
            </a:r>
            <a:endParaRPr lang="en-US" altLang="zh-CN" dirty="0">
              <a:solidFill>
                <a:srgbClr val="EB27C6"/>
              </a:solidFill>
              <a:latin typeface="宋体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EB27C6"/>
                </a:solidFill>
                <a:latin typeface="宋体" pitchFamily="2" charset="-122"/>
              </a:rPr>
              <a:t>   </a:t>
            </a:r>
            <a:r>
              <a:rPr lang="zh-CN" altLang="en-US" dirty="0">
                <a:latin typeface="宋体" pitchFamily="2" charset="-122"/>
              </a:rPr>
              <a:t>　　　　　　　</a:t>
            </a:r>
            <a:endParaRPr lang="zh-CN" altLang="en-US" dirty="0"/>
          </a:p>
          <a:p>
            <a:pPr lvl="1" algn="just">
              <a:lnSpc>
                <a:spcPct val="90000"/>
              </a:lnSpc>
            </a:pPr>
            <a:r>
              <a:rPr lang="zh-CN" altLang="en-US" dirty="0">
                <a:latin typeface="宋体" pitchFamily="2" charset="-122"/>
              </a:rPr>
              <a:t>见名知义，提高程序可读性  </a:t>
            </a:r>
            <a:r>
              <a:rPr lang="en-US" altLang="zh-CN" sz="2200" dirty="0" err="1">
                <a:solidFill>
                  <a:srgbClr val="0070C0"/>
                </a:solidFill>
              </a:rPr>
              <a:t>sum,score</a:t>
            </a:r>
            <a:endParaRPr lang="en-US" altLang="zh-CN" sz="2200" dirty="0">
              <a:solidFill>
                <a:srgbClr val="0070C0"/>
              </a:solidFill>
            </a:endParaRPr>
          </a:p>
          <a:p>
            <a:pPr marL="457200" lvl="1" indent="0" algn="just">
              <a:lnSpc>
                <a:spcPct val="90000"/>
              </a:lnSpc>
              <a:buNone/>
            </a:pPr>
            <a:endParaRPr lang="en-US" altLang="zh-CN" dirty="0">
              <a:latin typeface="宋体" pitchFamily="2" charset="-122"/>
            </a:endParaRPr>
          </a:p>
          <a:p>
            <a:pPr lvl="1" algn="just">
              <a:lnSpc>
                <a:spcPct val="90000"/>
              </a:lnSpc>
            </a:pPr>
            <a:r>
              <a:rPr lang="zh-CN" altLang="en-US" dirty="0">
                <a:latin typeface="宋体" pitchFamily="2" charset="-122"/>
              </a:rPr>
              <a:t>区分大小写字母     </a:t>
            </a:r>
            <a:r>
              <a:rPr lang="en-US" altLang="zh-CN" sz="2200" dirty="0">
                <a:solidFill>
                  <a:srgbClr val="0070C0"/>
                </a:solidFill>
              </a:rPr>
              <a:t>Sum </a:t>
            </a:r>
            <a:r>
              <a:rPr lang="en-US" altLang="zh-CN" sz="2200" dirty="0">
                <a:solidFill>
                  <a:srgbClr val="0070C0"/>
                </a:solidFill>
                <a:cs typeface="Times New Roman" pitchFamily="18" charset="0"/>
              </a:rPr>
              <a:t>≠ </a:t>
            </a:r>
            <a:r>
              <a:rPr lang="en-US" altLang="zh-CN" sz="2200" dirty="0">
                <a:solidFill>
                  <a:srgbClr val="0070C0"/>
                </a:solidFill>
              </a:rPr>
              <a:t>sum</a:t>
            </a:r>
          </a:p>
          <a:p>
            <a:pPr lvl="1" algn="just">
              <a:lnSpc>
                <a:spcPct val="90000"/>
              </a:lnSpc>
            </a:pPr>
            <a:endParaRPr lang="en-US" altLang="zh-CN" sz="2200" dirty="0">
              <a:solidFill>
                <a:srgbClr val="0070C0"/>
              </a:solidFill>
            </a:endParaRPr>
          </a:p>
          <a:p>
            <a:pPr lvl="0" algn="just">
              <a:buNone/>
            </a:pPr>
            <a:r>
              <a:rPr lang="zh-CN" altLang="en-US" sz="2200" b="1" dirty="0">
                <a:solidFill>
                  <a:srgbClr val="000000"/>
                </a:solidFill>
              </a:rPr>
              <a:t>　　   变量名、函数名</a:t>
            </a:r>
            <a:r>
              <a:rPr lang="en-US" altLang="zh-CN" sz="2200" b="1" dirty="0">
                <a:solidFill>
                  <a:srgbClr val="000000"/>
                </a:solidFill>
              </a:rPr>
              <a:t>(</a:t>
            </a:r>
            <a:r>
              <a:rPr lang="zh-CN" altLang="en-US" sz="2200" b="1" dirty="0">
                <a:solidFill>
                  <a:srgbClr val="000000"/>
                </a:solidFill>
              </a:rPr>
              <a:t>小写</a:t>
            </a:r>
            <a:r>
              <a:rPr lang="en-US" altLang="zh-CN" sz="2200" b="1" dirty="0">
                <a:solidFill>
                  <a:srgbClr val="000000"/>
                </a:solidFill>
              </a:rPr>
              <a:t>)          </a:t>
            </a:r>
            <a:r>
              <a:rPr lang="en-US" altLang="zh-CN" sz="2200" b="1" dirty="0">
                <a:solidFill>
                  <a:srgbClr val="0070C0"/>
                </a:solidFill>
              </a:rPr>
              <a:t>sum</a:t>
            </a:r>
          </a:p>
          <a:p>
            <a:pPr lvl="0">
              <a:buNone/>
            </a:pPr>
            <a:r>
              <a:rPr lang="zh-CN" altLang="en-US" sz="2200" b="1" dirty="0">
                <a:solidFill>
                  <a:srgbClr val="000000"/>
                </a:solidFill>
              </a:rPr>
              <a:t>　　   符号常量 </a:t>
            </a:r>
            <a:r>
              <a:rPr lang="en-US" altLang="zh-CN" sz="2200" b="1" dirty="0">
                <a:solidFill>
                  <a:srgbClr val="000000"/>
                </a:solidFill>
              </a:rPr>
              <a:t>(</a:t>
            </a:r>
            <a:r>
              <a:rPr lang="zh-CN" altLang="en-US" sz="2200" b="1" dirty="0">
                <a:solidFill>
                  <a:srgbClr val="000000"/>
                </a:solidFill>
              </a:rPr>
              <a:t>大写</a:t>
            </a:r>
            <a:r>
              <a:rPr lang="en-US" altLang="zh-CN" sz="2200" b="1" dirty="0">
                <a:solidFill>
                  <a:srgbClr val="000000"/>
                </a:solidFill>
              </a:rPr>
              <a:t>)</a:t>
            </a:r>
            <a:r>
              <a:rPr lang="zh-CN" altLang="en-US" sz="2200" b="1" dirty="0">
                <a:solidFill>
                  <a:srgbClr val="000000"/>
                </a:solidFill>
              </a:rPr>
              <a:t>               　</a:t>
            </a:r>
            <a:r>
              <a:rPr lang="en-US" altLang="zh-CN" sz="2200" b="1" dirty="0">
                <a:solidFill>
                  <a:srgbClr val="0070C0"/>
                </a:solidFill>
              </a:rPr>
              <a:t>PI</a:t>
            </a:r>
          </a:p>
          <a:p>
            <a:pPr lvl="1" algn="just">
              <a:lnSpc>
                <a:spcPct val="90000"/>
              </a:lnSpc>
            </a:pPr>
            <a:r>
              <a:rPr lang="zh-CN" altLang="en-US" dirty="0">
                <a:latin typeface="宋体" pitchFamily="2" charset="-122"/>
              </a:rPr>
              <a:t>禁用关键字作用户标识符</a:t>
            </a:r>
          </a:p>
        </p:txBody>
      </p:sp>
      <p:sp>
        <p:nvSpPr>
          <p:cNvPr id="130053" name="Text Box 5"/>
          <p:cNvSpPr txBox="1">
            <a:spLocks noChangeArrowheads="1"/>
          </p:cNvSpPr>
          <p:nvPr/>
        </p:nvSpPr>
        <p:spPr bwMode="auto">
          <a:xfrm>
            <a:off x="4415874" y="2463584"/>
            <a:ext cx="863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u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t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100000"/>
              <a:buChar char="•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000" dirty="0">
                <a:solidFill>
                  <a:srgbClr val="FF0000"/>
                </a:solidFill>
                <a:cs typeface="Times New Roman" pitchFamily="18" charset="0"/>
              </a:rPr>
              <a:t>×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497383" y="3311701"/>
            <a:ext cx="3706812" cy="3170099"/>
          </a:xfrm>
          <a:prstGeom prst="rect">
            <a:avLst/>
          </a:prstGeom>
          <a:solidFill>
            <a:schemeClr val="accent1"/>
          </a:solidFill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u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t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100000"/>
              <a:buChar char="•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#include &lt;</a:t>
            </a:r>
            <a:r>
              <a:rPr lang="en-US" altLang="zh-CN" sz="2400" dirty="0" err="1">
                <a:solidFill>
                  <a:schemeClr val="bg2"/>
                </a:solidFill>
              </a:rPr>
              <a:t>stdio.h</a:t>
            </a:r>
            <a:r>
              <a:rPr lang="en-US" altLang="zh-CN" sz="2400" dirty="0">
                <a:solidFill>
                  <a:schemeClr val="bg2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int main(void)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        </a:t>
            </a:r>
            <a:r>
              <a:rPr lang="en-US" altLang="zh-CN" sz="2400" dirty="0" err="1">
                <a:solidFill>
                  <a:schemeClr val="bg2"/>
                </a:solidFill>
              </a:rPr>
              <a:t>int</a:t>
            </a:r>
            <a:r>
              <a:rPr lang="en-US" altLang="zh-CN" sz="2400" dirty="0">
                <a:solidFill>
                  <a:schemeClr val="bg2"/>
                </a:solidFill>
              </a:rPr>
              <a:t>  </a:t>
            </a:r>
            <a:r>
              <a:rPr lang="en-US" altLang="zh-CN" sz="2400" dirty="0">
                <a:solidFill>
                  <a:srgbClr val="CC00CC"/>
                </a:solidFill>
              </a:rPr>
              <a:t>x</a:t>
            </a:r>
            <a:r>
              <a:rPr lang="en-US" altLang="zh-CN" sz="2400" dirty="0">
                <a:solidFill>
                  <a:schemeClr val="bg2"/>
                </a:solidFill>
              </a:rPr>
              <a:t>, </a:t>
            </a:r>
            <a:r>
              <a:rPr lang="en-US" altLang="zh-CN" sz="2400" dirty="0">
                <a:solidFill>
                  <a:srgbClr val="CC00CC"/>
                </a:solidFill>
              </a:rPr>
              <a:t>sum</a:t>
            </a:r>
            <a:r>
              <a:rPr lang="en-US" altLang="zh-CN" sz="2400" dirty="0">
                <a:solidFill>
                  <a:schemeClr val="bg2"/>
                </a:solidFill>
              </a:rPr>
              <a:t>;     </a:t>
            </a:r>
            <a:endParaRPr lang="en-US" altLang="zh-CN" sz="2400" dirty="0">
              <a:solidFill>
                <a:srgbClr val="3333FF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800" dirty="0">
              <a:solidFill>
                <a:schemeClr val="bg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        </a:t>
            </a:r>
            <a:r>
              <a:rPr lang="en-US" altLang="zh-CN" sz="2400" dirty="0" err="1">
                <a:solidFill>
                  <a:schemeClr val="bg2"/>
                </a:solidFill>
              </a:rPr>
              <a:t>scanf</a:t>
            </a:r>
            <a:r>
              <a:rPr lang="en-US" altLang="zh-CN" sz="2400" dirty="0">
                <a:solidFill>
                  <a:schemeClr val="bg2"/>
                </a:solidFill>
              </a:rPr>
              <a:t> (“%d”, &amp;x); </a:t>
            </a:r>
            <a:endParaRPr lang="en-US" altLang="zh-CN" sz="2400" dirty="0">
              <a:solidFill>
                <a:srgbClr val="3333FF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bg2"/>
                </a:solidFill>
              </a:rPr>
              <a:t>　　</a:t>
            </a:r>
            <a:r>
              <a:rPr lang="en-US" altLang="zh-CN" sz="2400" dirty="0">
                <a:solidFill>
                  <a:schemeClr val="bg2"/>
                </a:solidFill>
              </a:rPr>
              <a:t>sum = x + 5;             </a:t>
            </a:r>
            <a:endParaRPr lang="en-US" altLang="zh-CN" sz="2400" dirty="0">
              <a:solidFill>
                <a:srgbClr val="3333FF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    </a:t>
            </a:r>
            <a:r>
              <a:rPr lang="zh-CN" altLang="en-US" sz="2400" dirty="0">
                <a:solidFill>
                  <a:schemeClr val="bg2"/>
                </a:solidFill>
              </a:rPr>
              <a:t>　</a:t>
            </a:r>
            <a:r>
              <a:rPr lang="en-US" altLang="zh-CN" sz="2400" dirty="0" err="1">
                <a:solidFill>
                  <a:schemeClr val="bg2"/>
                </a:solidFill>
              </a:rPr>
              <a:t>printf</a:t>
            </a:r>
            <a:r>
              <a:rPr lang="en-US" altLang="zh-CN" sz="2400" dirty="0">
                <a:solidFill>
                  <a:schemeClr val="bg2"/>
                </a:solidFill>
              </a:rPr>
              <a:t> (“%d \n”, sum);   </a:t>
            </a:r>
            <a:endParaRPr lang="en-US" altLang="zh-CN" sz="2400" dirty="0">
              <a:solidFill>
                <a:srgbClr val="3333FF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        return 0;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}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304800"/>
            <a:ext cx="10363200" cy="609600"/>
          </a:xfrm>
        </p:spPr>
        <p:txBody>
          <a:bodyPr/>
          <a:lstStyle/>
          <a:p>
            <a:pPr eaLnBrk="1" hangingPunct="1"/>
            <a:r>
              <a:rPr lang="zh-CN" altLang="en-US" sz="3600" dirty="0"/>
              <a:t>一、字符集与标识符 </a:t>
            </a:r>
          </a:p>
        </p:txBody>
      </p:sp>
    </p:spTree>
    <p:extLst>
      <p:ext uri="{BB962C8B-B14F-4D97-AF65-F5344CB8AC3E}">
        <p14:creationId xmlns:p14="http://schemas.microsoft.com/office/powerpoint/2010/main" val="317676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4358964" y="1202563"/>
            <a:ext cx="28793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u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t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100000"/>
              <a:buChar char="•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6600CC"/>
                </a:solidFill>
                <a:ea typeface="黑体" pitchFamily="49" charset="-122"/>
              </a:rPr>
              <a:t>表</a:t>
            </a:r>
            <a:r>
              <a:rPr lang="en-US" altLang="zh-CN" sz="2400" dirty="0">
                <a:solidFill>
                  <a:srgbClr val="6600CC"/>
                </a:solidFill>
                <a:ea typeface="黑体" pitchFamily="49" charset="-122"/>
              </a:rPr>
              <a:t>2.1  C</a:t>
            </a:r>
            <a:r>
              <a:rPr lang="zh-CN" altLang="en-US" sz="2400" dirty="0">
                <a:solidFill>
                  <a:srgbClr val="6600CC"/>
                </a:solidFill>
                <a:ea typeface="黑体" pitchFamily="49" charset="-122"/>
              </a:rPr>
              <a:t>语言关键字</a:t>
            </a:r>
            <a:r>
              <a:rPr lang="zh-CN" altLang="en-US" sz="2400" dirty="0"/>
              <a:t> </a:t>
            </a:r>
          </a:p>
        </p:txBody>
      </p:sp>
      <p:grpSp>
        <p:nvGrpSpPr>
          <p:cNvPr id="13315" name="Group 3"/>
          <p:cNvGrpSpPr>
            <a:grpSpLocks/>
          </p:cNvGrpSpPr>
          <p:nvPr/>
        </p:nvGrpSpPr>
        <p:grpSpPr bwMode="auto">
          <a:xfrm>
            <a:off x="203200" y="1923288"/>
            <a:ext cx="11887200" cy="2971800"/>
            <a:chOff x="-3" y="-3"/>
            <a:chExt cx="3302" cy="1810"/>
          </a:xfrm>
        </p:grpSpPr>
        <p:grpSp>
          <p:nvGrpSpPr>
            <p:cNvPr id="13319" name="Group 4"/>
            <p:cNvGrpSpPr>
              <a:grpSpLocks/>
            </p:cNvGrpSpPr>
            <p:nvPr/>
          </p:nvGrpSpPr>
          <p:grpSpPr bwMode="auto">
            <a:xfrm>
              <a:off x="0" y="0"/>
              <a:ext cx="3296" cy="1804"/>
              <a:chOff x="0" y="0"/>
              <a:chExt cx="3296" cy="1804"/>
            </a:xfrm>
          </p:grpSpPr>
          <p:grpSp>
            <p:nvGrpSpPr>
              <p:cNvPr id="13321" name="Group 5"/>
              <p:cNvGrpSpPr>
                <a:grpSpLocks/>
              </p:cNvGrpSpPr>
              <p:nvPr/>
            </p:nvGrpSpPr>
            <p:grpSpPr bwMode="auto">
              <a:xfrm>
                <a:off x="0" y="0"/>
                <a:ext cx="950" cy="460"/>
                <a:chOff x="0" y="0"/>
                <a:chExt cx="950" cy="460"/>
              </a:xfrm>
            </p:grpSpPr>
            <p:sp>
              <p:nvSpPr>
                <p:cNvPr id="13343" name="Rectangle 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864" cy="46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1"/>
                    </a:buClr>
                    <a:buSzPct val="60000"/>
                    <a:buFont typeface="Wingdings" pitchFamily="2" charset="2"/>
                    <a:buChar char="u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60000"/>
                    <a:buFont typeface="Wingdings" pitchFamily="2" charset="2"/>
                    <a:buChar char="t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00000"/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>
                    <a:ea typeface="黑体" pitchFamily="49" charset="-122"/>
                  </a:endParaRPr>
                </a:p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ea typeface="黑体" pitchFamily="49" charset="-122"/>
                    </a:rPr>
                    <a:t>语句关键字</a:t>
                  </a:r>
                  <a:endParaRPr lang="zh-CN" altLang="en-US" sz="1800"/>
                </a:p>
              </p:txBody>
            </p:sp>
            <p:sp>
              <p:nvSpPr>
                <p:cNvPr id="13344" name="Rectangle 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950" cy="460"/>
                </a:xfrm>
                <a:prstGeom prst="rect">
                  <a:avLst/>
                </a:prstGeom>
                <a:noFill/>
                <a:ln w="7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1"/>
                    </a:buClr>
                    <a:buSzPct val="60000"/>
                    <a:buFont typeface="Wingdings" pitchFamily="2" charset="2"/>
                    <a:buChar char="u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60000"/>
                    <a:buFont typeface="Wingdings" pitchFamily="2" charset="2"/>
                    <a:buChar char="t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00000"/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b="0"/>
                </a:p>
              </p:txBody>
            </p:sp>
          </p:grpSp>
          <p:grpSp>
            <p:nvGrpSpPr>
              <p:cNvPr id="13322" name="Group 8"/>
              <p:cNvGrpSpPr>
                <a:grpSpLocks/>
              </p:cNvGrpSpPr>
              <p:nvPr/>
            </p:nvGrpSpPr>
            <p:grpSpPr bwMode="auto">
              <a:xfrm>
                <a:off x="950" y="0"/>
                <a:ext cx="878" cy="460"/>
                <a:chOff x="950" y="0"/>
                <a:chExt cx="878" cy="460"/>
              </a:xfrm>
            </p:grpSpPr>
            <p:sp>
              <p:nvSpPr>
                <p:cNvPr id="13341" name="Rectangle 9"/>
                <p:cNvSpPr>
                  <a:spLocks noChangeArrowheads="1"/>
                </p:cNvSpPr>
                <p:nvPr/>
              </p:nvSpPr>
              <p:spPr bwMode="auto">
                <a:xfrm>
                  <a:off x="993" y="0"/>
                  <a:ext cx="792" cy="46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1"/>
                    </a:buClr>
                    <a:buSzPct val="60000"/>
                    <a:buFont typeface="Wingdings" pitchFamily="2" charset="2"/>
                    <a:buChar char="u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60000"/>
                    <a:buFont typeface="Wingdings" pitchFamily="2" charset="2"/>
                    <a:buChar char="t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00000"/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>
                    <a:ea typeface="黑体" pitchFamily="49" charset="-122"/>
                  </a:endParaRPr>
                </a:p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ea typeface="黑体" pitchFamily="49" charset="-122"/>
                    </a:rPr>
                    <a:t>数据类型关键字</a:t>
                  </a:r>
                  <a:endParaRPr lang="zh-CN" altLang="en-US" sz="1800"/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3342" name="Rectangle 10"/>
                <p:cNvSpPr>
                  <a:spLocks noChangeArrowheads="1"/>
                </p:cNvSpPr>
                <p:nvPr/>
              </p:nvSpPr>
              <p:spPr bwMode="auto">
                <a:xfrm>
                  <a:off x="950" y="0"/>
                  <a:ext cx="878" cy="460"/>
                </a:xfrm>
                <a:prstGeom prst="rect">
                  <a:avLst/>
                </a:prstGeom>
                <a:noFill/>
                <a:ln w="7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1"/>
                    </a:buClr>
                    <a:buSzPct val="60000"/>
                    <a:buFont typeface="Wingdings" pitchFamily="2" charset="2"/>
                    <a:buChar char="u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60000"/>
                    <a:buFont typeface="Wingdings" pitchFamily="2" charset="2"/>
                    <a:buChar char="t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00000"/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b="0"/>
                </a:p>
              </p:txBody>
            </p:sp>
          </p:grpSp>
          <p:grpSp>
            <p:nvGrpSpPr>
              <p:cNvPr id="13323" name="Group 11"/>
              <p:cNvGrpSpPr>
                <a:grpSpLocks/>
              </p:cNvGrpSpPr>
              <p:nvPr/>
            </p:nvGrpSpPr>
            <p:grpSpPr bwMode="auto">
              <a:xfrm>
                <a:off x="1828" y="0"/>
                <a:ext cx="734" cy="460"/>
                <a:chOff x="1828" y="0"/>
                <a:chExt cx="734" cy="460"/>
              </a:xfrm>
            </p:grpSpPr>
            <p:sp>
              <p:nvSpPr>
                <p:cNvPr id="13339" name="Rectangle 12"/>
                <p:cNvSpPr>
                  <a:spLocks noChangeArrowheads="1"/>
                </p:cNvSpPr>
                <p:nvPr/>
              </p:nvSpPr>
              <p:spPr bwMode="auto">
                <a:xfrm>
                  <a:off x="1871" y="0"/>
                  <a:ext cx="648" cy="46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1"/>
                    </a:buClr>
                    <a:buSzPct val="60000"/>
                    <a:buFont typeface="Wingdings" pitchFamily="2" charset="2"/>
                    <a:buChar char="u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60000"/>
                    <a:buFont typeface="Wingdings" pitchFamily="2" charset="2"/>
                    <a:buChar char="t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00000"/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dirty="0">
                    <a:ea typeface="黑体" pitchFamily="49" charset="-122"/>
                  </a:endParaRPr>
                </a:p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600" dirty="0">
                      <a:ea typeface="黑体" pitchFamily="49" charset="-122"/>
                    </a:rPr>
                    <a:t>存储类别关键字</a:t>
                  </a:r>
                  <a:endParaRPr lang="zh-CN" altLang="en-US" sz="1600" dirty="0"/>
                </a:p>
              </p:txBody>
            </p:sp>
            <p:sp>
              <p:nvSpPr>
                <p:cNvPr id="13340" name="Rectangle 13"/>
                <p:cNvSpPr>
                  <a:spLocks noChangeArrowheads="1"/>
                </p:cNvSpPr>
                <p:nvPr/>
              </p:nvSpPr>
              <p:spPr bwMode="auto">
                <a:xfrm>
                  <a:off x="1828" y="0"/>
                  <a:ext cx="734" cy="460"/>
                </a:xfrm>
                <a:prstGeom prst="rect">
                  <a:avLst/>
                </a:prstGeom>
                <a:noFill/>
                <a:ln w="7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1"/>
                    </a:buClr>
                    <a:buSzPct val="60000"/>
                    <a:buFont typeface="Wingdings" pitchFamily="2" charset="2"/>
                    <a:buChar char="u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60000"/>
                    <a:buFont typeface="Wingdings" pitchFamily="2" charset="2"/>
                    <a:buChar char="t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00000"/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b="0"/>
                </a:p>
              </p:txBody>
            </p:sp>
          </p:grpSp>
          <p:grpSp>
            <p:nvGrpSpPr>
              <p:cNvPr id="13324" name="Group 14"/>
              <p:cNvGrpSpPr>
                <a:grpSpLocks/>
              </p:cNvGrpSpPr>
              <p:nvPr/>
            </p:nvGrpSpPr>
            <p:grpSpPr bwMode="auto">
              <a:xfrm>
                <a:off x="2562" y="0"/>
                <a:ext cx="734" cy="460"/>
                <a:chOff x="2562" y="0"/>
                <a:chExt cx="734" cy="460"/>
              </a:xfrm>
            </p:grpSpPr>
            <p:sp>
              <p:nvSpPr>
                <p:cNvPr id="13337" name="Rectangle 15"/>
                <p:cNvSpPr>
                  <a:spLocks noChangeArrowheads="1"/>
                </p:cNvSpPr>
                <p:nvPr/>
              </p:nvSpPr>
              <p:spPr bwMode="auto">
                <a:xfrm>
                  <a:off x="2605" y="0"/>
                  <a:ext cx="648" cy="46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1"/>
                    </a:buClr>
                    <a:buSzPct val="60000"/>
                    <a:buFont typeface="Wingdings" pitchFamily="2" charset="2"/>
                    <a:buChar char="u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60000"/>
                    <a:buFont typeface="Wingdings" pitchFamily="2" charset="2"/>
                    <a:buChar char="t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00000"/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>
                    <a:ea typeface="黑体" pitchFamily="49" charset="-122"/>
                  </a:endParaRPr>
                </a:p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ea typeface="黑体" pitchFamily="49" charset="-122"/>
                    </a:rPr>
                    <a:t>其他关键字</a:t>
                  </a:r>
                  <a:endParaRPr lang="zh-CN" altLang="en-US" sz="1800"/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3338" name="Rectangle 16"/>
                <p:cNvSpPr>
                  <a:spLocks noChangeArrowheads="1"/>
                </p:cNvSpPr>
                <p:nvPr/>
              </p:nvSpPr>
              <p:spPr bwMode="auto">
                <a:xfrm>
                  <a:off x="2562" y="0"/>
                  <a:ext cx="734" cy="460"/>
                </a:xfrm>
                <a:prstGeom prst="rect">
                  <a:avLst/>
                </a:prstGeom>
                <a:noFill/>
                <a:ln w="7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1"/>
                    </a:buClr>
                    <a:buSzPct val="60000"/>
                    <a:buFont typeface="Wingdings" pitchFamily="2" charset="2"/>
                    <a:buChar char="u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60000"/>
                    <a:buFont typeface="Wingdings" pitchFamily="2" charset="2"/>
                    <a:buChar char="t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00000"/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b="0"/>
                </a:p>
              </p:txBody>
            </p:sp>
          </p:grpSp>
          <p:grpSp>
            <p:nvGrpSpPr>
              <p:cNvPr id="13325" name="Group 17"/>
              <p:cNvGrpSpPr>
                <a:grpSpLocks/>
              </p:cNvGrpSpPr>
              <p:nvPr/>
            </p:nvGrpSpPr>
            <p:grpSpPr bwMode="auto">
              <a:xfrm>
                <a:off x="0" y="460"/>
                <a:ext cx="950" cy="1344"/>
                <a:chOff x="0" y="460"/>
                <a:chExt cx="950" cy="1344"/>
              </a:xfrm>
            </p:grpSpPr>
            <p:sp>
              <p:nvSpPr>
                <p:cNvPr id="13335" name="Rectangle 18"/>
                <p:cNvSpPr>
                  <a:spLocks noChangeArrowheads="1"/>
                </p:cNvSpPr>
                <p:nvPr/>
              </p:nvSpPr>
              <p:spPr bwMode="auto">
                <a:xfrm>
                  <a:off x="43" y="460"/>
                  <a:ext cx="864" cy="13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indent="2667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1"/>
                    </a:buClr>
                    <a:buSzPct val="60000"/>
                    <a:buFont typeface="Wingdings" pitchFamily="2" charset="2"/>
                    <a:buChar char="u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60000"/>
                    <a:buFont typeface="Wingdings" pitchFamily="2" charset="2"/>
                    <a:buChar char="t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00000"/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/>
                    <a:t>break      for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/>
                    <a:t>continue   goto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/>
                    <a:t>default    if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/>
                    <a:t>do         return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/>
                    <a:t>case       switch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/>
                    <a:t>else       while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000"/>
                </a:p>
              </p:txBody>
            </p:sp>
            <p:sp>
              <p:nvSpPr>
                <p:cNvPr id="13336" name="Rectangle 19"/>
                <p:cNvSpPr>
                  <a:spLocks noChangeArrowheads="1"/>
                </p:cNvSpPr>
                <p:nvPr/>
              </p:nvSpPr>
              <p:spPr bwMode="auto">
                <a:xfrm>
                  <a:off x="0" y="460"/>
                  <a:ext cx="950" cy="1344"/>
                </a:xfrm>
                <a:prstGeom prst="rect">
                  <a:avLst/>
                </a:prstGeom>
                <a:noFill/>
                <a:ln w="7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1"/>
                    </a:buClr>
                    <a:buSzPct val="60000"/>
                    <a:buFont typeface="Wingdings" pitchFamily="2" charset="2"/>
                    <a:buChar char="u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60000"/>
                    <a:buFont typeface="Wingdings" pitchFamily="2" charset="2"/>
                    <a:buChar char="t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00000"/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b="0"/>
                </a:p>
              </p:txBody>
            </p:sp>
          </p:grpSp>
          <p:grpSp>
            <p:nvGrpSpPr>
              <p:cNvPr id="13326" name="Group 20"/>
              <p:cNvGrpSpPr>
                <a:grpSpLocks/>
              </p:cNvGrpSpPr>
              <p:nvPr/>
            </p:nvGrpSpPr>
            <p:grpSpPr bwMode="auto">
              <a:xfrm>
                <a:off x="950" y="460"/>
                <a:ext cx="878" cy="1344"/>
                <a:chOff x="950" y="460"/>
                <a:chExt cx="878" cy="1344"/>
              </a:xfrm>
            </p:grpSpPr>
            <p:sp>
              <p:nvSpPr>
                <p:cNvPr id="13333" name="Rectangle 21"/>
                <p:cNvSpPr>
                  <a:spLocks noChangeArrowheads="1"/>
                </p:cNvSpPr>
                <p:nvPr/>
              </p:nvSpPr>
              <p:spPr bwMode="auto">
                <a:xfrm>
                  <a:off x="993" y="460"/>
                  <a:ext cx="792" cy="13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indent="2667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1"/>
                    </a:buClr>
                    <a:buSzPct val="60000"/>
                    <a:buFont typeface="Wingdings" pitchFamily="2" charset="2"/>
                    <a:buChar char="u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60000"/>
                    <a:buFont typeface="Wingdings" pitchFamily="2" charset="2"/>
                    <a:buChar char="t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00000"/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/>
                    <a:t>char    short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/>
                    <a:t>double  signed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/>
                    <a:t>enum    struct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/>
                    <a:t>float   union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/>
                    <a:t>int     unsigned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/>
                    <a:t>long    void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000"/>
                </a:p>
              </p:txBody>
            </p:sp>
            <p:sp>
              <p:nvSpPr>
                <p:cNvPr id="13334" name="Rectangle 22"/>
                <p:cNvSpPr>
                  <a:spLocks noChangeArrowheads="1"/>
                </p:cNvSpPr>
                <p:nvPr/>
              </p:nvSpPr>
              <p:spPr bwMode="auto">
                <a:xfrm>
                  <a:off x="950" y="460"/>
                  <a:ext cx="878" cy="1344"/>
                </a:xfrm>
                <a:prstGeom prst="rect">
                  <a:avLst/>
                </a:prstGeom>
                <a:noFill/>
                <a:ln w="7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1"/>
                    </a:buClr>
                    <a:buSzPct val="60000"/>
                    <a:buFont typeface="Wingdings" pitchFamily="2" charset="2"/>
                    <a:buChar char="u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60000"/>
                    <a:buFont typeface="Wingdings" pitchFamily="2" charset="2"/>
                    <a:buChar char="t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00000"/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b="0"/>
                </a:p>
              </p:txBody>
            </p:sp>
          </p:grpSp>
          <p:grpSp>
            <p:nvGrpSpPr>
              <p:cNvPr id="13327" name="Group 23"/>
              <p:cNvGrpSpPr>
                <a:grpSpLocks/>
              </p:cNvGrpSpPr>
              <p:nvPr/>
            </p:nvGrpSpPr>
            <p:grpSpPr bwMode="auto">
              <a:xfrm>
                <a:off x="1828" y="460"/>
                <a:ext cx="734" cy="1344"/>
                <a:chOff x="1828" y="460"/>
                <a:chExt cx="734" cy="1344"/>
              </a:xfrm>
            </p:grpSpPr>
            <p:sp>
              <p:nvSpPr>
                <p:cNvPr id="13331" name="Rectangle 24"/>
                <p:cNvSpPr>
                  <a:spLocks noChangeArrowheads="1"/>
                </p:cNvSpPr>
                <p:nvPr/>
              </p:nvSpPr>
              <p:spPr bwMode="auto">
                <a:xfrm>
                  <a:off x="1871" y="460"/>
                  <a:ext cx="648" cy="13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indent="2667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1"/>
                    </a:buClr>
                    <a:buSzPct val="60000"/>
                    <a:buFont typeface="Wingdings" pitchFamily="2" charset="2"/>
                    <a:buChar char="u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60000"/>
                    <a:buFont typeface="Wingdings" pitchFamily="2" charset="2"/>
                    <a:buChar char="t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00000"/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200" dirty="0"/>
                    <a:t>auto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200" dirty="0"/>
                    <a:t>extern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200" dirty="0"/>
                    <a:t>static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200" dirty="0"/>
                    <a:t>register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200" dirty="0" err="1"/>
                    <a:t>typedef</a:t>
                  </a:r>
                  <a:endParaRPr lang="en-US" altLang="zh-CN" sz="2200" dirty="0"/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dirty="0"/>
                </a:p>
              </p:txBody>
            </p:sp>
            <p:sp>
              <p:nvSpPr>
                <p:cNvPr id="13332" name="Rectangle 25"/>
                <p:cNvSpPr>
                  <a:spLocks noChangeArrowheads="1"/>
                </p:cNvSpPr>
                <p:nvPr/>
              </p:nvSpPr>
              <p:spPr bwMode="auto">
                <a:xfrm>
                  <a:off x="1828" y="460"/>
                  <a:ext cx="734" cy="1344"/>
                </a:xfrm>
                <a:prstGeom prst="rect">
                  <a:avLst/>
                </a:prstGeom>
                <a:noFill/>
                <a:ln w="7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1"/>
                    </a:buClr>
                    <a:buSzPct val="60000"/>
                    <a:buFont typeface="Wingdings" pitchFamily="2" charset="2"/>
                    <a:buChar char="u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60000"/>
                    <a:buFont typeface="Wingdings" pitchFamily="2" charset="2"/>
                    <a:buChar char="t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00000"/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b="0"/>
                </a:p>
              </p:txBody>
            </p:sp>
          </p:grpSp>
          <p:grpSp>
            <p:nvGrpSpPr>
              <p:cNvPr id="13328" name="Group 26"/>
              <p:cNvGrpSpPr>
                <a:grpSpLocks/>
              </p:cNvGrpSpPr>
              <p:nvPr/>
            </p:nvGrpSpPr>
            <p:grpSpPr bwMode="auto">
              <a:xfrm>
                <a:off x="2562" y="460"/>
                <a:ext cx="734" cy="1344"/>
                <a:chOff x="2562" y="460"/>
                <a:chExt cx="734" cy="1344"/>
              </a:xfrm>
            </p:grpSpPr>
            <p:sp>
              <p:nvSpPr>
                <p:cNvPr id="13329" name="Rectangle 27"/>
                <p:cNvSpPr>
                  <a:spLocks noChangeArrowheads="1"/>
                </p:cNvSpPr>
                <p:nvPr/>
              </p:nvSpPr>
              <p:spPr bwMode="auto">
                <a:xfrm>
                  <a:off x="2605" y="460"/>
                  <a:ext cx="648" cy="13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indent="2667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1"/>
                    </a:buClr>
                    <a:buSzPct val="60000"/>
                    <a:buFont typeface="Wingdings" pitchFamily="2" charset="2"/>
                    <a:buChar char="u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60000"/>
                    <a:buFont typeface="Wingdings" pitchFamily="2" charset="2"/>
                    <a:buChar char="t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00000"/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200"/>
                    <a:t>const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200"/>
                    <a:t>sizeof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200"/>
                    <a:t>volatile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/>
                </a:p>
              </p:txBody>
            </p:sp>
            <p:sp>
              <p:nvSpPr>
                <p:cNvPr id="13330" name="Rectangle 28"/>
                <p:cNvSpPr>
                  <a:spLocks noChangeArrowheads="1"/>
                </p:cNvSpPr>
                <p:nvPr/>
              </p:nvSpPr>
              <p:spPr bwMode="auto">
                <a:xfrm>
                  <a:off x="2562" y="460"/>
                  <a:ext cx="734" cy="1344"/>
                </a:xfrm>
                <a:prstGeom prst="rect">
                  <a:avLst/>
                </a:prstGeom>
                <a:noFill/>
                <a:ln w="7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1"/>
                    </a:buClr>
                    <a:buSzPct val="60000"/>
                    <a:buFont typeface="Wingdings" pitchFamily="2" charset="2"/>
                    <a:buChar char="u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60000"/>
                    <a:buFont typeface="Wingdings" pitchFamily="2" charset="2"/>
                    <a:buChar char="t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00000"/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kumimoji="1" sz="32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b="0"/>
                </a:p>
              </p:txBody>
            </p:sp>
          </p:grpSp>
        </p:grpSp>
        <p:sp>
          <p:nvSpPr>
            <p:cNvPr id="13320" name="Rectangle 29"/>
            <p:cNvSpPr>
              <a:spLocks noChangeArrowheads="1"/>
            </p:cNvSpPr>
            <p:nvPr/>
          </p:nvSpPr>
          <p:spPr bwMode="auto">
            <a:xfrm>
              <a:off x="-3" y="-3"/>
              <a:ext cx="3302" cy="18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1"/>
                </a:buClr>
                <a:buSzPct val="60000"/>
                <a:buFont typeface="Wingdings" pitchFamily="2" charset="2"/>
                <a:buChar char="u"/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0000"/>
                <a:buFont typeface="Wingdings" pitchFamily="2" charset="2"/>
                <a:buChar char="t"/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CC00CC"/>
                </a:buClr>
                <a:buSzPct val="100000"/>
                <a:buChar char="•"/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b="0"/>
            </a:p>
          </p:txBody>
        </p:sp>
      </p:grpSp>
      <p:sp>
        <p:nvSpPr>
          <p:cNvPr id="13316" name="Text Box 30"/>
          <p:cNvSpPr txBox="1">
            <a:spLocks noChangeArrowheads="1"/>
          </p:cNvSpPr>
          <p:nvPr/>
        </p:nvSpPr>
        <p:spPr bwMode="auto">
          <a:xfrm>
            <a:off x="486846" y="4745056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u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t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100000"/>
              <a:buChar char="•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/>
          </a:p>
        </p:txBody>
      </p:sp>
      <p:sp>
        <p:nvSpPr>
          <p:cNvPr id="87071" name="Text Box 31"/>
          <p:cNvSpPr txBox="1">
            <a:spLocks noChangeArrowheads="1"/>
          </p:cNvSpPr>
          <p:nvPr/>
        </p:nvSpPr>
        <p:spPr bwMode="auto">
          <a:xfrm>
            <a:off x="508013" y="5132215"/>
            <a:ext cx="1058121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u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t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100000"/>
              <a:buChar char="•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/>
              <a:t>此外，</a:t>
            </a:r>
            <a:r>
              <a:rPr lang="en-US" altLang="zh-CN" sz="2800" dirty="0"/>
              <a:t>main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printf</a:t>
            </a:r>
            <a:r>
              <a:rPr lang="zh-CN" altLang="en-US" sz="2800" dirty="0"/>
              <a:t>等库函数名，</a:t>
            </a:r>
            <a:r>
              <a:rPr lang="en-US" altLang="zh-CN" sz="2800" dirty="0"/>
              <a:t>include</a:t>
            </a:r>
            <a:r>
              <a:rPr lang="zh-CN" altLang="en-US" sz="2800" dirty="0"/>
              <a:t>、</a:t>
            </a:r>
            <a:r>
              <a:rPr lang="en-US" altLang="zh-CN" sz="2800" dirty="0"/>
              <a:t>define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undef</a:t>
            </a:r>
            <a:r>
              <a:rPr lang="zh-CN" altLang="en-US" sz="2800" dirty="0"/>
              <a:t>、</a:t>
            </a:r>
            <a:r>
              <a:rPr lang="en-US" altLang="zh-CN" sz="2800" dirty="0"/>
              <a:t>ifdef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ifndef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endif</a:t>
            </a:r>
            <a:r>
              <a:rPr lang="zh-CN" altLang="en-US" sz="2800" dirty="0"/>
              <a:t>等在</a:t>
            </a:r>
            <a:r>
              <a:rPr lang="en-US" altLang="zh-CN" sz="2800" dirty="0"/>
              <a:t>C</a:t>
            </a:r>
            <a:r>
              <a:rPr lang="zh-CN" altLang="en-US" sz="2800" dirty="0"/>
              <a:t>语言中具有特定的意义，也不要另作他用。</a:t>
            </a:r>
          </a:p>
        </p:txBody>
      </p:sp>
      <p:sp>
        <p:nvSpPr>
          <p:cNvPr id="34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200" normalizeH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dirty="0"/>
              <a:t>2.1.1 </a:t>
            </a:r>
            <a:r>
              <a:rPr lang="zh-CN" altLang="en-US" dirty="0"/>
              <a:t>字符集与标识符 </a:t>
            </a:r>
          </a:p>
        </p:txBody>
      </p:sp>
    </p:spTree>
    <p:extLst>
      <p:ext uri="{BB962C8B-B14F-4D97-AF65-F5344CB8AC3E}">
        <p14:creationId xmlns:p14="http://schemas.microsoft.com/office/powerpoint/2010/main" val="104249684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7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7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2"/>
          <p:cNvSpPr>
            <a:spLocks/>
          </p:cNvSpPr>
          <p:nvPr/>
        </p:nvSpPr>
        <p:spPr bwMode="auto">
          <a:xfrm>
            <a:off x="2268539" y="1989156"/>
            <a:ext cx="215900" cy="2447925"/>
          </a:xfrm>
          <a:prstGeom prst="leftBrace">
            <a:avLst>
              <a:gd name="adj1" fmla="val 94485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6" name="AutoShape 3"/>
          <p:cNvSpPr>
            <a:spLocks/>
          </p:cNvSpPr>
          <p:nvPr/>
        </p:nvSpPr>
        <p:spPr bwMode="auto">
          <a:xfrm>
            <a:off x="3713176" y="3141663"/>
            <a:ext cx="211137" cy="677862"/>
          </a:xfrm>
          <a:prstGeom prst="leftBrace">
            <a:avLst>
              <a:gd name="adj1" fmla="val 2675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7" name="AutoShape 4"/>
          <p:cNvSpPr>
            <a:spLocks/>
          </p:cNvSpPr>
          <p:nvPr/>
        </p:nvSpPr>
        <p:spPr bwMode="auto">
          <a:xfrm>
            <a:off x="3779849" y="1484331"/>
            <a:ext cx="144463" cy="1296987"/>
          </a:xfrm>
          <a:prstGeom prst="leftBrace">
            <a:avLst>
              <a:gd name="adj1" fmla="val 7481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067175" y="1341456"/>
            <a:ext cx="1550988" cy="217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整型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实型</a:t>
            </a:r>
            <a:r>
              <a:rPr kumimoji="0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(</a:t>
            </a: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浮点型</a:t>
            </a:r>
            <a:r>
              <a:rPr kumimoji="0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)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字符型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枚举类型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数组类型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结构类型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共用体类型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795963" y="1773256"/>
            <a:ext cx="1333500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单精度型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双精度型</a:t>
            </a:r>
          </a:p>
        </p:txBody>
      </p:sp>
      <p:sp>
        <p:nvSpPr>
          <p:cNvPr id="10" name="AutoShape 7"/>
          <p:cNvSpPr>
            <a:spLocks/>
          </p:cNvSpPr>
          <p:nvPr/>
        </p:nvSpPr>
        <p:spPr bwMode="auto">
          <a:xfrm>
            <a:off x="5580063" y="1928831"/>
            <a:ext cx="265112" cy="465137"/>
          </a:xfrm>
          <a:prstGeom prst="leftBrace">
            <a:avLst>
              <a:gd name="adj1" fmla="val 14621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 flipH="1">
            <a:off x="2555877" y="1773238"/>
            <a:ext cx="1100139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基本类型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构造类型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指针类型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空类型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258901" y="2781300"/>
            <a:ext cx="1273175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数据类型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539762" y="4054475"/>
            <a:ext cx="917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4" name="Rectangle 11"/>
          <p:cNvSpPr txBox="1">
            <a:spLocks noChangeArrowheads="1"/>
          </p:cNvSpPr>
          <p:nvPr/>
        </p:nvSpPr>
        <p:spPr bwMode="auto">
          <a:xfrm>
            <a:off x="381000" y="152400"/>
            <a:ext cx="5054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数据类型的分类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900113" y="4941906"/>
            <a:ext cx="7543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400" dirty="0">
              <a:solidFill>
                <a:srgbClr val="3333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Wirth    </a:t>
            </a:r>
            <a:r>
              <a:rPr lang="zh-CN" altLang="en-US" sz="240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程序＝数据结构＋算法</a:t>
            </a:r>
          </a:p>
        </p:txBody>
      </p:sp>
      <p:sp>
        <p:nvSpPr>
          <p:cNvPr id="16" name="AutoShape 15"/>
          <p:cNvSpPr>
            <a:spLocks/>
          </p:cNvSpPr>
          <p:nvPr/>
        </p:nvSpPr>
        <p:spPr bwMode="auto">
          <a:xfrm>
            <a:off x="5003803" y="404813"/>
            <a:ext cx="215900" cy="1008062"/>
          </a:xfrm>
          <a:prstGeom prst="leftBrace">
            <a:avLst>
              <a:gd name="adj1" fmla="val 38909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5219711" y="188922"/>
            <a:ext cx="252095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基本整型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短整型　　　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长整型　　　基本型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无符号型　　短整型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　　　　　　长整型</a:t>
            </a:r>
          </a:p>
        </p:txBody>
      </p:sp>
      <p:sp>
        <p:nvSpPr>
          <p:cNvPr id="18" name="AutoShape 17"/>
          <p:cNvSpPr>
            <a:spLocks/>
          </p:cNvSpPr>
          <p:nvPr/>
        </p:nvSpPr>
        <p:spPr bwMode="auto">
          <a:xfrm>
            <a:off x="6443674" y="981075"/>
            <a:ext cx="144463" cy="719138"/>
          </a:xfrm>
          <a:prstGeom prst="leftBrace">
            <a:avLst>
              <a:gd name="adj1" fmla="val 4148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pic>
        <p:nvPicPr>
          <p:cNvPr id="2050" name="Picture 2" descr="改变世界的十位算法大师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2201" y="4003757"/>
            <a:ext cx="3730694" cy="285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674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2.1.2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整型、实型、字符型数据 </a:t>
            </a:r>
          </a:p>
        </p:txBody>
      </p:sp>
      <p:sp>
        <p:nvSpPr>
          <p:cNvPr id="3" name="矩形 2"/>
          <p:cNvSpPr/>
          <p:nvPr/>
        </p:nvSpPr>
        <p:spPr>
          <a:xfrm>
            <a:off x="7990587" y="504967"/>
            <a:ext cx="402132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sizeof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(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类型标识符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变量名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)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   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计算所占字节数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31C7634-AFF9-EA35-B975-F367FC490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46094"/>
              </p:ext>
            </p:extLst>
          </p:nvPr>
        </p:nvGraphicFramePr>
        <p:xfrm>
          <a:off x="1016001" y="914400"/>
          <a:ext cx="7810501" cy="34618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2322">
                  <a:extLst>
                    <a:ext uri="{9D8B030D-6E8A-4147-A177-3AD203B41FA5}">
                      <a16:colId xmlns:a16="http://schemas.microsoft.com/office/drawing/2014/main" val="2767136317"/>
                    </a:ext>
                  </a:extLst>
                </a:gridCol>
                <a:gridCol w="1281684">
                  <a:extLst>
                    <a:ext uri="{9D8B030D-6E8A-4147-A177-3AD203B41FA5}">
                      <a16:colId xmlns:a16="http://schemas.microsoft.com/office/drawing/2014/main" val="3929462699"/>
                    </a:ext>
                  </a:extLst>
                </a:gridCol>
                <a:gridCol w="1282447">
                  <a:extLst>
                    <a:ext uri="{9D8B030D-6E8A-4147-A177-3AD203B41FA5}">
                      <a16:colId xmlns:a16="http://schemas.microsoft.com/office/drawing/2014/main" val="1331192936"/>
                    </a:ext>
                  </a:extLst>
                </a:gridCol>
                <a:gridCol w="2097024">
                  <a:extLst>
                    <a:ext uri="{9D8B030D-6E8A-4147-A177-3AD203B41FA5}">
                      <a16:colId xmlns:a16="http://schemas.microsoft.com/office/drawing/2014/main" val="2766239353"/>
                    </a:ext>
                  </a:extLst>
                </a:gridCol>
                <a:gridCol w="2097024">
                  <a:extLst>
                    <a:ext uri="{9D8B030D-6E8A-4147-A177-3AD203B41FA5}">
                      <a16:colId xmlns:a16="http://schemas.microsoft.com/office/drawing/2014/main" val="3056382480"/>
                    </a:ext>
                  </a:extLst>
                </a:gridCol>
              </a:tblGrid>
              <a:tr h="732949"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常用的基本数据类型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 dirty="0">
                          <a:effectLst/>
                        </a:rPr>
                        <a:t>字节数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类型标识符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名称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数值范围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extLst>
                  <a:ext uri="{0D108BD9-81ED-4DB2-BD59-A6C34878D82A}">
                    <a16:rowId xmlns:a16="http://schemas.microsoft.com/office/drawing/2014/main" val="659554524"/>
                  </a:ext>
                </a:extLst>
              </a:tr>
              <a:tr h="442992">
                <a:tc rowSpan="6"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整型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2</a:t>
                      </a:r>
                      <a:r>
                        <a:rPr lang="zh-CN" sz="1600" kern="100">
                          <a:effectLst/>
                        </a:rPr>
                        <a:t>（</a:t>
                      </a:r>
                      <a:r>
                        <a:rPr lang="en-US" sz="1600" kern="100">
                          <a:effectLst/>
                        </a:rPr>
                        <a:t>16bit</a:t>
                      </a:r>
                      <a:r>
                        <a:rPr lang="zh-CN" sz="1600" kern="100">
                          <a:effectLst/>
                        </a:rPr>
                        <a:t>）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short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短整型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-32768</a:t>
                      </a:r>
                      <a:r>
                        <a:rPr lang="zh-CN" sz="1600" kern="100">
                          <a:effectLst/>
                        </a:rPr>
                        <a:t>～</a:t>
                      </a:r>
                      <a:r>
                        <a:rPr lang="en-US" sz="1600" kern="100">
                          <a:effectLst/>
                        </a:rPr>
                        <a:t>32767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extLst>
                  <a:ext uri="{0D108BD9-81ED-4DB2-BD59-A6C34878D82A}">
                    <a16:rowId xmlns:a16="http://schemas.microsoft.com/office/drawing/2014/main" val="4138134125"/>
                  </a:ext>
                </a:extLst>
              </a:tr>
              <a:tr h="4429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r>
                        <a:rPr lang="zh-CN" sz="1600" kern="100">
                          <a:effectLst/>
                        </a:rPr>
                        <a:t>（</a:t>
                      </a:r>
                      <a:r>
                        <a:rPr lang="en-US" sz="1600" kern="100">
                          <a:effectLst/>
                        </a:rPr>
                        <a:t>32bit</a:t>
                      </a:r>
                      <a:r>
                        <a:rPr lang="zh-CN" sz="1600" kern="100">
                          <a:effectLst/>
                        </a:rPr>
                        <a:t>）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int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基本整型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-2</a:t>
                      </a:r>
                      <a:r>
                        <a:rPr lang="en-US" sz="1600" kern="100" baseline="30000">
                          <a:effectLst/>
                        </a:rPr>
                        <a:t>31</a:t>
                      </a:r>
                      <a:r>
                        <a:rPr lang="zh-CN" sz="1600" kern="100">
                          <a:effectLst/>
                        </a:rPr>
                        <a:t>～</a:t>
                      </a:r>
                      <a:r>
                        <a:rPr lang="en-US" sz="1600" kern="100">
                          <a:effectLst/>
                        </a:rPr>
                        <a:t>2</a:t>
                      </a:r>
                      <a:r>
                        <a:rPr lang="en-US" sz="1600" kern="100" baseline="30000">
                          <a:effectLst/>
                        </a:rPr>
                        <a:t>31</a:t>
                      </a:r>
                      <a:r>
                        <a:rPr lang="en-US" sz="1600" kern="100">
                          <a:effectLst/>
                        </a:rPr>
                        <a:t>-1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extLst>
                  <a:ext uri="{0D108BD9-81ED-4DB2-BD59-A6C34878D82A}">
                    <a16:rowId xmlns:a16="http://schemas.microsoft.com/office/drawing/2014/main" val="2937712328"/>
                  </a:ext>
                </a:extLst>
              </a:tr>
              <a:tr h="4429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r>
                        <a:rPr lang="zh-CN" sz="1600" kern="100">
                          <a:effectLst/>
                        </a:rPr>
                        <a:t>（</a:t>
                      </a:r>
                      <a:r>
                        <a:rPr lang="en-US" sz="1600" kern="100">
                          <a:effectLst/>
                        </a:rPr>
                        <a:t>32bit</a:t>
                      </a:r>
                      <a:r>
                        <a:rPr lang="zh-CN" sz="1600" kern="100">
                          <a:effectLst/>
                        </a:rPr>
                        <a:t>）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long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长整型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-2</a:t>
                      </a:r>
                      <a:r>
                        <a:rPr lang="en-US" sz="1600" kern="100" baseline="30000">
                          <a:effectLst/>
                        </a:rPr>
                        <a:t>31</a:t>
                      </a:r>
                      <a:r>
                        <a:rPr lang="zh-CN" sz="1600" kern="100">
                          <a:effectLst/>
                        </a:rPr>
                        <a:t>～</a:t>
                      </a:r>
                      <a:r>
                        <a:rPr lang="en-US" sz="1600" kern="100">
                          <a:effectLst/>
                        </a:rPr>
                        <a:t>2</a:t>
                      </a:r>
                      <a:r>
                        <a:rPr lang="en-US" sz="1600" kern="100" baseline="30000">
                          <a:effectLst/>
                        </a:rPr>
                        <a:t>31</a:t>
                      </a:r>
                      <a:r>
                        <a:rPr lang="en-US" sz="1600" kern="100">
                          <a:effectLst/>
                        </a:rPr>
                        <a:t>-1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extLst>
                  <a:ext uri="{0D108BD9-81ED-4DB2-BD59-A6C34878D82A}">
                    <a16:rowId xmlns:a16="http://schemas.microsoft.com/office/drawing/2014/main" val="4204165831"/>
                  </a:ext>
                </a:extLst>
              </a:tr>
              <a:tr h="4429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2</a:t>
                      </a:r>
                      <a:r>
                        <a:rPr lang="zh-CN" sz="1600" kern="100">
                          <a:effectLst/>
                        </a:rPr>
                        <a:t>（</a:t>
                      </a:r>
                      <a:r>
                        <a:rPr lang="en-US" sz="1600" kern="100">
                          <a:effectLst/>
                        </a:rPr>
                        <a:t>16bit</a:t>
                      </a:r>
                      <a:r>
                        <a:rPr lang="zh-CN" sz="1600" kern="100">
                          <a:effectLst/>
                        </a:rPr>
                        <a:t>）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unsigned short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无符号短</a:t>
                      </a:r>
                      <a:r>
                        <a:rPr lang="en-US" sz="1600" kern="100">
                          <a:effectLst/>
                        </a:rPr>
                        <a:t>整型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0</a:t>
                      </a:r>
                      <a:r>
                        <a:rPr lang="zh-CN" sz="1600" kern="100">
                          <a:effectLst/>
                        </a:rPr>
                        <a:t>～</a:t>
                      </a:r>
                      <a:r>
                        <a:rPr lang="en-US" sz="1600" kern="100">
                          <a:effectLst/>
                        </a:rPr>
                        <a:t>65535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extLst>
                  <a:ext uri="{0D108BD9-81ED-4DB2-BD59-A6C34878D82A}">
                    <a16:rowId xmlns:a16="http://schemas.microsoft.com/office/drawing/2014/main" val="2894170579"/>
                  </a:ext>
                </a:extLst>
              </a:tr>
              <a:tr h="4429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r>
                        <a:rPr lang="zh-CN" sz="1600" kern="100">
                          <a:effectLst/>
                        </a:rPr>
                        <a:t>（</a:t>
                      </a:r>
                      <a:r>
                        <a:rPr lang="en-US" sz="1600" kern="100">
                          <a:effectLst/>
                        </a:rPr>
                        <a:t>32bit</a:t>
                      </a:r>
                      <a:r>
                        <a:rPr lang="zh-CN" sz="1600" kern="100">
                          <a:effectLst/>
                        </a:rPr>
                        <a:t>）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unsigned int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无符号基本</a:t>
                      </a:r>
                      <a:r>
                        <a:rPr lang="en-US" sz="1600" kern="100">
                          <a:effectLst/>
                        </a:rPr>
                        <a:t>整型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0</a:t>
                      </a:r>
                      <a:r>
                        <a:rPr lang="zh-CN" sz="1600" kern="100">
                          <a:effectLst/>
                        </a:rPr>
                        <a:t>～</a:t>
                      </a:r>
                      <a:r>
                        <a:rPr lang="en-US" sz="1600" kern="100">
                          <a:effectLst/>
                        </a:rPr>
                        <a:t>2</a:t>
                      </a:r>
                      <a:r>
                        <a:rPr lang="en-US" sz="1600" kern="100" baseline="30000">
                          <a:effectLst/>
                        </a:rPr>
                        <a:t>32</a:t>
                      </a:r>
                      <a:r>
                        <a:rPr lang="en-US" sz="1600" kern="100">
                          <a:effectLst/>
                        </a:rPr>
                        <a:t>-1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extLst>
                  <a:ext uri="{0D108BD9-81ED-4DB2-BD59-A6C34878D82A}">
                    <a16:rowId xmlns:a16="http://schemas.microsoft.com/office/drawing/2014/main" val="3806018197"/>
                  </a:ext>
                </a:extLst>
              </a:tr>
              <a:tr h="4429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r>
                        <a:rPr lang="zh-CN" sz="1600" kern="100">
                          <a:effectLst/>
                        </a:rPr>
                        <a:t>（</a:t>
                      </a:r>
                      <a:r>
                        <a:rPr lang="en-US" sz="1600" kern="100">
                          <a:effectLst/>
                        </a:rPr>
                        <a:t>32bit</a:t>
                      </a:r>
                      <a:r>
                        <a:rPr lang="zh-CN" sz="1600" kern="100">
                          <a:effectLst/>
                        </a:rPr>
                        <a:t>）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unsigned long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无符号长整型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600"/>
                        </a:spcBef>
                        <a:spcAft>
                          <a:spcPts val="240"/>
                        </a:spcAft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 dirty="0">
                          <a:effectLst/>
                        </a:rPr>
                        <a:t>0</a:t>
                      </a:r>
                      <a:r>
                        <a:rPr lang="zh-CN" sz="1600" kern="100" dirty="0">
                          <a:effectLst/>
                        </a:rPr>
                        <a:t>～</a:t>
                      </a:r>
                      <a:r>
                        <a:rPr lang="en-US" sz="1600" kern="100" dirty="0">
                          <a:effectLst/>
                        </a:rPr>
                        <a:t>2</a:t>
                      </a:r>
                      <a:r>
                        <a:rPr lang="en-US" sz="1600" kern="100" baseline="30000" dirty="0">
                          <a:effectLst/>
                        </a:rPr>
                        <a:t>32</a:t>
                      </a:r>
                      <a:r>
                        <a:rPr lang="en-US" sz="1600" kern="100" dirty="0">
                          <a:effectLst/>
                        </a:rPr>
                        <a:t>-1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extLst>
                  <a:ext uri="{0D108BD9-81ED-4DB2-BD59-A6C34878D82A}">
                    <a16:rowId xmlns:a16="http://schemas.microsoft.com/office/drawing/2014/main" val="381364383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56EEA53-A100-BEF7-665F-DDD5D8B71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985094"/>
              </p:ext>
            </p:extLst>
          </p:nvPr>
        </p:nvGraphicFramePr>
        <p:xfrm>
          <a:off x="1015999" y="4325619"/>
          <a:ext cx="7810501" cy="23541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2322">
                  <a:extLst>
                    <a:ext uri="{9D8B030D-6E8A-4147-A177-3AD203B41FA5}">
                      <a16:colId xmlns:a16="http://schemas.microsoft.com/office/drawing/2014/main" val="2137821884"/>
                    </a:ext>
                  </a:extLst>
                </a:gridCol>
                <a:gridCol w="1281684">
                  <a:extLst>
                    <a:ext uri="{9D8B030D-6E8A-4147-A177-3AD203B41FA5}">
                      <a16:colId xmlns:a16="http://schemas.microsoft.com/office/drawing/2014/main" val="1035089352"/>
                    </a:ext>
                  </a:extLst>
                </a:gridCol>
                <a:gridCol w="1282447">
                  <a:extLst>
                    <a:ext uri="{9D8B030D-6E8A-4147-A177-3AD203B41FA5}">
                      <a16:colId xmlns:a16="http://schemas.microsoft.com/office/drawing/2014/main" val="2272449968"/>
                    </a:ext>
                  </a:extLst>
                </a:gridCol>
                <a:gridCol w="2097024">
                  <a:extLst>
                    <a:ext uri="{9D8B030D-6E8A-4147-A177-3AD203B41FA5}">
                      <a16:colId xmlns:a16="http://schemas.microsoft.com/office/drawing/2014/main" val="3816006795"/>
                    </a:ext>
                  </a:extLst>
                </a:gridCol>
                <a:gridCol w="2097024">
                  <a:extLst>
                    <a:ext uri="{9D8B030D-6E8A-4147-A177-3AD203B41FA5}">
                      <a16:colId xmlns:a16="http://schemas.microsoft.com/office/drawing/2014/main" val="2020259599"/>
                    </a:ext>
                  </a:extLst>
                </a:gridCol>
              </a:tblGrid>
              <a:tr h="653214">
                <a:tc rowSpan="2">
                  <a:txBody>
                    <a:bodyPr/>
                    <a:lstStyle/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 dirty="0">
                          <a:effectLst/>
                        </a:rPr>
                        <a:t>实型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 dirty="0">
                          <a:effectLst/>
                        </a:rPr>
                        <a:t>4</a:t>
                      </a:r>
                      <a:r>
                        <a:rPr lang="zh-CN" sz="1600" kern="100" dirty="0">
                          <a:effectLst/>
                        </a:rPr>
                        <a:t>（</a:t>
                      </a:r>
                      <a:r>
                        <a:rPr lang="en-US" sz="1600" kern="100" dirty="0">
                          <a:effectLst/>
                        </a:rPr>
                        <a:t>32bit</a:t>
                      </a:r>
                      <a:r>
                        <a:rPr lang="zh-CN" sz="1600" kern="100" dirty="0">
                          <a:effectLst/>
                        </a:rPr>
                        <a:t>）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 dirty="0">
                          <a:effectLst/>
                        </a:rPr>
                        <a:t>float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单精度实型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 dirty="0">
                          <a:effectLst/>
                        </a:rPr>
                        <a:t>-3.4E38 </a:t>
                      </a:r>
                      <a:r>
                        <a:rPr lang="zh-CN" sz="1600" kern="100" dirty="0">
                          <a:effectLst/>
                        </a:rPr>
                        <a:t>～</a:t>
                      </a:r>
                      <a:r>
                        <a:rPr lang="en-US" sz="1600" kern="100" dirty="0">
                          <a:effectLst/>
                        </a:rPr>
                        <a:t> 3.4E38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 dirty="0">
                          <a:effectLst/>
                        </a:rPr>
                        <a:t>（有效位数为</a:t>
                      </a:r>
                      <a:r>
                        <a:rPr lang="en-US" sz="1600" kern="100" dirty="0">
                          <a:effectLst/>
                        </a:rPr>
                        <a:t> 6 </a:t>
                      </a:r>
                      <a:r>
                        <a:rPr lang="zh-CN" sz="1600" kern="100" dirty="0">
                          <a:effectLst/>
                        </a:rPr>
                        <a:t>位）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extLst>
                  <a:ext uri="{0D108BD9-81ED-4DB2-BD59-A6C34878D82A}">
                    <a16:rowId xmlns:a16="http://schemas.microsoft.com/office/drawing/2014/main" val="3544911598"/>
                  </a:ext>
                </a:extLst>
              </a:tr>
              <a:tr h="65321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 dirty="0">
                          <a:effectLst/>
                        </a:rPr>
                        <a:t>8</a:t>
                      </a:r>
                      <a:r>
                        <a:rPr lang="zh-CN" sz="1600" kern="100" dirty="0">
                          <a:effectLst/>
                        </a:rPr>
                        <a:t>（</a:t>
                      </a:r>
                      <a:r>
                        <a:rPr lang="en-US" sz="1600" kern="100" dirty="0">
                          <a:effectLst/>
                        </a:rPr>
                        <a:t>64bit</a:t>
                      </a:r>
                      <a:r>
                        <a:rPr lang="zh-CN" sz="1600" kern="100" dirty="0">
                          <a:effectLst/>
                        </a:rPr>
                        <a:t>）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 dirty="0">
                          <a:effectLst/>
                        </a:rPr>
                        <a:t>double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 dirty="0">
                          <a:effectLst/>
                        </a:rPr>
                        <a:t>双精度实型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 dirty="0">
                          <a:effectLst/>
                        </a:rPr>
                        <a:t>-1.7E308 </a:t>
                      </a:r>
                      <a:r>
                        <a:rPr lang="zh-CN" sz="1600" kern="100" dirty="0">
                          <a:effectLst/>
                        </a:rPr>
                        <a:t>～</a:t>
                      </a:r>
                      <a:r>
                        <a:rPr lang="en-US" sz="1600" kern="100" dirty="0">
                          <a:effectLst/>
                        </a:rPr>
                        <a:t> 1.7E308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 dirty="0">
                          <a:effectLst/>
                        </a:rPr>
                        <a:t>（有效位数为</a:t>
                      </a:r>
                      <a:r>
                        <a:rPr lang="en-US" sz="1600" kern="100" dirty="0">
                          <a:effectLst/>
                        </a:rPr>
                        <a:t> 16 </a:t>
                      </a:r>
                      <a:r>
                        <a:rPr lang="zh-CN" sz="1600" kern="100" dirty="0">
                          <a:effectLst/>
                        </a:rPr>
                        <a:t>位）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extLst>
                  <a:ext uri="{0D108BD9-81ED-4DB2-BD59-A6C34878D82A}">
                    <a16:rowId xmlns:a16="http://schemas.microsoft.com/office/drawing/2014/main" val="3330409386"/>
                  </a:ext>
                </a:extLst>
              </a:tr>
              <a:tr h="911629">
                <a:tc>
                  <a:txBody>
                    <a:bodyPr/>
                    <a:lstStyle/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字符型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1</a:t>
                      </a:r>
                      <a:r>
                        <a:rPr lang="zh-CN" sz="1600" kern="100">
                          <a:effectLst/>
                        </a:rPr>
                        <a:t>（</a:t>
                      </a:r>
                      <a:r>
                        <a:rPr lang="en-US" sz="1600" kern="100">
                          <a:effectLst/>
                        </a:rPr>
                        <a:t>8bit</a:t>
                      </a:r>
                      <a:r>
                        <a:rPr lang="zh-CN" sz="1600" kern="100">
                          <a:effectLst/>
                        </a:rPr>
                        <a:t>）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char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字符型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 dirty="0">
                          <a:effectLst/>
                        </a:rPr>
                        <a:t>0</a:t>
                      </a:r>
                      <a:r>
                        <a:rPr lang="zh-CN" sz="1600" kern="100" dirty="0">
                          <a:effectLst/>
                        </a:rPr>
                        <a:t>～</a:t>
                      </a:r>
                      <a:r>
                        <a:rPr lang="en-US" sz="1600" kern="100" dirty="0">
                          <a:effectLst/>
                        </a:rPr>
                        <a:t>255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 dirty="0">
                          <a:effectLst/>
                        </a:rPr>
                        <a:t>在内存中以相应</a:t>
                      </a:r>
                      <a:r>
                        <a:rPr lang="en-US" sz="1600" kern="100" dirty="0">
                          <a:effectLst/>
                        </a:rPr>
                        <a:t> ASCII </a:t>
                      </a:r>
                      <a:r>
                        <a:rPr lang="zh-CN" sz="1600" kern="100" dirty="0">
                          <a:effectLst/>
                        </a:rPr>
                        <a:t>码存储（见附录</a:t>
                      </a:r>
                      <a:r>
                        <a:rPr lang="en-US" sz="1600" kern="100" dirty="0">
                          <a:effectLst/>
                        </a:rPr>
                        <a:t> A</a:t>
                      </a:r>
                      <a:r>
                        <a:rPr lang="zh-CN" sz="1600" kern="100" dirty="0">
                          <a:effectLst/>
                        </a:rPr>
                        <a:t>）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36195"/>
                </a:tc>
                <a:extLst>
                  <a:ext uri="{0D108BD9-81ED-4DB2-BD59-A6C34878D82A}">
                    <a16:rowId xmlns:a16="http://schemas.microsoft.com/office/drawing/2014/main" val="2039442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1153282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9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4"/>
          <p:cNvSpPr>
            <a:spLocks/>
          </p:cNvSpPr>
          <p:nvPr/>
        </p:nvSpPr>
        <p:spPr bwMode="auto">
          <a:xfrm>
            <a:off x="2389961" y="2874218"/>
            <a:ext cx="72231" cy="2703622"/>
          </a:xfrm>
          <a:prstGeom prst="leftBrace">
            <a:avLst>
              <a:gd name="adj1" fmla="val 7481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677286" y="2731344"/>
            <a:ext cx="2376499" cy="217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整型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实型</a:t>
            </a:r>
            <a:r>
              <a:rPr kumimoji="0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(</a:t>
            </a: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浮点型</a:t>
            </a:r>
            <a:r>
              <a:rPr kumimoji="0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)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dirty="0">
              <a:solidFill>
                <a:srgbClr val="EB27C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dirty="0">
              <a:solidFill>
                <a:srgbClr val="EB27C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字符型         </a:t>
            </a:r>
            <a:r>
              <a:rPr kumimoji="0" lang="en-US" altLang="zh-CN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char</a:t>
            </a:r>
            <a:endParaRPr kumimoji="0" lang="zh-CN" altLang="en-US" sz="2000" dirty="0">
              <a:solidFill>
                <a:srgbClr val="EB27C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枚举类型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406074" y="3748360"/>
            <a:ext cx="3878389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单精度型    </a:t>
            </a:r>
            <a:r>
              <a:rPr kumimoji="0" lang="en-US" altLang="zh-CN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float</a:t>
            </a:r>
            <a:endParaRPr kumimoji="0" lang="zh-CN" altLang="en-US" sz="2000" dirty="0">
              <a:solidFill>
                <a:srgbClr val="EB27C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双精度型    </a:t>
            </a:r>
            <a:r>
              <a:rPr kumimoji="0" lang="en-US" altLang="zh-CN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double</a:t>
            </a:r>
            <a:endParaRPr kumimoji="0" lang="zh-CN" altLang="en-US" sz="2000" dirty="0">
              <a:solidFill>
                <a:srgbClr val="EB27C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0" name="AutoShape 7"/>
          <p:cNvSpPr>
            <a:spLocks/>
          </p:cNvSpPr>
          <p:nvPr/>
        </p:nvSpPr>
        <p:spPr bwMode="auto">
          <a:xfrm>
            <a:off x="4190175" y="3849071"/>
            <a:ext cx="265112" cy="465137"/>
          </a:xfrm>
          <a:prstGeom prst="leftBrace">
            <a:avLst>
              <a:gd name="adj1" fmla="val 14621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 flipH="1">
            <a:off x="1165988" y="3309430"/>
            <a:ext cx="1100139" cy="126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基本类型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539762" y="4054475"/>
            <a:ext cx="917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7227761" y="916595"/>
            <a:ext cx="4659439" cy="507831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indent="-285750" eaLnBrk="1" hangingPunct="1">
              <a:spcBef>
                <a:spcPts val="0"/>
              </a:spcBef>
              <a:buClrTx/>
              <a:buFont typeface="Arial" panose="020B0604020202020204" pitchFamily="34" charset="0"/>
              <a:buChar char="•"/>
              <a:tabLst>
                <a:tab pos="1609725" algn="l"/>
              </a:tabLst>
            </a:pPr>
            <a:r>
              <a:rPr kumimoji="0" lang="en-US" altLang="zh-CN" sz="2400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eg1</a:t>
            </a:r>
            <a:r>
              <a:rPr kumimoji="0" lang="zh-CN" altLang="en-US" sz="2400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：</a:t>
            </a:r>
            <a:endParaRPr kumimoji="0" lang="en-US" altLang="zh-CN" sz="2400" spc="150" noProof="1">
              <a:solidFill>
                <a:srgbClr val="5596CD">
                  <a:lumMod val="50000"/>
                </a:srgbClr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lvl="0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zh-CN" sz="2400" b="0" dirty="0" err="1">
                <a:solidFill>
                  <a:srgbClr val="0070C0"/>
                </a:solidFill>
                <a:latin typeface="Times New Roman"/>
                <a:ea typeface="宋体"/>
              </a:rPr>
              <a:t>int</a:t>
            </a:r>
            <a:r>
              <a:rPr kumimoji="0" lang="en-US" altLang="zh-CN" sz="2400" b="0" dirty="0">
                <a:solidFill>
                  <a:srgbClr val="0070C0"/>
                </a:solidFill>
                <a:latin typeface="Times New Roman"/>
                <a:ea typeface="宋体"/>
              </a:rPr>
              <a:t> x = 5; </a:t>
            </a:r>
          </a:p>
          <a:p>
            <a:pPr lvl="0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zh-CN" sz="2400" b="0" dirty="0">
                <a:solidFill>
                  <a:srgbClr val="0070C0"/>
                </a:solidFill>
                <a:latin typeface="Times New Roman"/>
                <a:ea typeface="宋体"/>
              </a:rPr>
              <a:t>long y = 100000;         </a:t>
            </a:r>
          </a:p>
          <a:p>
            <a:pPr lvl="0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zh-CN" sz="2400" b="0" dirty="0">
                <a:solidFill>
                  <a:srgbClr val="0070C0"/>
                </a:solidFill>
                <a:latin typeface="Times New Roman"/>
                <a:ea typeface="宋体"/>
              </a:rPr>
              <a:t>        </a:t>
            </a:r>
            <a:r>
              <a:rPr kumimoji="0" lang="en-US" altLang="zh-CN" sz="2400" b="0" dirty="0" err="1">
                <a:solidFill>
                  <a:srgbClr val="0070C0"/>
                </a:solidFill>
                <a:latin typeface="Times New Roman"/>
                <a:ea typeface="宋体"/>
              </a:rPr>
              <a:t>printf</a:t>
            </a:r>
            <a:r>
              <a:rPr kumimoji="0" lang="en-US" altLang="zh-CN" sz="2400" b="0" dirty="0">
                <a:solidFill>
                  <a:srgbClr val="0070C0"/>
                </a:solidFill>
                <a:latin typeface="Times New Roman"/>
                <a:ea typeface="宋体"/>
              </a:rPr>
              <a:t> ("%d", </a:t>
            </a:r>
            <a:r>
              <a:rPr kumimoji="0" lang="en-US" altLang="zh-CN" sz="2400" b="0" dirty="0" err="1">
                <a:solidFill>
                  <a:srgbClr val="EB27C6"/>
                </a:solidFill>
                <a:latin typeface="Times New Roman"/>
                <a:ea typeface="宋体"/>
              </a:rPr>
              <a:t>sizeof</a:t>
            </a:r>
            <a:r>
              <a:rPr kumimoji="0" lang="en-US" altLang="zh-CN" sz="2400" b="0" dirty="0">
                <a:solidFill>
                  <a:srgbClr val="0070C0"/>
                </a:solidFill>
                <a:latin typeface="Times New Roman"/>
                <a:ea typeface="宋体"/>
              </a:rPr>
              <a:t>(</a:t>
            </a:r>
            <a:r>
              <a:rPr kumimoji="0" lang="en-US" altLang="zh-CN" sz="2400" b="0" dirty="0" err="1">
                <a:solidFill>
                  <a:srgbClr val="0070C0"/>
                </a:solidFill>
                <a:latin typeface="Times New Roman"/>
                <a:ea typeface="宋体"/>
              </a:rPr>
              <a:t>int</a:t>
            </a:r>
            <a:r>
              <a:rPr kumimoji="0" lang="en-US" altLang="zh-CN" sz="2400" b="0" dirty="0">
                <a:solidFill>
                  <a:srgbClr val="0070C0"/>
                </a:solidFill>
                <a:latin typeface="Times New Roman"/>
                <a:ea typeface="宋体"/>
              </a:rPr>
              <a:t>) );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zh-CN" sz="2400" b="0" dirty="0">
                <a:solidFill>
                  <a:srgbClr val="000000"/>
                </a:solidFill>
                <a:latin typeface="Times New Roman"/>
                <a:ea typeface="宋体"/>
              </a:rPr>
              <a:t>        //</a:t>
            </a:r>
            <a:r>
              <a:rPr kumimoji="0" lang="zh-CN" altLang="en-US" sz="2400" b="0" dirty="0">
                <a:solidFill>
                  <a:srgbClr val="000000"/>
                </a:solidFill>
                <a:latin typeface="Times New Roman"/>
                <a:ea typeface="宋体"/>
              </a:rPr>
              <a:t>计算所占字节数</a:t>
            </a:r>
          </a:p>
          <a:p>
            <a:pPr lvl="0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zh-CN" sz="2400" b="0" dirty="0">
                <a:solidFill>
                  <a:srgbClr val="0070C0"/>
                </a:solidFill>
                <a:latin typeface="Times New Roman"/>
                <a:ea typeface="宋体"/>
                <a:cs typeface="Times New Roman" pitchFamily="18" charset="0"/>
              </a:rPr>
              <a:t>float   s = 3.2;</a:t>
            </a:r>
          </a:p>
          <a:p>
            <a:pPr lvl="0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zh-CN" sz="2400" b="0" dirty="0">
                <a:solidFill>
                  <a:srgbClr val="0070C0"/>
                </a:solidFill>
                <a:latin typeface="Times New Roman"/>
                <a:ea typeface="宋体"/>
                <a:cs typeface="Times New Roman" pitchFamily="18" charset="0"/>
              </a:rPr>
              <a:t>double t = 5.1; </a:t>
            </a:r>
          </a:p>
          <a:p>
            <a:pPr lvl="0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zh-CN" sz="2400" b="0" dirty="0">
                <a:solidFill>
                  <a:srgbClr val="0070C0"/>
                </a:solidFill>
                <a:latin typeface="Times New Roman"/>
                <a:ea typeface="宋体"/>
                <a:cs typeface="Times New Roman" pitchFamily="18" charset="0"/>
              </a:rPr>
              <a:t>char z = 'A';</a:t>
            </a:r>
          </a:p>
          <a:p>
            <a:pPr lvl="0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zh-CN" sz="2400" b="0" dirty="0">
                <a:solidFill>
                  <a:srgbClr val="0070C0"/>
                </a:solidFill>
                <a:latin typeface="Times New Roman"/>
                <a:ea typeface="宋体"/>
                <a:cs typeface="Times New Roman" pitchFamily="18" charset="0"/>
              </a:rPr>
              <a:t>         </a:t>
            </a:r>
            <a:r>
              <a:rPr kumimoji="0" lang="en-US" altLang="zh-CN" sz="2400" b="0" dirty="0">
                <a:solidFill>
                  <a:schemeClr val="tx1"/>
                </a:solidFill>
                <a:latin typeface="Times New Roman"/>
                <a:ea typeface="宋体"/>
                <a:cs typeface="Times New Roman" pitchFamily="18" charset="0"/>
              </a:rPr>
              <a:t>ASCII</a:t>
            </a:r>
            <a:r>
              <a:rPr kumimoji="0" lang="zh-CN" altLang="en-US" sz="2400" b="0" dirty="0">
                <a:solidFill>
                  <a:schemeClr val="tx1"/>
                </a:solidFill>
                <a:latin typeface="Times New Roman"/>
                <a:ea typeface="宋体"/>
                <a:cs typeface="Times New Roman" pitchFamily="18" charset="0"/>
              </a:rPr>
              <a:t>码为</a:t>
            </a:r>
            <a:r>
              <a:rPr kumimoji="0" lang="en-US" altLang="zh-CN" sz="2400" b="0" dirty="0">
                <a:solidFill>
                  <a:schemeClr val="tx1"/>
                </a:solidFill>
                <a:latin typeface="Times New Roman"/>
                <a:ea typeface="宋体"/>
                <a:cs typeface="Times New Roman" pitchFamily="18" charset="0"/>
              </a:rPr>
              <a:t>65:    01000001</a:t>
            </a:r>
          </a:p>
        </p:txBody>
      </p:sp>
      <p:sp>
        <p:nvSpPr>
          <p:cNvPr id="16" name="AutoShape 15"/>
          <p:cNvSpPr>
            <a:spLocks/>
          </p:cNvSpPr>
          <p:nvPr/>
        </p:nvSpPr>
        <p:spPr bwMode="auto">
          <a:xfrm>
            <a:off x="3613915" y="1794701"/>
            <a:ext cx="215900" cy="1008062"/>
          </a:xfrm>
          <a:prstGeom prst="leftBrace">
            <a:avLst>
              <a:gd name="adj1" fmla="val 38909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3829823" y="1578810"/>
            <a:ext cx="293673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基本整型     </a:t>
            </a:r>
            <a:r>
              <a:rPr lang="en-US" altLang="zh-CN" sz="2000" dirty="0" err="1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int</a:t>
            </a:r>
            <a:endParaRPr lang="zh-CN" altLang="en-US" sz="2000" dirty="0">
              <a:solidFill>
                <a:srgbClr val="EB27C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短整型　　　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长整型        </a:t>
            </a:r>
            <a:r>
              <a:rPr lang="en-US" altLang="zh-CN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long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无符号型      基本型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　　             短整型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　　　　　　长整型</a:t>
            </a:r>
          </a:p>
        </p:txBody>
      </p:sp>
      <p:sp>
        <p:nvSpPr>
          <p:cNvPr id="18" name="AutoShape 17"/>
          <p:cNvSpPr>
            <a:spLocks/>
          </p:cNvSpPr>
          <p:nvPr/>
        </p:nvSpPr>
        <p:spPr bwMode="auto">
          <a:xfrm>
            <a:off x="5053786" y="2645283"/>
            <a:ext cx="144463" cy="719138"/>
          </a:xfrm>
          <a:prstGeom prst="leftBrace">
            <a:avLst>
              <a:gd name="adj1" fmla="val 4148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en-US" altLang="zh-CN" dirty="0">
                <a:solidFill>
                  <a:srgbClr val="000000"/>
                </a:solidFill>
              </a:rPr>
              <a:t>2.1.2 </a:t>
            </a:r>
            <a:r>
              <a:rPr lang="zh-CN" altLang="en-US" dirty="0">
                <a:solidFill>
                  <a:srgbClr val="000000"/>
                </a:solidFill>
              </a:rPr>
              <a:t>整型、实型、字符型数据 </a:t>
            </a:r>
            <a:endParaRPr kumimoji="0" lang="zh-CN" altLang="en-US" sz="3600" b="1" i="0" u="none" strike="noStrike" kern="1200" cap="none" spc="20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j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5018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10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4"/>
          <p:cNvSpPr>
            <a:spLocks/>
          </p:cNvSpPr>
          <p:nvPr/>
        </p:nvSpPr>
        <p:spPr bwMode="auto">
          <a:xfrm>
            <a:off x="1585289" y="2874218"/>
            <a:ext cx="72231" cy="2996230"/>
          </a:xfrm>
          <a:prstGeom prst="leftBrace">
            <a:avLst>
              <a:gd name="adj1" fmla="val 7481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872614" y="2731344"/>
            <a:ext cx="3193162" cy="217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整型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实型</a:t>
            </a:r>
            <a:r>
              <a:rPr kumimoji="0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(</a:t>
            </a: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浮点型</a:t>
            </a:r>
            <a:r>
              <a:rPr kumimoji="0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)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dirty="0">
              <a:solidFill>
                <a:srgbClr val="EB27C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dirty="0">
              <a:solidFill>
                <a:srgbClr val="EB27C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字符型        </a:t>
            </a:r>
            <a:r>
              <a:rPr kumimoji="0" lang="zh-CN" altLang="en-US" sz="2000" dirty="0">
                <a:solidFill>
                  <a:srgbClr val="54A5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</a:t>
            </a:r>
            <a:r>
              <a:rPr kumimoji="0" lang="en-US" altLang="zh-CN" sz="2000" dirty="0">
                <a:solidFill>
                  <a:srgbClr val="54A5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char z = </a:t>
            </a:r>
            <a:r>
              <a:rPr kumimoji="0" lang="en-US" altLang="zh-CN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'A'</a:t>
            </a:r>
            <a:r>
              <a:rPr kumimoji="0" lang="en-US" altLang="zh-CN" sz="2000" dirty="0">
                <a:solidFill>
                  <a:srgbClr val="54A5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;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EB27C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枚举类型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601402" y="3748360"/>
            <a:ext cx="3878389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单精度型    </a:t>
            </a:r>
            <a:r>
              <a:rPr kumimoji="0" lang="en-US" altLang="zh-CN" sz="2000" dirty="0">
                <a:solidFill>
                  <a:srgbClr val="54A5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float  s = </a:t>
            </a:r>
            <a:r>
              <a:rPr kumimoji="0" lang="en-US" altLang="zh-CN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3.2</a:t>
            </a:r>
            <a:r>
              <a:rPr lang="en-US" altLang="zh-CN" sz="2000" dirty="0">
                <a:solidFill>
                  <a:srgbClr val="54A5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;</a:t>
            </a:r>
            <a:endParaRPr lang="zh-CN" altLang="en-US" sz="2000" dirty="0">
              <a:solidFill>
                <a:srgbClr val="54A5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双精度型   </a:t>
            </a:r>
            <a:r>
              <a:rPr kumimoji="0" lang="zh-CN" altLang="en-US" sz="2000" dirty="0">
                <a:solidFill>
                  <a:srgbClr val="54A5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</a:t>
            </a:r>
            <a:r>
              <a:rPr kumimoji="0" lang="en-US" altLang="zh-CN" sz="2000" dirty="0">
                <a:solidFill>
                  <a:srgbClr val="54A5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double t = </a:t>
            </a:r>
            <a:r>
              <a:rPr kumimoji="0" lang="en-US" altLang="zh-CN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5.1</a:t>
            </a:r>
            <a:r>
              <a:rPr kumimoji="0" lang="en-US" altLang="zh-CN" sz="2000" dirty="0">
                <a:solidFill>
                  <a:srgbClr val="54A5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;</a:t>
            </a:r>
            <a:endParaRPr kumimoji="0" lang="zh-CN" altLang="en-US" sz="2000" dirty="0">
              <a:solidFill>
                <a:srgbClr val="54A5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0" name="AutoShape 7"/>
          <p:cNvSpPr>
            <a:spLocks/>
          </p:cNvSpPr>
          <p:nvPr/>
        </p:nvSpPr>
        <p:spPr bwMode="auto">
          <a:xfrm>
            <a:off x="3385503" y="3849071"/>
            <a:ext cx="265112" cy="465137"/>
          </a:xfrm>
          <a:prstGeom prst="leftBrace">
            <a:avLst>
              <a:gd name="adj1" fmla="val 14621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 flipH="1">
            <a:off x="361316" y="3309430"/>
            <a:ext cx="1100139" cy="126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基本类型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-264910" y="4054475"/>
            <a:ext cx="917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7022592" y="298704"/>
            <a:ext cx="4663440" cy="640175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indent="-342900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</a:pPr>
            <a:r>
              <a:rPr kumimoji="0" lang="zh-CN" altLang="en-US" sz="2000" b="0" dirty="0">
                <a:solidFill>
                  <a:schemeClr val="tx1"/>
                </a:solidFill>
                <a:latin typeface="Times New Roman"/>
                <a:ea typeface="宋体"/>
              </a:rPr>
              <a:t>整型常量      </a:t>
            </a: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默认</a:t>
            </a:r>
            <a:r>
              <a:rPr kumimoji="0" lang="en-US" altLang="zh-CN" sz="2000" b="0" dirty="0" err="1">
                <a:solidFill>
                  <a:srgbClr val="0070C0"/>
                </a:solidFill>
                <a:latin typeface="Times New Roman"/>
                <a:ea typeface="宋体"/>
              </a:rPr>
              <a:t>int</a:t>
            </a:r>
            <a:endParaRPr kumimoji="0" lang="en-US" altLang="zh-CN" sz="2000" b="0" dirty="0">
              <a:solidFill>
                <a:srgbClr val="0070C0"/>
              </a:solidFill>
              <a:latin typeface="Times New Roman"/>
              <a:ea typeface="宋体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前缀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0</a:t>
            </a: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：八进制</a:t>
            </a:r>
            <a:endParaRPr kumimoji="0" lang="en-US" altLang="zh-CN" sz="2000" b="0" dirty="0">
              <a:solidFill>
                <a:srgbClr val="0070C0"/>
              </a:solidFill>
              <a:latin typeface="Times New Roman"/>
              <a:ea typeface="宋体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前缀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0X</a:t>
            </a: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：十六进制</a:t>
            </a:r>
            <a:endParaRPr kumimoji="0" lang="en-US" altLang="zh-CN" sz="2000" b="0" dirty="0">
              <a:solidFill>
                <a:srgbClr val="0070C0"/>
              </a:solidFill>
              <a:latin typeface="Times New Roman"/>
              <a:ea typeface="宋体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后缀：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l</a:t>
            </a: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或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L</a:t>
            </a: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－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long</a:t>
            </a: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类型常量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　　　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u</a:t>
            </a: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或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U</a:t>
            </a: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－无符号整型常量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</a:pP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     </a:t>
            </a:r>
            <a:r>
              <a:rPr kumimoji="0" lang="en-US" altLang="zh-CN" sz="2000" b="0" dirty="0">
                <a:solidFill>
                  <a:srgbClr val="EB27C6"/>
                </a:solidFill>
                <a:latin typeface="Times New Roman"/>
                <a:ea typeface="宋体"/>
              </a:rPr>
              <a:t>0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12</a:t>
            </a:r>
            <a:r>
              <a:rPr kumimoji="0" lang="en-US" altLang="zh-CN" sz="2000" b="0" dirty="0">
                <a:solidFill>
                  <a:srgbClr val="EB27C6"/>
                </a:solidFill>
                <a:latin typeface="Times New Roman"/>
                <a:ea typeface="宋体"/>
              </a:rPr>
              <a:t>L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     //long</a:t>
            </a: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类型八进制数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12</a:t>
            </a:r>
          </a:p>
          <a:p>
            <a:pPr marL="342900" indent="-342900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</a:pPr>
            <a:r>
              <a:rPr kumimoji="0" lang="zh-CN" altLang="en-US" sz="2000" b="0" dirty="0">
                <a:solidFill>
                  <a:schemeClr val="tx1"/>
                </a:solidFill>
                <a:latin typeface="Times New Roman"/>
                <a:ea typeface="宋体"/>
              </a:rPr>
              <a:t>实型常量</a:t>
            </a:r>
            <a:r>
              <a:rPr kumimoji="0" lang="en-US" altLang="zh-CN" sz="2000" b="0" dirty="0">
                <a:solidFill>
                  <a:schemeClr val="tx1"/>
                </a:solidFill>
                <a:latin typeface="Times New Roman"/>
                <a:ea typeface="宋体"/>
              </a:rPr>
              <a:t>(</a:t>
            </a:r>
            <a:r>
              <a:rPr kumimoji="0" lang="zh-CN" altLang="en-US" sz="2000" b="0" dirty="0">
                <a:solidFill>
                  <a:schemeClr val="tx1"/>
                </a:solidFill>
                <a:latin typeface="Times New Roman"/>
                <a:ea typeface="宋体"/>
              </a:rPr>
              <a:t>浮点数</a:t>
            </a:r>
            <a:r>
              <a:rPr kumimoji="0" lang="en-US" altLang="zh-CN" sz="2000" b="0" dirty="0">
                <a:solidFill>
                  <a:schemeClr val="tx1"/>
                </a:solidFill>
                <a:latin typeface="Times New Roman"/>
                <a:ea typeface="宋体"/>
              </a:rPr>
              <a:t>)     </a:t>
            </a: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默认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double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十进制小数形式　　</a:t>
            </a:r>
            <a:r>
              <a:rPr kumimoji="0" lang="en-US" altLang="zh-CN" sz="2000" b="0" dirty="0">
                <a:solidFill>
                  <a:srgbClr val="EB27C6"/>
                </a:solidFill>
                <a:latin typeface="Times New Roman"/>
                <a:ea typeface="宋体"/>
              </a:rPr>
              <a:t>3.2</a:t>
            </a:r>
            <a:endParaRPr kumimoji="0" lang="zh-CN" altLang="en-US" sz="2000" b="0" dirty="0">
              <a:solidFill>
                <a:srgbClr val="EB27C6"/>
              </a:solidFill>
              <a:latin typeface="Times New Roman"/>
              <a:ea typeface="宋体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指数形式        </a:t>
            </a:r>
            <a:r>
              <a:rPr kumimoji="0" lang="en-US" altLang="zh-CN" sz="2000" b="0" dirty="0">
                <a:solidFill>
                  <a:srgbClr val="EB27C6"/>
                </a:solidFill>
                <a:latin typeface="Times New Roman"/>
                <a:ea typeface="宋体"/>
              </a:rPr>
              <a:t>0.1E3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 </a:t>
            </a: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 </a:t>
            </a:r>
            <a:r>
              <a:rPr kumimoji="0" lang="zh-CN" altLang="en-US" sz="2000" b="0" dirty="0">
                <a:solidFill>
                  <a:srgbClr val="EB27C6"/>
                </a:solidFill>
                <a:latin typeface="Times New Roman"/>
                <a:ea typeface="宋体"/>
              </a:rPr>
              <a:t> </a:t>
            </a:r>
            <a:r>
              <a:rPr kumimoji="0" lang="en-US" altLang="zh-CN" sz="2000" b="0" dirty="0">
                <a:solidFill>
                  <a:srgbClr val="EB27C6"/>
                </a:solidFill>
                <a:latin typeface="Times New Roman"/>
                <a:ea typeface="宋体"/>
              </a:rPr>
              <a:t>(0.1×10</a:t>
            </a:r>
            <a:r>
              <a:rPr kumimoji="0" lang="en-US" altLang="zh-CN" sz="2000" b="0" baseline="30000" dirty="0">
                <a:solidFill>
                  <a:srgbClr val="EB27C6"/>
                </a:solidFill>
                <a:latin typeface="Times New Roman"/>
                <a:ea typeface="宋体"/>
              </a:rPr>
              <a:t>3</a:t>
            </a:r>
            <a:r>
              <a:rPr kumimoji="0" lang="en-US" altLang="zh-CN" sz="2000" b="0" dirty="0">
                <a:solidFill>
                  <a:srgbClr val="EB27C6"/>
                </a:solidFill>
                <a:latin typeface="Times New Roman"/>
                <a:ea typeface="宋体"/>
              </a:rPr>
              <a:t>)</a:t>
            </a:r>
            <a:endParaRPr kumimoji="0" lang="zh-CN" altLang="en-US" sz="2000" b="0" dirty="0">
              <a:solidFill>
                <a:srgbClr val="EB27C6"/>
              </a:solidFill>
              <a:latin typeface="Times New Roman"/>
              <a:ea typeface="宋体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后缀：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f</a:t>
            </a: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或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F</a:t>
            </a: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－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float</a:t>
            </a: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类型实型常量</a:t>
            </a:r>
          </a:p>
          <a:p>
            <a:pPr marL="342900" indent="-342900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</a:pPr>
            <a:r>
              <a:rPr kumimoji="0" lang="zh-CN" altLang="en-US" sz="2000" b="0" dirty="0">
                <a:solidFill>
                  <a:prstClr val="black"/>
                </a:solidFill>
                <a:latin typeface="Times New Roman"/>
                <a:ea typeface="宋体"/>
              </a:rPr>
              <a:t>字符常量</a:t>
            </a:r>
            <a:endParaRPr kumimoji="0" lang="en-US" altLang="zh-CN" sz="2000" b="0" dirty="0">
              <a:solidFill>
                <a:prstClr val="black"/>
              </a:solidFill>
              <a:latin typeface="Times New Roman"/>
              <a:ea typeface="宋体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用单引号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'</a:t>
            </a: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括起来的一个字符</a:t>
            </a:r>
            <a:r>
              <a:rPr kumimoji="0" lang="en-US" altLang="zh-CN" sz="2000" b="0" dirty="0">
                <a:solidFill>
                  <a:srgbClr val="EB27C6"/>
                </a:solidFill>
                <a:latin typeface="Times New Roman"/>
                <a:ea typeface="宋体"/>
              </a:rPr>
              <a:t>'A '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, </a:t>
            </a:r>
            <a:r>
              <a:rPr kumimoji="0" lang="en-US" altLang="zh-CN" sz="2000" b="0" dirty="0">
                <a:solidFill>
                  <a:srgbClr val="EB27C6"/>
                </a:solidFill>
                <a:latin typeface="Times New Roman"/>
                <a:ea typeface="宋体"/>
              </a:rPr>
              <a:t>'2 '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, </a:t>
            </a:r>
            <a:r>
              <a:rPr kumimoji="0" lang="en-US" altLang="zh-CN" sz="2000" b="0" dirty="0">
                <a:solidFill>
                  <a:srgbClr val="EB27C6"/>
                </a:solidFill>
                <a:latin typeface="Times New Roman"/>
                <a:ea typeface="宋体"/>
              </a:rPr>
              <a:t>'/ '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可以其对应的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ASCII</a:t>
            </a: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码参加运算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0" lang="zh-CN" altLang="en-US" sz="2000" b="0" dirty="0">
                <a:solidFill>
                  <a:srgbClr val="0070C0"/>
                </a:solidFill>
                <a:latin typeface="Times New Roman"/>
                <a:ea typeface="宋体"/>
              </a:rPr>
              <a:t>　　　　</a:t>
            </a:r>
            <a:r>
              <a:rPr kumimoji="0" lang="en-US" altLang="zh-CN" sz="2000" b="0" dirty="0">
                <a:solidFill>
                  <a:srgbClr val="EB27C6"/>
                </a:solidFill>
                <a:latin typeface="Times New Roman"/>
                <a:ea typeface="宋体"/>
              </a:rPr>
              <a:t>'B'-1     </a:t>
            </a:r>
            <a:r>
              <a:rPr kumimoji="0" lang="en-US" altLang="zh-CN" sz="2000" b="0" dirty="0">
                <a:solidFill>
                  <a:srgbClr val="0070C0"/>
                </a:solidFill>
                <a:latin typeface="Times New Roman"/>
                <a:ea typeface="宋体"/>
              </a:rPr>
              <a:t>65      'A'</a:t>
            </a:r>
          </a:p>
        </p:txBody>
      </p:sp>
      <p:sp>
        <p:nvSpPr>
          <p:cNvPr id="16" name="AutoShape 15"/>
          <p:cNvSpPr>
            <a:spLocks/>
          </p:cNvSpPr>
          <p:nvPr/>
        </p:nvSpPr>
        <p:spPr bwMode="auto">
          <a:xfrm>
            <a:off x="2809243" y="1794701"/>
            <a:ext cx="215900" cy="1008062"/>
          </a:xfrm>
          <a:prstGeom prst="leftBrace">
            <a:avLst>
              <a:gd name="adj1" fmla="val 38909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3025151" y="1578810"/>
            <a:ext cx="407059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基本整型     </a:t>
            </a:r>
            <a:r>
              <a:rPr lang="en-US" altLang="zh-CN" sz="2000" dirty="0" err="1">
                <a:solidFill>
                  <a:srgbClr val="54A5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int</a:t>
            </a:r>
            <a:r>
              <a:rPr lang="en-US" altLang="zh-CN" sz="2000" dirty="0">
                <a:solidFill>
                  <a:srgbClr val="54A5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x = </a:t>
            </a:r>
            <a:r>
              <a:rPr lang="en-US" altLang="zh-CN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5</a:t>
            </a:r>
            <a:r>
              <a:rPr lang="en-US" altLang="zh-CN" sz="2000" dirty="0">
                <a:solidFill>
                  <a:srgbClr val="54A5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;</a:t>
            </a:r>
            <a:endParaRPr lang="zh-CN" altLang="en-US" sz="2000" dirty="0">
              <a:solidFill>
                <a:srgbClr val="54A5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短整型　　　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长整型        </a:t>
            </a:r>
            <a:r>
              <a:rPr lang="en-US" altLang="zh-CN" sz="2000" dirty="0">
                <a:solidFill>
                  <a:srgbClr val="54A5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long y = </a:t>
            </a:r>
            <a:r>
              <a:rPr lang="en-US" altLang="zh-CN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10000</a:t>
            </a:r>
            <a:r>
              <a:rPr lang="en-US" altLang="zh-CN" sz="2000" dirty="0">
                <a:solidFill>
                  <a:srgbClr val="54A5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无符号型      基本型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　　             短整型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　　　　　　长整型</a:t>
            </a:r>
          </a:p>
        </p:txBody>
      </p:sp>
      <p:sp>
        <p:nvSpPr>
          <p:cNvPr id="18" name="AutoShape 17"/>
          <p:cNvSpPr>
            <a:spLocks/>
          </p:cNvSpPr>
          <p:nvPr/>
        </p:nvSpPr>
        <p:spPr bwMode="auto">
          <a:xfrm>
            <a:off x="4249114" y="2645283"/>
            <a:ext cx="144463" cy="719138"/>
          </a:xfrm>
          <a:prstGeom prst="leftBrace">
            <a:avLst>
              <a:gd name="adj1" fmla="val 4148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2.1.3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常量与变量</a:t>
            </a:r>
          </a:p>
        </p:txBody>
      </p:sp>
    </p:spTree>
    <p:extLst>
      <p:ext uri="{BB962C8B-B14F-4D97-AF65-F5344CB8AC3E}">
        <p14:creationId xmlns:p14="http://schemas.microsoft.com/office/powerpoint/2010/main" val="4020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228600"/>
            <a:ext cx="9753600" cy="533400"/>
          </a:xfrm>
        </p:spPr>
        <p:txBody>
          <a:bodyPr/>
          <a:lstStyle/>
          <a:p>
            <a:pPr eaLnBrk="1" hangingPunct="1"/>
            <a:r>
              <a:rPr lang="zh-CN" altLang="en-US" dirty="0"/>
              <a:t> 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060704"/>
            <a:ext cx="10972800" cy="550468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900" dirty="0">
                <a:latin typeface="Times New Roman"/>
                <a:ea typeface="宋体"/>
              </a:rPr>
              <a:t>字符常量－转义字符</a:t>
            </a:r>
            <a:endParaRPr lang="en-US" altLang="zh-CN" sz="2900" dirty="0">
              <a:latin typeface="Times New Roman"/>
              <a:ea typeface="宋体"/>
            </a:endParaRPr>
          </a:p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zh-CN" altLang="en-US" sz="2800" dirty="0"/>
              <a:t>无字形表示或特殊含义的字符的表示：</a:t>
            </a:r>
            <a:r>
              <a:rPr lang="zh-CN" altLang="en-US" sz="2800" dirty="0">
                <a:solidFill>
                  <a:srgbClr val="EB27C6"/>
                </a:solidFill>
              </a:rPr>
              <a:t>反斜杠</a:t>
            </a:r>
            <a:r>
              <a:rPr lang="en-US" altLang="zh-CN" sz="2800" dirty="0">
                <a:solidFill>
                  <a:srgbClr val="EB27C6"/>
                </a:solidFill>
              </a:rPr>
              <a:t>\ </a:t>
            </a:r>
            <a:r>
              <a:rPr lang="zh-CN" altLang="en-US" sz="2800" dirty="0">
                <a:solidFill>
                  <a:srgbClr val="EB27C6"/>
                </a:solidFill>
              </a:rPr>
              <a:t>开头</a:t>
            </a:r>
          </a:p>
          <a:p>
            <a:pPr eaLnBrk="1" hangingPunct="1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zh-CN" altLang="en-US" sz="2400" dirty="0">
                <a:ea typeface="黑体" pitchFamily="49" charset="-122"/>
              </a:rPr>
              <a:t>      </a:t>
            </a:r>
            <a:endParaRPr lang="en-US" altLang="zh-CN" sz="2400" dirty="0">
              <a:solidFill>
                <a:srgbClr val="54A5BF"/>
              </a:solidFill>
              <a:ea typeface="黑体" pitchFamily="49" charset="-122"/>
            </a:endParaRPr>
          </a:p>
          <a:p>
            <a:pPr eaLnBrk="1" hangingPunct="1">
              <a:lnSpc>
                <a:spcPct val="120000"/>
              </a:lnSpc>
              <a:spcAft>
                <a:spcPts val="600"/>
              </a:spcAft>
            </a:pPr>
            <a:endParaRPr lang="en-US" altLang="zh-CN" sz="2000" u="sng" dirty="0"/>
          </a:p>
          <a:p>
            <a:pPr eaLnBrk="1" hangingPunct="1">
              <a:lnSpc>
                <a:spcPct val="120000"/>
              </a:lnSpc>
              <a:spcAft>
                <a:spcPts val="600"/>
              </a:spcAft>
            </a:pPr>
            <a:endParaRPr lang="en-US" altLang="zh-CN" sz="2000" u="sng" dirty="0"/>
          </a:p>
          <a:p>
            <a:pPr eaLnBrk="1" hangingPunct="1">
              <a:lnSpc>
                <a:spcPct val="120000"/>
              </a:lnSpc>
              <a:spcAft>
                <a:spcPts val="600"/>
              </a:spcAft>
            </a:pPr>
            <a:endParaRPr lang="en-US" altLang="zh-CN" sz="2000" u="sng" dirty="0"/>
          </a:p>
          <a:p>
            <a:pPr eaLnBrk="1" hangingPunct="1">
              <a:lnSpc>
                <a:spcPct val="120000"/>
              </a:lnSpc>
              <a:spcAft>
                <a:spcPts val="600"/>
              </a:spcAft>
            </a:pPr>
            <a:endParaRPr lang="en-US" altLang="zh-CN" sz="2000" u="sng" dirty="0"/>
          </a:p>
          <a:p>
            <a:pPr eaLnBrk="1" hangingPunct="1">
              <a:lnSpc>
                <a:spcPct val="120000"/>
              </a:lnSpc>
              <a:spcAft>
                <a:spcPts val="600"/>
              </a:spcAft>
            </a:pPr>
            <a:endParaRPr lang="en-US" altLang="zh-CN" sz="2000" u="sng" dirty="0"/>
          </a:p>
          <a:p>
            <a:pPr eaLnBrk="1" hangingPunct="1">
              <a:lnSpc>
                <a:spcPct val="120000"/>
              </a:lnSpc>
              <a:spcAft>
                <a:spcPts val="600"/>
              </a:spcAft>
            </a:pPr>
            <a:endParaRPr lang="en-US" altLang="zh-CN" sz="2000" u="sng" dirty="0"/>
          </a:p>
          <a:p>
            <a:pPr eaLnBrk="1" hangingPunct="1">
              <a:lnSpc>
                <a:spcPct val="120000"/>
              </a:lnSpc>
              <a:spcAft>
                <a:spcPts val="600"/>
              </a:spcAft>
            </a:pPr>
            <a:endParaRPr lang="en-US" altLang="zh-CN" sz="2000" u="sng" dirty="0"/>
          </a:p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zh-CN" altLang="en-US" sz="2400" dirty="0">
                <a:cs typeface="Times New Roman" pitchFamily="18" charset="0"/>
              </a:rPr>
              <a:t>形式上有多个字符或数字，但表示的是一个字符常量                         </a:t>
            </a:r>
            <a:r>
              <a:rPr lang="en-US" altLang="zh-CN" sz="2400" dirty="0">
                <a:solidFill>
                  <a:srgbClr val="EB27C6"/>
                </a:solidFill>
                <a:cs typeface="Times New Roman" pitchFamily="18" charset="0"/>
              </a:rPr>
              <a:t>'ab'</a:t>
            </a:r>
            <a:endParaRPr lang="zh-CN" altLang="en-US" sz="2400" dirty="0">
              <a:solidFill>
                <a:srgbClr val="EB27C6"/>
              </a:solidFill>
              <a:cs typeface="Times New Roman" pitchFamily="18" charset="0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dirty="0">
                <a:solidFill>
                  <a:srgbClr val="54A5BF"/>
                </a:solidFill>
                <a:cs typeface="Times New Roman" pitchFamily="18" charset="0"/>
              </a:rPr>
              <a:t>eg2</a:t>
            </a:r>
            <a:r>
              <a:rPr lang="zh-CN" altLang="en-US" sz="2400" dirty="0">
                <a:solidFill>
                  <a:srgbClr val="54A5BF"/>
                </a:solidFill>
                <a:cs typeface="Times New Roman" pitchFamily="18" charset="0"/>
              </a:rPr>
              <a:t>：  </a:t>
            </a:r>
            <a:r>
              <a:rPr lang="en-US" altLang="zh-CN" sz="2400" dirty="0">
                <a:solidFill>
                  <a:srgbClr val="54A5BF"/>
                </a:solidFill>
                <a:cs typeface="Times New Roman" pitchFamily="18" charset="0"/>
              </a:rPr>
              <a:t>char c='\141';</a:t>
            </a:r>
            <a:r>
              <a:rPr lang="en-US" altLang="zh-CN" sz="2400" dirty="0">
                <a:solidFill>
                  <a:srgbClr val="54A5BF"/>
                </a:solidFill>
              </a:rPr>
              <a:t>  </a:t>
            </a:r>
            <a:r>
              <a:rPr lang="zh-CN" altLang="en-US" sz="2400" dirty="0">
                <a:solidFill>
                  <a:srgbClr val="54A5BF"/>
                </a:solidFill>
              </a:rPr>
              <a:t>　</a:t>
            </a:r>
            <a:r>
              <a:rPr lang="en-US" altLang="zh-CN" sz="2400" dirty="0">
                <a:solidFill>
                  <a:srgbClr val="54A5BF"/>
                </a:solidFill>
              </a:rPr>
              <a:t>c</a:t>
            </a:r>
            <a:r>
              <a:rPr lang="en-US" altLang="zh-CN" sz="2400" dirty="0">
                <a:solidFill>
                  <a:srgbClr val="EB27C6"/>
                </a:solidFill>
              </a:rPr>
              <a:t>='\x61'</a:t>
            </a:r>
            <a:r>
              <a:rPr lang="en-US" altLang="zh-CN" sz="2400" dirty="0">
                <a:solidFill>
                  <a:srgbClr val="54A5BF"/>
                </a:solidFill>
              </a:rPr>
              <a:t>; </a:t>
            </a:r>
            <a:r>
              <a:rPr lang="zh-CN" altLang="en-US" sz="2400" dirty="0">
                <a:solidFill>
                  <a:srgbClr val="54A5BF"/>
                </a:solidFill>
              </a:rPr>
              <a:t>　</a:t>
            </a:r>
            <a:r>
              <a:rPr lang="en-US" altLang="zh-CN" sz="2400" dirty="0">
                <a:solidFill>
                  <a:srgbClr val="54A5BF"/>
                </a:solidFill>
              </a:rPr>
              <a:t>//  'a'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1401425" y="5476621"/>
            <a:ext cx="768349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u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t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100000"/>
              <a:buChar char="•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FF0000"/>
                </a:solidFill>
                <a:cs typeface="Times New Roman" pitchFamily="18" charset="0"/>
              </a:rPr>
              <a:t>×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2.1.3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常量与变量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81E81A9-D8E9-4462-9C28-DA8E9ED50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467450"/>
              </p:ext>
            </p:extLst>
          </p:nvPr>
        </p:nvGraphicFramePr>
        <p:xfrm>
          <a:off x="1247775" y="2301875"/>
          <a:ext cx="7557135" cy="3232150"/>
        </p:xfrm>
        <a:graphic>
          <a:graphicData uri="http://schemas.openxmlformats.org/drawingml/2006/table">
            <a:tbl>
              <a:tblPr firstRow="1" firstCol="1" bandRow="1"/>
              <a:tblGrid>
                <a:gridCol w="2863069">
                  <a:extLst>
                    <a:ext uri="{9D8B030D-6E8A-4147-A177-3AD203B41FA5}">
                      <a16:colId xmlns:a16="http://schemas.microsoft.com/office/drawing/2014/main" val="2706006634"/>
                    </a:ext>
                  </a:extLst>
                </a:gridCol>
                <a:gridCol w="4694066">
                  <a:extLst>
                    <a:ext uri="{9D8B030D-6E8A-4147-A177-3AD203B41FA5}">
                      <a16:colId xmlns:a16="http://schemas.microsoft.com/office/drawing/2014/main" val="2185894763"/>
                    </a:ext>
                  </a:extLst>
                </a:gridCol>
              </a:tblGrid>
              <a:tr h="323215"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转义字符</a:t>
                      </a: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含义</a:t>
                      </a: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869104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\n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回车换行</a:t>
                      </a:r>
                      <a:r>
                        <a:rPr lang="zh-CN" alt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符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4508752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\t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水平制表符（横向跳到下</a:t>
                      </a: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—个</a:t>
                      </a: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 Tab </a:t>
                      </a:r>
                      <a:r>
                        <a:rPr lang="zh-CN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的位置）</a:t>
                      </a: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741644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\b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退格</a:t>
                      </a:r>
                      <a:r>
                        <a:rPr lang="zh-CN" alt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符</a:t>
                      </a:r>
                      <a:r>
                        <a:rPr lang="zh-CN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，从当前位置移到前一列</a:t>
                      </a: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594576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\r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回车</a:t>
                      </a:r>
                      <a:r>
                        <a:rPr lang="zh-CN" alt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符</a:t>
                      </a:r>
                      <a:r>
                        <a:rPr lang="zh-CN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，从当前位置移到本行行首</a:t>
                      </a: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261049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\\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反斜杠字符（</a:t>
                      </a: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</a:t>
                      </a:r>
                      <a:r>
                        <a:rPr lang="zh-CN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808097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</a:t>
                      </a:r>
                      <a:r>
                        <a:rPr lang="en-US" sz="16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'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单引号字符（</a:t>
                      </a: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'</a:t>
                      </a:r>
                      <a:r>
                        <a:rPr lang="zh-CN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204110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</a:t>
                      </a:r>
                      <a:r>
                        <a:rPr lang="en-US" sz="16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"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双引号字符（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"</a:t>
                      </a:r>
                      <a:r>
                        <a:rPr lang="zh-CN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551808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\ooo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3 </a:t>
                      </a:r>
                      <a:r>
                        <a:rPr lang="zh-CN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位八进制数</a:t>
                      </a: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 ooo </a:t>
                      </a:r>
                      <a:r>
                        <a:rPr lang="zh-CN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所代表的字符</a:t>
                      </a: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6664718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\xhh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2 </a:t>
                      </a:r>
                      <a:r>
                        <a:rPr lang="zh-CN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位十六进制数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 </a:t>
                      </a:r>
                      <a:r>
                        <a:rPr lang="en-US" sz="16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hh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 </a:t>
                      </a:r>
                      <a:r>
                        <a:rPr lang="zh-CN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所代表的字符</a:t>
                      </a:r>
                    </a:p>
                  </a:txBody>
                  <a:tcPr marL="36195" marR="3619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16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2067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4803" y="1251330"/>
            <a:ext cx="11203517" cy="5003165"/>
          </a:xfrm>
        </p:spPr>
        <p:txBody>
          <a:bodyPr>
            <a:noAutofit/>
          </a:bodyPr>
          <a:lstStyle/>
          <a:p>
            <a:pPr algn="just"/>
            <a:r>
              <a:rPr lang="zh-CN" altLang="en-US" sz="2400" dirty="0">
                <a:latin typeface="宋体" pitchFamily="2" charset="-122"/>
              </a:rPr>
              <a:t>符号常量</a:t>
            </a:r>
            <a:r>
              <a:rPr lang="zh-CN" altLang="en-US" sz="2400" dirty="0"/>
              <a:t>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dirty="0"/>
              <a:t>用编译预处理命令定义标识符</a:t>
            </a:r>
            <a:r>
              <a:rPr lang="en-US" altLang="zh-CN" sz="2400" dirty="0"/>
              <a:t>(</a:t>
            </a:r>
            <a:r>
              <a:rPr lang="zh-CN" altLang="en-US" sz="2400" dirty="0">
                <a:solidFill>
                  <a:srgbClr val="EB27C6"/>
                </a:solidFill>
              </a:rPr>
              <a:t>符号常量</a:t>
            </a:r>
            <a:r>
              <a:rPr lang="en-US" altLang="zh-CN" sz="2400" dirty="0"/>
              <a:t>)</a:t>
            </a:r>
            <a:r>
              <a:rPr lang="zh-CN" altLang="en-US" sz="2400" dirty="0"/>
              <a:t>，来表示一个常量，系统处理时将程序中所有该标识符替换为对应常量。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dirty="0"/>
              <a:t>定义后只能引用，</a:t>
            </a:r>
            <a:r>
              <a:rPr lang="zh-CN" altLang="en-US" sz="2400" dirty="0">
                <a:solidFill>
                  <a:srgbClr val="EB27C6"/>
                </a:solidFill>
              </a:rPr>
              <a:t>不能重复定义、其值不能改变</a:t>
            </a:r>
            <a:r>
              <a:rPr lang="zh-CN" altLang="en-US" sz="2400" dirty="0"/>
              <a:t>。</a:t>
            </a:r>
          </a:p>
          <a:p>
            <a:pPr algn="just"/>
            <a:r>
              <a:rPr lang="zh-CN" altLang="en-US" sz="2400" dirty="0"/>
              <a:t>定义格式：</a:t>
            </a:r>
            <a:r>
              <a:rPr lang="en-US" altLang="zh-CN" sz="2400" dirty="0"/>
              <a:t>#define   </a:t>
            </a:r>
            <a:r>
              <a:rPr lang="zh-CN" altLang="en-US" sz="2400" dirty="0"/>
              <a:t>符号常量   常量 </a:t>
            </a:r>
          </a:p>
          <a:p>
            <a:pPr marL="0" lvl="0" indent="-285750">
              <a:lnSpc>
                <a:spcPct val="100000"/>
              </a:lnSpc>
              <a:spcAft>
                <a:spcPts val="0"/>
              </a:spcAft>
              <a:tabLst>
                <a:tab pos="1609725" algn="l"/>
              </a:tabLst>
            </a:pPr>
            <a:r>
              <a:rPr lang="en-US" altLang="zh-CN" sz="2400" dirty="0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eg3</a:t>
            </a:r>
            <a:r>
              <a:rPr lang="zh-CN" altLang="en-US" sz="2400" dirty="0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：</a:t>
            </a:r>
            <a:endParaRPr lang="en-US" altLang="zh-CN" sz="2400" dirty="0">
              <a:solidFill>
                <a:srgbClr val="5596CD">
                  <a:lumMod val="5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54A5BF"/>
                </a:solidFill>
                <a:cs typeface="Times New Roman" pitchFamily="18" charset="0"/>
              </a:rPr>
              <a:t>    #define  PI  3.14159</a:t>
            </a:r>
          </a:p>
          <a:p>
            <a:pPr algn="just">
              <a:buNone/>
            </a:pPr>
            <a:r>
              <a:rPr lang="pt-BR" altLang="zh-CN" sz="2400" dirty="0">
                <a:solidFill>
                  <a:srgbClr val="54A5BF"/>
                </a:solidFill>
                <a:cs typeface="Times New Roman" pitchFamily="18" charset="0"/>
              </a:rPr>
              <a:t>    double r = 4;</a:t>
            </a:r>
          </a:p>
          <a:p>
            <a:pPr algn="just">
              <a:buNone/>
            </a:pPr>
            <a:r>
              <a:rPr lang="pt-BR" altLang="zh-CN" sz="2400" dirty="0">
                <a:solidFill>
                  <a:srgbClr val="54A5BF"/>
                </a:solidFill>
                <a:cs typeface="Times New Roman" pitchFamily="18" charset="0"/>
              </a:rPr>
              <a:t>    double k = 2 * PI * r;</a:t>
            </a:r>
            <a:r>
              <a:rPr lang="zh-CN" altLang="en-US" sz="2400" dirty="0">
                <a:solidFill>
                  <a:srgbClr val="54A5BF"/>
                </a:solidFill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54A5BF"/>
                </a:solidFill>
                <a:cs typeface="Times New Roman" pitchFamily="18" charset="0"/>
              </a:rPr>
              <a:t>//</a:t>
            </a:r>
            <a:r>
              <a:rPr lang="zh-CN" altLang="en-US" sz="2400" dirty="0">
                <a:solidFill>
                  <a:srgbClr val="54A5BF"/>
                </a:solidFill>
                <a:cs typeface="Times New Roman" pitchFamily="18" charset="0"/>
              </a:rPr>
              <a:t>求圆的周长</a:t>
            </a:r>
            <a:endParaRPr lang="pt-BR" altLang="zh-CN" sz="2400" dirty="0">
              <a:solidFill>
                <a:srgbClr val="54A5BF"/>
              </a:solidFill>
              <a:cs typeface="Times New Roman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endParaRPr lang="en-US" altLang="zh-CN" sz="2400" dirty="0">
              <a:solidFill>
                <a:srgbClr val="54A5BF"/>
              </a:solidFill>
              <a:cs typeface="Times New Roman" pitchFamily="18" charset="0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7960550" y="4567964"/>
            <a:ext cx="4249737" cy="2308324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u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t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100000"/>
              <a:buChar char="•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/>
              <a:t>命令行，不用”</a:t>
            </a:r>
            <a:r>
              <a:rPr lang="en-US" altLang="zh-CN" sz="2400" dirty="0"/>
              <a:t>;”</a:t>
            </a:r>
            <a:r>
              <a:rPr lang="zh-CN" altLang="en-US" sz="2400" dirty="0"/>
              <a:t>结尾 </a:t>
            </a:r>
            <a:r>
              <a:rPr lang="en-US" altLang="zh-CN" sz="2400" dirty="0"/>
              <a:t>    </a:t>
            </a:r>
            <a:r>
              <a:rPr lang="zh-CN" altLang="en-US" sz="2400" dirty="0">
                <a:solidFill>
                  <a:srgbClr val="CC00CC"/>
                </a:solidFill>
              </a:rPr>
              <a:t>大写字母</a:t>
            </a:r>
            <a:r>
              <a:rPr lang="zh-CN" altLang="en-US" sz="2400" dirty="0">
                <a:solidFill>
                  <a:schemeClr val="bg2"/>
                </a:solidFill>
              </a:rPr>
              <a:t>表示。一行只能定义一个。在使用前预先定义，一般放在程序的开始位置。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bg2"/>
                </a:solidFill>
              </a:rPr>
              <a:t>    可避免多处重复修改和带来的数据不一致性的错误。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2.1.3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常量与变量</a:t>
            </a:r>
          </a:p>
        </p:txBody>
      </p:sp>
    </p:spTree>
    <p:extLst>
      <p:ext uri="{BB962C8B-B14F-4D97-AF65-F5344CB8AC3E}">
        <p14:creationId xmlns:p14="http://schemas.microsoft.com/office/powerpoint/2010/main" val="192991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143000"/>
            <a:ext cx="11176000" cy="552608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zh-CN" altLang="en-US" sz="2800" dirty="0"/>
              <a:t>变量</a:t>
            </a:r>
            <a:r>
              <a:rPr lang="en-US" altLang="zh-CN" sz="2800" dirty="0"/>
              <a:t>-</a:t>
            </a:r>
            <a:r>
              <a:rPr lang="zh-CN" altLang="en-US" sz="2800" dirty="0"/>
              <a:t>程序执行过程中，其值可以改变的量。</a:t>
            </a:r>
            <a:endParaRPr lang="en-US" altLang="zh-CN" sz="2800" dirty="0"/>
          </a:p>
          <a:p>
            <a:pPr algn="just">
              <a:lnSpc>
                <a:spcPct val="90000"/>
              </a:lnSpc>
            </a:pPr>
            <a:r>
              <a:rPr lang="zh-CN" altLang="en-US" sz="2800" dirty="0"/>
              <a:t>定义格式：　类型标识符　变量名列表；</a:t>
            </a:r>
          </a:p>
          <a:p>
            <a:pPr lvl="1" algn="just">
              <a:lnSpc>
                <a:spcPct val="90000"/>
              </a:lnSpc>
            </a:pPr>
            <a:r>
              <a:rPr lang="zh-CN" altLang="en-US" sz="2800" dirty="0">
                <a:cs typeface="Times New Roman" pitchFamily="18" charset="0"/>
              </a:rPr>
              <a:t>指定变量名称、数据类型，让系统为其分配相应存储空间，确定其存储方式、数值范围、有效位数、允许进行的操作。</a:t>
            </a:r>
          </a:p>
          <a:p>
            <a:pPr lvl="1" algn="just">
              <a:lnSpc>
                <a:spcPct val="90000"/>
              </a:lnSpc>
            </a:pPr>
            <a:r>
              <a:rPr lang="zh-CN" altLang="en-US" sz="2800" dirty="0">
                <a:cs typeface="Times New Roman" pitchFamily="18" charset="0"/>
              </a:rPr>
              <a:t>变量不可重复定义，使用前需赋初值</a:t>
            </a:r>
            <a:endParaRPr lang="en-US" altLang="zh-CN" sz="2800" dirty="0">
              <a:cs typeface="Times New Roman" pitchFamily="18" charset="0"/>
            </a:endParaRPr>
          </a:p>
          <a:p>
            <a:pPr marL="457200" lvl="1" indent="0" algn="just">
              <a:lnSpc>
                <a:spcPct val="90000"/>
              </a:lnSpc>
              <a:buNone/>
            </a:pPr>
            <a:endParaRPr lang="en-US" altLang="zh-CN" sz="2800" dirty="0">
              <a:cs typeface="Times New Roman" pitchFamily="18" charset="0"/>
            </a:endParaRPr>
          </a:p>
          <a:p>
            <a:pPr marL="0" lvl="0" indent="-285750">
              <a:lnSpc>
                <a:spcPct val="100000"/>
              </a:lnSpc>
              <a:spcAft>
                <a:spcPts val="0"/>
              </a:spcAft>
              <a:tabLst>
                <a:tab pos="1609725" algn="l"/>
              </a:tabLst>
            </a:pPr>
            <a:r>
              <a:rPr lang="en-US" altLang="zh-CN" sz="2800" dirty="0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eg4</a:t>
            </a:r>
            <a:r>
              <a:rPr lang="zh-CN" altLang="en-US" sz="2800" dirty="0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：</a:t>
            </a:r>
            <a:endParaRPr lang="en-US" altLang="zh-CN" sz="2800" dirty="0">
              <a:solidFill>
                <a:srgbClr val="5596CD">
                  <a:lumMod val="5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54A5BF"/>
                </a:solidFill>
              </a:rPr>
              <a:t>        </a:t>
            </a:r>
            <a:r>
              <a:rPr lang="en-US" altLang="zh-CN" sz="2800" dirty="0">
                <a:solidFill>
                  <a:srgbClr val="54A5BF"/>
                </a:solidFill>
              </a:rPr>
              <a:t>char </a:t>
            </a:r>
            <a:r>
              <a:rPr lang="en-US" altLang="zh-CN" sz="2800" dirty="0">
                <a:solidFill>
                  <a:srgbClr val="EB27C6"/>
                </a:solidFill>
              </a:rPr>
              <a:t>ch1</a:t>
            </a:r>
            <a:r>
              <a:rPr lang="en-US" altLang="zh-CN" sz="2800" dirty="0">
                <a:solidFill>
                  <a:srgbClr val="54A5BF"/>
                </a:solidFill>
              </a:rPr>
              <a:t>, ch2 ='A';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54A5BF"/>
                </a:solidFill>
              </a:rPr>
              <a:t>        </a:t>
            </a:r>
            <a:r>
              <a:rPr lang="en-US" altLang="zh-CN" sz="2800" dirty="0">
                <a:solidFill>
                  <a:srgbClr val="EB27C6"/>
                </a:solidFill>
              </a:rPr>
              <a:t>ch1 = 'c';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cs typeface="Times New Roman" pitchFamily="18" charset="0"/>
              </a:rPr>
              <a:t>     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cs typeface="Times New Roman" pitchFamily="18" charset="0"/>
              </a:rPr>
              <a:t>        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2.1.3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常量与变量</a:t>
            </a:r>
          </a:p>
        </p:txBody>
      </p:sp>
    </p:spTree>
    <p:extLst>
      <p:ext uri="{BB962C8B-B14F-4D97-AF65-F5344CB8AC3E}">
        <p14:creationId xmlns:p14="http://schemas.microsoft.com/office/powerpoint/2010/main" val="3802899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语言程序设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未标题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708" y="600710"/>
            <a:ext cx="5625465" cy="12090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168652" y="803276"/>
            <a:ext cx="6310631" cy="464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500" dirty="0">
                <a:solidFill>
                  <a:prstClr val="white"/>
                </a:solidFill>
                <a:latin typeface="锐字潮牌真言简2.0免费 大粗" panose="02020300000000000000" charset="-122"/>
                <a:ea typeface="锐字潮牌真言简2.0免费 大粗" panose="02020300000000000000" charset="-122"/>
                <a:cs typeface="锐字潮牌真言简2.0免费 大粗" panose="02020300000000000000" charset="-122"/>
              </a:rPr>
              <a:t>实例</a:t>
            </a:r>
          </a:p>
        </p:txBody>
      </p:sp>
      <p:pic>
        <p:nvPicPr>
          <p:cNvPr id="7" name="图片 6" descr="未标1题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45" y="1618617"/>
            <a:ext cx="802640" cy="600075"/>
          </a:xfrm>
          <a:prstGeom prst="rect">
            <a:avLst/>
          </a:prstGeom>
        </p:spPr>
      </p:pic>
      <p:sp>
        <p:nvSpPr>
          <p:cNvPr id="8" name="内容占位符 2"/>
          <p:cNvSpPr txBox="1">
            <a:spLocks/>
          </p:cNvSpPr>
          <p:nvPr/>
        </p:nvSpPr>
        <p:spPr>
          <a:xfrm>
            <a:off x="1243584" y="1618615"/>
            <a:ext cx="10643616" cy="4722494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fontScale="25000" lnSpcReduction="2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1" i="0" u="none" strike="noStrike" kern="1200" cap="none" spc="150" normalizeH="0" baseline="0" noProof="1" dirty="0">
                <a:solidFill>
                  <a:schemeClr val="accent2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altLang="zh-CN" sz="9600" dirty="0">
                <a:solidFill>
                  <a:srgbClr val="000000"/>
                </a:solidFill>
              </a:rPr>
              <a:t>【</a:t>
            </a:r>
            <a:r>
              <a:rPr lang="zh-CN" altLang="en-US" sz="9600" dirty="0">
                <a:solidFill>
                  <a:srgbClr val="000000"/>
                </a:solidFill>
              </a:rPr>
              <a:t>例 </a:t>
            </a:r>
            <a:r>
              <a:rPr lang="en-US" altLang="zh-CN" sz="9600" dirty="0">
                <a:solidFill>
                  <a:srgbClr val="000000"/>
                </a:solidFill>
              </a:rPr>
              <a:t>2.1】</a:t>
            </a:r>
            <a:r>
              <a:rPr lang="zh-CN" altLang="en-US" sz="9600" dirty="0">
                <a:solidFill>
                  <a:srgbClr val="000000"/>
                </a:solidFill>
              </a:rPr>
              <a:t>输入一个整数ｘ，输出 </a:t>
            </a:r>
            <a:r>
              <a:rPr lang="en-US" altLang="zh-CN" sz="9600" dirty="0">
                <a:solidFill>
                  <a:srgbClr val="000000"/>
                </a:solidFill>
              </a:rPr>
              <a:t>x </a:t>
            </a:r>
            <a:r>
              <a:rPr lang="zh-CN" altLang="en-US" sz="9600" dirty="0">
                <a:solidFill>
                  <a:srgbClr val="000000"/>
                </a:solidFill>
              </a:rPr>
              <a:t>与 </a:t>
            </a:r>
            <a:r>
              <a:rPr lang="en-US" altLang="zh-CN" sz="9600" dirty="0">
                <a:solidFill>
                  <a:srgbClr val="000000"/>
                </a:solidFill>
              </a:rPr>
              <a:t>5 </a:t>
            </a:r>
            <a:r>
              <a:rPr lang="zh-CN" altLang="en-US" sz="9600" dirty="0">
                <a:solidFill>
                  <a:srgbClr val="000000"/>
                </a:solidFill>
              </a:rPr>
              <a:t>的和。</a:t>
            </a:r>
          </a:p>
          <a:p>
            <a:pPr marL="0" indent="0">
              <a:buNone/>
              <a:defRPr/>
            </a:pPr>
            <a:r>
              <a:rPr lang="en-US" altLang="zh-CN" sz="8000" dirty="0">
                <a:solidFill>
                  <a:srgbClr val="000000"/>
                </a:solidFill>
              </a:rPr>
              <a:t>#include &lt;</a:t>
            </a:r>
            <a:r>
              <a:rPr lang="en-US" altLang="zh-CN" sz="8000" dirty="0" err="1">
                <a:solidFill>
                  <a:srgbClr val="000000"/>
                </a:solidFill>
              </a:rPr>
              <a:t>stdio.h</a:t>
            </a:r>
            <a:r>
              <a:rPr lang="en-US" altLang="zh-CN" sz="8000" dirty="0">
                <a:solidFill>
                  <a:srgbClr val="000000"/>
                </a:solidFill>
              </a:rPr>
              <a:t>&gt;</a:t>
            </a:r>
          </a:p>
          <a:p>
            <a:pPr marL="0" indent="0">
              <a:buNone/>
              <a:defRPr/>
            </a:pPr>
            <a:r>
              <a:rPr lang="en-US" altLang="zh-CN" sz="8000" dirty="0">
                <a:solidFill>
                  <a:srgbClr val="000000"/>
                </a:solidFill>
              </a:rPr>
              <a:t>int main(void) {</a:t>
            </a:r>
          </a:p>
          <a:p>
            <a:pPr marL="0" indent="0">
              <a:buNone/>
              <a:defRPr/>
            </a:pPr>
            <a:r>
              <a:rPr lang="en-US" altLang="zh-CN" sz="8000" dirty="0">
                <a:solidFill>
                  <a:srgbClr val="000000"/>
                </a:solidFill>
              </a:rPr>
              <a:t>     </a:t>
            </a:r>
            <a:r>
              <a:rPr lang="en-US" altLang="zh-CN" sz="8000" dirty="0" err="1">
                <a:solidFill>
                  <a:srgbClr val="000000"/>
                </a:solidFill>
              </a:rPr>
              <a:t>int</a:t>
            </a:r>
            <a:r>
              <a:rPr lang="en-US" altLang="zh-CN" sz="8000" dirty="0">
                <a:solidFill>
                  <a:srgbClr val="000000"/>
                </a:solidFill>
              </a:rPr>
              <a:t>  x, sum;     </a:t>
            </a:r>
          </a:p>
          <a:p>
            <a:pPr marL="0" indent="0">
              <a:buNone/>
              <a:defRPr/>
            </a:pPr>
            <a:endParaRPr lang="en-US" altLang="zh-CN" sz="8000" dirty="0">
              <a:solidFill>
                <a:srgbClr val="000000"/>
              </a:solidFill>
            </a:endParaRPr>
          </a:p>
          <a:p>
            <a:pPr marL="0" indent="0">
              <a:buNone/>
              <a:defRPr/>
            </a:pPr>
            <a:r>
              <a:rPr lang="en-US" altLang="zh-CN" sz="8000" dirty="0">
                <a:solidFill>
                  <a:srgbClr val="000000"/>
                </a:solidFill>
              </a:rPr>
              <a:t>     </a:t>
            </a:r>
            <a:r>
              <a:rPr lang="en-US" altLang="zh-CN" sz="8000" dirty="0" err="1">
                <a:solidFill>
                  <a:srgbClr val="000000"/>
                </a:solidFill>
              </a:rPr>
              <a:t>scanf</a:t>
            </a:r>
            <a:r>
              <a:rPr lang="en-US" altLang="zh-CN" sz="8000" dirty="0">
                <a:solidFill>
                  <a:srgbClr val="000000"/>
                </a:solidFill>
              </a:rPr>
              <a:t>(“%d”, &amp;x);  //</a:t>
            </a:r>
            <a:r>
              <a:rPr lang="zh-CN" altLang="en-US" sz="8000" dirty="0">
                <a:solidFill>
                  <a:srgbClr val="000000"/>
                </a:solidFill>
              </a:rPr>
              <a:t>如去掉则错误</a:t>
            </a:r>
            <a:endParaRPr lang="en-US" altLang="zh-CN" sz="8000" dirty="0">
              <a:solidFill>
                <a:srgbClr val="000000"/>
              </a:solidFill>
            </a:endParaRPr>
          </a:p>
          <a:p>
            <a:pPr marL="0" indent="0">
              <a:buNone/>
              <a:defRPr/>
            </a:pPr>
            <a:r>
              <a:rPr lang="zh-CN" altLang="en-US" sz="8000" dirty="0">
                <a:solidFill>
                  <a:srgbClr val="000000"/>
                </a:solidFill>
              </a:rPr>
              <a:t>　  </a:t>
            </a:r>
            <a:r>
              <a:rPr lang="en-US" altLang="zh-CN" sz="8000" dirty="0">
                <a:solidFill>
                  <a:srgbClr val="000000"/>
                </a:solidFill>
              </a:rPr>
              <a:t>sum = x + 5;             </a:t>
            </a:r>
          </a:p>
          <a:p>
            <a:pPr marL="0" indent="0">
              <a:buNone/>
              <a:defRPr/>
            </a:pPr>
            <a:r>
              <a:rPr lang="en-US" altLang="zh-CN" sz="8000" dirty="0">
                <a:solidFill>
                  <a:srgbClr val="000000"/>
                </a:solidFill>
              </a:rPr>
              <a:t>     </a:t>
            </a:r>
            <a:r>
              <a:rPr lang="en-US" altLang="zh-CN" sz="8000" dirty="0" err="1">
                <a:solidFill>
                  <a:srgbClr val="000000"/>
                </a:solidFill>
              </a:rPr>
              <a:t>printf</a:t>
            </a:r>
            <a:r>
              <a:rPr lang="en-US" altLang="zh-CN" sz="8000" dirty="0">
                <a:solidFill>
                  <a:srgbClr val="000000"/>
                </a:solidFill>
              </a:rPr>
              <a:t> ("sum = %d \n", sum);   </a:t>
            </a:r>
          </a:p>
          <a:p>
            <a:pPr marL="0" indent="0">
              <a:buNone/>
              <a:defRPr/>
            </a:pPr>
            <a:r>
              <a:rPr lang="en-US" altLang="zh-CN" sz="8000" dirty="0">
                <a:solidFill>
                  <a:srgbClr val="000000"/>
                </a:solidFill>
              </a:rPr>
              <a:t>     return 0; </a:t>
            </a:r>
          </a:p>
          <a:p>
            <a:pPr marL="0" indent="0">
              <a:buNone/>
              <a:defRPr/>
            </a:pPr>
            <a:r>
              <a:rPr lang="en-US" altLang="zh-CN" sz="8000" dirty="0">
                <a:solidFill>
                  <a:srgbClr val="00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2410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6A48D-B8D4-430A-AE1C-E921A6F75A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D7EFAA9-BCFF-428E-7B6C-CB94F2F341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512" y="2369185"/>
            <a:ext cx="5214034" cy="3987273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5A4C40AA-D89A-558A-F03E-23D1F4662ED9}"/>
              </a:ext>
            </a:extLst>
          </p:cNvPr>
          <p:cNvSpPr txBox="1">
            <a:spLocks/>
          </p:cNvSpPr>
          <p:nvPr/>
        </p:nvSpPr>
        <p:spPr>
          <a:xfrm>
            <a:off x="1170215" y="419100"/>
            <a:ext cx="9144000" cy="8150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输入与输出、常用库函数</a:t>
            </a:r>
          </a:p>
        </p:txBody>
      </p:sp>
    </p:spTree>
    <p:extLst>
      <p:ext uri="{BB962C8B-B14F-4D97-AF65-F5344CB8AC3E}">
        <p14:creationId xmlns:p14="http://schemas.microsoft.com/office/powerpoint/2010/main" val="166185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752600"/>
            <a:ext cx="11277600" cy="4648200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CN" sz="2800" dirty="0"/>
              <a:t>C</a:t>
            </a:r>
            <a:r>
              <a:rPr lang="zh-CN" altLang="en-US" sz="2800" dirty="0"/>
              <a:t>语言处理系统提供了许多已编写好的函数</a:t>
            </a:r>
            <a:r>
              <a:rPr lang="en-US" altLang="zh-CN" sz="2800" dirty="0"/>
              <a:t>-</a:t>
            </a:r>
            <a:r>
              <a:rPr lang="zh-CN" altLang="en-US" sz="2800" dirty="0">
                <a:solidFill>
                  <a:srgbClr val="3333FF"/>
                </a:solidFill>
              </a:rPr>
              <a:t>库函数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使用库函数前</a:t>
            </a:r>
            <a:r>
              <a:rPr lang="en-US" altLang="zh-CN" sz="2800" dirty="0"/>
              <a:t>, </a:t>
            </a:r>
            <a:r>
              <a:rPr lang="zh-CN" altLang="en-US" sz="2800" dirty="0"/>
              <a:t>需用编译预处理命令</a:t>
            </a:r>
            <a:r>
              <a:rPr lang="en-US" altLang="zh-CN" sz="2800" dirty="0"/>
              <a:t>"#include"</a:t>
            </a:r>
            <a:r>
              <a:rPr lang="zh-CN" altLang="en-US" sz="2800" dirty="0"/>
              <a:t>将相应头文件包含到程序中</a:t>
            </a:r>
            <a:r>
              <a:rPr lang="en-US" altLang="zh-CN" sz="2800" dirty="0"/>
              <a:t>, </a:t>
            </a:r>
            <a:r>
              <a:rPr lang="zh-CN" altLang="en-US" sz="2800" dirty="0"/>
              <a:t>操作通过调用库函数实现。</a:t>
            </a:r>
          </a:p>
          <a:p>
            <a:pPr algn="just" eaLnBrk="1" hangingPunct="1">
              <a:buFont typeface="Wingdings" pitchFamily="2" charset="2"/>
              <a:buNone/>
            </a:pPr>
            <a:endParaRPr lang="zh-CN" altLang="en-US" sz="2800" dirty="0">
              <a:solidFill>
                <a:srgbClr val="FF0000"/>
              </a:solidFill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　　　　</a:t>
            </a:r>
            <a:r>
              <a:rPr lang="en-US" altLang="zh-CN" sz="2800" dirty="0">
                <a:solidFill>
                  <a:srgbClr val="3333FF"/>
                </a:solidFill>
              </a:rPr>
              <a:t>#include &lt;</a:t>
            </a:r>
            <a:r>
              <a:rPr lang="en-US" altLang="zh-CN" sz="2800" dirty="0" err="1">
                <a:solidFill>
                  <a:srgbClr val="3333FF"/>
                </a:solidFill>
              </a:rPr>
              <a:t>stdio.h</a:t>
            </a:r>
            <a:r>
              <a:rPr lang="en-US" altLang="zh-CN" sz="2800" dirty="0">
                <a:solidFill>
                  <a:srgbClr val="3333FF"/>
                </a:solidFill>
              </a:rPr>
              <a:t>&gt;</a:t>
            </a:r>
          </a:p>
          <a:p>
            <a:pPr algn="just" eaLnBrk="1" hangingPunct="1">
              <a:buFont typeface="Wingdings" pitchFamily="2" charset="2"/>
              <a:buNone/>
            </a:pPr>
            <a:endParaRPr lang="en-US" altLang="zh-CN" sz="2800" dirty="0">
              <a:solidFill>
                <a:srgbClr val="FFFF00"/>
              </a:solidFill>
              <a:cs typeface="Times New Roman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800" dirty="0" err="1"/>
              <a:t>stdio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rgbClr val="CC00CC"/>
                </a:solidFill>
              </a:rPr>
              <a:t>st</a:t>
            </a:r>
            <a:r>
              <a:rPr lang="en-US" altLang="zh-CN" sz="2800" dirty="0"/>
              <a:t>an</a:t>
            </a:r>
            <a:r>
              <a:rPr lang="en-US" altLang="zh-CN" sz="2800" dirty="0">
                <a:solidFill>
                  <a:srgbClr val="CC00CC"/>
                </a:solidFill>
              </a:rPr>
              <a:t>d</a:t>
            </a:r>
            <a:r>
              <a:rPr lang="en-US" altLang="zh-CN" sz="2800" dirty="0"/>
              <a:t>ard </a:t>
            </a:r>
            <a:r>
              <a:rPr lang="en-US" altLang="zh-CN" sz="2800" dirty="0">
                <a:solidFill>
                  <a:srgbClr val="CC00CC"/>
                </a:solidFill>
              </a:rPr>
              <a:t>i</a:t>
            </a:r>
            <a:r>
              <a:rPr lang="en-US" altLang="zh-CN" sz="2800" dirty="0"/>
              <a:t>nput &amp; </a:t>
            </a:r>
            <a:r>
              <a:rPr lang="en-US" altLang="zh-CN" sz="2800" dirty="0">
                <a:solidFill>
                  <a:srgbClr val="CC00CC"/>
                </a:solidFill>
              </a:rPr>
              <a:t>o</a:t>
            </a:r>
            <a:r>
              <a:rPr lang="en-US" altLang="zh-CN" sz="2800" dirty="0"/>
              <a:t>utput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800" dirty="0"/>
              <a:t>.h</a:t>
            </a:r>
            <a:r>
              <a:rPr lang="zh-CN" altLang="en-US" sz="2800" dirty="0"/>
              <a:t>：</a:t>
            </a:r>
            <a:r>
              <a:rPr lang="en-US" altLang="zh-CN" sz="2800">
                <a:solidFill>
                  <a:srgbClr val="CC00CC"/>
                </a:solidFill>
              </a:rPr>
              <a:t>h</a:t>
            </a:r>
            <a:r>
              <a:rPr lang="en-US" altLang="zh-CN" sz="2800"/>
              <a:t>eader</a:t>
            </a:r>
            <a:endParaRPr lang="en-US" altLang="zh-CN" sz="2800" dirty="0"/>
          </a:p>
        </p:txBody>
      </p:sp>
      <p:sp>
        <p:nvSpPr>
          <p:cNvPr id="1028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9652000" y="6172200"/>
            <a:ext cx="914400" cy="304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cs typeface="+mn-cs"/>
              </a:rPr>
              <a:t>下一张</a:t>
            </a:r>
          </a:p>
        </p:txBody>
      </p:sp>
      <p:sp>
        <p:nvSpPr>
          <p:cNvPr id="1029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331200" y="6172200"/>
            <a:ext cx="914400" cy="304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cs typeface="+mn-cs"/>
              </a:rPr>
              <a:t>上一张</a:t>
            </a: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7719934" y="3357568"/>
            <a:ext cx="4472066" cy="3170099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CCFFFF"/>
              </a:gs>
            </a:gsLst>
            <a:lin ang="5400000" scaled="1"/>
          </a:gradFill>
          <a:ln w="9525">
            <a:solidFill>
              <a:srgbClr val="800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#include &lt;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stdio.h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int main(void)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int  x, sum; 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800" b="1" i="0" u="none" strike="noStrike" kern="1200" cap="none" spc="0" normalizeH="0" baseline="0" noProof="0" dirty="0">
              <a:ln>
                <a:noFill/>
              </a:ln>
              <a:solidFill>
                <a:srgbClr val="000514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scanf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("%d", &amp;x);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sum = x+ 5;         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printf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("%d \n", sum);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return 0;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2.2.1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输出函数</a:t>
            </a: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printf</a:t>
            </a:r>
            <a:endParaRPr kumimoji="0" lang="zh-CN" altLang="en-US" sz="3600" b="1" i="0" u="none" strike="noStrike" kern="1200" cap="none" spc="20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j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967767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9724" y="1454150"/>
            <a:ext cx="11343217" cy="4565650"/>
          </a:xfrm>
        </p:spPr>
        <p:txBody>
          <a:bodyPr/>
          <a:lstStyle/>
          <a:p>
            <a:pPr lvl="0" algn="just" eaLnBrk="1" hangingPunct="1">
              <a:buClr>
                <a:srgbClr val="000514"/>
              </a:buClr>
              <a:buNone/>
            </a:pPr>
            <a:r>
              <a:rPr lang="zh-CN" altLang="en-US" sz="2800" dirty="0">
                <a:solidFill>
                  <a:srgbClr val="000514"/>
                </a:solidFill>
                <a:cs typeface="Times New Roman" pitchFamily="18" charset="0"/>
              </a:rPr>
              <a:t>将各表达式（常量、变量、函数）的值</a:t>
            </a:r>
            <a:r>
              <a:rPr lang="zh-CN" altLang="en-US" sz="2800" dirty="0">
                <a:solidFill>
                  <a:srgbClr val="3333FF"/>
                </a:solidFill>
                <a:cs typeface="Times New Roman" pitchFamily="18" charset="0"/>
              </a:rPr>
              <a:t>按格式控制字符串给定格式</a:t>
            </a:r>
            <a:r>
              <a:rPr lang="zh-CN" altLang="en-US" sz="2800" dirty="0">
                <a:solidFill>
                  <a:srgbClr val="000514"/>
                </a:solidFill>
                <a:cs typeface="Times New Roman" pitchFamily="18" charset="0"/>
              </a:rPr>
              <a:t>输出在显示器上。调用格式</a:t>
            </a:r>
            <a:r>
              <a:rPr lang="en-US" altLang="zh-CN" sz="2800" dirty="0">
                <a:solidFill>
                  <a:srgbClr val="000514"/>
                </a:solidFill>
                <a:cs typeface="Times New Roman" pitchFamily="18" charset="0"/>
              </a:rPr>
              <a:t>: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dirty="0" err="1">
                <a:solidFill>
                  <a:srgbClr val="CC00CC"/>
                </a:solidFill>
                <a:cs typeface="Times New Roman" pitchFamily="18" charset="0"/>
              </a:rPr>
              <a:t>printf</a:t>
            </a:r>
            <a:r>
              <a:rPr lang="en-US" altLang="zh-CN" sz="2800" dirty="0">
                <a:solidFill>
                  <a:srgbClr val="CC00CC"/>
                </a:solidFill>
                <a:cs typeface="Times New Roman" pitchFamily="18" charset="0"/>
              </a:rPr>
              <a:t>(</a:t>
            </a:r>
            <a:r>
              <a:rPr lang="zh-CN" altLang="en-US" sz="2800" dirty="0">
                <a:solidFill>
                  <a:srgbClr val="CC00CC"/>
                </a:solidFill>
                <a:cs typeface="Times New Roman" pitchFamily="18" charset="0"/>
              </a:rPr>
              <a:t>格式控制字符串</a:t>
            </a:r>
            <a:r>
              <a:rPr lang="en-US" altLang="zh-CN" sz="2800" dirty="0">
                <a:solidFill>
                  <a:srgbClr val="CC00CC"/>
                </a:solidFill>
                <a:cs typeface="Times New Roman" pitchFamily="18" charset="0"/>
              </a:rPr>
              <a:t>, </a:t>
            </a:r>
            <a:r>
              <a:rPr lang="zh-CN" altLang="en-US" sz="2800" dirty="0">
                <a:solidFill>
                  <a:srgbClr val="CC00CC"/>
                </a:solidFill>
                <a:cs typeface="Times New Roman" pitchFamily="18" charset="0"/>
              </a:rPr>
              <a:t>表达式列表</a:t>
            </a:r>
            <a:r>
              <a:rPr lang="en-US" altLang="zh-CN" sz="2800" dirty="0">
                <a:solidFill>
                  <a:srgbClr val="CC00CC"/>
                </a:solidFill>
                <a:cs typeface="Times New Roman" pitchFamily="18" charset="0"/>
              </a:rPr>
              <a:t>);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CN" sz="2800" dirty="0"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dirty="0">
                <a:cs typeface="Times New Roman" pitchFamily="18" charset="0"/>
              </a:rPr>
              <a:t>    </a:t>
            </a:r>
            <a:r>
              <a:rPr lang="zh-CN" altLang="en-US" sz="2800" dirty="0">
                <a:cs typeface="Times New Roman" pitchFamily="18" charset="0"/>
              </a:rPr>
              <a:t>普通字符－原样输出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800" dirty="0">
                <a:cs typeface="Times New Roman" pitchFamily="18" charset="0"/>
              </a:rPr>
              <a:t>    转义字符－按其实际作用输出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800" dirty="0">
                <a:cs typeface="Times New Roman" pitchFamily="18" charset="0"/>
              </a:rPr>
              <a:t>    以格式控制字符</a:t>
            </a:r>
            <a:r>
              <a:rPr lang="en-US" altLang="zh-CN" sz="2800" dirty="0">
                <a:cs typeface="Times New Roman" pitchFamily="18" charset="0"/>
              </a:rPr>
              <a:t>%</a:t>
            </a:r>
            <a:r>
              <a:rPr lang="zh-CN" altLang="en-US" sz="2800" dirty="0">
                <a:cs typeface="Times New Roman" pitchFamily="18" charset="0"/>
              </a:rPr>
              <a:t>开头－按该格式输出对应表达式；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dirty="0">
                <a:cs typeface="Times New Roman" pitchFamily="18" charset="0"/>
              </a:rPr>
              <a:t>           </a:t>
            </a:r>
            <a:r>
              <a:rPr lang="en-US" altLang="zh-CN" sz="2800" dirty="0" err="1">
                <a:solidFill>
                  <a:schemeClr val="bg2">
                    <a:lumMod val="50000"/>
                    <a:lumOff val="50000"/>
                  </a:schemeClr>
                </a:solidFill>
                <a:cs typeface="Times New Roman" pitchFamily="18" charset="0"/>
              </a:rPr>
              <a:t>int</a:t>
            </a:r>
            <a:r>
              <a:rPr lang="en-US" altLang="zh-CN" sz="2800" dirty="0">
                <a:solidFill>
                  <a:schemeClr val="bg2">
                    <a:lumMod val="50000"/>
                    <a:lumOff val="50000"/>
                  </a:schemeClr>
                </a:solidFill>
                <a:cs typeface="Times New Roman" pitchFamily="18" charset="0"/>
              </a:rPr>
              <a:t> a = 3;  char  b = 'A';</a:t>
            </a:r>
            <a:endParaRPr lang="zh-CN" altLang="en-US" sz="2800" dirty="0">
              <a:solidFill>
                <a:schemeClr val="bg2">
                  <a:lumMod val="50000"/>
                  <a:lumOff val="50000"/>
                </a:schemeClr>
              </a:solidFill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800" dirty="0"/>
              <a:t>           </a:t>
            </a:r>
            <a:r>
              <a:rPr lang="en-US" altLang="zh-CN" sz="2800" dirty="0" err="1">
                <a:solidFill>
                  <a:srgbClr val="3333FF"/>
                </a:solidFill>
              </a:rPr>
              <a:t>printf</a:t>
            </a:r>
            <a:r>
              <a:rPr lang="en-US" altLang="zh-CN" sz="2800" dirty="0">
                <a:solidFill>
                  <a:srgbClr val="3333FF"/>
                </a:solidFill>
              </a:rPr>
              <a:t>("This is C program</a:t>
            </a:r>
            <a:r>
              <a:rPr lang="en-US" altLang="zh-CN" sz="2800" dirty="0">
                <a:solidFill>
                  <a:srgbClr val="CC00CC"/>
                </a:solidFill>
              </a:rPr>
              <a:t>\n</a:t>
            </a:r>
            <a:r>
              <a:rPr lang="en-US" altLang="zh-CN" sz="2800" dirty="0">
                <a:solidFill>
                  <a:srgbClr val="3333FF"/>
                </a:solidFill>
              </a:rPr>
              <a:t>"); 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>
                <a:solidFill>
                  <a:srgbClr val="3333FF"/>
                </a:solidFill>
              </a:rPr>
              <a:t>          </a:t>
            </a:r>
            <a:r>
              <a:rPr lang="en-US" altLang="zh-CN" sz="2800" dirty="0" err="1">
                <a:solidFill>
                  <a:srgbClr val="3333FF"/>
                </a:solidFill>
              </a:rPr>
              <a:t>printf</a:t>
            </a:r>
            <a:r>
              <a:rPr lang="en-US" altLang="zh-CN" sz="2800" dirty="0">
                <a:solidFill>
                  <a:srgbClr val="3333FF"/>
                </a:solidFill>
              </a:rPr>
              <a:t>("a = </a:t>
            </a:r>
            <a:r>
              <a:rPr lang="en-US" altLang="zh-CN" sz="2800" dirty="0">
                <a:solidFill>
                  <a:srgbClr val="CC00CC"/>
                </a:solidFill>
              </a:rPr>
              <a:t>%</a:t>
            </a:r>
            <a:r>
              <a:rPr lang="en-US" altLang="zh-CN" sz="2800" dirty="0">
                <a:solidFill>
                  <a:schemeClr val="accent1"/>
                </a:solidFill>
              </a:rPr>
              <a:t>d</a:t>
            </a:r>
            <a:r>
              <a:rPr lang="en-US" altLang="zh-CN" sz="2800" dirty="0">
                <a:solidFill>
                  <a:srgbClr val="3333FF"/>
                </a:solidFill>
              </a:rPr>
              <a:t>, b = %c",  a, b);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dirty="0">
                <a:latin typeface="宋体" pitchFamily="2" charset="-122"/>
              </a:rPr>
              <a:t>  </a:t>
            </a:r>
          </a:p>
        </p:txBody>
      </p:sp>
      <p:grpSp>
        <p:nvGrpSpPr>
          <p:cNvPr id="211973" name="Group 5"/>
          <p:cNvGrpSpPr>
            <a:grpSpLocks/>
          </p:cNvGrpSpPr>
          <p:nvPr/>
        </p:nvGrpSpPr>
        <p:grpSpPr bwMode="auto">
          <a:xfrm>
            <a:off x="3128433" y="6172205"/>
            <a:ext cx="2572507" cy="288925"/>
            <a:chOff x="2018" y="3203"/>
            <a:chExt cx="1452" cy="182"/>
          </a:xfrm>
        </p:grpSpPr>
        <p:sp>
          <p:nvSpPr>
            <p:cNvPr id="21517" name="Line 6"/>
            <p:cNvSpPr>
              <a:spLocks noChangeShapeType="1"/>
            </p:cNvSpPr>
            <p:nvPr/>
          </p:nvSpPr>
          <p:spPr bwMode="auto">
            <a:xfrm>
              <a:off x="3288" y="3203"/>
              <a:ext cx="18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00"/>
                </a:buClr>
                <a:buSzPct val="70000"/>
                <a:buFont typeface="Wingdings" pitchFamily="2" charset="2"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21518" name="Line 7"/>
            <p:cNvSpPr>
              <a:spLocks noChangeShapeType="1"/>
            </p:cNvSpPr>
            <p:nvPr/>
          </p:nvSpPr>
          <p:spPr bwMode="auto">
            <a:xfrm>
              <a:off x="3379" y="3203"/>
              <a:ext cx="0" cy="18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00"/>
                </a:buClr>
                <a:buSzPct val="70000"/>
                <a:buFont typeface="Wingdings" pitchFamily="2" charset="2"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21519" name="Line 8"/>
            <p:cNvSpPr>
              <a:spLocks noChangeShapeType="1"/>
            </p:cNvSpPr>
            <p:nvPr/>
          </p:nvSpPr>
          <p:spPr bwMode="auto">
            <a:xfrm>
              <a:off x="2018" y="3203"/>
              <a:ext cx="31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00"/>
                </a:buClr>
                <a:buSzPct val="70000"/>
                <a:buFont typeface="Wingdings" pitchFamily="2" charset="2"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21520" name="Line 9"/>
            <p:cNvSpPr>
              <a:spLocks noChangeShapeType="1"/>
            </p:cNvSpPr>
            <p:nvPr/>
          </p:nvSpPr>
          <p:spPr bwMode="auto">
            <a:xfrm>
              <a:off x="2154" y="3203"/>
              <a:ext cx="0" cy="18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00"/>
                </a:buClr>
                <a:buSzPct val="70000"/>
                <a:buFont typeface="Wingdings" pitchFamily="2" charset="2"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21521" name="Line 10"/>
            <p:cNvSpPr>
              <a:spLocks noChangeShapeType="1"/>
            </p:cNvSpPr>
            <p:nvPr/>
          </p:nvSpPr>
          <p:spPr bwMode="auto">
            <a:xfrm>
              <a:off x="2154" y="3385"/>
              <a:ext cx="1225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00"/>
                </a:buClr>
                <a:buSzPct val="70000"/>
                <a:buFont typeface="Wingdings" pitchFamily="2" charset="2"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</p:grpSp>
      <p:grpSp>
        <p:nvGrpSpPr>
          <p:cNvPr id="211979" name="Group 11"/>
          <p:cNvGrpSpPr>
            <a:grpSpLocks/>
          </p:cNvGrpSpPr>
          <p:nvPr/>
        </p:nvGrpSpPr>
        <p:grpSpPr bwMode="auto">
          <a:xfrm>
            <a:off x="4569885" y="6173793"/>
            <a:ext cx="1449916" cy="503237"/>
            <a:chOff x="2018" y="3203"/>
            <a:chExt cx="1452" cy="182"/>
          </a:xfrm>
        </p:grpSpPr>
        <p:sp>
          <p:nvSpPr>
            <p:cNvPr id="21512" name="Line 12"/>
            <p:cNvSpPr>
              <a:spLocks noChangeShapeType="1"/>
            </p:cNvSpPr>
            <p:nvPr/>
          </p:nvSpPr>
          <p:spPr bwMode="auto">
            <a:xfrm>
              <a:off x="3288" y="3203"/>
              <a:ext cx="182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00"/>
                </a:buClr>
                <a:buSzPct val="70000"/>
                <a:buFont typeface="Wingdings" pitchFamily="2" charset="2"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21513" name="Line 13"/>
            <p:cNvSpPr>
              <a:spLocks noChangeShapeType="1"/>
            </p:cNvSpPr>
            <p:nvPr/>
          </p:nvSpPr>
          <p:spPr bwMode="auto">
            <a:xfrm>
              <a:off x="3379" y="3203"/>
              <a:ext cx="0" cy="182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00"/>
                </a:buClr>
                <a:buSzPct val="70000"/>
                <a:buFont typeface="Wingdings" pitchFamily="2" charset="2"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21514" name="Line 14"/>
            <p:cNvSpPr>
              <a:spLocks noChangeShapeType="1"/>
            </p:cNvSpPr>
            <p:nvPr/>
          </p:nvSpPr>
          <p:spPr bwMode="auto">
            <a:xfrm>
              <a:off x="2018" y="3203"/>
              <a:ext cx="318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00"/>
                </a:buClr>
                <a:buSzPct val="70000"/>
                <a:buFont typeface="Wingdings" pitchFamily="2" charset="2"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21515" name="Line 15"/>
            <p:cNvSpPr>
              <a:spLocks noChangeShapeType="1"/>
            </p:cNvSpPr>
            <p:nvPr/>
          </p:nvSpPr>
          <p:spPr bwMode="auto">
            <a:xfrm>
              <a:off x="2154" y="3203"/>
              <a:ext cx="0" cy="182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00"/>
                </a:buClr>
                <a:buSzPct val="70000"/>
                <a:buFont typeface="Wingdings" pitchFamily="2" charset="2"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21516" name="Line 16"/>
            <p:cNvSpPr>
              <a:spLocks noChangeShapeType="1"/>
            </p:cNvSpPr>
            <p:nvPr/>
          </p:nvSpPr>
          <p:spPr bwMode="auto">
            <a:xfrm>
              <a:off x="2154" y="3385"/>
              <a:ext cx="1225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00"/>
                </a:buClr>
                <a:buSzPct val="70000"/>
                <a:buFont typeface="Wingdings" pitchFamily="2" charset="2"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</p:grpSp>
      <p:sp>
        <p:nvSpPr>
          <p:cNvPr id="21511" name="AutoShape 17"/>
          <p:cNvSpPr>
            <a:spLocks noChangeArrowheads="1"/>
          </p:cNvSpPr>
          <p:nvPr/>
        </p:nvSpPr>
        <p:spPr bwMode="auto">
          <a:xfrm>
            <a:off x="1725087" y="2863850"/>
            <a:ext cx="383117" cy="431800"/>
          </a:xfrm>
          <a:prstGeom prst="downArrow">
            <a:avLst>
              <a:gd name="adj1" fmla="val 50000"/>
              <a:gd name="adj2" fmla="val 37569"/>
            </a:avLst>
          </a:prstGeom>
          <a:solidFill>
            <a:schemeClr val="bg2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2.2.1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输出函数</a:t>
            </a: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printf</a:t>
            </a:r>
            <a:endParaRPr kumimoji="0" lang="zh-CN" altLang="en-US" sz="3600" b="1" i="0" u="none" strike="noStrike" kern="1200" cap="none" spc="20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j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741018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2023533" y="890533"/>
            <a:ext cx="787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514"/>
              </a:buClr>
              <a:buSzPct val="70000"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printf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的格式控制字符及功能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514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graphicFrame>
        <p:nvGraphicFramePr>
          <p:cNvPr id="21887" name="Group 383"/>
          <p:cNvGraphicFramePr>
            <a:graphicFrameLocks noGrp="1"/>
          </p:cNvGraphicFramePr>
          <p:nvPr/>
        </p:nvGraphicFramePr>
        <p:xfrm>
          <a:off x="239187" y="1466798"/>
          <a:ext cx="11425767" cy="4984753"/>
        </p:xfrm>
        <a:graphic>
          <a:graphicData uri="http://schemas.openxmlformats.org/drawingml/2006/table">
            <a:tbl>
              <a:tblPr/>
              <a:tblGrid>
                <a:gridCol w="1064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8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52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类型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格式控制字符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功  能  说  明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1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int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%d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%i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以带符号的十进制整数形式输出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正数不输出符号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%o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以八进制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无符号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形式输出整数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不输出前导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0)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%x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%X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以十六进制无符号形式输出整数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不输出前导符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0x)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：以小写形式输出十六进制数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；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：输出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%u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以十进制无符号形式输出整数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5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char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%c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以字符形式输出一个字符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%s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输出字符串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41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float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double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%f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以小数形式输出单、双精度实数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默认输出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位小数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%e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%E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以标准指数形式输出实数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最多小数位为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位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949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%g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%G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自动选用％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或％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格式中输出宽度较短的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—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种格式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不输出前导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：指数以大写字母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"E"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表示</a:t>
                      </a:r>
                    </a:p>
                  </a:txBody>
                  <a:tcPr marL="121920" marR="121920" marT="45717" marB="4571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1721" name="Text Box 217"/>
          <p:cNvSpPr txBox="1">
            <a:spLocks noChangeArrowheads="1"/>
          </p:cNvSpPr>
          <p:nvPr/>
        </p:nvSpPr>
        <p:spPr bwMode="auto">
          <a:xfrm>
            <a:off x="10296201" y="1857138"/>
            <a:ext cx="1905794" cy="3933384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CCFFFF"/>
              </a:gs>
            </a:gsLst>
            <a:lin ang="5400000" scaled="1"/>
          </a:gradFill>
          <a:ln w="9525" algn="ctr">
            <a:solidFill>
              <a:srgbClr val="800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d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ecimal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octal  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hexadecimal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unsigned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c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haracter 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tring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loat 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exponent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2.2.1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输出函数</a:t>
            </a: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printf</a:t>
            </a:r>
            <a:endParaRPr kumimoji="0" lang="zh-CN" altLang="en-US" sz="3600" b="1" i="0" u="none" strike="noStrike" kern="1200" cap="none" spc="20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j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74234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3970554" y="371476"/>
            <a:ext cx="42995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di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printf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的附加格式说明符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</a:p>
        </p:txBody>
      </p:sp>
      <p:sp>
        <p:nvSpPr>
          <p:cNvPr id="197687" name="Text Box 55"/>
          <p:cNvSpPr txBox="1">
            <a:spLocks noChangeArrowheads="1"/>
          </p:cNvSpPr>
          <p:nvPr/>
        </p:nvSpPr>
        <p:spPr bwMode="auto">
          <a:xfrm>
            <a:off x="1295400" y="5805493"/>
            <a:ext cx="3467100" cy="75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long a = 27;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("a = %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l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", a);</a:t>
            </a:r>
          </a:p>
        </p:txBody>
      </p:sp>
      <p:graphicFrame>
        <p:nvGraphicFramePr>
          <p:cNvPr id="198196" name="Group 564"/>
          <p:cNvGraphicFramePr>
            <a:graphicFrameLocks noGrp="1"/>
          </p:cNvGraphicFramePr>
          <p:nvPr/>
        </p:nvGraphicFramePr>
        <p:xfrm>
          <a:off x="624417" y="908055"/>
          <a:ext cx="10752667" cy="4822825"/>
        </p:xfrm>
        <a:graphic>
          <a:graphicData uri="http://schemas.openxmlformats.org/drawingml/2006/table">
            <a:tbl>
              <a:tblPr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5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字 符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作  用  说  明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字母</a:t>
                      </a:r>
                      <a:r>
                        <a:rPr kumimoji="1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　　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h, H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输出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long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型整数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可加在格式符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o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u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前面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short   …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正整数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输出数据的最小宽度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域宽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数据长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m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：数据前补空格到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列；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&gt;m 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：不起作用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正整数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对实数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表示输出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位小数（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n+ 1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位四舍五入）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对字符串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表示截取的字符个数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输出数据在域内左对齐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右边补空格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 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在正数前输出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"+ "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号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输出数据右对齐时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左边补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用在格式字符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o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前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输出八、十六进制数的前导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0x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4953000" y="5828250"/>
            <a:ext cx="723900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514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h = 2, m = 48, s = 7;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514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("%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02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d:%02d:%02d \n", h, m, s);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//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B27C6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2:48: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B27C6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852950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87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4437" y="333378"/>
            <a:ext cx="11425767" cy="6335713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 err="1">
                <a:solidFill>
                  <a:srgbClr val="CC00CC"/>
                </a:solidFill>
                <a:cs typeface="Times New Roman" pitchFamily="18" charset="0"/>
              </a:rPr>
              <a:t>eg</a:t>
            </a:r>
            <a:r>
              <a:rPr lang="en-US" altLang="zh-CN" sz="2400" dirty="0">
                <a:solidFill>
                  <a:srgbClr val="CC00CC"/>
                </a:solidFill>
                <a:cs typeface="Times New Roman" pitchFamily="18" charset="0"/>
              </a:rPr>
              <a:t> 2.2 </a:t>
            </a:r>
            <a:r>
              <a:rPr lang="zh-CN" altLang="en-US" sz="2400" dirty="0">
                <a:solidFill>
                  <a:srgbClr val="6600CC"/>
                </a:solidFill>
                <a:cs typeface="Times New Roman" pitchFamily="18" charset="0"/>
              </a:rPr>
              <a:t>输出整数、实数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cs typeface="Times New Roman" pitchFamily="18" charset="0"/>
              </a:rPr>
              <a:t>#include &lt;</a:t>
            </a:r>
            <a:r>
              <a:rPr lang="en-US" altLang="zh-CN" sz="2400" dirty="0" err="1">
                <a:cs typeface="Times New Roman" pitchFamily="18" charset="0"/>
              </a:rPr>
              <a:t>stdio.h</a:t>
            </a:r>
            <a:r>
              <a:rPr lang="en-US" altLang="zh-CN" sz="2400" dirty="0">
                <a:cs typeface="Times New Roman" pitchFamily="18" charset="0"/>
              </a:rPr>
              <a:t>&gt;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int main(void)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       int a = 27;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double d = 3.1415926;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   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   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d</a:t>
            </a:r>
            <a:r>
              <a:rPr lang="en-US" altLang="zh-CN" sz="2400" dirty="0" err="1">
                <a:solidFill>
                  <a:srgbClr val="3333FF"/>
                </a:solidFill>
              </a:rPr>
              <a:t>%x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CC00CC"/>
                </a:solidFill>
              </a:rPr>
              <a:t>\n</a:t>
            </a:r>
            <a:r>
              <a:rPr lang="en-US" altLang="zh-CN" sz="2400" dirty="0"/>
              <a:t>", a , a);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   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("%d, </a:t>
            </a:r>
            <a:r>
              <a:rPr lang="en-US" altLang="zh-CN" sz="2400" dirty="0">
                <a:solidFill>
                  <a:srgbClr val="3333FF"/>
                </a:solidFill>
              </a:rPr>
              <a:t>%x</a:t>
            </a:r>
            <a:r>
              <a:rPr lang="en-US" altLang="zh-CN" sz="2400" dirty="0"/>
              <a:t> \n", a , a);</a:t>
            </a:r>
            <a:r>
              <a:rPr lang="en-US" altLang="zh-CN" sz="2400" dirty="0">
                <a:solidFill>
                  <a:srgbClr val="FF0000"/>
                </a:solidFill>
              </a:rPr>
              <a:t>                                                          </a:t>
            </a:r>
            <a:endParaRPr lang="en-US" altLang="zh-CN" sz="2400" dirty="0">
              <a:solidFill>
                <a:srgbClr val="FFFF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　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("a = %</a:t>
            </a:r>
            <a:r>
              <a:rPr lang="en-US" altLang="zh-CN" sz="2400" dirty="0">
                <a:solidFill>
                  <a:srgbClr val="CC00CC"/>
                </a:solidFill>
              </a:rPr>
              <a:t>5</a:t>
            </a:r>
            <a:r>
              <a:rPr lang="en-US" altLang="zh-CN" sz="2400" dirty="0"/>
              <a:t>d, a = 0x%5x \n", a, a);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3333FF"/>
                </a:solidFill>
              </a:rPr>
              <a:t>                                    //%5d</a:t>
            </a:r>
            <a:r>
              <a:rPr lang="zh-CN" altLang="en-US" sz="2400" dirty="0">
                <a:solidFill>
                  <a:srgbClr val="3333FF"/>
                </a:solidFill>
              </a:rPr>
              <a:t>指定</a:t>
            </a:r>
            <a:r>
              <a:rPr lang="en-US" altLang="zh-CN" sz="2400" dirty="0">
                <a:solidFill>
                  <a:srgbClr val="3333FF"/>
                </a:solidFill>
              </a:rPr>
              <a:t>a</a:t>
            </a:r>
            <a:r>
              <a:rPr lang="zh-CN" altLang="en-US" sz="2400" dirty="0">
                <a:solidFill>
                  <a:srgbClr val="3333FF"/>
                </a:solidFill>
              </a:rPr>
              <a:t>的输出宽度占</a:t>
            </a:r>
            <a:r>
              <a:rPr lang="en-US" altLang="zh-CN" sz="2400" dirty="0">
                <a:solidFill>
                  <a:srgbClr val="3333FF"/>
                </a:solidFill>
              </a:rPr>
              <a:t>5</a:t>
            </a:r>
            <a:r>
              <a:rPr lang="zh-CN" altLang="en-US" sz="2400" dirty="0">
                <a:solidFill>
                  <a:srgbClr val="3333FF"/>
                </a:solidFill>
              </a:rPr>
              <a:t>列、右对齐</a:t>
            </a:r>
          </a:p>
          <a:p>
            <a:pPr lvl="0" eaLnBrk="1" hangingPunct="1">
              <a:lnSpc>
                <a:spcPct val="90000"/>
              </a:lnSpc>
              <a:buClr>
                <a:srgbClr val="000514"/>
              </a:buClr>
              <a:buNone/>
            </a:pPr>
            <a:endParaRPr lang="en-US" altLang="zh-CN" sz="2400" dirty="0"/>
          </a:p>
          <a:p>
            <a:pPr lvl="0" eaLnBrk="1" hangingPunct="1">
              <a:lnSpc>
                <a:spcPct val="90000"/>
              </a:lnSpc>
              <a:buClr>
                <a:srgbClr val="000514"/>
              </a:buClr>
              <a:buNone/>
            </a:pPr>
            <a:r>
              <a:rPr lang="en-US" altLang="zh-CN" sz="2400" dirty="0"/>
              <a:t>   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("d = %f, d = %</a:t>
            </a:r>
            <a:r>
              <a:rPr lang="en-US" altLang="zh-CN" sz="2400" dirty="0">
                <a:solidFill>
                  <a:srgbClr val="EB27C6"/>
                </a:solidFill>
              </a:rPr>
              <a:t>6.3</a:t>
            </a:r>
            <a:r>
              <a:rPr lang="en-US" altLang="zh-CN" sz="2400" dirty="0"/>
              <a:t>f \n", d, d);    </a:t>
            </a:r>
            <a:r>
              <a:rPr lang="en-US" altLang="zh-CN" sz="2000" dirty="0">
                <a:solidFill>
                  <a:srgbClr val="3333FF"/>
                </a:solidFill>
                <a:cs typeface="Times New Roman" pitchFamily="18" charset="0"/>
              </a:rPr>
              <a:t>//%f :</a:t>
            </a:r>
            <a:r>
              <a:rPr lang="zh-CN" altLang="en-US" sz="2000" dirty="0">
                <a:solidFill>
                  <a:srgbClr val="3333FF"/>
                </a:solidFill>
                <a:cs typeface="Times New Roman" pitchFamily="18" charset="0"/>
              </a:rPr>
              <a:t>保留</a:t>
            </a:r>
            <a:r>
              <a:rPr lang="en-US" altLang="zh-CN" sz="2000" dirty="0">
                <a:solidFill>
                  <a:srgbClr val="3333FF"/>
                </a:solidFill>
                <a:cs typeface="Times New Roman" pitchFamily="18" charset="0"/>
              </a:rPr>
              <a:t>6</a:t>
            </a:r>
            <a:r>
              <a:rPr lang="zh-CN" altLang="en-US" sz="2000" dirty="0">
                <a:solidFill>
                  <a:srgbClr val="3333FF"/>
                </a:solidFill>
                <a:cs typeface="Times New Roman" pitchFamily="18" charset="0"/>
              </a:rPr>
              <a:t>位小数</a:t>
            </a:r>
            <a:r>
              <a:rPr lang="en-US" altLang="zh-CN" sz="2000" dirty="0">
                <a:solidFill>
                  <a:srgbClr val="3333FF"/>
                </a:solidFill>
                <a:cs typeface="Times New Roman" pitchFamily="18" charset="0"/>
              </a:rPr>
              <a:t>, </a:t>
            </a:r>
            <a:r>
              <a:rPr lang="zh-CN" altLang="en-US" sz="2000" dirty="0">
                <a:solidFill>
                  <a:srgbClr val="3333FF"/>
                </a:solidFill>
                <a:cs typeface="Times New Roman" pitchFamily="18" charset="0"/>
              </a:rPr>
              <a:t>不足</a:t>
            </a:r>
            <a:r>
              <a:rPr lang="en-US" altLang="zh-CN" sz="2000" dirty="0">
                <a:solidFill>
                  <a:srgbClr val="3333FF"/>
                </a:solidFill>
                <a:cs typeface="Times New Roman" pitchFamily="18" charset="0"/>
              </a:rPr>
              <a:t>6</a:t>
            </a:r>
            <a:r>
              <a:rPr lang="zh-CN" altLang="en-US" sz="2000" dirty="0">
                <a:solidFill>
                  <a:srgbClr val="3333FF"/>
                </a:solidFill>
                <a:cs typeface="Times New Roman" pitchFamily="18" charset="0"/>
              </a:rPr>
              <a:t>位补</a:t>
            </a:r>
            <a:r>
              <a:rPr lang="en-US" altLang="zh-CN" sz="2000" dirty="0">
                <a:solidFill>
                  <a:srgbClr val="3333FF"/>
                </a:solidFill>
                <a:cs typeface="Times New Roman" pitchFamily="18" charset="0"/>
              </a:rPr>
              <a:t>0, </a:t>
            </a:r>
            <a:r>
              <a:rPr lang="zh-CN" altLang="en-US" sz="2000" dirty="0">
                <a:solidFill>
                  <a:srgbClr val="3333FF"/>
                </a:solidFill>
                <a:cs typeface="Times New Roman" pitchFamily="18" charset="0"/>
              </a:rPr>
              <a:t>超过则四舍五入</a:t>
            </a:r>
            <a:endParaRPr lang="zh-CN" altLang="en-US" sz="2800" dirty="0">
              <a:solidFill>
                <a:srgbClr val="000514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               </a:t>
            </a:r>
            <a:r>
              <a:rPr lang="en-US" altLang="zh-CN" sz="2400" dirty="0">
                <a:solidFill>
                  <a:schemeClr val="tx2">
                    <a:lumMod val="50000"/>
                  </a:schemeClr>
                </a:solidFill>
              </a:rPr>
              <a:t>//d</a:t>
            </a:r>
            <a:r>
              <a:rPr lang="zh-CN" altLang="en-US" sz="2400" dirty="0">
                <a:solidFill>
                  <a:schemeClr val="tx2">
                    <a:lumMod val="50000"/>
                  </a:schemeClr>
                </a:solidFill>
              </a:rPr>
              <a:t>的输出宽度占</a:t>
            </a:r>
            <a:r>
              <a:rPr lang="en-US" altLang="zh-CN" sz="2400" dirty="0">
                <a:solidFill>
                  <a:schemeClr val="tx2">
                    <a:lumMod val="50000"/>
                  </a:schemeClr>
                </a:solidFill>
              </a:rPr>
              <a:t>6</a:t>
            </a:r>
            <a:r>
              <a:rPr lang="zh-CN" altLang="en-US" sz="2400" dirty="0">
                <a:solidFill>
                  <a:schemeClr val="tx2">
                    <a:lumMod val="50000"/>
                  </a:schemeClr>
                </a:solidFill>
              </a:rPr>
              <a:t>列</a:t>
            </a:r>
            <a:r>
              <a:rPr lang="en-US" altLang="zh-CN" sz="2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zh-CN" altLang="en-US" sz="2400" dirty="0">
                <a:solidFill>
                  <a:schemeClr val="tx2">
                    <a:lumMod val="50000"/>
                  </a:schemeClr>
                </a:solidFill>
              </a:rPr>
              <a:t>四舍五入显示</a:t>
            </a:r>
            <a:r>
              <a:rPr lang="en-US" altLang="zh-CN" sz="2400" dirty="0">
                <a:solidFill>
                  <a:schemeClr val="tx2">
                    <a:lumMod val="50000"/>
                  </a:schemeClr>
                </a:solidFill>
              </a:rPr>
              <a:t>3</a:t>
            </a:r>
            <a:r>
              <a:rPr lang="zh-CN" altLang="en-US" sz="2400" dirty="0">
                <a:solidFill>
                  <a:schemeClr val="tx2">
                    <a:lumMod val="50000"/>
                  </a:schemeClr>
                </a:solidFill>
              </a:rPr>
              <a:t>位小数</a:t>
            </a:r>
            <a:endParaRPr lang="en-US" altLang="zh-CN" sz="2400" dirty="0">
              <a:solidFill>
                <a:schemeClr val="tx2">
                  <a:lumMod val="50000"/>
                </a:schemeClr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return 0;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} </a:t>
            </a:r>
          </a:p>
        </p:txBody>
      </p:sp>
      <p:sp>
        <p:nvSpPr>
          <p:cNvPr id="154629" name="Text Box 5"/>
          <p:cNvSpPr txBox="1">
            <a:spLocks noChangeArrowheads="1"/>
          </p:cNvSpPr>
          <p:nvPr/>
        </p:nvSpPr>
        <p:spPr bwMode="auto">
          <a:xfrm>
            <a:off x="8496300" y="836614"/>
            <a:ext cx="345651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程序执行：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271b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27, 1b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 =     27, a = 0x   1b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d = 3.141593, d =   3.142</a:t>
            </a:r>
          </a:p>
        </p:txBody>
      </p:sp>
      <p:sp>
        <p:nvSpPr>
          <p:cNvPr id="154631" name="Rectangle 7"/>
          <p:cNvSpPr>
            <a:spLocks noChangeArrowheads="1"/>
          </p:cNvSpPr>
          <p:nvPr/>
        </p:nvSpPr>
        <p:spPr bwMode="auto">
          <a:xfrm>
            <a:off x="8496300" y="836615"/>
            <a:ext cx="3456517" cy="2677655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13" y="2617450"/>
            <a:ext cx="7735887" cy="173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8894707" y="3922894"/>
            <a:ext cx="2659702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514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选择合适的分隔符</a:t>
            </a:r>
          </a:p>
        </p:txBody>
      </p:sp>
    </p:spTree>
    <p:extLst>
      <p:ext uri="{BB962C8B-B14F-4D97-AF65-F5344CB8AC3E}">
        <p14:creationId xmlns:p14="http://schemas.microsoft.com/office/powerpoint/2010/main" val="3355625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3937" y="1314450"/>
            <a:ext cx="11857567" cy="5354641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6600CC"/>
                </a:solidFill>
                <a:cs typeface="Times New Roman" pitchFamily="18" charset="0"/>
              </a:rPr>
              <a:t>例</a:t>
            </a:r>
            <a:r>
              <a:rPr lang="en-US" altLang="zh-CN" dirty="0">
                <a:solidFill>
                  <a:srgbClr val="6600CC"/>
                </a:solidFill>
                <a:cs typeface="Times New Roman" pitchFamily="18" charset="0"/>
              </a:rPr>
              <a:t>2.3</a:t>
            </a:r>
            <a:r>
              <a:rPr lang="zh-CN" altLang="en-US" dirty="0">
                <a:solidFill>
                  <a:srgbClr val="6600CC"/>
                </a:solidFill>
                <a:cs typeface="Times New Roman" pitchFamily="18" charset="0"/>
              </a:rPr>
              <a:t>：输出字符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800" dirty="0">
                <a:cs typeface="Times New Roman" pitchFamily="18" charset="0"/>
              </a:rPr>
              <a:t>#include &lt;</a:t>
            </a:r>
            <a:r>
              <a:rPr lang="en-US" altLang="zh-CN" sz="2800" dirty="0" err="1">
                <a:cs typeface="Times New Roman" pitchFamily="18" charset="0"/>
              </a:rPr>
              <a:t>stdio.h</a:t>
            </a:r>
            <a:r>
              <a:rPr lang="en-US" altLang="zh-CN" sz="2800" dirty="0">
                <a:cs typeface="Times New Roman" pitchFamily="18" charset="0"/>
              </a:rPr>
              <a:t>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int main(void)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   int b = 65;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   char </a:t>
            </a:r>
            <a:r>
              <a:rPr lang="en-US" altLang="zh-CN" sz="2800" dirty="0" err="1"/>
              <a:t>ch</a:t>
            </a:r>
            <a:r>
              <a:rPr lang="en-US" altLang="zh-CN" sz="2800" dirty="0"/>
              <a:t> = 'A';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　   </a:t>
            </a:r>
            <a:r>
              <a:rPr lang="en-US" altLang="zh-CN" sz="2600" dirty="0" err="1"/>
              <a:t>printf</a:t>
            </a:r>
            <a:r>
              <a:rPr lang="en-US" altLang="zh-CN" sz="2600" dirty="0"/>
              <a:t>("%c  %d </a:t>
            </a:r>
            <a:r>
              <a:rPr lang="en-US" altLang="zh-CN" sz="2600" dirty="0">
                <a:solidFill>
                  <a:srgbClr val="CC00CC"/>
                </a:solidFill>
              </a:rPr>
              <a:t>%c</a:t>
            </a:r>
            <a:r>
              <a:rPr lang="en-US" altLang="zh-CN" sz="2600" dirty="0"/>
              <a:t> \n", </a:t>
            </a:r>
            <a:r>
              <a:rPr lang="en-US" altLang="zh-CN" sz="2600" dirty="0" err="1"/>
              <a:t>ch</a:t>
            </a:r>
            <a:r>
              <a:rPr lang="en-US" altLang="zh-CN" sz="2600" dirty="0"/>
              <a:t>, </a:t>
            </a:r>
            <a:r>
              <a:rPr lang="en-US" altLang="zh-CN" sz="2600" dirty="0" err="1"/>
              <a:t>ch</a:t>
            </a:r>
            <a:r>
              <a:rPr lang="en-US" altLang="zh-CN" sz="2600" dirty="0"/>
              <a:t>, </a:t>
            </a:r>
            <a:r>
              <a:rPr lang="en-US" altLang="zh-CN" sz="2600" dirty="0">
                <a:solidFill>
                  <a:srgbClr val="CC00CC"/>
                </a:solidFill>
              </a:rPr>
              <a:t>b+ 32</a:t>
            </a:r>
            <a:r>
              <a:rPr lang="en-US" altLang="zh-CN" sz="2600" dirty="0"/>
              <a:t>);</a:t>
            </a:r>
            <a:r>
              <a:rPr lang="en-US" altLang="zh-CN" sz="2800" dirty="0"/>
              <a:t>      </a:t>
            </a:r>
            <a:endParaRPr lang="en-US" altLang="zh-CN" sz="2800" dirty="0">
              <a:solidFill>
                <a:srgbClr val="FFFF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   return 0;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}</a:t>
            </a:r>
          </a:p>
        </p:txBody>
      </p:sp>
      <p:sp>
        <p:nvSpPr>
          <p:cNvPr id="156677" name="Text Box 5"/>
          <p:cNvSpPr txBox="1">
            <a:spLocks noChangeArrowheads="1"/>
          </p:cNvSpPr>
          <p:nvPr/>
        </p:nvSpPr>
        <p:spPr bwMode="auto">
          <a:xfrm>
            <a:off x="7918451" y="1052514"/>
            <a:ext cx="2209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程序执行：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  65  a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2.2.1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输出函数</a:t>
            </a: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printf</a:t>
            </a:r>
            <a:endParaRPr kumimoji="0" lang="zh-CN" altLang="en-US" sz="3600" b="1" i="0" u="none" strike="noStrike" kern="1200" cap="none" spc="20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j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9363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9771" y="1285093"/>
            <a:ext cx="11952816" cy="5130795"/>
          </a:xfrm>
        </p:spPr>
        <p:txBody>
          <a:bodyPr/>
          <a:lstStyle/>
          <a:p>
            <a:pPr lvl="0" algn="just" eaLnBrk="1" hangingPunct="1">
              <a:lnSpc>
                <a:spcPct val="90000"/>
              </a:lnSpc>
              <a:buClr>
                <a:srgbClr val="000514"/>
              </a:buClr>
              <a:buNone/>
            </a:pPr>
            <a:r>
              <a:rPr lang="zh-CN" altLang="en-US" sz="2800" dirty="0">
                <a:solidFill>
                  <a:srgbClr val="000514"/>
                </a:solidFill>
                <a:cs typeface="Times New Roman" pitchFamily="18" charset="0"/>
              </a:rPr>
              <a:t>按格式控制字符串给定格式从键盘输入数据</a:t>
            </a:r>
            <a:r>
              <a:rPr lang="en-US" altLang="zh-CN" sz="2800" dirty="0">
                <a:solidFill>
                  <a:srgbClr val="000514"/>
                </a:solidFill>
                <a:cs typeface="Times New Roman" pitchFamily="18" charset="0"/>
              </a:rPr>
              <a:t>, </a:t>
            </a:r>
            <a:r>
              <a:rPr lang="zh-CN" altLang="en-US" sz="2800" dirty="0">
                <a:solidFill>
                  <a:srgbClr val="000514"/>
                </a:solidFill>
                <a:cs typeface="Times New Roman" pitchFamily="18" charset="0"/>
              </a:rPr>
              <a:t>并将数据存入</a:t>
            </a:r>
            <a:r>
              <a:rPr lang="zh-CN" altLang="en-US" sz="2800" dirty="0">
                <a:solidFill>
                  <a:srgbClr val="000514"/>
                </a:solidFill>
              </a:rPr>
              <a:t>接受数据的各变量</a:t>
            </a:r>
            <a:r>
              <a:rPr lang="zh-CN" altLang="en-US" sz="2800" dirty="0">
                <a:solidFill>
                  <a:srgbClr val="000514"/>
                </a:solidFill>
                <a:cs typeface="Times New Roman" pitchFamily="18" charset="0"/>
              </a:rPr>
              <a:t>对应的地址单元。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dirty="0">
                <a:solidFill>
                  <a:srgbClr val="000000"/>
                </a:solidFill>
                <a:cs typeface="Times New Roman" pitchFamily="18" charset="0"/>
              </a:rPr>
              <a:t> </a:t>
            </a:r>
            <a:r>
              <a:rPr lang="zh-CN" altLang="en-US" sz="2800" dirty="0">
                <a:solidFill>
                  <a:srgbClr val="000514"/>
                </a:solidFill>
                <a:cs typeface="Times New Roman" pitchFamily="18" charset="0"/>
              </a:rPr>
              <a:t>调用格式</a:t>
            </a:r>
            <a:r>
              <a:rPr lang="en-US" altLang="zh-CN" sz="2800" dirty="0">
                <a:solidFill>
                  <a:srgbClr val="000514"/>
                </a:solidFill>
                <a:cs typeface="Times New Roman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cs typeface="Times New Roman" pitchFamily="18" charset="0"/>
              </a:rPr>
              <a:t> </a:t>
            </a: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 </a:t>
            </a:r>
            <a:r>
              <a:rPr lang="zh-CN" altLang="en-US" b="0" dirty="0">
                <a:solidFill>
                  <a:srgbClr val="FF0000"/>
                </a:solidFill>
                <a:cs typeface="Times New Roman" pitchFamily="18" charset="0"/>
              </a:rPr>
              <a:t> </a:t>
            </a:r>
            <a:r>
              <a:rPr lang="en-US" altLang="zh-CN" sz="2800" dirty="0" err="1">
                <a:solidFill>
                  <a:srgbClr val="CC00CC"/>
                </a:solidFill>
                <a:cs typeface="Times New Roman" pitchFamily="18" charset="0"/>
              </a:rPr>
              <a:t>scanf</a:t>
            </a:r>
            <a:r>
              <a:rPr lang="en-US" altLang="zh-CN" sz="2800" dirty="0">
                <a:solidFill>
                  <a:srgbClr val="CC00CC"/>
                </a:solidFill>
                <a:cs typeface="Times New Roman" pitchFamily="18" charset="0"/>
              </a:rPr>
              <a:t>(</a:t>
            </a:r>
            <a:r>
              <a:rPr lang="zh-CN" altLang="en-US" sz="2800" dirty="0">
                <a:solidFill>
                  <a:srgbClr val="CC00CC"/>
                </a:solidFill>
                <a:cs typeface="Times New Roman" pitchFamily="18" charset="0"/>
              </a:rPr>
              <a:t>格式控制字符串</a:t>
            </a:r>
            <a:r>
              <a:rPr lang="en-US" altLang="zh-CN" sz="2800" dirty="0">
                <a:solidFill>
                  <a:srgbClr val="CC00CC"/>
                </a:solidFill>
                <a:cs typeface="Times New Roman" pitchFamily="18" charset="0"/>
              </a:rPr>
              <a:t>, </a:t>
            </a:r>
            <a:r>
              <a:rPr lang="zh-CN" altLang="en-US" sz="2800" dirty="0">
                <a:solidFill>
                  <a:srgbClr val="CC00CC"/>
                </a:solidFill>
                <a:cs typeface="Times New Roman" pitchFamily="18" charset="0"/>
              </a:rPr>
              <a:t>地址列表</a:t>
            </a:r>
            <a:r>
              <a:rPr lang="en-US" altLang="zh-CN" sz="2800" dirty="0">
                <a:solidFill>
                  <a:srgbClr val="CC00CC"/>
                </a:solidFill>
                <a:cs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格式控制字符串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格式控制符－以该格式输入数据存放到相应变量中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普通字符－需原样输入与之抵消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16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 err="1">
                <a:solidFill>
                  <a:srgbClr val="3333FF"/>
                </a:solidFill>
              </a:rPr>
              <a:t>int</a:t>
            </a:r>
            <a:r>
              <a:rPr lang="en-US" altLang="zh-CN" sz="2800" dirty="0">
                <a:solidFill>
                  <a:srgbClr val="3333FF"/>
                </a:solidFill>
              </a:rPr>
              <a:t> a, b;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 err="1">
                <a:solidFill>
                  <a:srgbClr val="3333FF"/>
                </a:solidFill>
              </a:rPr>
              <a:t>scanf</a:t>
            </a:r>
            <a:r>
              <a:rPr lang="en-US" altLang="zh-CN" sz="2800" dirty="0">
                <a:solidFill>
                  <a:srgbClr val="3333FF"/>
                </a:solidFill>
              </a:rPr>
              <a:t>("%</a:t>
            </a:r>
            <a:r>
              <a:rPr lang="en-US" altLang="zh-CN" sz="2800" dirty="0" err="1">
                <a:solidFill>
                  <a:srgbClr val="3333FF"/>
                </a:solidFill>
              </a:rPr>
              <a:t>d%d</a:t>
            </a:r>
            <a:r>
              <a:rPr lang="en-US" altLang="zh-CN" sz="2800" dirty="0">
                <a:solidFill>
                  <a:srgbClr val="3333FF"/>
                </a:solidFill>
              </a:rPr>
              <a:t>", &amp;a, &amp;b);</a:t>
            </a:r>
            <a:r>
              <a:rPr lang="en-US" altLang="zh-CN" sz="2000" dirty="0">
                <a:solidFill>
                  <a:srgbClr val="3333FF"/>
                </a:solidFill>
              </a:rPr>
              <a:t>     </a:t>
            </a:r>
            <a:r>
              <a:rPr lang="en-US" altLang="zh-CN" sz="2000" dirty="0">
                <a:solidFill>
                  <a:schemeClr val="accent1"/>
                </a:solidFill>
              </a:rPr>
              <a:t>//</a:t>
            </a:r>
            <a:r>
              <a:rPr lang="zh-CN" altLang="en-US" sz="2000" dirty="0">
                <a:solidFill>
                  <a:schemeClr val="accent1"/>
                </a:solidFill>
              </a:rPr>
              <a:t>用空格、</a:t>
            </a:r>
            <a:r>
              <a:rPr lang="en-US" altLang="zh-CN" sz="2000" dirty="0">
                <a:solidFill>
                  <a:schemeClr val="accent1"/>
                </a:solidFill>
              </a:rPr>
              <a:t>Tab</a:t>
            </a:r>
            <a:r>
              <a:rPr lang="zh-CN" altLang="en-US" sz="2000" dirty="0">
                <a:solidFill>
                  <a:schemeClr val="accent1"/>
                </a:solidFill>
              </a:rPr>
              <a:t>、回车键作输入分隔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 err="1">
                <a:solidFill>
                  <a:srgbClr val="3333FF"/>
                </a:solidFill>
              </a:rPr>
              <a:t>scanf</a:t>
            </a:r>
            <a:r>
              <a:rPr lang="en-US" altLang="zh-CN" sz="2800" dirty="0">
                <a:solidFill>
                  <a:srgbClr val="3333FF"/>
                </a:solidFill>
              </a:rPr>
              <a:t>("%d</a:t>
            </a:r>
            <a:r>
              <a:rPr lang="en-US" altLang="zh-CN" sz="2800" dirty="0">
                <a:solidFill>
                  <a:srgbClr val="CC00CC"/>
                </a:solidFill>
              </a:rPr>
              <a:t>, </a:t>
            </a:r>
            <a:r>
              <a:rPr lang="en-US" altLang="zh-CN" sz="2800" dirty="0">
                <a:solidFill>
                  <a:srgbClr val="3333FF"/>
                </a:solidFill>
              </a:rPr>
              <a:t>%d", &amp;a, &amp;b);</a:t>
            </a:r>
            <a:r>
              <a:rPr lang="zh-CN" altLang="en-US" sz="2800" dirty="0">
                <a:solidFill>
                  <a:srgbClr val="3333FF"/>
                </a:solidFill>
              </a:rPr>
              <a:t>　</a:t>
            </a:r>
            <a:r>
              <a:rPr lang="en-US" altLang="zh-CN" sz="2400" dirty="0">
                <a:solidFill>
                  <a:schemeClr val="accent1"/>
                </a:solidFill>
              </a:rPr>
              <a:t>// </a:t>
            </a:r>
            <a:r>
              <a:rPr lang="en-US" altLang="zh-CN" sz="2400" dirty="0">
                <a:solidFill>
                  <a:srgbClr val="CC00CC"/>
                </a:solidFill>
              </a:rPr>
              <a:t>, </a:t>
            </a:r>
            <a:r>
              <a:rPr lang="zh-CN" altLang="en-US" sz="2400" dirty="0">
                <a:solidFill>
                  <a:schemeClr val="accent1"/>
                </a:solidFill>
              </a:rPr>
              <a:t>作分隔符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 err="1">
                <a:solidFill>
                  <a:srgbClr val="3333FF"/>
                </a:solidFill>
              </a:rPr>
              <a:t>scanf</a:t>
            </a:r>
            <a:r>
              <a:rPr lang="en-US" altLang="zh-CN" sz="2800" dirty="0">
                <a:solidFill>
                  <a:srgbClr val="3333FF"/>
                </a:solidFill>
              </a:rPr>
              <a:t>("</a:t>
            </a:r>
            <a:r>
              <a:rPr lang="en-US" altLang="zh-CN" sz="2800" dirty="0">
                <a:solidFill>
                  <a:srgbClr val="CC00CC"/>
                </a:solidFill>
              </a:rPr>
              <a:t>a = </a:t>
            </a:r>
            <a:r>
              <a:rPr lang="en-US" altLang="zh-CN" sz="2800" dirty="0">
                <a:solidFill>
                  <a:srgbClr val="3333FF"/>
                </a:solidFill>
              </a:rPr>
              <a:t>%d</a:t>
            </a:r>
            <a:r>
              <a:rPr lang="en-US" altLang="zh-CN" sz="2800" dirty="0">
                <a:solidFill>
                  <a:srgbClr val="CC00CC"/>
                </a:solidFill>
              </a:rPr>
              <a:t>, b = </a:t>
            </a:r>
            <a:r>
              <a:rPr lang="en-US" altLang="zh-CN" sz="2800" dirty="0">
                <a:solidFill>
                  <a:srgbClr val="3333FF"/>
                </a:solidFill>
              </a:rPr>
              <a:t>%d", &amp;a, &amp;b);</a:t>
            </a:r>
            <a:r>
              <a:rPr lang="en-US" altLang="zh-CN" sz="2400" dirty="0"/>
              <a:t> </a:t>
            </a:r>
            <a:r>
              <a:rPr lang="en-US" altLang="zh-CN" sz="2000" dirty="0">
                <a:solidFill>
                  <a:schemeClr val="accent1"/>
                </a:solidFill>
              </a:rPr>
              <a:t>//</a:t>
            </a:r>
            <a:r>
              <a:rPr lang="zh-CN" altLang="en-US" sz="2000" dirty="0">
                <a:solidFill>
                  <a:schemeClr val="accent1"/>
                </a:solidFill>
              </a:rPr>
              <a:t>如需提示输入项</a:t>
            </a:r>
            <a:r>
              <a:rPr lang="en-US" altLang="zh-CN" sz="2000" dirty="0">
                <a:solidFill>
                  <a:schemeClr val="accent1"/>
                </a:solidFill>
              </a:rPr>
              <a:t>, </a:t>
            </a:r>
            <a:r>
              <a:rPr lang="zh-CN" altLang="en-US" sz="2000" dirty="0">
                <a:solidFill>
                  <a:schemeClr val="accent1"/>
                </a:solidFill>
              </a:rPr>
              <a:t>应用</a:t>
            </a:r>
            <a:r>
              <a:rPr lang="en-US" altLang="zh-CN" sz="2000" dirty="0" err="1">
                <a:solidFill>
                  <a:schemeClr val="accent1"/>
                </a:solidFill>
              </a:rPr>
              <a:t>printf</a:t>
            </a:r>
            <a:r>
              <a:rPr lang="zh-CN" altLang="en-US" sz="2000" dirty="0">
                <a:solidFill>
                  <a:schemeClr val="accent1"/>
                </a:solidFill>
              </a:rPr>
              <a:t>说明</a:t>
            </a:r>
            <a:endParaRPr lang="zh-CN" altLang="en-US" sz="1800" dirty="0">
              <a:solidFill>
                <a:schemeClr val="accent1"/>
              </a:solidFill>
            </a:endParaRPr>
          </a:p>
        </p:txBody>
      </p:sp>
      <p:sp>
        <p:nvSpPr>
          <p:cNvPr id="183303" name="Text Box 7"/>
          <p:cNvSpPr txBox="1">
            <a:spLocks noChangeArrowheads="1"/>
          </p:cNvSpPr>
          <p:nvPr/>
        </p:nvSpPr>
        <p:spPr bwMode="auto">
          <a:xfrm>
            <a:off x="3123146" y="4236621"/>
            <a:ext cx="3532713" cy="338554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("input: a =  , b =  \n");</a:t>
            </a:r>
          </a:p>
        </p:txBody>
      </p:sp>
      <p:sp>
        <p:nvSpPr>
          <p:cNvPr id="36868" name="Text Box 8"/>
          <p:cNvSpPr txBox="1">
            <a:spLocks noChangeArrowheads="1"/>
          </p:cNvSpPr>
          <p:nvPr/>
        </p:nvSpPr>
        <p:spPr bwMode="auto">
          <a:xfrm>
            <a:off x="8604250" y="2133600"/>
            <a:ext cx="3340100" cy="393700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("a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= %d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\n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", a);</a:t>
            </a:r>
          </a:p>
        </p:txBody>
      </p:sp>
      <p:sp>
        <p:nvSpPr>
          <p:cNvPr id="183305" name="Line 9"/>
          <p:cNvSpPr>
            <a:spLocks noChangeShapeType="1"/>
          </p:cNvSpPr>
          <p:nvPr/>
        </p:nvSpPr>
        <p:spPr bwMode="auto">
          <a:xfrm flipH="1">
            <a:off x="4552953" y="4583113"/>
            <a:ext cx="673100" cy="100806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8616953" y="2632075"/>
            <a:ext cx="3327397" cy="387350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scanf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("%d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\n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", &amp;a);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1347450" y="2486032"/>
            <a:ext cx="863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×</a:t>
            </a:r>
          </a:p>
        </p:txBody>
      </p:sp>
      <p:sp>
        <p:nvSpPr>
          <p:cNvPr id="8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053637" y="4826000"/>
            <a:ext cx="2138363" cy="1016000"/>
          </a:xfrm>
          <a:prstGeom prst="rect">
            <a:avLst/>
          </a:prstGeom>
          <a:noFill/>
          <a:ln w="9525" algn="ctr">
            <a:solidFill>
              <a:srgbClr val="00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程序输入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2, 3↙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677400" y="3794125"/>
            <a:ext cx="1803400" cy="1016000"/>
          </a:xfrm>
          <a:prstGeom prst="rect">
            <a:avLst/>
          </a:prstGeom>
          <a:noFill/>
          <a:ln w="9525" algn="ctr">
            <a:solidFill>
              <a:srgbClr val="00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程序输入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˽</a:t>
            </a:r>
            <a:r>
              <a:rPr kumimoji="1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3↙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487150" y="3794124"/>
            <a:ext cx="704850" cy="1015663"/>
          </a:xfrm>
          <a:prstGeom prst="rect">
            <a:avLst/>
          </a:prstGeom>
          <a:noFill/>
          <a:ln w="9525" algn="ctr">
            <a:solidFill>
              <a:srgbClr val="00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2↙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3↙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055225" y="5842000"/>
            <a:ext cx="2136775" cy="1016000"/>
          </a:xfrm>
          <a:prstGeom prst="rect">
            <a:avLst/>
          </a:prstGeom>
          <a:noFill/>
          <a:ln w="9525" algn="ctr">
            <a:solidFill>
              <a:srgbClr val="00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程序输入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x=2, y=3↙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2.2.2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输入函数</a:t>
            </a: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scanf</a:t>
            </a:r>
            <a:endParaRPr kumimoji="0" lang="zh-CN" altLang="en-US" sz="3600" b="1" i="0" u="none" strike="noStrike" kern="1200" cap="none" spc="20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j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958750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3" grpId="0" animBg="1"/>
      <p:bldP spid="36868" grpId="0" animBg="1"/>
      <p:bldP spid="183305" grpId="0" animBg="1"/>
      <p:bldP spid="6" grpId="0" animBg="1"/>
      <p:bldP spid="7" grpId="0"/>
      <p:bldP spid="8" grpId="0" animBg="1"/>
      <p:bldP spid="9" grpId="0" animBg="1"/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-8463" y="2390"/>
            <a:ext cx="5780613" cy="1277135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99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514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 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输入数据时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遇以下情况则认为该数据结束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遇空格、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Tab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、回车键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按指定的宽度结束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遇非法输入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Times New Roman"/>
              <a:ea typeface="宋体"/>
              <a:cs typeface="Times New Roman" pitchFamily="18" charset="0"/>
            </a:endParaRPr>
          </a:p>
        </p:txBody>
      </p:sp>
      <p:sp>
        <p:nvSpPr>
          <p:cNvPr id="31746" name="Text Box 1026"/>
          <p:cNvSpPr txBox="1">
            <a:spLocks noChangeArrowheads="1"/>
          </p:cNvSpPr>
          <p:nvPr/>
        </p:nvSpPr>
        <p:spPr bwMode="auto">
          <a:xfrm>
            <a:off x="3922187" y="1108075"/>
            <a:ext cx="455929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scanf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的格式说明符及其功能</a:t>
            </a:r>
          </a:p>
        </p:txBody>
      </p:sp>
      <p:graphicFrame>
        <p:nvGraphicFramePr>
          <p:cNvPr id="48315" name="Group 1211"/>
          <p:cNvGraphicFramePr>
            <a:graphicFrameLocks noGrp="1"/>
          </p:cNvGraphicFramePr>
          <p:nvPr/>
        </p:nvGraphicFramePr>
        <p:xfrm>
          <a:off x="334435" y="1666875"/>
          <a:ext cx="11425766" cy="4821238"/>
        </p:xfrm>
        <a:graphic>
          <a:graphicData uri="http://schemas.openxmlformats.org/drawingml/2006/table">
            <a:tbl>
              <a:tblPr/>
              <a:tblGrid>
                <a:gridCol w="1248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9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类型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格式说明符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功  能  说  明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100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int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%I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%i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输入十进制整数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输入整数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可为十进制数或带前导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0x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的八、十六进制数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9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%o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输入八进制整数（前导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可有可无）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%x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输入十六进制整数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前导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0x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可有可无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9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%u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输入无符号的十进制整数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6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char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%c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输入一个字符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5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%s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要求输入字符串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并将串送入一个字符数组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在输入时以非空白字符开始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以第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—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个空白字符结束。会自动加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'\0'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作串结束标志。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49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float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double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%f 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%e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输入单精度实数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可用小数或指数形式输入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9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%lf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%le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输入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双精度实数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可用小数或指数形式输入</a:t>
                      </a:r>
                    </a:p>
                  </a:txBody>
                  <a:tcPr marL="121920" marR="121920"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1787" name="Line 1212"/>
          <p:cNvSpPr>
            <a:spLocks noChangeShapeType="1"/>
          </p:cNvSpPr>
          <p:nvPr/>
        </p:nvSpPr>
        <p:spPr bwMode="auto">
          <a:xfrm>
            <a:off x="1583268" y="2386013"/>
            <a:ext cx="10176933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31788" name="Line 1217"/>
          <p:cNvSpPr>
            <a:spLocks noChangeShapeType="1"/>
          </p:cNvSpPr>
          <p:nvPr/>
        </p:nvSpPr>
        <p:spPr bwMode="auto">
          <a:xfrm flipH="1">
            <a:off x="334437" y="6059488"/>
            <a:ext cx="1248833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477250" y="0"/>
            <a:ext cx="3714750" cy="164352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514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float x;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514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double y;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514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scanf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("%f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%lf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", &amp;x,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&amp;y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);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99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514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("%f,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%f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", x,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9385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91068" y="990600"/>
            <a:ext cx="10615082" cy="5824543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6600CC"/>
                </a:solidFill>
                <a:cs typeface="Times New Roman" pitchFamily="18" charset="0"/>
              </a:rPr>
              <a:t>例</a:t>
            </a:r>
            <a:r>
              <a:rPr lang="en-US" altLang="zh-CN" dirty="0">
                <a:solidFill>
                  <a:srgbClr val="6600CC"/>
                </a:solidFill>
                <a:cs typeface="Times New Roman" pitchFamily="18" charset="0"/>
              </a:rPr>
              <a:t>2.4</a:t>
            </a:r>
            <a:r>
              <a:rPr lang="zh-CN" altLang="en-US" dirty="0">
                <a:solidFill>
                  <a:srgbClr val="6600CC"/>
                </a:solidFill>
                <a:cs typeface="Times New Roman" pitchFamily="18" charset="0"/>
              </a:rPr>
              <a:t>：输入字符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800" dirty="0">
                <a:cs typeface="Times New Roman" pitchFamily="18" charset="0"/>
              </a:rPr>
              <a:t>#include &lt;</a:t>
            </a:r>
            <a:r>
              <a:rPr lang="en-US" altLang="zh-CN" sz="2800" dirty="0" err="1">
                <a:cs typeface="Times New Roman" pitchFamily="18" charset="0"/>
              </a:rPr>
              <a:t>stdio.h</a:t>
            </a:r>
            <a:r>
              <a:rPr lang="en-US" altLang="zh-CN" sz="2800" dirty="0">
                <a:cs typeface="Times New Roman" pitchFamily="18" charset="0"/>
              </a:rPr>
              <a:t>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int main(void)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   char c1, c2, c3;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  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　 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c%c%c</a:t>
            </a:r>
            <a:r>
              <a:rPr lang="en-US" altLang="zh-CN" sz="2800" dirty="0"/>
              <a:t>", &amp;c1, &amp;c2, &amp;c3);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c%c%c</a:t>
            </a:r>
            <a:r>
              <a:rPr lang="en-US" altLang="zh-CN" sz="2800" dirty="0"/>
              <a:t> \n", c1, c2, c3); </a:t>
            </a:r>
            <a:r>
              <a:rPr lang="zh-CN" altLang="en-US" sz="2800" dirty="0"/>
              <a:t>　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   return 0;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3333FF"/>
                </a:solidFill>
              </a:rPr>
              <a:t>无需分隔符</a:t>
            </a:r>
            <a:endParaRPr lang="zh-CN" altLang="en-US" dirty="0">
              <a:solidFill>
                <a:srgbClr val="3333FF"/>
              </a:solidFill>
            </a:endParaRP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10292294" y="2519010"/>
            <a:ext cx="1899706" cy="1200329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程序执行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sng" strike="noStrike" kern="1200" cap="none" spc="0" normalizeH="0" baseline="0" noProof="0" dirty="0" err="1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abc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↙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abc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162822" name="Text Box 6"/>
          <p:cNvSpPr txBox="1">
            <a:spLocks noChangeArrowheads="1"/>
          </p:cNvSpPr>
          <p:nvPr/>
        </p:nvSpPr>
        <p:spPr bwMode="auto">
          <a:xfrm>
            <a:off x="10255255" y="3719339"/>
            <a:ext cx="1936745" cy="1200329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程序执行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 b c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↙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a b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0253135" y="4919668"/>
            <a:ext cx="1938865" cy="1938992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程序执行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↙</a:t>
            </a:r>
            <a:endParaRPr kumimoji="1" lang="en-US" altLang="zh-CN" sz="2400" b="1" i="0" u="sng" strike="noStrike" kern="120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b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↙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a↙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b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2.2.2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输入函数</a:t>
            </a: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scanf</a:t>
            </a:r>
            <a:endParaRPr kumimoji="0" lang="zh-CN" altLang="en-US" sz="3600" b="1" i="0" u="none" strike="noStrike" kern="1200" cap="none" spc="20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j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69351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026"/>
          <p:cNvSpPr txBox="1">
            <a:spLocks noChangeArrowheads="1"/>
          </p:cNvSpPr>
          <p:nvPr/>
        </p:nvSpPr>
        <p:spPr bwMode="auto">
          <a:xfrm>
            <a:off x="3771900" y="1211916"/>
            <a:ext cx="36263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scanf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的附加格式说明符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</a:p>
        </p:txBody>
      </p:sp>
      <p:graphicFrame>
        <p:nvGraphicFramePr>
          <p:cNvPr id="49243" name="Group 1115"/>
          <p:cNvGraphicFramePr>
            <a:graphicFrameLocks noGrp="1"/>
          </p:cNvGraphicFramePr>
          <p:nvPr/>
        </p:nvGraphicFramePr>
        <p:xfrm>
          <a:off x="239187" y="1773243"/>
          <a:ext cx="11618383" cy="2790825"/>
        </p:xfrm>
        <a:graphic>
          <a:graphicData uri="http://schemas.openxmlformats.org/drawingml/2006/table">
            <a:tbl>
              <a:tblPr/>
              <a:tblGrid>
                <a:gridCol w="1788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字 符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作  用  说  明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字母</a:t>
                      </a:r>
                      <a:r>
                        <a:rPr kumimoji="1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或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　　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输人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long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型整数（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%ld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%li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%lo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%lx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%lu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）或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double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型实数（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%lf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%le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）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字母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h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或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H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输入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short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型整数（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%hd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%hi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%ho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%hx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%hu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）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m(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正整数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指定输入数据的宽度（域宽）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 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表示本输入项在读人后不赋给相应变量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无需为其指定地址参数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2.2.2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输入函数</a:t>
            </a: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scanf</a:t>
            </a:r>
            <a:endParaRPr kumimoji="0" lang="zh-CN" altLang="en-US" sz="3600" b="1" i="0" u="none" strike="noStrike" kern="1200" cap="none" spc="20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j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981829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274638"/>
            <a:ext cx="10972800" cy="838200"/>
          </a:xfrm>
        </p:spPr>
        <p:txBody>
          <a:bodyPr/>
          <a:lstStyle/>
          <a:p>
            <a:pPr algn="l" eaLnBrk="1" hangingPunct="1"/>
            <a:r>
              <a:rPr lang="zh-CN" altLang="en-US" sz="3600" dirty="0">
                <a:solidFill>
                  <a:schemeClr val="bg2"/>
                </a:solidFill>
                <a:latin typeface="Times New Roman" pitchFamily="18" charset="0"/>
              </a:rPr>
              <a:t>单个字符的输入</a:t>
            </a:r>
            <a:r>
              <a:rPr lang="en-US" altLang="zh-CN" sz="3600" dirty="0">
                <a:solidFill>
                  <a:schemeClr val="bg2"/>
                </a:solidFill>
                <a:latin typeface="Times New Roman" pitchFamily="18" charset="0"/>
              </a:rPr>
              <a:t>/</a:t>
            </a:r>
            <a:r>
              <a:rPr lang="zh-CN" altLang="en-US" sz="3600" dirty="0">
                <a:solidFill>
                  <a:schemeClr val="bg2"/>
                </a:solidFill>
                <a:latin typeface="Times New Roman" pitchFamily="18" charset="0"/>
              </a:rPr>
              <a:t>输出</a:t>
            </a:r>
            <a:endParaRPr lang="zh-CN" altLang="en-US" sz="3200" dirty="0">
              <a:solidFill>
                <a:schemeClr val="bg2"/>
              </a:solidFill>
            </a:endParaRP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1110615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字符输入函数</a:t>
            </a:r>
            <a:r>
              <a:rPr lang="en-US" altLang="zh-CN" sz="2800" dirty="0" err="1"/>
              <a:t>getchar</a:t>
            </a:r>
            <a:r>
              <a:rPr lang="en-US" altLang="zh-CN" sz="2800" dirty="0"/>
              <a:t>() -</a:t>
            </a:r>
            <a:r>
              <a:rPr lang="zh-CN" altLang="en-US" sz="2800" dirty="0">
                <a:solidFill>
                  <a:srgbClr val="000514"/>
                </a:solidFill>
                <a:cs typeface="Times New Roman" pitchFamily="18" charset="0"/>
              </a:rPr>
              <a:t>从标准输入设备</a:t>
            </a:r>
            <a:r>
              <a:rPr lang="en-US" altLang="zh-CN" sz="2800" dirty="0">
                <a:solidFill>
                  <a:srgbClr val="000514"/>
                </a:solidFill>
                <a:cs typeface="Times New Roman" pitchFamily="18" charset="0"/>
              </a:rPr>
              <a:t>(</a:t>
            </a:r>
            <a:r>
              <a:rPr lang="zh-CN" altLang="en-US" sz="2800" dirty="0">
                <a:solidFill>
                  <a:srgbClr val="000514"/>
                </a:solidFill>
                <a:cs typeface="Times New Roman" pitchFamily="18" charset="0"/>
              </a:rPr>
              <a:t>键盘</a:t>
            </a:r>
            <a:r>
              <a:rPr lang="en-US" altLang="zh-CN" sz="2800" dirty="0">
                <a:solidFill>
                  <a:srgbClr val="000514"/>
                </a:solidFill>
                <a:cs typeface="Times New Roman" pitchFamily="18" charset="0"/>
              </a:rPr>
              <a:t>)</a:t>
            </a:r>
            <a:r>
              <a:rPr lang="zh-CN" altLang="en-US" sz="2800" dirty="0">
                <a:solidFill>
                  <a:srgbClr val="000514"/>
                </a:solidFill>
                <a:cs typeface="Times New Roman" pitchFamily="18" charset="0"/>
              </a:rPr>
              <a:t>读取一个字符</a:t>
            </a:r>
          </a:p>
          <a:p>
            <a:pPr eaLnBrk="1" hangingPunct="1">
              <a:lnSpc>
                <a:spcPct val="90000"/>
              </a:lnSpc>
              <a:buClr>
                <a:srgbClr val="000514"/>
              </a:buClr>
              <a:buNone/>
            </a:pPr>
            <a:r>
              <a:rPr lang="zh-CN" altLang="en-US" sz="2800" dirty="0">
                <a:solidFill>
                  <a:srgbClr val="000514"/>
                </a:solidFill>
                <a:cs typeface="Times New Roman" pitchFamily="18" charset="0"/>
              </a:rPr>
              <a:t>    </a:t>
            </a:r>
            <a:r>
              <a:rPr lang="en-US" altLang="zh-CN" sz="2800" dirty="0">
                <a:solidFill>
                  <a:srgbClr val="000514"/>
                </a:solidFill>
                <a:cs typeface="Times New Roman" pitchFamily="18" charset="0"/>
              </a:rPr>
              <a:t>     </a:t>
            </a:r>
            <a:r>
              <a:rPr lang="en-US" altLang="zh-CN" sz="2800" dirty="0">
                <a:solidFill>
                  <a:srgbClr val="3333FF"/>
                </a:solidFill>
              </a:rPr>
              <a:t>char </a:t>
            </a:r>
            <a:r>
              <a:rPr lang="en-US" altLang="zh-CN" sz="2800" dirty="0" err="1">
                <a:solidFill>
                  <a:srgbClr val="3333FF"/>
                </a:solidFill>
              </a:rPr>
              <a:t>ch</a:t>
            </a:r>
            <a:r>
              <a:rPr lang="en-US" altLang="zh-CN" sz="2800" dirty="0">
                <a:solidFill>
                  <a:srgbClr val="3333FF"/>
                </a:solidFill>
              </a:rPr>
              <a:t>;</a:t>
            </a:r>
          </a:p>
          <a:p>
            <a:pPr lvl="0" eaLnBrk="1" hangingPunct="1">
              <a:lnSpc>
                <a:spcPct val="90000"/>
              </a:lnSpc>
              <a:buClr>
                <a:srgbClr val="000514"/>
              </a:buClr>
              <a:buNone/>
            </a:pPr>
            <a:r>
              <a:rPr lang="en-US" altLang="zh-CN" sz="2800" dirty="0">
                <a:solidFill>
                  <a:srgbClr val="3333FF"/>
                </a:solidFill>
                <a:cs typeface="Times New Roman" pitchFamily="18" charset="0"/>
              </a:rPr>
              <a:t>         </a:t>
            </a:r>
            <a:r>
              <a:rPr lang="en-US" altLang="zh-CN" sz="2800" dirty="0" err="1">
                <a:solidFill>
                  <a:srgbClr val="CC00CC"/>
                </a:solidFill>
                <a:cs typeface="Times New Roman" pitchFamily="18" charset="0"/>
              </a:rPr>
              <a:t>ch</a:t>
            </a:r>
            <a:r>
              <a:rPr lang="en-US" altLang="zh-CN" sz="2800" dirty="0">
                <a:solidFill>
                  <a:srgbClr val="FF3399"/>
                </a:solidFill>
                <a:cs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3333FF"/>
                </a:solidFill>
                <a:cs typeface="Times New Roman" pitchFamily="18" charset="0"/>
              </a:rPr>
              <a:t> =  </a:t>
            </a:r>
            <a:r>
              <a:rPr lang="en-US" altLang="zh-CN" sz="2800" dirty="0" err="1">
                <a:solidFill>
                  <a:srgbClr val="3333FF"/>
                </a:solidFill>
              </a:rPr>
              <a:t>getchar</a:t>
            </a:r>
            <a:r>
              <a:rPr lang="en-US" altLang="zh-CN" sz="2800" dirty="0">
                <a:solidFill>
                  <a:srgbClr val="3333FF"/>
                </a:solidFill>
              </a:rPr>
              <a:t>();</a:t>
            </a:r>
          </a:p>
          <a:p>
            <a:pPr lvl="0" eaLnBrk="1" hangingPunct="1">
              <a:lnSpc>
                <a:spcPct val="90000"/>
              </a:lnSpc>
              <a:buClr>
                <a:srgbClr val="000514"/>
              </a:buClr>
              <a:buNone/>
            </a:pPr>
            <a:endParaRPr lang="en-US" altLang="zh-CN" sz="2800" dirty="0">
              <a:solidFill>
                <a:srgbClr val="3333FF"/>
              </a:solidFill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字符输出函数</a:t>
            </a:r>
            <a:r>
              <a:rPr lang="en-US" altLang="zh-CN" sz="2800" dirty="0" err="1">
                <a:solidFill>
                  <a:srgbClr val="3333FF"/>
                </a:solidFill>
                <a:ea typeface="Gungsuh" pitchFamily="18" charset="-127"/>
              </a:rPr>
              <a:t>putchar</a:t>
            </a:r>
            <a:r>
              <a:rPr lang="en-US" altLang="zh-CN" sz="2800" dirty="0">
                <a:solidFill>
                  <a:srgbClr val="3333FF"/>
                </a:solidFill>
                <a:ea typeface="Gungsuh" pitchFamily="18" charset="-127"/>
              </a:rPr>
              <a:t>(</a:t>
            </a:r>
            <a:r>
              <a:rPr lang="en-US" altLang="zh-CN" sz="2800" dirty="0">
                <a:solidFill>
                  <a:srgbClr val="CC00CC"/>
                </a:solidFill>
                <a:ea typeface="Gungsuh" pitchFamily="18" charset="-127"/>
              </a:rPr>
              <a:t>c</a:t>
            </a:r>
            <a:r>
              <a:rPr lang="en-US" altLang="zh-CN" sz="2800" dirty="0">
                <a:solidFill>
                  <a:srgbClr val="3333FF"/>
                </a:solidFill>
                <a:ea typeface="Gungsuh" pitchFamily="18" charset="-127"/>
              </a:rPr>
              <a:t>) </a:t>
            </a:r>
            <a:r>
              <a:rPr lang="en-US" altLang="zh-CN" sz="2800" dirty="0"/>
              <a:t>-</a:t>
            </a:r>
            <a:r>
              <a:rPr lang="zh-CN" altLang="en-US" sz="2800" dirty="0"/>
              <a:t>向标准输出设备（显示器）输出一个字符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 　</a:t>
            </a:r>
            <a:r>
              <a:rPr lang="en-US" altLang="zh-CN" sz="2800" dirty="0"/>
              <a:t>c</a:t>
            </a:r>
            <a:r>
              <a:rPr lang="zh-CN" altLang="en-US" sz="2800" dirty="0"/>
              <a:t>：字符常量、变量、表达式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　　   整型常量、变量（其值为某字符的</a:t>
            </a:r>
            <a:r>
              <a:rPr lang="en-US" altLang="zh-CN" sz="2800" dirty="0"/>
              <a:t>ASCII </a:t>
            </a:r>
            <a:r>
              <a:rPr lang="zh-CN" altLang="en-US" sz="2800" dirty="0"/>
              <a:t>码）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/>
              <a:t>         char c = 'A';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        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 </a:t>
            </a:r>
            <a:r>
              <a:rPr lang="en-US" altLang="zh-CN" sz="2800" dirty="0">
                <a:solidFill>
                  <a:srgbClr val="CC00CC"/>
                </a:solidFill>
              </a:rPr>
              <a:t>c</a:t>
            </a:r>
            <a:r>
              <a:rPr lang="en-US" altLang="zh-CN" sz="2800" dirty="0"/>
              <a:t>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kumimoji="1" lang="en-US" altLang="zh-CN" sz="2800" dirty="0"/>
              <a:t>         </a:t>
            </a:r>
            <a:r>
              <a:rPr kumimoji="1" lang="en-US" altLang="zh-CN" sz="2800" dirty="0" err="1"/>
              <a:t>putchar</a:t>
            </a:r>
            <a:r>
              <a:rPr kumimoji="1" lang="en-US" altLang="zh-CN" sz="2800" dirty="0"/>
              <a:t>( </a:t>
            </a:r>
            <a:r>
              <a:rPr kumimoji="1" lang="en-US" altLang="zh-CN" sz="2800" dirty="0">
                <a:solidFill>
                  <a:srgbClr val="CC00CC"/>
                </a:solidFill>
              </a:rPr>
              <a:t>65</a:t>
            </a:r>
            <a:r>
              <a:rPr kumimoji="1" lang="en-US" altLang="zh-CN" sz="2800" dirty="0"/>
              <a:t> );   //</a:t>
            </a:r>
            <a:r>
              <a:rPr kumimoji="1" lang="zh-CN" altLang="en-US" sz="2800" dirty="0"/>
              <a:t>输出</a:t>
            </a:r>
            <a:r>
              <a:rPr lang="en-US" altLang="zh-CN" sz="2800" dirty="0"/>
              <a:t>'A'</a:t>
            </a:r>
            <a:endParaRPr kumimoji="1" lang="en-US" altLang="zh-CN" sz="2800" dirty="0"/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6848476" y="546105"/>
            <a:ext cx="3473447" cy="954107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buClr>
                <a:schemeClr val="bg2"/>
              </a:buClr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buClr>
                <a:schemeClr val="bg1"/>
              </a:buClr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buClr>
                <a:schemeClr val="bg2"/>
              </a:buClr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buClr>
                <a:srgbClr val="FF3399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buClr>
                <a:schemeClr val="bg1"/>
              </a:buClr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514"/>
              </a:buClr>
              <a:buSzPct val="70000"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scanf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("%c", &amp;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ch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514"/>
              </a:buClr>
              <a:buSzPct val="70000"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printf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("%c",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'A'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) ;</a:t>
            </a:r>
          </a:p>
        </p:txBody>
      </p:sp>
    </p:spTree>
    <p:extLst>
      <p:ext uri="{BB962C8B-B14F-4D97-AF65-F5344CB8AC3E}">
        <p14:creationId xmlns:p14="http://schemas.microsoft.com/office/powerpoint/2010/main" val="145676553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语言程序设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未标题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738" y="600710"/>
            <a:ext cx="5625465" cy="12090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168652" y="803276"/>
            <a:ext cx="6310631" cy="464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锐字潮牌真言简2.0免费 大粗" panose="02020300000000000000" charset="-122"/>
                <a:ea typeface="锐字潮牌真言简2.0免费 大粗" panose="02020300000000000000" charset="-122"/>
                <a:cs typeface="锐字潮牌真言简2.0免费 大粗" panose="02020300000000000000" charset="-122"/>
              </a:rPr>
              <a:t>输入</a:t>
            </a:r>
            <a:r>
              <a:rPr kumimoji="0" lang="en-US" altLang="zh-CN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锐字潮牌真言简2.0免费 大粗" panose="02020300000000000000" charset="-122"/>
                <a:ea typeface="锐字潮牌真言简2.0免费 大粗" panose="02020300000000000000" charset="-122"/>
                <a:cs typeface="锐字潮牌真言简2.0免费 大粗" panose="02020300000000000000" charset="-122"/>
              </a:rPr>
              <a:t>/</a:t>
            </a:r>
            <a:r>
              <a:rPr kumimoji="0" lang="zh-CN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锐字潮牌真言简2.0免费 大粗" panose="02020300000000000000" charset="-122"/>
                <a:ea typeface="锐字潮牌真言简2.0免费 大粗" panose="02020300000000000000" charset="-122"/>
                <a:cs typeface="锐字潮牌真言简2.0免费 大粗" panose="02020300000000000000" charset="-122"/>
              </a:rPr>
              <a:t>输出实例</a:t>
            </a:r>
          </a:p>
        </p:txBody>
      </p:sp>
      <p:pic>
        <p:nvPicPr>
          <p:cNvPr id="7" name="图片 6" descr="未标1题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45" y="1618617"/>
            <a:ext cx="802640" cy="600075"/>
          </a:xfrm>
          <a:prstGeom prst="rect">
            <a:avLst/>
          </a:prstGeom>
        </p:spPr>
      </p:pic>
      <p:sp>
        <p:nvSpPr>
          <p:cNvPr id="8" name="内容占位符 2"/>
          <p:cNvSpPr txBox="1">
            <a:spLocks/>
          </p:cNvSpPr>
          <p:nvPr/>
        </p:nvSpPr>
        <p:spPr>
          <a:xfrm>
            <a:off x="1243584" y="1618615"/>
            <a:ext cx="10643616" cy="4722494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fontScale="25000" lnSpcReduction="2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1" i="0" u="none" strike="noStrike" kern="1200" cap="none" spc="150" normalizeH="0" baseline="0" noProof="1" dirty="0">
                <a:solidFill>
                  <a:schemeClr val="accent2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80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【</a:t>
            </a:r>
            <a:r>
              <a:rPr kumimoji="0" lang="zh-CN" altLang="en-US" sz="80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例</a:t>
            </a:r>
            <a:r>
              <a:rPr kumimoji="0" lang="en-US" altLang="zh-CN" sz="80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2.5】</a:t>
            </a:r>
            <a:r>
              <a:rPr kumimoji="0" lang="zh-CN" altLang="en-US" sz="80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使用不同分隔符输入两个整数，并在屏幕上输出其值。</a:t>
            </a:r>
            <a:endParaRPr kumimoji="0" lang="zh-CN" altLang="en-US" sz="8000" b="0" i="0" u="none" strike="noStrike" kern="1200" cap="none" spc="15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#include &lt;</a:t>
            </a:r>
            <a:r>
              <a:rPr kumimoji="1" lang="en-US" altLang="zh-CN" sz="6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stdio.h</a:t>
            </a: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&gt;  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None/>
            </a:pP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int main(void)</a:t>
            </a:r>
            <a:r>
              <a:rPr kumimoji="1" lang="en-US" altLang="zh-CN" sz="6400" kern="0" spc="0" noProof="0" dirty="0">
                <a:solidFill>
                  <a:prstClr val="black"/>
                </a:solidFill>
                <a:latin typeface="Times New Roman"/>
                <a:ea typeface="宋体"/>
              </a:rPr>
              <a:t> {</a:t>
            </a:r>
            <a:endParaRPr kumimoji="1" lang="en-US" altLang="zh-CN" sz="6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宋体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     int a, b;   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     </a:t>
            </a:r>
            <a:r>
              <a:rPr kumimoji="1" lang="en-US" altLang="zh-CN" sz="6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printf</a:t>
            </a: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("Input data: a b   \n");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     </a:t>
            </a:r>
            <a:r>
              <a:rPr kumimoji="1" lang="en-US" altLang="zh-CN" sz="6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scanf</a:t>
            </a: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("%</a:t>
            </a:r>
            <a:r>
              <a:rPr kumimoji="1" lang="en-US" altLang="zh-CN" sz="6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d%d</a:t>
            </a: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", &amp;a, &amp;b);                  //input:  2  3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     </a:t>
            </a:r>
            <a:r>
              <a:rPr kumimoji="1" lang="en-US" altLang="zh-CN" sz="6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printf</a:t>
            </a: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("a=%d</a:t>
            </a:r>
            <a:r>
              <a:rPr kumimoji="1" lang="zh-CN" altLang="en-US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，</a:t>
            </a: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b=%d \n", a, b);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     </a:t>
            </a:r>
            <a:r>
              <a:rPr kumimoji="1" lang="en-US" altLang="zh-CN" sz="6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printf</a:t>
            </a: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("Input data: a b   \n");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     </a:t>
            </a:r>
            <a:r>
              <a:rPr kumimoji="1" lang="en-US" altLang="zh-CN" sz="6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scanf</a:t>
            </a: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("%d, %d", &amp;a, &amp;b);                 //input:  2,3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     </a:t>
            </a:r>
            <a:r>
              <a:rPr kumimoji="1" lang="en-US" altLang="zh-CN" sz="6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printf</a:t>
            </a: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("a=%d</a:t>
            </a:r>
            <a:r>
              <a:rPr kumimoji="1" lang="zh-CN" altLang="en-US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，</a:t>
            </a: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b=%d \n", a, b);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     </a:t>
            </a:r>
            <a:r>
              <a:rPr kumimoji="1" lang="en-US" altLang="zh-CN" sz="6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getchar</a:t>
            </a: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();      //</a:t>
            </a:r>
            <a:r>
              <a:rPr kumimoji="1" lang="zh-CN" altLang="en-US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过滤回车符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     </a:t>
            </a:r>
            <a:r>
              <a:rPr kumimoji="1" lang="en-US" altLang="zh-CN" sz="6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printf</a:t>
            </a: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("Input data: a b   \n");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     </a:t>
            </a:r>
            <a:r>
              <a:rPr kumimoji="1" lang="en-US" altLang="zh-CN" sz="6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scanf</a:t>
            </a: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("a=%d, b=%d", &amp;a, &amp;b);         //input:  a=2,b=3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     </a:t>
            </a:r>
            <a:r>
              <a:rPr kumimoji="1" lang="en-US" altLang="zh-CN" sz="6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printf</a:t>
            </a: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("a=%d</a:t>
            </a:r>
            <a:r>
              <a:rPr kumimoji="1" lang="zh-CN" altLang="en-US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，</a:t>
            </a: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b=%d \n", a, b);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     return 0;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6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}</a:t>
            </a:r>
            <a:endParaRPr kumimoji="1" lang="zh-CN" altLang="en-US" sz="6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宋体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38627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语言程序设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未标题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738" y="600710"/>
            <a:ext cx="5625465" cy="12090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168652" y="803276"/>
            <a:ext cx="6310631" cy="464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锐字潮牌真言简2.0免费 大粗" panose="02020300000000000000" charset="-122"/>
                <a:ea typeface="锐字潮牌真言简2.0免费 大粗" panose="02020300000000000000" charset="-122"/>
                <a:cs typeface="锐字潮牌真言简2.0免费 大粗" panose="02020300000000000000" charset="-122"/>
              </a:rPr>
              <a:t>输入</a:t>
            </a:r>
            <a:r>
              <a:rPr kumimoji="0" lang="en-US" altLang="zh-CN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锐字潮牌真言简2.0免费 大粗" panose="02020300000000000000" charset="-122"/>
                <a:ea typeface="锐字潮牌真言简2.0免费 大粗" panose="02020300000000000000" charset="-122"/>
                <a:cs typeface="锐字潮牌真言简2.0免费 大粗" panose="02020300000000000000" charset="-122"/>
              </a:rPr>
              <a:t>/</a:t>
            </a:r>
            <a:r>
              <a:rPr kumimoji="0" lang="zh-CN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锐字潮牌真言简2.0免费 大粗" panose="02020300000000000000" charset="-122"/>
                <a:ea typeface="锐字潮牌真言简2.0免费 大粗" panose="02020300000000000000" charset="-122"/>
                <a:cs typeface="锐字潮牌真言简2.0免费 大粗" panose="02020300000000000000" charset="-122"/>
              </a:rPr>
              <a:t>输出实例</a:t>
            </a:r>
          </a:p>
        </p:txBody>
      </p:sp>
      <p:pic>
        <p:nvPicPr>
          <p:cNvPr id="7" name="图片 6" descr="未标1题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45" y="1618617"/>
            <a:ext cx="802640" cy="600075"/>
          </a:xfrm>
          <a:prstGeom prst="rect">
            <a:avLst/>
          </a:prstGeom>
        </p:spPr>
      </p:pic>
      <p:sp>
        <p:nvSpPr>
          <p:cNvPr id="8" name="内容占位符 2"/>
          <p:cNvSpPr txBox="1">
            <a:spLocks/>
          </p:cNvSpPr>
          <p:nvPr/>
        </p:nvSpPr>
        <p:spPr>
          <a:xfrm>
            <a:off x="1243584" y="1618615"/>
            <a:ext cx="10643616" cy="4722494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fontScale="25000" lnSpcReduction="2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1" i="0" u="none" strike="noStrike" kern="1200" cap="none" spc="150" normalizeH="0" baseline="0" noProof="1" dirty="0">
                <a:solidFill>
                  <a:schemeClr val="accent2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80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【</a:t>
            </a:r>
            <a:r>
              <a:rPr kumimoji="0" lang="zh-CN" altLang="en-US" sz="80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例</a:t>
            </a:r>
            <a:r>
              <a:rPr kumimoji="0" lang="en-US" altLang="zh-CN" sz="80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2.6】</a:t>
            </a:r>
            <a:r>
              <a:rPr kumimoji="0" lang="zh-CN" altLang="en-US" sz="80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已知等差数列的第一项为 </a:t>
            </a:r>
            <a:r>
              <a:rPr kumimoji="0" lang="en-US" altLang="zh-CN" sz="80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a</a:t>
            </a:r>
            <a:r>
              <a:rPr kumimoji="0" lang="zh-CN" altLang="en-US" sz="80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，公差为 </a:t>
            </a:r>
            <a:r>
              <a:rPr kumimoji="0" lang="en-US" altLang="zh-CN" sz="80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d</a:t>
            </a:r>
            <a:r>
              <a:rPr kumimoji="0" lang="zh-CN" altLang="en-US" sz="80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，求前 </a:t>
            </a:r>
            <a:r>
              <a:rPr kumimoji="0" lang="en-US" altLang="zh-CN" sz="80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n </a:t>
            </a:r>
            <a:r>
              <a:rPr kumimoji="0" lang="zh-CN" altLang="en-US" sz="80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项之和，整数 </a:t>
            </a:r>
            <a:r>
              <a:rPr kumimoji="0" lang="en-US" altLang="zh-CN" sz="80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a</a:t>
            </a:r>
            <a:r>
              <a:rPr kumimoji="0" lang="zh-CN" altLang="en-US" sz="80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、</a:t>
            </a:r>
            <a:r>
              <a:rPr kumimoji="0" lang="en-US" altLang="zh-CN" sz="80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d</a:t>
            </a:r>
            <a:r>
              <a:rPr kumimoji="0" lang="zh-CN" altLang="en-US" sz="80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、</a:t>
            </a:r>
            <a:r>
              <a:rPr kumimoji="0" lang="en-US" altLang="zh-CN" sz="80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n </a:t>
            </a:r>
            <a:r>
              <a:rPr kumimoji="0" lang="zh-CN" altLang="en-US" sz="80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由键盘输入。</a:t>
            </a:r>
            <a:endParaRPr kumimoji="0" lang="zh-CN" altLang="en-US" sz="8000" b="0" i="0" u="none" strike="noStrike" kern="1200" cap="none" spc="15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#include &lt;</a:t>
            </a:r>
            <a:r>
              <a:rPr kumimoji="1" lang="en-US" altLang="zh-CN" sz="8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stdio.h</a:t>
            </a:r>
            <a:r>
              <a:rPr kumimoji="1" lang="en-US" altLang="zh-CN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&gt;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int main(void) {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       int a, d, n, sum;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　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　    </a:t>
            </a:r>
            <a:r>
              <a:rPr kumimoji="1" lang="en-US" altLang="zh-CN" sz="8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printf</a:t>
            </a:r>
            <a:r>
              <a:rPr kumimoji="1" lang="en-US" altLang="zh-CN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("Enter a n: \n");</a:t>
            </a:r>
            <a:r>
              <a:rPr kumimoji="1" lang="zh-CN" altLang="en-US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　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       </a:t>
            </a:r>
            <a:r>
              <a:rPr kumimoji="1" lang="en-US" altLang="zh-CN" sz="8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scanf</a:t>
            </a:r>
            <a:r>
              <a:rPr kumimoji="1" lang="en-US" altLang="zh-CN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("%</a:t>
            </a:r>
            <a:r>
              <a:rPr kumimoji="1" lang="en-US" altLang="zh-CN" sz="8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d%d</a:t>
            </a:r>
            <a:r>
              <a:rPr kumimoji="1" lang="en-US" altLang="zh-CN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", &amp;a, &amp;n);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　    </a:t>
            </a:r>
            <a:r>
              <a:rPr kumimoji="1" lang="en-US" altLang="zh-CN" sz="8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printf</a:t>
            </a:r>
            <a:r>
              <a:rPr kumimoji="1" lang="en-US" altLang="zh-CN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("Enter d: \n");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       </a:t>
            </a:r>
            <a:r>
              <a:rPr kumimoji="1" lang="en-US" altLang="zh-CN" sz="8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scanf</a:t>
            </a:r>
            <a:r>
              <a:rPr kumimoji="1" lang="en-US" altLang="zh-CN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("%d", &amp;d);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        sum = a*</a:t>
            </a:r>
            <a:r>
              <a:rPr kumimoji="1" lang="en-US" altLang="zh-CN" sz="8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n+n</a:t>
            </a:r>
            <a:r>
              <a:rPr kumimoji="1" lang="en-US" altLang="zh-CN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*(n-1)*d/2;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　    </a:t>
            </a:r>
            <a:r>
              <a:rPr kumimoji="1" lang="en-US" altLang="zh-CN" sz="8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printf</a:t>
            </a:r>
            <a:r>
              <a:rPr kumimoji="1" lang="en-US" altLang="zh-CN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("sum = %d \n", sum);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　    </a:t>
            </a:r>
            <a:r>
              <a:rPr kumimoji="1" lang="en-US" altLang="zh-CN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return 0;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8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+mn-ea"/>
              </a:rPr>
              <a:t>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1" lang="zh-CN" altLang="en-US" sz="6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宋体"/>
              <a:cs typeface="+mn-cs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F966E2-366F-8AB1-0C9C-F3116CE26378}"/>
              </a:ext>
            </a:extLst>
          </p:cNvPr>
          <p:cNvSpPr txBox="1"/>
          <p:nvPr/>
        </p:nvSpPr>
        <p:spPr>
          <a:xfrm>
            <a:off x="7365090" y="2340014"/>
            <a:ext cx="2562225" cy="4193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 hangingPunct="0">
              <a:lnSpc>
                <a:spcPts val="1530"/>
              </a:lnSpc>
              <a:tabLst>
                <a:tab pos="1533525" algn="l"/>
                <a:tab pos="2867025" algn="l"/>
                <a:tab pos="4133850" algn="l"/>
              </a:tabLst>
            </a:pPr>
            <a:r>
              <a:rPr lang="zh-CN" altLang="zh-CN" sz="16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运行结果</a:t>
            </a:r>
            <a:r>
              <a:rPr lang="en-US" altLang="zh-CN" sz="16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 1</a:t>
            </a:r>
            <a:r>
              <a:rPr lang="zh-CN" altLang="zh-CN" sz="16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indent="228600" algn="just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Enter a n:</a:t>
            </a:r>
            <a:endParaRPr lang="zh-CN" altLang="zh-CN" sz="16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u="sng" kern="10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1 100</a:t>
            </a:r>
            <a:r>
              <a:rPr lang="zh-CN" altLang="zh-CN" sz="1600" u="sng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↙</a:t>
            </a:r>
            <a:endParaRPr lang="zh-CN" altLang="zh-CN" sz="16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Enter d:</a:t>
            </a:r>
            <a:endParaRPr lang="zh-CN" altLang="zh-CN" sz="16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u="sng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600" u="sng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↙</a:t>
            </a:r>
            <a:endParaRPr lang="zh-CN" altLang="zh-CN" sz="16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sum = </a:t>
            </a:r>
            <a:r>
              <a:rPr lang="en-US" altLang="zh-CN" sz="1600" kern="1050" dirty="0">
                <a:solidFill>
                  <a:srgbClr val="0072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</a:t>
            </a:r>
            <a:endParaRPr lang="zh-CN" altLang="zh-CN" sz="16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 hangingPunct="0">
              <a:lnSpc>
                <a:spcPts val="1530"/>
              </a:lnSpc>
              <a:tabLst>
                <a:tab pos="1533525" algn="l"/>
                <a:tab pos="2867025" algn="l"/>
                <a:tab pos="4133850" algn="l"/>
              </a:tabLst>
            </a:pPr>
            <a:endParaRPr lang="en-US" altLang="zh-CN" sz="16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 hangingPunct="0">
              <a:lnSpc>
                <a:spcPts val="1530"/>
              </a:lnSpc>
              <a:tabLst>
                <a:tab pos="1533525" algn="l"/>
                <a:tab pos="2867025" algn="l"/>
                <a:tab pos="4133850" algn="l"/>
              </a:tabLst>
            </a:pPr>
            <a:r>
              <a:rPr lang="zh-CN" altLang="zh-CN" sz="16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运行结果</a:t>
            </a:r>
            <a:r>
              <a:rPr lang="en-US" altLang="zh-CN" sz="16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 2</a:t>
            </a:r>
            <a:r>
              <a:rPr lang="zh-CN" altLang="zh-CN" sz="16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indent="228600" algn="just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Enter a n:</a:t>
            </a:r>
            <a:endParaRPr lang="zh-CN" altLang="zh-CN" sz="16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u="sng" kern="10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1 100 2</a:t>
            </a:r>
            <a:r>
              <a:rPr lang="zh-CN" altLang="zh-CN" sz="1600" u="sng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↙</a:t>
            </a:r>
            <a:endParaRPr lang="zh-CN" altLang="zh-CN" sz="16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Enter d:</a:t>
            </a:r>
            <a:endParaRPr lang="zh-CN" altLang="zh-CN" sz="16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sum = </a:t>
            </a:r>
            <a:r>
              <a:rPr lang="en-US" altLang="zh-CN" sz="1600" kern="1050" dirty="0">
                <a:solidFill>
                  <a:srgbClr val="0072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</a:t>
            </a:r>
            <a:endParaRPr lang="zh-CN" altLang="zh-CN" sz="16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150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Text Box 15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31802" y="870105"/>
            <a:ext cx="11233151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类别　　函数名　　作    用　　函  数  原  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        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sin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　   正弦函数  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double sin(double 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　    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cos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  　 余弦函数 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double cos(double 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三角          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tan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　   正切函数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tg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double tan(double 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函数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asin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      反正弦函数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double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asin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(double 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　    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acos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     反余弦函数　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double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acos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(double 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　           </a:t>
            </a:r>
            <a:r>
              <a:rPr kumimoji="1" lang="en-US" altLang="zh-CN" sz="2400" b="1" i="0" u="sng" strike="noStrike" kern="120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atan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     反正切函数　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double </a:t>
            </a:r>
            <a:r>
              <a:rPr kumimoji="1" lang="en-US" altLang="zh-CN" sz="2400" b="1" i="0" u="sng" strike="noStrike" kern="120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atan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(double 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指数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exp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   　　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e</a:t>
            </a:r>
            <a:r>
              <a:rPr kumimoji="1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　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double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exp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(double 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函数                 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pow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           </a:t>
            </a:r>
            <a:r>
              <a:rPr kumimoji="1" lang="en-US" altLang="zh-CN" sz="2400" b="1" i="0" u="sng" strike="noStrike" kern="120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x</a:t>
            </a:r>
            <a:r>
              <a:rPr kumimoji="1" lang="en-US" altLang="zh-CN" sz="2400" b="1" i="0" u="sng" strike="noStrike" kern="1200" cap="none" spc="0" normalizeH="0" baseline="3000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y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 double pow(double x, double y)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　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对数          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log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　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ln(x)     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double log(double x)</a:t>
            </a:r>
            <a:endParaRPr kumimoji="1" lang="en-US" altLang="zh-CN" sz="2400" b="1" i="0" u="sng" strike="noStrike" kern="1200" cap="none" spc="0" normalizeH="0" baseline="0" noProof="0" dirty="0">
              <a:ln>
                <a:noFill/>
              </a:ln>
              <a:solidFill>
                <a:srgbClr val="000514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函数              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log10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       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log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10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x             double log10(double 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　    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fabs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求绝对值　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double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fabs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(double 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其他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sqrt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      计算平方根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double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sqrt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(double 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514"/>
              </a:solidFill>
              <a:effectLst/>
              <a:uLnTx/>
              <a:uFillTx/>
              <a:latin typeface="Garamond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三角函数中使用的角度用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弧度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表示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:  sin(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60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* 3.14159/180)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7535" y="2516342"/>
            <a:ext cx="1475317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679145" y="4635655"/>
            <a:ext cx="255230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sqrt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(x) + log(x)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x * x+ 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exp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log10(x)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1+ x+ pow(x, 2)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>
            <a:off x="10439400" y="4216555"/>
            <a:ext cx="0" cy="419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EB27C6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en-US" altLang="zh-CN" sz="2400" kern="1050" dirty="0">
                <a:solidFill>
                  <a:schemeClr val="bg2"/>
                </a:solidFill>
                <a:effectLst/>
                <a:latin typeface="方正黑体_GBK"/>
                <a:cs typeface="Times New Roman" panose="02020603050405020304" pitchFamily="18" charset="0"/>
              </a:rPr>
              <a:t>2.2.3</a:t>
            </a:r>
            <a:r>
              <a:rPr lang="zh-CN" altLang="zh-CN" sz="2400" kern="1050" dirty="0">
                <a:solidFill>
                  <a:schemeClr val="bg2"/>
                </a:solidFill>
                <a:effectLst/>
                <a:latin typeface="方正黑体_GBK"/>
                <a:cs typeface="Times New Roman" panose="02020603050405020304" pitchFamily="18" charset="0"/>
              </a:rPr>
              <a:t>　常用数学函数、常用字符函数、其他常用函数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1. </a:t>
            </a:r>
            <a:r>
              <a:rPr kumimoji="0" lang="zh-CN" altLang="en-US" sz="24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常用数学函数</a:t>
            </a:r>
          </a:p>
        </p:txBody>
      </p:sp>
      <p:sp>
        <p:nvSpPr>
          <p:cNvPr id="4" name="矩形 3"/>
          <p:cNvSpPr/>
          <p:nvPr/>
        </p:nvSpPr>
        <p:spPr>
          <a:xfrm>
            <a:off x="6951405" y="555119"/>
            <a:ext cx="30716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514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EB27C6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t>#include 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EB27C6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t>math.h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EB27C6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t>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97654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334435" y="1046163"/>
            <a:ext cx="11330517" cy="54721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#include &lt;</a:t>
            </a:r>
            <a:r>
              <a:rPr lang="en-US" altLang="zh-CN" sz="2400" dirty="0" err="1">
                <a:latin typeface="Times New Roman" pitchFamily="18" charset="0"/>
              </a:rPr>
              <a:t>ctype.h</a:t>
            </a:r>
            <a:r>
              <a:rPr lang="en-US" altLang="zh-CN" sz="2400" dirty="0">
                <a:latin typeface="Times New Roman" pitchFamily="18" charset="0"/>
              </a:rPr>
              <a:t>&gt;</a:t>
            </a:r>
            <a:endParaRPr lang="en-US" altLang="zh-CN" sz="2400" dirty="0">
              <a:solidFill>
                <a:srgbClr val="3333FF"/>
              </a:solidFill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400" dirty="0">
              <a:solidFill>
                <a:srgbClr val="3333FF"/>
              </a:solidFill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char </a:t>
            </a:r>
            <a:r>
              <a:rPr lang="en-US" altLang="zh-CN" sz="2400" dirty="0" err="1">
                <a:latin typeface="Times New Roman" pitchFamily="18" charset="0"/>
              </a:rPr>
              <a:t>to</a:t>
            </a:r>
            <a:r>
              <a:rPr lang="en-US" altLang="zh-CN" sz="2400" dirty="0" err="1">
                <a:solidFill>
                  <a:srgbClr val="CC00CC"/>
                </a:solidFill>
                <a:latin typeface="Times New Roman" pitchFamily="18" charset="0"/>
              </a:rPr>
              <a:t>lower</a:t>
            </a:r>
            <a:r>
              <a:rPr lang="en-US" altLang="zh-CN" sz="2400" dirty="0">
                <a:latin typeface="Times New Roman" pitchFamily="18" charset="0"/>
              </a:rPr>
              <a:t>(char a)</a:t>
            </a:r>
            <a:r>
              <a:rPr lang="zh-CN" altLang="en-US" sz="2400" dirty="0">
                <a:latin typeface="Times New Roman" pitchFamily="18" charset="0"/>
              </a:rPr>
              <a:t>　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//</a:t>
            </a:r>
            <a:r>
              <a:rPr lang="zh-CN" altLang="en-US" sz="2400" dirty="0">
                <a:solidFill>
                  <a:srgbClr val="3333FF"/>
                </a:solidFill>
                <a:latin typeface="Times New Roman" pitchFamily="18" charset="0"/>
              </a:rPr>
              <a:t>大写字母转换为小写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latin typeface="Times New Roman" pitchFamily="18" charset="0"/>
              </a:rPr>
              <a:t>  </a:t>
            </a:r>
            <a:r>
              <a:rPr lang="en-US" altLang="zh-CN" sz="2400" dirty="0">
                <a:latin typeface="Times New Roman" pitchFamily="18" charset="0"/>
              </a:rPr>
              <a:t>char </a:t>
            </a:r>
            <a:r>
              <a:rPr lang="en-US" altLang="zh-CN" sz="2400" dirty="0" err="1">
                <a:latin typeface="Times New Roman" pitchFamily="18" charset="0"/>
              </a:rPr>
              <a:t>to</a:t>
            </a:r>
            <a:r>
              <a:rPr lang="en-US" altLang="zh-CN" sz="2400" dirty="0" err="1">
                <a:solidFill>
                  <a:srgbClr val="CC00CC"/>
                </a:solidFill>
                <a:latin typeface="Times New Roman" pitchFamily="18" charset="0"/>
              </a:rPr>
              <a:t>upper</a:t>
            </a:r>
            <a:r>
              <a:rPr lang="en-US" altLang="zh-CN" sz="2400" dirty="0">
                <a:latin typeface="Times New Roman" pitchFamily="18" charset="0"/>
              </a:rPr>
              <a:t>(char a)</a:t>
            </a:r>
            <a:r>
              <a:rPr lang="zh-CN" altLang="en-US" sz="2400" dirty="0">
                <a:latin typeface="Times New Roman" pitchFamily="18" charset="0"/>
              </a:rPr>
              <a:t>　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//</a:t>
            </a:r>
            <a:r>
              <a:rPr lang="zh-CN" altLang="en-US" sz="2400" dirty="0">
                <a:solidFill>
                  <a:srgbClr val="3333FF"/>
                </a:solidFill>
                <a:latin typeface="Times New Roman" pitchFamily="18" charset="0"/>
              </a:rPr>
              <a:t>小写字母转换为大写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latin typeface="Times New Roman" pitchFamily="18" charset="0"/>
              </a:rPr>
              <a:t>  </a:t>
            </a:r>
            <a:r>
              <a:rPr lang="en-US" altLang="zh-CN" sz="2400" dirty="0" err="1">
                <a:latin typeface="Times New Roman" pitchFamily="18" charset="0"/>
              </a:rPr>
              <a:t>int</a:t>
            </a:r>
            <a:r>
              <a:rPr lang="en-US" altLang="zh-CN" sz="2400" dirty="0">
                <a:latin typeface="Times New Roman" pitchFamily="18" charset="0"/>
              </a:rPr>
              <a:t> </a:t>
            </a:r>
            <a:r>
              <a:rPr lang="en-US" altLang="zh-CN" sz="2400" dirty="0" err="1">
                <a:latin typeface="Times New Roman" pitchFamily="18" charset="0"/>
              </a:rPr>
              <a:t>isalpha</a:t>
            </a:r>
            <a:r>
              <a:rPr lang="en-US" altLang="zh-CN" sz="2400" dirty="0">
                <a:latin typeface="Times New Roman" pitchFamily="18" charset="0"/>
              </a:rPr>
              <a:t>(char a)        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//a</a:t>
            </a:r>
            <a:r>
              <a:rPr lang="zh-CN" altLang="en-US" sz="2400" dirty="0">
                <a:solidFill>
                  <a:srgbClr val="3333FF"/>
                </a:solidFill>
                <a:latin typeface="Times New Roman" pitchFamily="18" charset="0"/>
              </a:rPr>
              <a:t>是字母，返回非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3333FF"/>
                </a:solidFill>
                <a:latin typeface="Times New Roman" pitchFamily="18" charset="0"/>
              </a:rPr>
              <a:t>，否则返回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0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Times New Roman" pitchFamily="18" charset="0"/>
              </a:rPr>
              <a:t>  </a:t>
            </a:r>
            <a:r>
              <a:rPr lang="en-US" altLang="zh-CN" sz="2400" dirty="0" err="1">
                <a:latin typeface="Times New Roman" pitchFamily="18" charset="0"/>
              </a:rPr>
              <a:t>int</a:t>
            </a:r>
            <a:r>
              <a:rPr lang="en-US" altLang="zh-CN" sz="2400" dirty="0">
                <a:latin typeface="Times New Roman" pitchFamily="18" charset="0"/>
              </a:rPr>
              <a:t> </a:t>
            </a:r>
            <a:r>
              <a:rPr lang="en-US" altLang="zh-CN" sz="2400" dirty="0" err="1">
                <a:latin typeface="Times New Roman" pitchFamily="18" charset="0"/>
              </a:rPr>
              <a:t>isupper</a:t>
            </a:r>
            <a:r>
              <a:rPr lang="en-US" altLang="zh-CN" sz="2400" dirty="0">
                <a:latin typeface="Times New Roman" pitchFamily="18" charset="0"/>
              </a:rPr>
              <a:t>(char a)       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//a</a:t>
            </a:r>
            <a:r>
              <a:rPr lang="zh-CN" altLang="en-US" sz="2400" dirty="0">
                <a:solidFill>
                  <a:srgbClr val="3333FF"/>
                </a:solidFill>
                <a:latin typeface="Times New Roman" pitchFamily="18" charset="0"/>
              </a:rPr>
              <a:t>是大写字母，返回非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3333FF"/>
                </a:solidFill>
                <a:latin typeface="Times New Roman" pitchFamily="18" charset="0"/>
              </a:rPr>
              <a:t>，否则返回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0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Times New Roman" pitchFamily="18" charset="0"/>
              </a:rPr>
              <a:t>  </a:t>
            </a:r>
            <a:r>
              <a:rPr lang="en-US" altLang="zh-CN" sz="2400" dirty="0" err="1">
                <a:latin typeface="Times New Roman" pitchFamily="18" charset="0"/>
              </a:rPr>
              <a:t>int</a:t>
            </a:r>
            <a:r>
              <a:rPr lang="en-US" altLang="zh-CN" sz="2400" dirty="0">
                <a:latin typeface="Times New Roman" pitchFamily="18" charset="0"/>
              </a:rPr>
              <a:t> </a:t>
            </a:r>
            <a:r>
              <a:rPr lang="en-US" altLang="zh-CN" sz="2400" dirty="0" err="1">
                <a:latin typeface="Times New Roman" pitchFamily="18" charset="0"/>
              </a:rPr>
              <a:t>isdigit</a:t>
            </a:r>
            <a:r>
              <a:rPr lang="en-US" altLang="zh-CN" sz="2400" dirty="0">
                <a:latin typeface="Times New Roman" pitchFamily="18" charset="0"/>
              </a:rPr>
              <a:t>(char a)         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//a</a:t>
            </a:r>
            <a:r>
              <a:rPr lang="zh-CN" altLang="en-US" sz="2400" dirty="0">
                <a:solidFill>
                  <a:srgbClr val="3333FF"/>
                </a:solidFill>
                <a:latin typeface="Times New Roman" pitchFamily="18" charset="0"/>
              </a:rPr>
              <a:t>是数字字符，返回非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3333FF"/>
                </a:solidFill>
                <a:latin typeface="Times New Roman" pitchFamily="18" charset="0"/>
              </a:rPr>
              <a:t>，否则返回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0</a:t>
            </a:r>
            <a:endParaRPr lang="zh-CN" altLang="en-US" sz="2400" dirty="0">
              <a:solidFill>
                <a:srgbClr val="3333FF"/>
              </a:solidFill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Times New Roman" pitchFamily="18" charset="0"/>
              </a:rPr>
              <a:t>  </a:t>
            </a:r>
            <a:r>
              <a:rPr lang="en-US" altLang="zh-CN" sz="2400" dirty="0" err="1">
                <a:latin typeface="Times New Roman" pitchFamily="18" charset="0"/>
              </a:rPr>
              <a:t>int</a:t>
            </a:r>
            <a:r>
              <a:rPr lang="en-US" altLang="zh-CN" sz="2400" dirty="0">
                <a:latin typeface="Times New Roman" pitchFamily="18" charset="0"/>
              </a:rPr>
              <a:t> </a:t>
            </a:r>
            <a:r>
              <a:rPr lang="en-US" altLang="zh-CN" sz="2400" dirty="0" err="1">
                <a:latin typeface="Times New Roman" pitchFamily="18" charset="0"/>
              </a:rPr>
              <a:t>is</a:t>
            </a:r>
            <a:r>
              <a:rPr lang="en-US" altLang="zh-CN" sz="2400" dirty="0" err="1">
                <a:solidFill>
                  <a:srgbClr val="6600CC"/>
                </a:solidFill>
                <a:latin typeface="Times New Roman" pitchFamily="18" charset="0"/>
              </a:rPr>
              <a:t>al</a:t>
            </a:r>
            <a:r>
              <a:rPr lang="en-US" altLang="zh-CN" sz="2400" dirty="0" err="1">
                <a:solidFill>
                  <a:srgbClr val="CC00CC"/>
                </a:solidFill>
                <a:latin typeface="Times New Roman" pitchFamily="18" charset="0"/>
              </a:rPr>
              <a:t>num</a:t>
            </a:r>
            <a:r>
              <a:rPr lang="en-US" altLang="zh-CN" sz="2400" dirty="0">
                <a:latin typeface="Times New Roman" pitchFamily="18" charset="0"/>
              </a:rPr>
              <a:t>(char a)      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//a</a:t>
            </a:r>
            <a:r>
              <a:rPr lang="zh-CN" altLang="en-US" sz="2400" dirty="0">
                <a:solidFill>
                  <a:srgbClr val="3333FF"/>
                </a:solidFill>
                <a:latin typeface="Times New Roman" pitchFamily="18" charset="0"/>
              </a:rPr>
              <a:t>是字母、数字字符，返回非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3333FF"/>
                </a:solidFill>
                <a:latin typeface="Times New Roman" pitchFamily="18" charset="0"/>
              </a:rPr>
              <a:t>，否则返回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0</a:t>
            </a:r>
            <a:endParaRPr lang="zh-CN" altLang="en-US" sz="2400" dirty="0">
              <a:solidFill>
                <a:srgbClr val="3333FF"/>
              </a:solidFill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latin typeface="Times New Roman" pitchFamily="18" charset="0"/>
              </a:rPr>
              <a:t>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char </a:t>
            </a:r>
            <a:r>
              <a:rPr lang="en-US" altLang="zh-CN" sz="2400" dirty="0" err="1">
                <a:solidFill>
                  <a:srgbClr val="3333FF"/>
                </a:solidFill>
                <a:latin typeface="Times New Roman" pitchFamily="18" charset="0"/>
              </a:rPr>
              <a:t>ch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 = </a:t>
            </a:r>
            <a:r>
              <a:rPr lang="en-US" altLang="zh-CN" sz="2400" dirty="0" err="1">
                <a:solidFill>
                  <a:srgbClr val="3333FF"/>
                </a:solidFill>
                <a:latin typeface="Times New Roman" pitchFamily="18" charset="0"/>
              </a:rPr>
              <a:t>getchar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if( </a:t>
            </a:r>
            <a:r>
              <a:rPr lang="en-US" altLang="zh-CN" sz="2400" dirty="0" err="1">
                <a:solidFill>
                  <a:srgbClr val="3333FF"/>
                </a:solidFill>
                <a:latin typeface="Times New Roman" pitchFamily="18" charset="0"/>
              </a:rPr>
              <a:t>isupper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(</a:t>
            </a:r>
            <a:r>
              <a:rPr lang="en-US" altLang="zh-CN" sz="2400" dirty="0" err="1">
                <a:solidFill>
                  <a:srgbClr val="3333FF"/>
                </a:solidFill>
                <a:latin typeface="Times New Roman" pitchFamily="18" charset="0"/>
              </a:rPr>
              <a:t>ch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) )        </a:t>
            </a:r>
            <a:r>
              <a:rPr lang="en-US" altLang="zh-CN" sz="2400" dirty="0" err="1">
                <a:solidFill>
                  <a:srgbClr val="3333FF"/>
                </a:solidFill>
                <a:latin typeface="Times New Roman" pitchFamily="18" charset="0"/>
              </a:rPr>
              <a:t>ch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 = </a:t>
            </a:r>
            <a:r>
              <a:rPr lang="en-US" altLang="zh-CN" sz="2400" dirty="0" err="1">
                <a:solidFill>
                  <a:srgbClr val="3333FF"/>
                </a:solidFill>
                <a:latin typeface="Times New Roman" pitchFamily="18" charset="0"/>
              </a:rPr>
              <a:t>tolower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(</a:t>
            </a:r>
            <a:r>
              <a:rPr lang="en-US" altLang="zh-CN" sz="2400" dirty="0" err="1">
                <a:solidFill>
                  <a:srgbClr val="3333FF"/>
                </a:solidFill>
                <a:latin typeface="Times New Roman" pitchFamily="18" charset="0"/>
              </a:rPr>
              <a:t>ch</a:t>
            </a:r>
            <a:r>
              <a:rPr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);</a:t>
            </a:r>
            <a:r>
              <a:rPr lang="en-US" altLang="zh-CN" sz="2400" dirty="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　  </a:t>
            </a:r>
            <a:r>
              <a:rPr lang="en-US" altLang="zh-CN" sz="2400" dirty="0">
                <a:latin typeface="Times New Roman" pitchFamily="18" charset="0"/>
              </a:rPr>
              <a:t>//</a:t>
            </a:r>
            <a:r>
              <a:rPr lang="zh-CN" altLang="en-US" sz="2400" dirty="0">
                <a:latin typeface="Times New Roman" pitchFamily="18" charset="0"/>
              </a:rPr>
              <a:t>从键盘输入一个字符</a:t>
            </a:r>
            <a:r>
              <a:rPr lang="en-US" altLang="zh-CN" sz="2400" dirty="0">
                <a:latin typeface="Times New Roman" pitchFamily="18" charset="0"/>
              </a:rPr>
              <a:t>, </a:t>
            </a:r>
            <a:r>
              <a:rPr lang="zh-CN" altLang="en-US" sz="2400" dirty="0">
                <a:latin typeface="Times New Roman" pitchFamily="18" charset="0"/>
              </a:rPr>
              <a:t>若其是大写字母则转换为小写字母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常用字符函数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29427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524934" y="1255716"/>
            <a:ext cx="11567583" cy="40608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#include &lt;</a:t>
            </a:r>
            <a:r>
              <a:rPr lang="en-US" altLang="zh-CN" dirty="0" err="1">
                <a:latin typeface="Times New Roman" pitchFamily="18" charset="0"/>
              </a:rPr>
              <a:t>stdlib.h</a:t>
            </a:r>
            <a:r>
              <a:rPr lang="en-US" altLang="zh-CN" dirty="0">
                <a:latin typeface="Times New Roman" pitchFamily="18" charset="0"/>
              </a:rPr>
              <a:t>&gt;</a:t>
            </a:r>
            <a:endParaRPr lang="en-US" altLang="zh-CN" dirty="0">
              <a:solidFill>
                <a:srgbClr val="3333FF"/>
              </a:solidFill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600" dirty="0">
                <a:latin typeface="Times New Roman" pitchFamily="18" charset="0"/>
              </a:rPr>
              <a:t>　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　</a:t>
            </a:r>
            <a:r>
              <a:rPr lang="en-US" altLang="zh-CN" sz="2800" dirty="0">
                <a:latin typeface="Times New Roman" pitchFamily="18" charset="0"/>
              </a:rPr>
              <a:t>void exit(</a:t>
            </a:r>
            <a:r>
              <a:rPr lang="en-US" altLang="zh-CN" sz="2800" dirty="0" err="1">
                <a:latin typeface="Times New Roman" pitchFamily="18" charset="0"/>
              </a:rPr>
              <a:t>int</a:t>
            </a:r>
            <a:r>
              <a:rPr lang="en-US" altLang="zh-CN" sz="2800" dirty="0">
                <a:latin typeface="Times New Roman" pitchFamily="18" charset="0"/>
              </a:rPr>
              <a:t> x)</a:t>
            </a:r>
            <a:r>
              <a:rPr lang="zh-CN" altLang="en-US" sz="2800" dirty="0">
                <a:latin typeface="Times New Roman" pitchFamily="18" charset="0"/>
              </a:rPr>
              <a:t>　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latin typeface="Times New Roman" pitchFamily="18" charset="0"/>
              </a:rPr>
              <a:t>　</a:t>
            </a:r>
            <a:r>
              <a:rPr lang="en-US" altLang="zh-CN" sz="2800" dirty="0">
                <a:solidFill>
                  <a:srgbClr val="3333FF"/>
                </a:solidFill>
                <a:latin typeface="Times New Roman" pitchFamily="18" charset="0"/>
              </a:rPr>
              <a:t>//</a:t>
            </a:r>
            <a:r>
              <a:rPr lang="zh-CN" altLang="en-US" sz="2800" dirty="0">
                <a:solidFill>
                  <a:srgbClr val="3333FF"/>
                </a:solidFill>
                <a:latin typeface="Times New Roman" pitchFamily="18" charset="0"/>
              </a:rPr>
              <a:t>立即终止程序的执行</a:t>
            </a:r>
            <a:r>
              <a:rPr lang="en-US" altLang="zh-CN" sz="2800" dirty="0">
                <a:solidFill>
                  <a:srgbClr val="3333FF"/>
                </a:solidFill>
                <a:latin typeface="Times New Roman" pitchFamily="18" charset="0"/>
              </a:rPr>
              <a:t>, x</a:t>
            </a:r>
            <a:r>
              <a:rPr lang="zh-CN" altLang="en-US" sz="2800" dirty="0">
                <a:solidFill>
                  <a:srgbClr val="3333FF"/>
                </a:solidFill>
                <a:latin typeface="Times New Roman" pitchFamily="18" charset="0"/>
              </a:rPr>
              <a:t>的值传给调用进程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rgbClr val="3333FF"/>
              </a:solidFill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latin typeface="Times New Roman" pitchFamily="18" charset="0"/>
              </a:rPr>
              <a:t>       </a:t>
            </a:r>
            <a:r>
              <a:rPr lang="en-US" altLang="zh-CN" sz="2800" dirty="0">
                <a:solidFill>
                  <a:srgbClr val="CC00CC"/>
                </a:solidFill>
                <a:latin typeface="Times New Roman" pitchFamily="18" charset="0"/>
              </a:rPr>
              <a:t>exit(0);   </a:t>
            </a:r>
            <a:r>
              <a:rPr lang="en-US" altLang="zh-CN" sz="2800" dirty="0">
                <a:solidFill>
                  <a:srgbClr val="3333FF"/>
                </a:solidFill>
                <a:latin typeface="Times New Roman" pitchFamily="18" charset="0"/>
              </a:rPr>
              <a:t>//</a:t>
            </a:r>
            <a:r>
              <a:rPr lang="zh-CN" altLang="en-US" sz="2800" dirty="0">
                <a:solidFill>
                  <a:srgbClr val="3333FF"/>
                </a:solidFill>
                <a:latin typeface="Times New Roman" pitchFamily="18" charset="0"/>
              </a:rPr>
              <a:t>正常终止程序的执行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3.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其它常用函数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75371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527052" y="1200150"/>
            <a:ext cx="11233149" cy="5486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#include &lt;</a:t>
            </a:r>
            <a:r>
              <a:rPr lang="en-US" altLang="zh-CN" dirty="0" err="1">
                <a:latin typeface="Times New Roman" pitchFamily="18" charset="0"/>
              </a:rPr>
              <a:t>stdlib.h</a:t>
            </a:r>
            <a:r>
              <a:rPr lang="en-US" altLang="zh-CN" dirty="0">
                <a:latin typeface="Times New Roman" pitchFamily="18" charset="0"/>
              </a:rPr>
              <a:t>&gt;</a:t>
            </a:r>
            <a:endParaRPr lang="en-US" altLang="zh-CN" dirty="0">
              <a:solidFill>
                <a:srgbClr val="3333FF"/>
              </a:solidFill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　</a:t>
            </a:r>
            <a:endParaRPr lang="zh-CN" altLang="en-US" sz="2800" dirty="0">
              <a:solidFill>
                <a:srgbClr val="66FFFF"/>
              </a:solidFill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dirty="0">
                <a:latin typeface="Times New Roman" pitchFamily="18" charset="0"/>
              </a:rPr>
              <a:t>随机数发生器函数 </a:t>
            </a:r>
            <a:r>
              <a:rPr lang="en-US" altLang="zh-CN" sz="2800" dirty="0">
                <a:solidFill>
                  <a:srgbClr val="CC00CC"/>
                </a:solidFill>
                <a:latin typeface="Times New Roman" pitchFamily="18" charset="0"/>
              </a:rPr>
              <a:t>int rand(void)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latin typeface="Times New Roman" pitchFamily="18" charset="0"/>
              </a:rPr>
              <a:t>    </a:t>
            </a:r>
            <a:r>
              <a:rPr lang="zh-CN" altLang="en-US" sz="2800" dirty="0">
                <a:latin typeface="Times New Roman" pitchFamily="18" charset="0"/>
              </a:rPr>
              <a:t>产生一个 </a:t>
            </a:r>
            <a:r>
              <a:rPr lang="en-US" altLang="zh-CN" sz="2800" dirty="0">
                <a:latin typeface="Times New Roman" pitchFamily="18" charset="0"/>
              </a:rPr>
              <a:t>0</a:t>
            </a:r>
            <a:r>
              <a:rPr lang="zh-CN" altLang="en-US" sz="2800" dirty="0">
                <a:latin typeface="Times New Roman" pitchFamily="18" charset="0"/>
              </a:rPr>
              <a:t>～</a:t>
            </a:r>
            <a:r>
              <a:rPr lang="en-US" altLang="zh-CN" sz="2800" dirty="0">
                <a:latin typeface="Times New Roman" pitchFamily="18" charset="0"/>
              </a:rPr>
              <a:t>RAND_MAX(</a:t>
            </a:r>
            <a:r>
              <a:rPr lang="zh-CN" altLang="en-US" sz="2800" dirty="0">
                <a:latin typeface="Times New Roman" pitchFamily="18" charset="0"/>
              </a:rPr>
              <a:t>至少</a:t>
            </a:r>
            <a:r>
              <a:rPr lang="en-US" altLang="zh-CN" sz="2800" dirty="0">
                <a:latin typeface="Times New Roman" pitchFamily="18" charset="0"/>
              </a:rPr>
              <a:t>32767) </a:t>
            </a:r>
            <a:r>
              <a:rPr lang="zh-CN" altLang="en-US" sz="2800" dirty="0">
                <a:latin typeface="Times New Roman" pitchFamily="18" charset="0"/>
              </a:rPr>
              <a:t>之间的伪随机整数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dirty="0">
                <a:latin typeface="Times New Roman" pitchFamily="18" charset="0"/>
              </a:rPr>
              <a:t>初始化随机数发生器函数 </a:t>
            </a:r>
            <a:r>
              <a:rPr lang="en-US" altLang="zh-CN" sz="2800" dirty="0">
                <a:solidFill>
                  <a:srgbClr val="CC00CC"/>
                </a:solidFill>
                <a:latin typeface="Times New Roman" pitchFamily="18" charset="0"/>
              </a:rPr>
              <a:t>void </a:t>
            </a:r>
            <a:r>
              <a:rPr lang="en-US" altLang="zh-CN" sz="2800" dirty="0" err="1">
                <a:solidFill>
                  <a:srgbClr val="CC00CC"/>
                </a:solidFill>
                <a:latin typeface="Times New Roman" pitchFamily="18" charset="0"/>
              </a:rPr>
              <a:t>srand</a:t>
            </a:r>
            <a:r>
              <a:rPr lang="en-US" altLang="zh-CN" sz="2800" dirty="0">
                <a:solidFill>
                  <a:srgbClr val="CC00CC"/>
                </a:solidFill>
                <a:latin typeface="Times New Roman" pitchFamily="18" charset="0"/>
              </a:rPr>
              <a:t>(unsigned a)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latin typeface="Times New Roman" pitchFamily="18" charset="0"/>
              </a:rPr>
              <a:t>    </a:t>
            </a:r>
            <a:r>
              <a:rPr lang="zh-CN" altLang="en-US" sz="2800" dirty="0">
                <a:latin typeface="Times New Roman" pitchFamily="18" charset="0"/>
              </a:rPr>
              <a:t>以给定数</a:t>
            </a:r>
            <a:r>
              <a:rPr lang="en-US" altLang="zh-CN" sz="2800" dirty="0">
                <a:latin typeface="Times New Roman" pitchFamily="18" charset="0"/>
              </a:rPr>
              <a:t>a</a:t>
            </a:r>
            <a:r>
              <a:rPr lang="zh-CN" altLang="en-US" sz="2800" dirty="0">
                <a:latin typeface="Times New Roman" pitchFamily="18" charset="0"/>
              </a:rPr>
              <a:t>初始化随机数发生器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dirty="0">
                <a:latin typeface="Times New Roman" pitchFamily="18" charset="0"/>
              </a:rPr>
              <a:t>　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dirty="0">
                <a:latin typeface="Times New Roman" pitchFamily="18" charset="0"/>
              </a:rPr>
              <a:t>　　</a:t>
            </a:r>
            <a:r>
              <a:rPr lang="en-US" altLang="zh-CN" sz="2800" dirty="0">
                <a:solidFill>
                  <a:srgbClr val="CC00CC"/>
                </a:solidFill>
                <a:latin typeface="Times New Roman" pitchFamily="18" charset="0"/>
              </a:rPr>
              <a:t>#include &lt;</a:t>
            </a:r>
            <a:r>
              <a:rPr lang="en-US" altLang="zh-CN" sz="2800" dirty="0" err="1">
                <a:solidFill>
                  <a:srgbClr val="CC00CC"/>
                </a:solidFill>
                <a:latin typeface="Times New Roman" pitchFamily="18" charset="0"/>
              </a:rPr>
              <a:t>stdlib.h</a:t>
            </a:r>
            <a:r>
              <a:rPr lang="en-US" altLang="zh-CN" sz="2800" dirty="0">
                <a:solidFill>
                  <a:srgbClr val="CC00CC"/>
                </a:solidFill>
                <a:latin typeface="Times New Roman" pitchFamily="18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  <a:latin typeface="Times New Roman" pitchFamily="18" charset="0"/>
              </a:rPr>
              <a:t>        #include &lt;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itchFamily="18" charset="0"/>
              </a:rPr>
              <a:t>time.h</a:t>
            </a:r>
            <a:r>
              <a:rPr lang="en-US" altLang="zh-CN" sz="2800" dirty="0">
                <a:solidFill>
                  <a:srgbClr val="3333FF"/>
                </a:solidFill>
                <a:latin typeface="Times New Roman" pitchFamily="18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  <a:latin typeface="Times New Roman" pitchFamily="18" charset="0"/>
              </a:rPr>
              <a:t>        …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latin typeface="Times New Roman" pitchFamily="18" charset="0"/>
              </a:rPr>
              <a:t>        </a:t>
            </a:r>
            <a:r>
              <a:rPr lang="en-US" altLang="zh-CN" sz="2800" dirty="0" err="1">
                <a:solidFill>
                  <a:srgbClr val="CC00CC"/>
                </a:solidFill>
                <a:latin typeface="Times New Roman" pitchFamily="18" charset="0"/>
              </a:rPr>
              <a:t>srand</a:t>
            </a:r>
            <a:r>
              <a:rPr lang="en-US" altLang="zh-CN" sz="2800" dirty="0">
                <a:solidFill>
                  <a:srgbClr val="3333FF"/>
                </a:solidFill>
                <a:latin typeface="Times New Roman" pitchFamily="18" charset="0"/>
              </a:rPr>
              <a:t>(time(NULL));      </a:t>
            </a:r>
            <a:r>
              <a:rPr lang="en-US" altLang="zh-CN" sz="2400" dirty="0">
                <a:solidFill>
                  <a:schemeClr val="accent1"/>
                </a:solidFill>
                <a:latin typeface="Times New Roman" pitchFamily="18" charset="0"/>
              </a:rPr>
              <a:t>//</a:t>
            </a:r>
            <a:r>
              <a:rPr lang="zh-CN" altLang="en-US" sz="2400" dirty="0">
                <a:solidFill>
                  <a:schemeClr val="accent1"/>
                </a:solidFill>
                <a:latin typeface="Times New Roman" pitchFamily="18" charset="0"/>
              </a:rPr>
              <a:t>以当前系统时间初始化</a:t>
            </a:r>
            <a:r>
              <a:rPr lang="en-US" altLang="zh-CN" sz="2400" dirty="0">
                <a:solidFill>
                  <a:schemeClr val="accent1"/>
                </a:solidFill>
                <a:latin typeface="Times New Roman" pitchFamily="18" charset="0"/>
              </a:rPr>
              <a:t>…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  <a:latin typeface="Times New Roman" pitchFamily="18" charset="0"/>
              </a:rPr>
              <a:t>        </a:t>
            </a:r>
            <a:r>
              <a:rPr lang="en-US" altLang="zh-CN" sz="2800" dirty="0" err="1">
                <a:latin typeface="Times New Roman" pitchFamily="18" charset="0"/>
              </a:rPr>
              <a:t>printf</a:t>
            </a:r>
            <a:r>
              <a:rPr lang="en-US" altLang="zh-CN" sz="2800" dirty="0">
                <a:latin typeface="Times New Roman" pitchFamily="18" charset="0"/>
              </a:rPr>
              <a:t>("%d", </a:t>
            </a:r>
            <a:r>
              <a:rPr lang="en-US" altLang="zh-CN" sz="2800" dirty="0">
                <a:solidFill>
                  <a:srgbClr val="CC00CC"/>
                </a:solidFill>
                <a:latin typeface="Times New Roman" pitchFamily="18" charset="0"/>
              </a:rPr>
              <a:t>rand()</a:t>
            </a:r>
            <a:r>
              <a:rPr lang="en-US" altLang="zh-CN" sz="2800" dirty="0">
                <a:latin typeface="Times New Roman" pitchFamily="18" charset="0"/>
              </a:rPr>
              <a:t>);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3.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其它常用函数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369040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6A48D-B8D4-430A-AE1C-E921A6F75A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A34C16F-4EF8-20E6-71DC-8DC2B37BB06D}"/>
              </a:ext>
            </a:extLst>
          </p:cNvPr>
          <p:cNvSpPr txBox="1">
            <a:spLocks/>
          </p:cNvSpPr>
          <p:nvPr/>
        </p:nvSpPr>
        <p:spPr>
          <a:xfrm>
            <a:off x="541565" y="209550"/>
            <a:ext cx="9144000" cy="853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4900">
                <a:latin typeface="微软雅黑" panose="020B0503020204020204" pitchFamily="34" charset="-122"/>
                <a:ea typeface="微软雅黑" panose="020B0503020204020204" pitchFamily="34" charset="-122"/>
              </a:rPr>
              <a:t>运算符与表达式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ABC2DE-AE52-7FDA-4565-71CCB02BBA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925" y="2075179"/>
            <a:ext cx="4942205" cy="235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0275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9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34433" y="1412880"/>
            <a:ext cx="11455400" cy="49688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3100" spc="150" noProof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表达式： 常量、变量、函数、及运算符与其连接的式子。表达式具有确定值及类型属性。求值按运算符的优先级和结合性进行。</a:t>
            </a:r>
            <a:r>
              <a:rPr lang="en-US" altLang="zh-CN" sz="3100" spc="150" noProof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3100" spc="150" noProof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除赋值、条件、单目运算符外，均为左结合性</a:t>
            </a:r>
            <a:r>
              <a:rPr lang="en-US" altLang="zh-CN" sz="3100" spc="150" noProof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            </a:t>
            </a:r>
            <a:r>
              <a:rPr lang="zh-CN" altLang="en-US" sz="3200" dirty="0">
                <a:solidFill>
                  <a:srgbClr val="3333FF"/>
                </a:solidFill>
              </a:rPr>
              <a:t>左结合：</a:t>
            </a:r>
            <a:r>
              <a:rPr lang="en-US" altLang="zh-CN" sz="3200" dirty="0">
                <a:solidFill>
                  <a:srgbClr val="3333FF"/>
                </a:solidFill>
              </a:rPr>
              <a:t>2*3/5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dirty="0">
                <a:solidFill>
                  <a:srgbClr val="3333FF"/>
                </a:solidFill>
              </a:rPr>
              <a:t>             </a:t>
            </a:r>
            <a:r>
              <a:rPr lang="zh-CN" altLang="en-US" sz="3200" dirty="0">
                <a:solidFill>
                  <a:srgbClr val="3333FF"/>
                </a:solidFill>
              </a:rPr>
              <a:t>右结合：</a:t>
            </a:r>
            <a:r>
              <a:rPr lang="en-US" altLang="zh-CN" sz="3200" dirty="0">
                <a:solidFill>
                  <a:srgbClr val="3333FF"/>
                </a:solidFill>
              </a:rPr>
              <a:t>x = y = 2</a:t>
            </a:r>
            <a:endParaRPr kumimoji="1" lang="en-US" altLang="zh-CN" sz="3200" dirty="0">
              <a:solidFill>
                <a:srgbClr val="3333FF"/>
              </a:solidFill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3100" spc="150" noProof="1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just" eaLnBrk="1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3100" spc="150" noProof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书写规则：写在同一行，只能使用圆括号且匹配 　　　　　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3200" dirty="0"/>
              <a:t>       </a:t>
            </a:r>
            <a:r>
              <a:rPr lang="zh-CN" altLang="en-US" sz="3200" dirty="0">
                <a:solidFill>
                  <a:srgbClr val="FF0000"/>
                </a:solidFill>
              </a:rPr>
              <a:t> </a:t>
            </a:r>
            <a:r>
              <a:rPr lang="en-US" altLang="zh-CN" sz="3200" u="sng" dirty="0">
                <a:solidFill>
                  <a:srgbClr val="3333FF"/>
                </a:solidFill>
              </a:rPr>
              <a:t>1</a:t>
            </a:r>
            <a:r>
              <a:rPr lang="en-US" altLang="zh-CN" sz="3200" dirty="0">
                <a:solidFill>
                  <a:srgbClr val="3333FF"/>
                </a:solidFill>
              </a:rPr>
              <a:t>  </a:t>
            </a:r>
            <a:r>
              <a:rPr lang="en-US" altLang="zh-CN" sz="3200" u="sng" dirty="0" err="1">
                <a:solidFill>
                  <a:srgbClr val="3333FF"/>
                </a:solidFill>
              </a:rPr>
              <a:t>a+b</a:t>
            </a:r>
            <a:r>
              <a:rPr lang="zh-CN" altLang="en-US" sz="3200" dirty="0">
                <a:solidFill>
                  <a:srgbClr val="3333FF"/>
                </a:solidFill>
              </a:rPr>
              <a:t>　　</a:t>
            </a:r>
            <a:r>
              <a:rPr lang="en-US" altLang="zh-CN" sz="3200" dirty="0">
                <a:solidFill>
                  <a:srgbClr val="3333FF"/>
                </a:solidFill>
              </a:rPr>
              <a:t>1</a:t>
            </a:r>
            <a:r>
              <a:rPr lang="en-US" altLang="zh-CN" sz="3200" dirty="0">
                <a:solidFill>
                  <a:srgbClr val="CC00CC"/>
                </a:solidFill>
              </a:rPr>
              <a:t>.0 </a:t>
            </a:r>
            <a:r>
              <a:rPr lang="en-US" altLang="zh-CN" sz="3200" dirty="0">
                <a:solidFill>
                  <a:srgbClr val="3333FF"/>
                </a:solidFill>
              </a:rPr>
              <a:t>/ 2 * ( (a + b) / (3 * c) )</a:t>
            </a:r>
            <a:r>
              <a:rPr lang="zh-CN" altLang="en-US" sz="3200" u="sng" dirty="0">
                <a:solidFill>
                  <a:srgbClr val="3333FF"/>
                </a:solidFill>
              </a:rPr>
              <a:t>　　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3200" dirty="0">
                <a:solidFill>
                  <a:srgbClr val="3333FF"/>
                </a:solidFill>
              </a:rPr>
              <a:t>        </a:t>
            </a:r>
            <a:r>
              <a:rPr lang="en-US" altLang="zh-CN" sz="3200" dirty="0">
                <a:solidFill>
                  <a:srgbClr val="3333FF"/>
                </a:solidFill>
              </a:rPr>
              <a:t>2   3c</a:t>
            </a:r>
          </a:p>
        </p:txBody>
      </p:sp>
      <p:sp>
        <p:nvSpPr>
          <p:cNvPr id="34822" name="AutoShape 6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1446704" y="5383413"/>
            <a:ext cx="95249" cy="504825"/>
          </a:xfrm>
          <a:prstGeom prst="leftBracket">
            <a:avLst>
              <a:gd name="adj" fmla="val 58889"/>
            </a:avLst>
          </a:prstGeom>
          <a:noFill/>
          <a:ln w="9525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aramond" pitchFamily="18" charset="0"/>
              <a:ea typeface="宋体" pitchFamily="2" charset="-122"/>
              <a:cs typeface="+mn-cs"/>
            </a:endParaRPr>
          </a:p>
        </p:txBody>
      </p:sp>
      <p:sp>
        <p:nvSpPr>
          <p:cNvPr id="34823" name="AutoShape 7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639488" y="2636843"/>
            <a:ext cx="95249" cy="504825"/>
          </a:xfrm>
          <a:prstGeom prst="rightBracket">
            <a:avLst>
              <a:gd name="adj" fmla="val 58889"/>
            </a:avLst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itchFamily="18" charset="0"/>
              <a:ea typeface="宋体" pitchFamily="2" charset="-122"/>
              <a:cs typeface="+mn-cs"/>
            </a:endParaRPr>
          </a:p>
        </p:txBody>
      </p:sp>
      <p:sp>
        <p:nvSpPr>
          <p:cNvPr id="9" name="AutoShape 7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180781" y="5398326"/>
            <a:ext cx="71437" cy="504825"/>
          </a:xfrm>
          <a:prstGeom prst="rightBracket">
            <a:avLst>
              <a:gd name="adj" fmla="val 58889"/>
            </a:avLst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2.3.1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常用运算符与表达式</a:t>
            </a:r>
          </a:p>
        </p:txBody>
      </p:sp>
      <p:sp>
        <p:nvSpPr>
          <p:cNvPr id="2" name="矩形 1"/>
          <p:cNvSpPr/>
          <p:nvPr/>
        </p:nvSpPr>
        <p:spPr>
          <a:xfrm>
            <a:off x="9332330" y="5595273"/>
            <a:ext cx="2384182" cy="9541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Times New Roman" pitchFamily="18" charset="0"/>
              </a:rPr>
              <a:t>1 / 2  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EB27C6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Times New Roman" pitchFamily="18" charset="0"/>
              </a:rPr>
              <a:t> 0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Times New Roman" pitchFamily="18" charset="0"/>
              </a:rPr>
              <a:t>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Times New Roman" pitchFamily="18" charset="0"/>
              </a:rPr>
              <a:t>1.0 / 2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EB27C6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Times New Roman" pitchFamily="18" charset="0"/>
              </a:rPr>
              <a:t>0.5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B27C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77835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31800" y="680974"/>
            <a:ext cx="10972800" cy="1143000"/>
          </a:xfrm>
        </p:spPr>
        <p:txBody>
          <a:bodyPr/>
          <a:lstStyle/>
          <a:p>
            <a:pPr algn="ctr" eaLnBrk="1" hangingPunct="1"/>
            <a:r>
              <a:rPr lang="zh-CN" altLang="en-US" sz="3200" dirty="0">
                <a:ea typeface="黑体" pitchFamily="49" charset="-122"/>
              </a:rPr>
              <a:t>算术表达式的一般形式</a:t>
            </a:r>
          </a:p>
        </p:txBody>
      </p:sp>
      <p:graphicFrame>
        <p:nvGraphicFramePr>
          <p:cNvPr id="15824" name="Group 46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6907377"/>
              </p:ext>
            </p:extLst>
          </p:nvPr>
        </p:nvGraphicFramePr>
        <p:xfrm>
          <a:off x="594784" y="1945069"/>
          <a:ext cx="10972800" cy="4297366"/>
        </p:xfrm>
        <a:graphic>
          <a:graphicData uri="http://schemas.openxmlformats.org/drawingml/2006/table">
            <a:tbl>
              <a:tblPr/>
              <a:tblGrid>
                <a:gridCol w="143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4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2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6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6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66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运算符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名称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表达式形式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适用范围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运算功能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加法运算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a+b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√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√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求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与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的和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减法运算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a-b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√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√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求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与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的差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6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乘法运算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a*b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√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√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求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与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的积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6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EB27C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除法运算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a/b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√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√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除以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的商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6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求余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a%b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√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EB27C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×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求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除以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的余数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6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++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自增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a++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或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++a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√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7E6E6"/>
                        </a:buClr>
                        <a:buSzPct val="7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相当于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= a+1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6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 -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自减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a- -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或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 -a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√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7E6E6"/>
                        </a:buClr>
                        <a:buSzPct val="7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相当于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= a-1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取负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-a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√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√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-a</a:t>
                      </a:r>
                    </a:p>
                  </a:txBody>
                  <a:tcPr marL="121920" marR="121920"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12800" y="451104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2.3.1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常用运算符与表达式</a:t>
            </a:r>
          </a:p>
        </p:txBody>
      </p:sp>
      <p:sp>
        <p:nvSpPr>
          <p:cNvPr id="2" name="矩形 1"/>
          <p:cNvSpPr/>
          <p:nvPr/>
        </p:nvSpPr>
        <p:spPr>
          <a:xfrm>
            <a:off x="9192284" y="14503"/>
            <a:ext cx="1224232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3%5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6%3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-8%3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642867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334433" y="1295400"/>
            <a:ext cx="11480800" cy="5373688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zh-CN" sz="2800" dirty="0">
                <a:cs typeface="Times New Roman" pitchFamily="18" charset="0"/>
              </a:rPr>
              <a:t>1. </a:t>
            </a:r>
            <a:r>
              <a:rPr lang="zh-CN" altLang="en-US" sz="2800" dirty="0"/>
              <a:t>算术表达式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 err="1"/>
              <a:t>Eg</a:t>
            </a:r>
            <a:r>
              <a:rPr lang="en-US" altLang="zh-CN" sz="2800" dirty="0"/>
              <a:t>: </a:t>
            </a:r>
            <a:r>
              <a:rPr lang="zh-CN" altLang="en-US" sz="2800" dirty="0"/>
              <a:t>求整型变量</a:t>
            </a:r>
            <a:r>
              <a:rPr lang="en-US" altLang="zh-CN" sz="2800" dirty="0"/>
              <a:t>k</a:t>
            </a:r>
            <a:r>
              <a:rPr lang="zh-CN" altLang="en-US" sz="2800" dirty="0"/>
              <a:t>的右边第</a:t>
            </a:r>
            <a:r>
              <a:rPr lang="en-US" altLang="zh-CN" sz="2800" dirty="0"/>
              <a:t>n</a:t>
            </a:r>
            <a:r>
              <a:rPr lang="zh-CN" altLang="en-US" sz="2800" dirty="0"/>
              <a:t>位上的数字       </a:t>
            </a:r>
            <a:r>
              <a:rPr lang="en-US" altLang="zh-CN" sz="2800" dirty="0">
                <a:solidFill>
                  <a:srgbClr val="3333FF"/>
                </a:solidFill>
              </a:rPr>
              <a:t>k = 76543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　　</a:t>
            </a:r>
            <a:r>
              <a:rPr lang="zh-CN" altLang="en-US" sz="2800" dirty="0">
                <a:solidFill>
                  <a:srgbClr val="FFFF00"/>
                </a:solidFill>
              </a:rPr>
              <a:t>   </a:t>
            </a:r>
            <a:r>
              <a:rPr lang="zh-CN" altLang="en-US" sz="2800" dirty="0">
                <a:solidFill>
                  <a:srgbClr val="3333FF"/>
                </a:solidFill>
              </a:rPr>
              <a:t>个位  </a:t>
            </a:r>
            <a:r>
              <a:rPr lang="en-US" altLang="zh-CN" sz="2800" dirty="0">
                <a:solidFill>
                  <a:srgbClr val="3333FF"/>
                </a:solidFill>
              </a:rPr>
              <a:t>k % 10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</a:rPr>
              <a:t>           </a:t>
            </a:r>
            <a:r>
              <a:rPr lang="zh-CN" altLang="en-US" sz="2800" dirty="0">
                <a:solidFill>
                  <a:srgbClr val="3333FF"/>
                </a:solidFill>
              </a:rPr>
              <a:t>十位  </a:t>
            </a:r>
            <a:r>
              <a:rPr lang="en-US" altLang="zh-CN" sz="2800" dirty="0">
                <a:solidFill>
                  <a:srgbClr val="3333FF"/>
                </a:solidFill>
              </a:rPr>
              <a:t>k % 100 / 10             k / 10 % 10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</a:rPr>
              <a:t>                     k % 10</a:t>
            </a:r>
            <a:r>
              <a:rPr lang="en-US" altLang="zh-CN" sz="2800" baseline="30000" dirty="0">
                <a:solidFill>
                  <a:srgbClr val="3333FF"/>
                </a:solidFill>
              </a:rPr>
              <a:t>n </a:t>
            </a:r>
            <a:r>
              <a:rPr lang="en-US" altLang="zh-CN" sz="2800" dirty="0">
                <a:solidFill>
                  <a:srgbClr val="3333FF"/>
                </a:solidFill>
              </a:rPr>
              <a:t>/ 10</a:t>
            </a:r>
            <a:r>
              <a:rPr lang="en-US" altLang="zh-CN" sz="2800" baseline="30000" dirty="0">
                <a:solidFill>
                  <a:srgbClr val="3333FF"/>
                </a:solidFill>
              </a:rPr>
              <a:t>n-1</a:t>
            </a:r>
            <a:r>
              <a:rPr lang="en-US" altLang="zh-CN" sz="2800" dirty="0">
                <a:solidFill>
                  <a:srgbClr val="3333FF"/>
                </a:solidFill>
              </a:rPr>
              <a:t>          </a:t>
            </a:r>
            <a:r>
              <a:rPr lang="en-US" altLang="zh-CN" sz="2800" dirty="0">
                <a:solidFill>
                  <a:srgbClr val="CC00CC"/>
                </a:solidFill>
              </a:rPr>
              <a:t>k / 10</a:t>
            </a:r>
            <a:r>
              <a:rPr lang="en-US" altLang="zh-CN" sz="2800" baseline="30000" dirty="0">
                <a:solidFill>
                  <a:srgbClr val="CC00CC"/>
                </a:solidFill>
              </a:rPr>
              <a:t>n-1 </a:t>
            </a:r>
            <a:r>
              <a:rPr lang="en-US" altLang="zh-CN" sz="2800" dirty="0">
                <a:solidFill>
                  <a:srgbClr val="CC00CC"/>
                </a:solidFill>
              </a:rPr>
              <a:t>% 10</a:t>
            </a:r>
            <a:r>
              <a:rPr lang="en-US" altLang="zh-CN" sz="2800" dirty="0">
                <a:solidFill>
                  <a:srgbClr val="3333FF"/>
                </a:solidFill>
              </a:rPr>
              <a:t>  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812800" y="451104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2.3.1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常用运算符与表达式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94884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737570" y="1335024"/>
            <a:ext cx="11137900" cy="5086541"/>
          </a:xfrm>
        </p:spPr>
        <p:txBody>
          <a:bodyPr>
            <a:normAutofit lnSpcReduction="10000"/>
          </a:bodyPr>
          <a:lstStyle/>
          <a:p>
            <a:pPr algn="just"/>
            <a:r>
              <a:rPr lang="zh-CN" altLang="en-US" dirty="0">
                <a:latin typeface="宋体" pitchFamily="2" charset="-122"/>
              </a:rPr>
              <a:t>自增、自减运算</a:t>
            </a:r>
            <a:r>
              <a:rPr lang="zh-CN" altLang="en-US" dirty="0"/>
              <a:t>   </a:t>
            </a:r>
            <a:r>
              <a:rPr lang="en-US" altLang="zh-CN" dirty="0"/>
              <a:t>++,--</a:t>
            </a:r>
          </a:p>
          <a:p>
            <a:pPr algn="just">
              <a:buNone/>
            </a:pPr>
            <a:r>
              <a:rPr lang="zh-CN" altLang="en-US" sz="2400" dirty="0"/>
              <a:t>单目运算符，运算对象是</a:t>
            </a:r>
            <a:r>
              <a:rPr lang="zh-CN" altLang="en-US" sz="2400" dirty="0">
                <a:solidFill>
                  <a:srgbClr val="CC00CC"/>
                </a:solidFill>
              </a:rPr>
              <a:t>整型</a:t>
            </a:r>
            <a:r>
              <a:rPr lang="zh-CN" altLang="en-US" sz="2400" dirty="0">
                <a:solidFill>
                  <a:srgbClr val="3333FF"/>
                </a:solidFill>
              </a:rPr>
              <a:t>变量</a:t>
            </a:r>
            <a:r>
              <a:rPr lang="zh-CN" altLang="en-US" sz="2400" dirty="0"/>
              <a:t>，不能是常量或表达式。</a:t>
            </a:r>
            <a:endParaRPr lang="zh-CN" altLang="en-US" sz="2400" dirty="0">
              <a:cs typeface="Times New Roman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endParaRPr lang="zh-CN" altLang="en-US" sz="2400" dirty="0">
              <a:solidFill>
                <a:srgbClr val="0000FF"/>
              </a:solidFill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 err="1">
                <a:solidFill>
                  <a:srgbClr val="3333FF"/>
                </a:solidFill>
              </a:rPr>
              <a:t>i</a:t>
            </a:r>
            <a:r>
              <a:rPr lang="en-US" altLang="zh-CN" sz="2400" dirty="0">
                <a:solidFill>
                  <a:srgbClr val="3333FF"/>
                </a:solidFill>
              </a:rPr>
              <a:t> = i+1</a:t>
            </a:r>
            <a:r>
              <a:rPr lang="zh-CN" altLang="en-US" sz="2400" dirty="0">
                <a:solidFill>
                  <a:srgbClr val="0000FF"/>
                </a:solidFill>
              </a:rPr>
              <a:t>　　　　　　　　　　　　　　　              </a:t>
            </a:r>
            <a:r>
              <a:rPr lang="zh-CN" altLang="en-US" sz="2400" dirty="0">
                <a:solidFill>
                  <a:srgbClr val="3333FF"/>
                </a:solidFill>
              </a:rPr>
              <a:t>　　</a:t>
            </a:r>
            <a:endParaRPr lang="en-US" altLang="zh-CN" sz="2400" dirty="0">
              <a:solidFill>
                <a:srgbClr val="3333FF"/>
              </a:solidFill>
              <a:cs typeface="Times New Roman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CC00CC"/>
                </a:solidFill>
              </a:rPr>
              <a:t>++</a:t>
            </a:r>
            <a:r>
              <a:rPr lang="en-US" altLang="zh-CN" sz="2400" dirty="0" err="1">
                <a:solidFill>
                  <a:srgbClr val="CC00CC"/>
                </a:solidFill>
              </a:rPr>
              <a:t>i</a:t>
            </a:r>
            <a:r>
              <a:rPr lang="en-US" altLang="zh-CN" sz="2400" dirty="0">
                <a:solidFill>
                  <a:srgbClr val="CC00CC"/>
                </a:solidFill>
              </a:rPr>
              <a:t> </a:t>
            </a:r>
            <a:r>
              <a:rPr lang="zh-CN" altLang="en-US" sz="2400" dirty="0"/>
              <a:t>前缀形式：先使变量</a:t>
            </a:r>
            <a:r>
              <a:rPr lang="en-US" altLang="zh-CN" sz="2400" dirty="0"/>
              <a:t>+1</a:t>
            </a:r>
            <a:r>
              <a:rPr lang="zh-CN" altLang="en-US" sz="2400" dirty="0"/>
              <a:t>再使用其值</a:t>
            </a:r>
            <a:r>
              <a:rPr lang="zh-CN" altLang="en-US" sz="2400" dirty="0">
                <a:solidFill>
                  <a:srgbClr val="0000FF"/>
                </a:solidFill>
              </a:rPr>
              <a:t>　　　 </a:t>
            </a:r>
            <a:r>
              <a:rPr lang="zh-CN" altLang="en-US" sz="2400" dirty="0">
                <a:solidFill>
                  <a:srgbClr val="CC00CC"/>
                </a:solidFill>
              </a:rPr>
              <a:t>　　  </a:t>
            </a:r>
            <a:endParaRPr lang="en-US" altLang="zh-CN" sz="2400" dirty="0">
              <a:solidFill>
                <a:srgbClr val="CC00CC"/>
              </a:solidFill>
              <a:cs typeface="Times New Roman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 err="1">
                <a:solidFill>
                  <a:srgbClr val="CC00CC"/>
                </a:solidFill>
              </a:rPr>
              <a:t>i</a:t>
            </a:r>
            <a:r>
              <a:rPr lang="en-US" altLang="zh-CN" sz="2400" dirty="0">
                <a:solidFill>
                  <a:srgbClr val="CC00CC"/>
                </a:solidFill>
              </a:rPr>
              <a:t>++ </a:t>
            </a:r>
            <a:r>
              <a:rPr lang="zh-CN" altLang="en-US" sz="2400" dirty="0"/>
              <a:t>后缀形式：先使用变量原值再使其值</a:t>
            </a:r>
            <a:r>
              <a:rPr lang="en-US" altLang="zh-CN" sz="2400" dirty="0"/>
              <a:t>+1</a:t>
            </a:r>
            <a:r>
              <a:rPr lang="en-US" altLang="zh-CN" sz="2400" dirty="0">
                <a:solidFill>
                  <a:srgbClr val="0000FF"/>
                </a:solidFill>
              </a:rPr>
              <a:t> 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</a:rPr>
              <a:t>　      </a:t>
            </a:r>
            <a:endParaRPr lang="en-US" altLang="zh-CN" sz="2400" dirty="0">
              <a:solidFill>
                <a:srgbClr val="CC00CC"/>
              </a:solidFill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 err="1">
                <a:solidFill>
                  <a:srgbClr val="3333FF"/>
                </a:solidFill>
              </a:rPr>
              <a:t>i</a:t>
            </a:r>
            <a:r>
              <a:rPr lang="en-US" altLang="zh-CN" sz="2400" dirty="0">
                <a:solidFill>
                  <a:srgbClr val="3333FF"/>
                </a:solidFill>
              </a:rPr>
              <a:t> = i-1</a:t>
            </a:r>
            <a:endParaRPr lang="en-US" altLang="zh-CN" sz="2400" dirty="0">
              <a:solidFill>
                <a:srgbClr val="CC00CC"/>
              </a:solidFill>
              <a:cs typeface="Times New Roman" pitchFamily="18" charset="0"/>
            </a:endParaRPr>
          </a:p>
          <a:p>
            <a:pPr algn="just" eaLnBrk="1" hangingPunct="1">
              <a:buClr>
                <a:srgbClr val="000514"/>
              </a:buClr>
              <a:buFont typeface="Wingdings" pitchFamily="2" charset="2"/>
              <a:buNone/>
            </a:pPr>
            <a:r>
              <a:rPr lang="en-US" altLang="zh-CN" sz="2400" dirty="0">
                <a:solidFill>
                  <a:srgbClr val="CC00CC"/>
                </a:solidFill>
              </a:rPr>
              <a:t>- -</a:t>
            </a:r>
            <a:r>
              <a:rPr lang="en-US" altLang="zh-CN" sz="2400" dirty="0" err="1">
                <a:solidFill>
                  <a:srgbClr val="CC00CC"/>
                </a:solidFill>
              </a:rPr>
              <a:t>i</a:t>
            </a:r>
            <a:r>
              <a:rPr lang="en-US" altLang="zh-CN" sz="2400" dirty="0">
                <a:solidFill>
                  <a:srgbClr val="CC00CC"/>
                </a:solidFill>
              </a:rPr>
              <a:t> </a:t>
            </a:r>
            <a:r>
              <a:rPr lang="zh-CN" altLang="en-US" sz="2400" dirty="0">
                <a:solidFill>
                  <a:srgbClr val="000514"/>
                </a:solidFill>
              </a:rPr>
              <a:t>前缀形式：先使变量</a:t>
            </a:r>
            <a:r>
              <a:rPr lang="en-US" altLang="zh-CN" sz="2400" dirty="0">
                <a:solidFill>
                  <a:srgbClr val="000514"/>
                </a:solidFill>
              </a:rPr>
              <a:t>-1</a:t>
            </a:r>
            <a:r>
              <a:rPr lang="zh-CN" altLang="en-US" sz="2400" dirty="0">
                <a:solidFill>
                  <a:srgbClr val="000514"/>
                </a:solidFill>
              </a:rPr>
              <a:t>再使用其值</a:t>
            </a:r>
            <a:r>
              <a:rPr lang="zh-CN" altLang="en-US" sz="2400" dirty="0">
                <a:solidFill>
                  <a:srgbClr val="0000FF"/>
                </a:solidFill>
              </a:rPr>
              <a:t>　　　 </a:t>
            </a:r>
            <a:r>
              <a:rPr lang="zh-CN" altLang="en-US" sz="2400" dirty="0">
                <a:solidFill>
                  <a:srgbClr val="CC00CC"/>
                </a:solidFill>
              </a:rPr>
              <a:t>　　  </a:t>
            </a:r>
            <a:endParaRPr lang="en-US" altLang="zh-CN" sz="2400" dirty="0">
              <a:solidFill>
                <a:srgbClr val="CC00CC"/>
              </a:solidFill>
              <a:cs typeface="Times New Roman" pitchFamily="18" charset="0"/>
            </a:endParaRPr>
          </a:p>
          <a:p>
            <a:pPr algn="just">
              <a:buClr>
                <a:srgbClr val="000514"/>
              </a:buClr>
              <a:buNone/>
            </a:pPr>
            <a:r>
              <a:rPr lang="en-US" altLang="zh-CN" sz="2400" dirty="0" err="1">
                <a:solidFill>
                  <a:srgbClr val="CC00CC"/>
                </a:solidFill>
              </a:rPr>
              <a:t>i</a:t>
            </a:r>
            <a:r>
              <a:rPr lang="en-US" altLang="zh-CN" sz="2400" dirty="0">
                <a:solidFill>
                  <a:srgbClr val="CC00CC"/>
                </a:solidFill>
              </a:rPr>
              <a:t>- - </a:t>
            </a:r>
            <a:r>
              <a:rPr lang="zh-CN" altLang="en-US" sz="2400" dirty="0">
                <a:solidFill>
                  <a:srgbClr val="000514"/>
                </a:solidFill>
              </a:rPr>
              <a:t>后缀形式：先使用变量原值再使其值</a:t>
            </a:r>
            <a:r>
              <a:rPr lang="en-US" altLang="zh-CN" sz="2400" dirty="0">
                <a:solidFill>
                  <a:srgbClr val="000514"/>
                </a:solidFill>
              </a:rPr>
              <a:t>-1</a:t>
            </a:r>
            <a:r>
              <a:rPr lang="en-US" altLang="zh-CN" sz="2400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CC00CC"/>
                </a:solidFill>
                <a:cs typeface="Times New Roman" pitchFamily="18" charset="0"/>
              </a:rPr>
              <a:t> </a:t>
            </a:r>
          </a:p>
          <a:p>
            <a:pPr algn="just">
              <a:buClr>
                <a:srgbClr val="000514"/>
              </a:buClr>
              <a:buNone/>
            </a:pPr>
            <a:endParaRPr lang="en-US" altLang="zh-CN" dirty="0">
              <a:solidFill>
                <a:srgbClr val="CC00CC"/>
              </a:solidFill>
              <a:cs typeface="Times New Roman" pitchFamily="18" charset="0"/>
            </a:endParaRPr>
          </a:p>
          <a:p>
            <a:pPr algn="just">
              <a:buClr>
                <a:srgbClr val="000514"/>
              </a:buClr>
              <a:buNone/>
            </a:pPr>
            <a:r>
              <a:rPr lang="en-US" altLang="zh-CN" dirty="0">
                <a:solidFill>
                  <a:srgbClr val="CC00CC"/>
                </a:solidFill>
                <a:cs typeface="Times New Roman" pitchFamily="18" charset="0"/>
              </a:rPr>
              <a:t>       i+1;</a:t>
            </a:r>
            <a:r>
              <a:rPr lang="en-US" altLang="zh-CN" dirty="0">
                <a:solidFill>
                  <a:srgbClr val="3333FF"/>
                </a:solidFill>
                <a:cs typeface="Times New Roman" pitchFamily="18" charset="0"/>
              </a:rPr>
              <a:t> //</a:t>
            </a:r>
            <a:r>
              <a:rPr lang="en-US" altLang="zh-CN" dirty="0" err="1">
                <a:solidFill>
                  <a:srgbClr val="3333FF"/>
                </a:solidFill>
                <a:cs typeface="Times New Roman" pitchFamily="18" charset="0"/>
              </a:rPr>
              <a:t>i</a:t>
            </a:r>
            <a:r>
              <a:rPr lang="zh-CN" altLang="en-US" dirty="0">
                <a:solidFill>
                  <a:srgbClr val="3333FF"/>
                </a:solidFill>
                <a:cs typeface="Times New Roman" pitchFamily="18" charset="0"/>
              </a:rPr>
              <a:t>值不变</a:t>
            </a:r>
            <a:r>
              <a:rPr lang="en-US" altLang="zh-CN" dirty="0">
                <a:solidFill>
                  <a:srgbClr val="CC00CC"/>
                </a:solidFill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 </a:t>
            </a:r>
            <a:r>
              <a:rPr lang="zh-CN" altLang="en-US" sz="2400" dirty="0">
                <a:solidFill>
                  <a:srgbClr val="0000FF"/>
                </a:solidFill>
              </a:rPr>
              <a:t>　</a:t>
            </a:r>
            <a:r>
              <a:rPr lang="en-US" altLang="zh-CN" sz="2400" dirty="0">
                <a:solidFill>
                  <a:srgbClr val="CC00CC"/>
                </a:solidFill>
              </a:rPr>
              <a:t> </a:t>
            </a:r>
            <a:r>
              <a:rPr lang="zh-CN" altLang="en-US" sz="2400" dirty="0">
                <a:solidFill>
                  <a:srgbClr val="CC00CC"/>
                </a:solidFill>
              </a:rPr>
              <a:t>　</a:t>
            </a:r>
            <a:endParaRPr lang="en-US" altLang="zh-CN" sz="2400" dirty="0">
              <a:solidFill>
                <a:srgbClr val="CC00CC"/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6567996" y="2602929"/>
            <a:ext cx="5630100" cy="4255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Eg2.7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：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#include 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&gt;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int main(void) {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a = 2, b = 2, c;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    c =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++a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;             //a = a + 1;  c = a;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    c = c +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b--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;        //c = c + b;  b = b – 1;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("a=%d,  b=%d, c=%d \n", a, b, c);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    return 0;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10155936" y="2602929"/>
            <a:ext cx="2036064" cy="7848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程序执行：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a=3, b=1, c=5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12800" y="451104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2.3.1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常用运算符与表达式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52500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208738" y="1770826"/>
            <a:ext cx="11550651" cy="461962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altLang="zh-CN" sz="2800" dirty="0">
                <a:latin typeface="宋体" pitchFamily="2" charset="-122"/>
              </a:rPr>
              <a:t>2.</a:t>
            </a:r>
            <a:r>
              <a:rPr lang="zh-CN" altLang="en-US" sz="2800" dirty="0">
                <a:latin typeface="宋体" pitchFamily="2" charset="-122"/>
              </a:rPr>
              <a:t>赋值表达式</a:t>
            </a:r>
            <a:endParaRPr lang="en-US" altLang="zh-CN" sz="2800" dirty="0">
              <a:latin typeface="宋体" pitchFamily="2" charset="-122"/>
            </a:endParaRPr>
          </a:p>
          <a:p>
            <a:pPr algn="just">
              <a:buNone/>
            </a:pPr>
            <a:r>
              <a:rPr lang="zh-CN" altLang="en-US" sz="2800" dirty="0"/>
              <a:t>由赋值运算符</a:t>
            </a:r>
            <a:r>
              <a:rPr lang="en-US" altLang="zh-CN" sz="2800" dirty="0"/>
              <a:t>"="</a:t>
            </a:r>
            <a:r>
              <a:rPr lang="zh-CN" altLang="en-US" sz="2800" dirty="0"/>
              <a:t>组成的表达式，形式为：　　</a:t>
            </a:r>
            <a:r>
              <a:rPr lang="zh-CN" altLang="en-US" sz="2800" dirty="0">
                <a:solidFill>
                  <a:srgbClr val="CC00CC"/>
                </a:solidFill>
              </a:rPr>
              <a:t>变量名 </a:t>
            </a:r>
            <a:r>
              <a:rPr lang="en-US" altLang="zh-CN" sz="2800" dirty="0">
                <a:solidFill>
                  <a:srgbClr val="CC00CC"/>
                </a:solidFill>
              </a:rPr>
              <a:t>= </a:t>
            </a:r>
            <a:r>
              <a:rPr lang="zh-CN" altLang="en-US" sz="2800" dirty="0">
                <a:solidFill>
                  <a:srgbClr val="CC00CC"/>
                </a:solidFill>
              </a:rPr>
              <a:t>表达式</a:t>
            </a:r>
            <a:endParaRPr lang="zh-CN" altLang="en-US" sz="2800" dirty="0">
              <a:solidFill>
                <a:srgbClr val="CC00CC"/>
              </a:solidFill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作用：计算</a:t>
            </a:r>
            <a:r>
              <a:rPr lang="en-US" altLang="zh-CN" sz="2800" dirty="0"/>
              <a:t>"="</a:t>
            </a:r>
            <a:r>
              <a:rPr lang="zh-CN" altLang="en-US" sz="2800" dirty="0"/>
              <a:t>号右边的表达式的值，赋给左边的</a:t>
            </a:r>
            <a:r>
              <a:rPr lang="zh-CN" altLang="en-US" sz="2800" dirty="0">
                <a:solidFill>
                  <a:srgbClr val="3333FF"/>
                </a:solidFill>
              </a:rPr>
              <a:t>变量</a:t>
            </a:r>
            <a:r>
              <a:rPr lang="zh-CN" altLang="en-US" sz="2800" dirty="0"/>
              <a:t>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表达式也可以是赋值表达式。赋值表达式的值就是右边表达式的值。 </a:t>
            </a:r>
          </a:p>
          <a:p>
            <a:pPr>
              <a:buNone/>
            </a:pPr>
            <a:r>
              <a:rPr lang="zh-CN" altLang="en-US" sz="2800" dirty="0"/>
              <a:t>赋值语句：</a:t>
            </a:r>
            <a:r>
              <a:rPr lang="zh-CN" altLang="en-US" sz="2800" dirty="0">
                <a:solidFill>
                  <a:schemeClr val="tx2"/>
                </a:solidFill>
              </a:rPr>
              <a:t>　</a:t>
            </a:r>
            <a:r>
              <a:rPr lang="zh-CN" altLang="en-US" sz="2800" dirty="0">
                <a:solidFill>
                  <a:srgbClr val="CC00CC"/>
                </a:solidFill>
              </a:rPr>
              <a:t>变量名 </a:t>
            </a:r>
            <a:r>
              <a:rPr lang="en-US" altLang="zh-CN" sz="2800" dirty="0">
                <a:solidFill>
                  <a:srgbClr val="CC00CC"/>
                </a:solidFill>
              </a:rPr>
              <a:t>= </a:t>
            </a:r>
            <a:r>
              <a:rPr lang="zh-CN" altLang="en-US" sz="2800" dirty="0">
                <a:solidFill>
                  <a:srgbClr val="CC00CC"/>
                </a:solidFill>
              </a:rPr>
              <a:t>表达式</a:t>
            </a:r>
            <a:r>
              <a:rPr lang="zh-CN" altLang="en-US" sz="2800" dirty="0">
                <a:solidFill>
                  <a:srgbClr val="3333FF"/>
                </a:solidFill>
              </a:rPr>
              <a:t>；</a:t>
            </a:r>
            <a:endParaRPr lang="en-US" altLang="zh-CN" sz="2800" dirty="0">
              <a:solidFill>
                <a:srgbClr val="3333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           </a:t>
            </a:r>
            <a:r>
              <a:rPr lang="en-US" altLang="zh-CN" sz="2800" dirty="0">
                <a:solidFill>
                  <a:srgbClr val="3333FF"/>
                </a:solidFill>
              </a:rPr>
              <a:t>a = b = 2 + 3</a:t>
            </a:r>
          </a:p>
          <a:p>
            <a:pPr algn="just" eaLnBrk="1" hangingPunct="1">
              <a:buFont typeface="Wingdings" pitchFamily="2" charset="2"/>
              <a:buNone/>
            </a:pPr>
            <a:endParaRPr lang="en-US" altLang="zh-CN" sz="2800" dirty="0">
              <a:solidFill>
                <a:srgbClr val="3333FF"/>
              </a:solidFill>
            </a:endParaRPr>
          </a:p>
          <a:p>
            <a:pPr algn="just" eaLnBrk="1" hangingPunct="1">
              <a:buFont typeface="Wingdings" pitchFamily="2" charset="2"/>
              <a:buNone/>
            </a:pPr>
            <a:endParaRPr lang="en-US" altLang="zh-CN" sz="2800" dirty="0">
              <a:solidFill>
                <a:srgbClr val="3333FF"/>
              </a:solidFill>
            </a:endParaRPr>
          </a:p>
          <a:p>
            <a:pPr algn="just">
              <a:buNone/>
            </a:pPr>
            <a:r>
              <a:rPr lang="zh-CN" altLang="en-US" sz="2800" dirty="0">
                <a:solidFill>
                  <a:srgbClr val="3333FF"/>
                </a:solidFill>
              </a:rPr>
              <a:t>复合运算赋值符： </a:t>
            </a:r>
            <a:r>
              <a:rPr lang="en-US" altLang="zh-CN" sz="2800" dirty="0">
                <a:solidFill>
                  <a:srgbClr val="3333FF"/>
                </a:solidFill>
              </a:rPr>
              <a:t>+=</a:t>
            </a:r>
            <a:r>
              <a:rPr lang="zh-CN" altLang="en-US" sz="2800" dirty="0">
                <a:solidFill>
                  <a:srgbClr val="3333FF"/>
                </a:solidFill>
              </a:rPr>
              <a:t>、</a:t>
            </a:r>
            <a:r>
              <a:rPr lang="en-US" altLang="zh-CN" sz="2800" dirty="0">
                <a:solidFill>
                  <a:srgbClr val="3333FF"/>
                </a:solidFill>
              </a:rPr>
              <a:t>-=</a:t>
            </a:r>
            <a:r>
              <a:rPr lang="zh-CN" altLang="en-US" sz="2800" dirty="0">
                <a:solidFill>
                  <a:srgbClr val="3333FF"/>
                </a:solidFill>
              </a:rPr>
              <a:t>、*</a:t>
            </a:r>
            <a:r>
              <a:rPr lang="en-US" altLang="zh-CN" sz="2800" dirty="0">
                <a:solidFill>
                  <a:srgbClr val="3333FF"/>
                </a:solidFill>
              </a:rPr>
              <a:t>=</a:t>
            </a:r>
            <a:r>
              <a:rPr lang="zh-CN" altLang="en-US" sz="2800" dirty="0">
                <a:solidFill>
                  <a:srgbClr val="3333FF"/>
                </a:solidFill>
              </a:rPr>
              <a:t>、</a:t>
            </a:r>
            <a:r>
              <a:rPr lang="en-US" altLang="zh-CN" sz="2800" dirty="0">
                <a:solidFill>
                  <a:srgbClr val="3333FF"/>
                </a:solidFill>
              </a:rPr>
              <a:t>/=</a:t>
            </a:r>
            <a:r>
              <a:rPr lang="zh-CN" altLang="en-US" sz="2800" dirty="0">
                <a:solidFill>
                  <a:srgbClr val="3333FF"/>
                </a:solidFill>
              </a:rPr>
              <a:t>、</a:t>
            </a:r>
            <a:r>
              <a:rPr lang="en-US" altLang="zh-CN" sz="2800" dirty="0">
                <a:solidFill>
                  <a:srgbClr val="3333FF"/>
                </a:solidFill>
              </a:rPr>
              <a:t>%=</a:t>
            </a:r>
          </a:p>
          <a:p>
            <a:pPr algn="just">
              <a:buNone/>
            </a:pPr>
            <a:r>
              <a:rPr lang="zh-CN" altLang="en-US" sz="2800" dirty="0">
                <a:solidFill>
                  <a:srgbClr val="3333FF"/>
                </a:solidFill>
              </a:rPr>
              <a:t>复合赋值运算：</a:t>
            </a:r>
          </a:p>
          <a:p>
            <a:pPr algn="just">
              <a:buNone/>
            </a:pPr>
            <a:r>
              <a:rPr lang="zh-CN" altLang="en-US" sz="2800" dirty="0">
                <a:solidFill>
                  <a:srgbClr val="3333FF"/>
                </a:solidFill>
              </a:rPr>
              <a:t>　　</a:t>
            </a:r>
          </a:p>
        </p:txBody>
      </p:sp>
      <p:sp>
        <p:nvSpPr>
          <p:cNvPr id="10" name="Rectangle 2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6677025" y="3272726"/>
            <a:ext cx="5514975" cy="3932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Eg2.8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：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#include 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&gt;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int main(void) {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  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a = 5, b = 5, c = 5;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     a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-=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3;           //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 = a - 3;            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     b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*=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a+2;      //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等价于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b = b * (a + 2);     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     c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/=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a;                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("a = %d \n  b = %d \n  c = %d \n", a, b, c);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     return 0;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10898548" y="3272726"/>
            <a:ext cx="1293452" cy="16158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程序执行：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 =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b = 20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c = 2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812800" y="451104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2.3.1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常用运算符与表达式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64109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31801" y="1484316"/>
            <a:ext cx="11387667" cy="4752975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800" dirty="0">
                <a:latin typeface="宋体" pitchFamily="2" charset="-122"/>
              </a:rPr>
              <a:t>3.</a:t>
            </a:r>
            <a:r>
              <a:rPr lang="zh-CN" altLang="en-US" sz="2800" dirty="0">
                <a:latin typeface="宋体" pitchFamily="2" charset="-122"/>
              </a:rPr>
              <a:t>关系表达式</a:t>
            </a:r>
            <a:endParaRPr lang="zh-CN" altLang="en-US" sz="2800" dirty="0"/>
          </a:p>
          <a:p>
            <a:pPr>
              <a:buNone/>
            </a:pPr>
            <a:r>
              <a:rPr lang="zh-CN" altLang="en-US" sz="2800" dirty="0"/>
              <a:t>用关系运算符和表达式连接而成的式子</a:t>
            </a:r>
          </a:p>
          <a:p>
            <a:pPr>
              <a:buNone/>
            </a:pPr>
            <a:r>
              <a:rPr lang="zh-CN" altLang="en-US" sz="2800" dirty="0">
                <a:solidFill>
                  <a:srgbClr val="CC00CC"/>
                </a:solidFill>
              </a:rPr>
              <a:t>关系运算</a:t>
            </a:r>
            <a:r>
              <a:rPr lang="zh-CN" altLang="en-US" sz="2800" dirty="0"/>
              <a:t>是对两个运算对象间的大小比较，成立为</a:t>
            </a:r>
            <a:r>
              <a:rPr lang="en-US" altLang="zh-CN" sz="2800" dirty="0"/>
              <a:t>"</a:t>
            </a:r>
            <a:r>
              <a:rPr lang="zh-CN" altLang="en-US" sz="2800" dirty="0"/>
              <a:t>真</a:t>
            </a:r>
            <a:r>
              <a:rPr lang="en-US" altLang="zh-CN" sz="2800" dirty="0"/>
              <a:t>"(1)</a:t>
            </a:r>
            <a:r>
              <a:rPr lang="zh-CN" altLang="en-US" sz="2800" dirty="0"/>
              <a:t>，否则为</a:t>
            </a:r>
            <a:r>
              <a:rPr lang="en-US" altLang="zh-CN" sz="2800" dirty="0"/>
              <a:t>"</a:t>
            </a:r>
            <a:r>
              <a:rPr lang="zh-CN" altLang="en-US" sz="2800" dirty="0"/>
              <a:t>假</a:t>
            </a:r>
            <a:r>
              <a:rPr lang="en-US" altLang="zh-CN" sz="2800" dirty="0"/>
              <a:t>"(0)</a:t>
            </a:r>
          </a:p>
          <a:p>
            <a:pPr>
              <a:buNone/>
            </a:pPr>
            <a:r>
              <a:rPr lang="zh-CN" altLang="en-US" sz="2800" dirty="0"/>
              <a:t>描述条件，通过判断</a:t>
            </a:r>
            <a:r>
              <a:rPr lang="zh-CN" altLang="en-US" sz="2800" dirty="0">
                <a:solidFill>
                  <a:srgbClr val="3333FF"/>
                </a:solidFill>
              </a:rPr>
              <a:t>条件</a:t>
            </a:r>
            <a:r>
              <a:rPr lang="zh-CN" altLang="en-US" sz="2800" dirty="0"/>
              <a:t>成立</a:t>
            </a:r>
            <a:r>
              <a:rPr lang="en-US" altLang="zh-CN" sz="2800" dirty="0"/>
              <a:t>(</a:t>
            </a:r>
            <a:r>
              <a:rPr lang="zh-CN" altLang="en-US" sz="2800" dirty="0"/>
              <a:t>真</a:t>
            </a:r>
            <a:r>
              <a:rPr lang="en-US" altLang="zh-CN" sz="2800" dirty="0"/>
              <a:t>)</a:t>
            </a:r>
            <a:r>
              <a:rPr lang="zh-CN" altLang="en-US" sz="2800" dirty="0"/>
              <a:t>或不成立</a:t>
            </a:r>
            <a:r>
              <a:rPr lang="en-US" altLang="zh-CN" sz="2800" dirty="0"/>
              <a:t>(</a:t>
            </a:r>
            <a:r>
              <a:rPr lang="zh-CN" altLang="en-US" sz="2800" dirty="0"/>
              <a:t>假</a:t>
            </a:r>
            <a:r>
              <a:rPr lang="en-US" altLang="zh-CN" sz="2800" dirty="0"/>
              <a:t>)</a:t>
            </a:r>
            <a:r>
              <a:rPr lang="zh-CN" altLang="en-US" sz="2800" dirty="0"/>
              <a:t>，决定程序的流程</a:t>
            </a:r>
            <a:endParaRPr lang="en-US" altLang="zh-CN" sz="2800" dirty="0"/>
          </a:p>
          <a:p>
            <a:pPr>
              <a:buNone/>
            </a:pPr>
            <a:endParaRPr lang="zh-CN" altLang="en-US" sz="28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　　</a:t>
            </a:r>
            <a:r>
              <a:rPr lang="en-US" altLang="zh-CN" sz="2800" dirty="0">
                <a:solidFill>
                  <a:srgbClr val="3333FF"/>
                </a:solidFill>
              </a:rPr>
              <a:t>if  (</a:t>
            </a:r>
            <a:r>
              <a:rPr lang="en-US" altLang="zh-CN" sz="2800" dirty="0">
                <a:solidFill>
                  <a:srgbClr val="CC00CC"/>
                </a:solidFill>
              </a:rPr>
              <a:t>x&gt;0</a:t>
            </a:r>
            <a:r>
              <a:rPr lang="en-US" altLang="zh-CN" sz="2800" dirty="0">
                <a:solidFill>
                  <a:srgbClr val="3333FF"/>
                </a:solidFill>
              </a:rPr>
              <a:t>) {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</a:rPr>
              <a:t>                a=1;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</a:rPr>
              <a:t>        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</a:rPr>
              <a:t>        else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</a:rPr>
              <a:t>               a=2;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</a:rPr>
              <a:t>        }</a:t>
            </a:r>
          </a:p>
        </p:txBody>
      </p:sp>
      <p:grpSp>
        <p:nvGrpSpPr>
          <p:cNvPr id="25" name="Group 5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7922705" y="4214547"/>
            <a:ext cx="3221037" cy="2276475"/>
            <a:chOff x="1980" y="348"/>
            <a:chExt cx="2155" cy="1688"/>
          </a:xfrm>
        </p:grpSpPr>
        <p:sp>
          <p:nvSpPr>
            <p:cNvPr id="26" name="Text Box 6"/>
            <p:cNvSpPr txBox="1">
              <a:spLocks noChangeArrowheads="1"/>
            </p:cNvSpPr>
            <p:nvPr/>
          </p:nvSpPr>
          <p:spPr bwMode="auto">
            <a:xfrm>
              <a:off x="2010" y="1282"/>
              <a:ext cx="624" cy="29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1"/>
                </a:buClr>
                <a:buSzPct val="60000"/>
                <a:buFont typeface="Wingdings" pitchFamily="2" charset="2"/>
                <a:buChar char="u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0000"/>
                <a:buFont typeface="Wingdings" pitchFamily="2" charset="2"/>
                <a:buChar char="t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CC00CC"/>
                </a:buClr>
                <a:buSzPct val="100000"/>
                <a:buChar char="•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bg1"/>
                </a:buClr>
                <a:buSzPct val="100000"/>
                <a:buFont typeface="Times New Roman" pitchFamily="18" charset="0"/>
                <a:buChar char="–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Times New Roman" pitchFamily="18" charset="0"/>
                <a:buChar char="–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Times New Roman" pitchFamily="18" charset="0"/>
                <a:buChar char="–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Times New Roman" pitchFamily="18" charset="0"/>
                <a:buChar char="–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Times New Roman" pitchFamily="18" charset="0"/>
                <a:buChar char="–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语句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27" name="Text Box 7"/>
            <p:cNvSpPr txBox="1">
              <a:spLocks noChangeArrowheads="1"/>
            </p:cNvSpPr>
            <p:nvPr/>
          </p:nvSpPr>
          <p:spPr bwMode="auto">
            <a:xfrm>
              <a:off x="3472" y="1282"/>
              <a:ext cx="663" cy="29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1"/>
                </a:buClr>
                <a:buSzPct val="60000"/>
                <a:buFont typeface="Wingdings" pitchFamily="2" charset="2"/>
                <a:buChar char="u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0000"/>
                <a:buFont typeface="Wingdings" pitchFamily="2" charset="2"/>
                <a:buChar char="t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CC00CC"/>
                </a:buClr>
                <a:buSzPct val="100000"/>
                <a:buChar char="•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bg1"/>
                </a:buClr>
                <a:buSzPct val="100000"/>
                <a:buFont typeface="Times New Roman" pitchFamily="18" charset="0"/>
                <a:buChar char="–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Times New Roman" pitchFamily="18" charset="0"/>
                <a:buChar char="–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Times New Roman" pitchFamily="18" charset="0"/>
                <a:buChar char="–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Times New Roman" pitchFamily="18" charset="0"/>
                <a:buChar char="–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Times New Roman" pitchFamily="18" charset="0"/>
                <a:buChar char="–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语句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2</a:t>
              </a:r>
            </a:p>
          </p:txBody>
        </p:sp>
        <p:grpSp>
          <p:nvGrpSpPr>
            <p:cNvPr id="28" name="Group 8"/>
            <p:cNvGrpSpPr>
              <a:grpSpLocks/>
            </p:cNvGrpSpPr>
            <p:nvPr/>
          </p:nvGrpSpPr>
          <p:grpSpPr bwMode="auto">
            <a:xfrm>
              <a:off x="2314" y="1585"/>
              <a:ext cx="1474" cy="148"/>
              <a:chOff x="1684" y="3613"/>
              <a:chExt cx="1421" cy="148"/>
            </a:xfrm>
          </p:grpSpPr>
          <p:sp>
            <p:nvSpPr>
              <p:cNvPr id="41" name="Line 9"/>
              <p:cNvSpPr>
                <a:spLocks noChangeShapeType="1"/>
              </p:cNvSpPr>
              <p:nvPr/>
            </p:nvSpPr>
            <p:spPr bwMode="auto">
              <a:xfrm>
                <a:off x="1684" y="3613"/>
                <a:ext cx="0" cy="14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42" name="Line 10"/>
              <p:cNvSpPr>
                <a:spLocks noChangeShapeType="1"/>
              </p:cNvSpPr>
              <p:nvPr/>
            </p:nvSpPr>
            <p:spPr bwMode="auto">
              <a:xfrm>
                <a:off x="3105" y="3613"/>
                <a:ext cx="0" cy="14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43" name="Line 11"/>
              <p:cNvSpPr>
                <a:spLocks noChangeShapeType="1"/>
              </p:cNvSpPr>
              <p:nvPr/>
            </p:nvSpPr>
            <p:spPr bwMode="auto">
              <a:xfrm>
                <a:off x="1684" y="3761"/>
                <a:ext cx="142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29" name="Line 12"/>
            <p:cNvSpPr>
              <a:spLocks noChangeShapeType="1"/>
            </p:cNvSpPr>
            <p:nvPr/>
          </p:nvSpPr>
          <p:spPr bwMode="auto">
            <a:xfrm>
              <a:off x="3045" y="1740"/>
              <a:ext cx="0" cy="2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30" name="Group 13"/>
            <p:cNvGrpSpPr>
              <a:grpSpLocks/>
            </p:cNvGrpSpPr>
            <p:nvPr/>
          </p:nvGrpSpPr>
          <p:grpSpPr bwMode="auto">
            <a:xfrm>
              <a:off x="1980" y="348"/>
              <a:ext cx="2031" cy="950"/>
              <a:chOff x="1590" y="2436"/>
              <a:chExt cx="2031" cy="950"/>
            </a:xfrm>
          </p:grpSpPr>
          <p:sp>
            <p:nvSpPr>
              <p:cNvPr id="31" name="AutoShape 14"/>
              <p:cNvSpPr>
                <a:spLocks noChangeArrowheads="1"/>
              </p:cNvSpPr>
              <p:nvPr/>
            </p:nvSpPr>
            <p:spPr bwMode="auto">
              <a:xfrm>
                <a:off x="2138" y="2712"/>
                <a:ext cx="1015" cy="444"/>
              </a:xfrm>
              <a:prstGeom prst="flowChartDecision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1"/>
                  </a:buClr>
                  <a:buSzPct val="60000"/>
                  <a:buFont typeface="Wingdings" pitchFamily="2" charset="2"/>
                  <a:buChar char="u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bg2"/>
                  </a:buClr>
                  <a:buSzPct val="60000"/>
                  <a:buFont typeface="Wingdings" pitchFamily="2" charset="2"/>
                  <a:buChar char="t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CC00CC"/>
                  </a:buClr>
                  <a:buSzPct val="100000"/>
                  <a:buChar char="•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bg1"/>
                  </a:buClr>
                  <a:buSzPct val="100000"/>
                  <a:buFont typeface="Times New Roman" pitchFamily="18" charset="0"/>
                  <a:buChar char="–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 typeface="Times New Roman" pitchFamily="18" charset="0"/>
                  <a:buChar char="–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 typeface="Times New Roman" pitchFamily="18" charset="0"/>
                  <a:buChar char="–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 typeface="Times New Roman" pitchFamily="18" charset="0"/>
                  <a:buChar char="–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 typeface="Times New Roman" pitchFamily="18" charset="0"/>
                  <a:buChar char="–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2" name="Text Box 15"/>
              <p:cNvSpPr txBox="1">
                <a:spLocks noChangeArrowheads="1"/>
              </p:cNvSpPr>
              <p:nvPr/>
            </p:nvSpPr>
            <p:spPr bwMode="auto">
              <a:xfrm>
                <a:off x="2375" y="2787"/>
                <a:ext cx="812" cy="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1"/>
                  </a:buClr>
                  <a:buSzPct val="60000"/>
                  <a:buFont typeface="Wingdings" pitchFamily="2" charset="2"/>
                  <a:buChar char="u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bg2"/>
                  </a:buClr>
                  <a:buSzPct val="60000"/>
                  <a:buFont typeface="Wingdings" pitchFamily="2" charset="2"/>
                  <a:buChar char="t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CC00CC"/>
                  </a:buClr>
                  <a:buSzPct val="100000"/>
                  <a:buChar char="•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bg1"/>
                  </a:buClr>
                  <a:buSzPct val="100000"/>
                  <a:buFont typeface="Times New Roman" pitchFamily="18" charset="0"/>
                  <a:buChar char="–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 typeface="Times New Roman" pitchFamily="18" charset="0"/>
                  <a:buChar char="–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 typeface="Times New Roman" pitchFamily="18" charset="0"/>
                  <a:buChar char="–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 typeface="Times New Roman" pitchFamily="18" charset="0"/>
                  <a:buChar char="–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 typeface="Times New Roman" pitchFamily="18" charset="0"/>
                  <a:buChar char="–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表达式</a:t>
                </a:r>
              </a:p>
            </p:txBody>
          </p:sp>
          <p:grpSp>
            <p:nvGrpSpPr>
              <p:cNvPr id="33" name="Group 16"/>
              <p:cNvGrpSpPr>
                <a:grpSpLocks/>
              </p:cNvGrpSpPr>
              <p:nvPr/>
            </p:nvGrpSpPr>
            <p:grpSpPr bwMode="auto">
              <a:xfrm>
                <a:off x="3164" y="2940"/>
                <a:ext cx="255" cy="446"/>
                <a:chOff x="3164" y="2940"/>
                <a:chExt cx="255" cy="446"/>
              </a:xfrm>
            </p:grpSpPr>
            <p:sp>
              <p:nvSpPr>
                <p:cNvPr id="39" name="Line 17"/>
                <p:cNvSpPr>
                  <a:spLocks noChangeShapeType="1"/>
                </p:cNvSpPr>
                <p:nvPr/>
              </p:nvSpPr>
              <p:spPr bwMode="auto">
                <a:xfrm>
                  <a:off x="3414" y="2942"/>
                  <a:ext cx="0" cy="4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0" name="Line 18"/>
                <p:cNvSpPr>
                  <a:spLocks noChangeShapeType="1"/>
                </p:cNvSpPr>
                <p:nvPr/>
              </p:nvSpPr>
              <p:spPr bwMode="auto">
                <a:xfrm>
                  <a:off x="3164" y="2940"/>
                  <a:ext cx="25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34" name="Line 19"/>
              <p:cNvSpPr>
                <a:spLocks noChangeShapeType="1"/>
              </p:cNvSpPr>
              <p:nvPr/>
            </p:nvSpPr>
            <p:spPr bwMode="auto">
              <a:xfrm>
                <a:off x="2647" y="2436"/>
                <a:ext cx="0" cy="2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5" name="Text Box 20"/>
              <p:cNvSpPr txBox="1">
                <a:spLocks noChangeArrowheads="1"/>
              </p:cNvSpPr>
              <p:nvPr/>
            </p:nvSpPr>
            <p:spPr bwMode="auto">
              <a:xfrm>
                <a:off x="1590" y="2619"/>
                <a:ext cx="2031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1"/>
                  </a:buClr>
                  <a:buSzPct val="60000"/>
                  <a:buFont typeface="Wingdings" pitchFamily="2" charset="2"/>
                  <a:buChar char="u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bg2"/>
                  </a:buClr>
                  <a:buSzPct val="60000"/>
                  <a:buFont typeface="Wingdings" pitchFamily="2" charset="2"/>
                  <a:buChar char="t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CC00CC"/>
                  </a:buClr>
                  <a:buSzPct val="100000"/>
                  <a:buChar char="•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bg1"/>
                  </a:buClr>
                  <a:buSzPct val="100000"/>
                  <a:buFont typeface="Times New Roman" pitchFamily="18" charset="0"/>
                  <a:buChar char="–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 typeface="Times New Roman" pitchFamily="18" charset="0"/>
                  <a:buChar char="–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 typeface="Times New Roman" pitchFamily="18" charset="0"/>
                  <a:buChar char="–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 typeface="Times New Roman" pitchFamily="18" charset="0"/>
                  <a:buChar char="–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 typeface="Times New Roman" pitchFamily="18" charset="0"/>
                  <a:buChar char="–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   </a:t>
                </a:r>
                <a:r>
                  <a: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真</a:t>
                </a:r>
                <a:r>
                  <a:rPr kumimoji="0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(</a:t>
                </a:r>
                <a:r>
                  <a: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非</a:t>
                </a:r>
                <a:r>
                  <a:rPr kumimoji="0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0)                       </a:t>
                </a:r>
                <a:r>
                  <a: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假</a:t>
                </a:r>
                <a:r>
                  <a:rPr kumimoji="0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(0)</a:t>
                </a:r>
              </a:p>
            </p:txBody>
          </p:sp>
          <p:grpSp>
            <p:nvGrpSpPr>
              <p:cNvPr id="36" name="Group 21"/>
              <p:cNvGrpSpPr>
                <a:grpSpLocks/>
              </p:cNvGrpSpPr>
              <p:nvPr/>
            </p:nvGrpSpPr>
            <p:grpSpPr bwMode="auto">
              <a:xfrm flipH="1">
                <a:off x="1905" y="2934"/>
                <a:ext cx="255" cy="446"/>
                <a:chOff x="3164" y="2940"/>
                <a:chExt cx="255" cy="446"/>
              </a:xfrm>
            </p:grpSpPr>
            <p:sp>
              <p:nvSpPr>
                <p:cNvPr id="37" name="Line 22"/>
                <p:cNvSpPr>
                  <a:spLocks noChangeShapeType="1"/>
                </p:cNvSpPr>
                <p:nvPr/>
              </p:nvSpPr>
              <p:spPr bwMode="auto">
                <a:xfrm>
                  <a:off x="3414" y="2942"/>
                  <a:ext cx="0" cy="4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8" name="Line 23"/>
                <p:cNvSpPr>
                  <a:spLocks noChangeShapeType="1"/>
                </p:cNvSpPr>
                <p:nvPr/>
              </p:nvSpPr>
              <p:spPr bwMode="auto">
                <a:xfrm>
                  <a:off x="3164" y="2940"/>
                  <a:ext cx="25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812800" y="451104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2.3.1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常用运算符与表达式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8551229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527051" y="1089782"/>
            <a:ext cx="10972800" cy="1143000"/>
          </a:xfrm>
        </p:spPr>
        <p:txBody>
          <a:bodyPr/>
          <a:lstStyle/>
          <a:p>
            <a:pPr algn="ctr" eaLnBrk="1" hangingPunct="1"/>
            <a:r>
              <a:rPr lang="zh-CN" altLang="en-US" sz="3200" dirty="0">
                <a:ea typeface="黑体" pitchFamily="49" charset="-122"/>
              </a:rPr>
              <a:t>表</a:t>
            </a:r>
            <a:r>
              <a:rPr lang="en-US" altLang="zh-CN" sz="3200" dirty="0">
                <a:ea typeface="黑体" pitchFamily="49" charset="-122"/>
              </a:rPr>
              <a:t>2.11 </a:t>
            </a:r>
            <a:r>
              <a:rPr lang="zh-CN" altLang="en-US" sz="3200" dirty="0">
                <a:ea typeface="黑体" pitchFamily="49" charset="-122"/>
              </a:rPr>
              <a:t>关系运算符与关系表达式的基本形式</a:t>
            </a:r>
            <a:r>
              <a:rPr lang="zh-CN" altLang="en-US" sz="3200" dirty="0"/>
              <a:t> </a:t>
            </a:r>
          </a:p>
        </p:txBody>
      </p:sp>
      <p:graphicFrame>
        <p:nvGraphicFramePr>
          <p:cNvPr id="24893" name="Group 31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9340112"/>
              </p:ext>
            </p:extLst>
          </p:nvPr>
        </p:nvGraphicFramePr>
        <p:xfrm>
          <a:off x="719667" y="1994279"/>
          <a:ext cx="10972800" cy="3052765"/>
        </p:xfrm>
        <a:graphic>
          <a:graphicData uri="http://schemas.openxmlformats.org/drawingml/2006/table">
            <a:tbl>
              <a:tblPr/>
              <a:tblGrid>
                <a:gridCol w="143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4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4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29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运算符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名称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基本形式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运算功能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运算优先级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大于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&gt; b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求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是否大于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高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同级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小于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&lt; b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求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是否小于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&gt;=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大于等于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&gt;= b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求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是否≥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&lt;=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小于等于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&lt;= b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求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是否≤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5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EB27C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==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等于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== b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求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是否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=b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同级              低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!=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不等于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!= b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求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是否≠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9203" name="Line 102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1089217" y="2538791"/>
            <a:ext cx="0" cy="20478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894" name="Text Box 318"/>
          <p:cNvSpPr txBox="1">
            <a:spLocks noChangeArrowheads="1"/>
          </p:cNvSpPr>
          <p:nvPr/>
        </p:nvSpPr>
        <p:spPr bwMode="auto">
          <a:xfrm>
            <a:off x="2351617" y="5373688"/>
            <a:ext cx="3937000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EB27C6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?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EB27C6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0, 1, a, b</a:t>
            </a:r>
          </a:p>
        </p:txBody>
      </p:sp>
      <p:sp>
        <p:nvSpPr>
          <p:cNvPr id="24895" name="Rectangle 319"/>
          <p:cNvSpPr>
            <a:spLocks noChangeArrowheads="1"/>
          </p:cNvSpPr>
          <p:nvPr/>
        </p:nvSpPr>
        <p:spPr bwMode="auto">
          <a:xfrm>
            <a:off x="527051" y="5300663"/>
            <a:ext cx="1729316" cy="100806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 == 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 = b</a:t>
            </a:r>
          </a:p>
        </p:txBody>
      </p:sp>
      <p:sp>
        <p:nvSpPr>
          <p:cNvPr id="10" name="Rectangle 319"/>
          <p:cNvSpPr>
            <a:spLocks noChangeArrowheads="1"/>
          </p:cNvSpPr>
          <p:nvPr/>
        </p:nvSpPr>
        <p:spPr bwMode="auto">
          <a:xfrm>
            <a:off x="4752975" y="5298221"/>
            <a:ext cx="3071283" cy="1295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Eg</a:t>
            </a:r>
            <a:r>
              <a:rPr kumimoji="0" lang="en-US" altLang="zh-CN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a = 2, b = 3, y, z;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y = a == b;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z = a = b;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812800" y="451104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2.3.1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常用运算符与表达式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6513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94" grpId="0"/>
      <p:bldP spid="24895" grpId="0" animBg="1"/>
      <p:bldP spid="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FC01D79E-5FE6-2A85-2FB6-AB7DCB99A139}"/>
              </a:ext>
            </a:extLst>
          </p:cNvPr>
          <p:cNvSpPr>
            <a:spLocks noGrp="1" noRot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307351" y="845978"/>
            <a:ext cx="8229600" cy="682625"/>
          </a:xfrm>
        </p:spPr>
        <p:txBody>
          <a:bodyPr/>
          <a:lstStyle/>
          <a:p>
            <a:pPr algn="l" eaLnBrk="1" hangingPunct="1"/>
            <a:r>
              <a:rPr lang="zh-CN" altLang="en-US" sz="3600" dirty="0">
                <a:solidFill>
                  <a:schemeClr val="bg2"/>
                </a:solidFill>
                <a:latin typeface="宋体" panose="02010600030101010101" pitchFamily="2" charset="-122"/>
              </a:rPr>
              <a:t>关系表达式</a:t>
            </a:r>
            <a:r>
              <a:rPr lang="zh-CN" altLang="en-US" sz="3600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F7DBB954-8425-4CD1-36D8-844056C92D5A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150706" y="1052513"/>
            <a:ext cx="9122007" cy="45259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例：已知 </a:t>
            </a:r>
            <a:r>
              <a:rPr lang="en-US" altLang="zh-CN" sz="2800" dirty="0">
                <a:solidFill>
                  <a:srgbClr val="3333FF"/>
                </a:solidFill>
              </a:rPr>
              <a:t>int x = 2, y = 3, z = 5;</a:t>
            </a:r>
            <a:r>
              <a:rPr lang="en-US" altLang="zh-CN" sz="2800" dirty="0"/>
              <a:t> </a:t>
            </a:r>
            <a:r>
              <a:rPr lang="zh-CN" altLang="en-US" sz="2800" dirty="0"/>
              <a:t>计算下列关系表达式的值</a:t>
            </a:r>
            <a:r>
              <a:rPr lang="en-US" altLang="zh-CN" sz="2800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                                                 </a:t>
            </a:r>
            <a:r>
              <a:rPr lang="zh-CN" altLang="en-US" sz="2400" dirty="0">
                <a:solidFill>
                  <a:srgbClr val="FFFF00"/>
                </a:solidFill>
              </a:rPr>
              <a:t>　　　　　　　　</a:t>
            </a:r>
            <a:r>
              <a:rPr lang="zh-CN" altLang="en-US" sz="2400" dirty="0">
                <a:solidFill>
                  <a:srgbClr val="3333FF"/>
                </a:solidFill>
              </a:rPr>
              <a:t>优先级</a:t>
            </a:r>
            <a:r>
              <a:rPr lang="zh-CN" altLang="en-US" sz="2400" dirty="0">
                <a:solidFill>
                  <a:srgbClr val="FFFF00"/>
                </a:solidFill>
              </a:rPr>
              <a:t>　　　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    </a:t>
            </a:r>
            <a:r>
              <a:rPr lang="en-US" altLang="zh-CN" sz="2800" dirty="0"/>
              <a:t>x%2 == 0</a:t>
            </a:r>
            <a:r>
              <a:rPr lang="zh-CN" altLang="en-US" sz="2800" dirty="0"/>
              <a:t>　　　　　　　　　        　</a:t>
            </a:r>
            <a:r>
              <a:rPr lang="zh-CN" altLang="en-US" sz="2400" dirty="0">
                <a:solidFill>
                  <a:srgbClr val="CC00CC"/>
                </a:solidFill>
              </a:rPr>
              <a:t>算术运算符　高</a:t>
            </a:r>
            <a:endParaRPr lang="zh-CN" altLang="en-US" sz="2800" dirty="0">
              <a:solidFill>
                <a:srgbClr val="CC00CC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    </a:t>
            </a:r>
            <a:r>
              <a:rPr lang="en-US" altLang="zh-CN" sz="2800" dirty="0"/>
              <a:t>8 </a:t>
            </a:r>
            <a:r>
              <a:rPr lang="en-US" altLang="zh-CN" sz="2800" dirty="0">
                <a:solidFill>
                  <a:srgbClr val="3333FF"/>
                </a:solidFill>
              </a:rPr>
              <a:t>&lt; </a:t>
            </a:r>
            <a:r>
              <a:rPr lang="en-US" altLang="zh-CN" sz="2800" dirty="0"/>
              <a:t>z </a:t>
            </a:r>
            <a:r>
              <a:rPr lang="en-US" altLang="zh-CN" sz="2800" dirty="0">
                <a:solidFill>
                  <a:srgbClr val="3333FF"/>
                </a:solidFill>
              </a:rPr>
              <a:t>&lt; </a:t>
            </a:r>
            <a:r>
              <a:rPr lang="en-US" altLang="zh-CN" sz="2800" dirty="0"/>
              <a:t>3 </a:t>
            </a:r>
            <a:r>
              <a:rPr lang="zh-CN" altLang="en-US" sz="2800" dirty="0"/>
              <a:t>　　　　　                　　     </a:t>
            </a:r>
            <a:r>
              <a:rPr lang="zh-CN" altLang="en-US" sz="2400" dirty="0">
                <a:solidFill>
                  <a:srgbClr val="CC00CC"/>
                </a:solidFill>
              </a:rPr>
              <a:t>关系运算符</a:t>
            </a:r>
            <a:endParaRPr lang="zh-CN" altLang="en-US" sz="2800" dirty="0">
              <a:solidFill>
                <a:srgbClr val="CC00CC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    </a:t>
            </a:r>
            <a:r>
              <a:rPr lang="en-US" altLang="zh-CN" sz="2800" dirty="0"/>
              <a:t>z = x - 1 &gt;= y - 2           </a:t>
            </a:r>
            <a:r>
              <a:rPr lang="zh-CN" altLang="en-US" sz="2800" dirty="0"/>
              <a:t>　     　   　　  </a:t>
            </a:r>
            <a:r>
              <a:rPr lang="zh-CN" altLang="en-US" sz="2400" dirty="0">
                <a:solidFill>
                  <a:srgbClr val="CC00CC"/>
                </a:solidFill>
              </a:rPr>
              <a:t>赋值运算符　低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FFFF00"/>
              </a:solidFill>
            </a:endParaRPr>
          </a:p>
        </p:txBody>
      </p:sp>
      <p:sp>
        <p:nvSpPr>
          <p:cNvPr id="167940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27379CD-4EE8-ACF9-FF2E-AC3B0DDB927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982200" y="6553200"/>
            <a:ext cx="685800" cy="304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anose="02010600030101010101" pitchFamily="2" charset="-122"/>
              </a:rPr>
              <a:t>下一张</a:t>
            </a:r>
          </a:p>
        </p:txBody>
      </p:sp>
      <p:sp>
        <p:nvSpPr>
          <p:cNvPr id="167941" name="AutoShape 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128CD36-F429-1394-D66B-3F2B7087F356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20188" y="6553200"/>
            <a:ext cx="685800" cy="304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anose="02010600030101010101" pitchFamily="2" charset="-122"/>
              </a:rPr>
              <a:t>上一张</a:t>
            </a:r>
          </a:p>
        </p:txBody>
      </p:sp>
      <p:sp>
        <p:nvSpPr>
          <p:cNvPr id="76806" name="Line 6">
            <a:extLst>
              <a:ext uri="{FF2B5EF4-FFF2-40B4-BE49-F238E27FC236}">
                <a16:creationId xmlns:a16="http://schemas.microsoft.com/office/drawing/2014/main" id="{3DAE7648-2A2A-62FF-D201-3299D81C8A0E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V="1">
            <a:off x="9767888" y="2924176"/>
            <a:ext cx="0" cy="1800225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FFFFFF"/>
              </a:solidFill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1" name="Text Box 6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31800" y="1196975"/>
            <a:ext cx="11760200" cy="3367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563C1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4.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逻辑表达式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563C1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用逻辑运算符将关系表达式或逻辑量连接而成的式子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563C1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逻辑运算是判断运算对象的逻辑关系，结果为逻辑意义上的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"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"(1)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"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假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"(0)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563C1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rgbClr val="0563C1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12800" y="451104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2.3.1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常用运算符与表达式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9946803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39184" y="1125538"/>
            <a:ext cx="11952816" cy="818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rgbClr val="0563C1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逻辑运算符和逻辑表达式的基本形式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	</a:t>
            </a:r>
          </a:p>
        </p:txBody>
      </p:sp>
      <p:sp>
        <p:nvSpPr>
          <p:cNvPr id="55301" name="Text Box 6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203451" y="4191001"/>
            <a:ext cx="64325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!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是具有右结合性的单目运算符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&amp;&amp;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、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|| 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是双目运算符</a:t>
            </a:r>
          </a:p>
        </p:txBody>
      </p:sp>
      <p:graphicFrame>
        <p:nvGraphicFramePr>
          <p:cNvPr id="221377" name="Group 193"/>
          <p:cNvGraphicFramePr>
            <a:graphicFrameLocks noGrp="1"/>
          </p:cNvGraphicFramePr>
          <p:nvPr>
            <p:ph/>
          </p:nvPr>
        </p:nvGraphicFramePr>
        <p:xfrm>
          <a:off x="719667" y="2133600"/>
          <a:ext cx="10464800" cy="2016126"/>
        </p:xfrm>
        <a:graphic>
          <a:graphicData uri="http://schemas.openxmlformats.org/drawingml/2006/table">
            <a:tbl>
              <a:tblPr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7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9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5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50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运算符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名称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基本形式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运算功能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运算优先级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!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逻辑非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反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!a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求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的非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反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高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&amp;&amp;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逻辑与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a&amp;&amp;b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求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的与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中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||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逻辑或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|| 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求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的或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低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Group 111"/>
          <p:cNvGraphicFramePr>
            <a:graphicFrameLocks/>
          </p:cNvGraphicFramePr>
          <p:nvPr/>
        </p:nvGraphicFramePr>
        <p:xfrm>
          <a:off x="6174277" y="3783"/>
          <a:ext cx="6011862" cy="981075"/>
        </p:xfrm>
        <a:graphic>
          <a:graphicData uri="http://schemas.openxmlformats.org/drawingml/2006/table">
            <a:tbl>
              <a:tblPr/>
              <a:tblGrid>
                <a:gridCol w="538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810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!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高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算术运算符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关系运算符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&amp;&amp;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||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2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7953375" y="4863721"/>
            <a:ext cx="4232764" cy="19948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Eg2.9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：设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int a = 5, b = 3; char c = ‘A’; double x = -1;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写出下列表达式的值：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　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 &lt; b ||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!(c - ’A’) &amp;&amp; x + 1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          0   ||       1      &amp;&amp;   0  </a:t>
            </a:r>
          </a:p>
        </p:txBody>
      </p:sp>
      <p:sp>
        <p:nvSpPr>
          <p:cNvPr id="3" name="矩形 2"/>
          <p:cNvSpPr/>
          <p:nvPr/>
        </p:nvSpPr>
        <p:spPr>
          <a:xfrm>
            <a:off x="5102309" y="5285314"/>
            <a:ext cx="3048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+mn-cs"/>
              </a:rPr>
              <a:t>!9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+mn-cs"/>
              </a:rPr>
              <a:t>？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+mn-cs"/>
              </a:rPr>
              <a:t>9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+mn-cs"/>
              </a:rPr>
              <a:t>？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514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+mn-cs"/>
              </a:rPr>
              <a:t>if(y) z = x / y;</a:t>
            </a: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234" y="5280350"/>
            <a:ext cx="5577150" cy="1569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语言的逻辑运算法则：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!0 = 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!1 = 0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0&amp;&amp;0=0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0&amp;&amp;1=0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1&amp;&amp;0=0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1&amp;&amp;1=1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0||0=0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0||1=1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1||0=1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1||1=1</a:t>
            </a: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812800" y="451104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2.3.1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常用运算符与表达式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95883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95301" y="1365336"/>
            <a:ext cx="11072284" cy="533440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zh-CN" sz="2800" dirty="0"/>
              <a:t>Eg2.10</a:t>
            </a:r>
            <a:r>
              <a:rPr lang="zh-CN" altLang="en-US" sz="2800" dirty="0"/>
              <a:t>：写出写出下列语句的</a:t>
            </a:r>
            <a:r>
              <a:rPr lang="en-US" altLang="zh-CN" sz="2800" dirty="0"/>
              <a:t>C</a:t>
            </a:r>
            <a:r>
              <a:rPr lang="zh-CN" altLang="en-US" sz="2800" dirty="0"/>
              <a:t>的逻辑表达式。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</a:rPr>
              <a:t>y</a:t>
            </a:r>
            <a:r>
              <a:rPr lang="zh-CN" altLang="en-US" sz="2800" dirty="0">
                <a:solidFill>
                  <a:srgbClr val="3333FF"/>
                </a:solidFill>
              </a:rPr>
              <a:t>的取值在</a:t>
            </a:r>
            <a:r>
              <a:rPr lang="en-US" altLang="zh-CN" sz="2800" dirty="0">
                <a:solidFill>
                  <a:srgbClr val="3333FF"/>
                </a:solidFill>
              </a:rPr>
              <a:t>0</a:t>
            </a:r>
            <a:r>
              <a:rPr lang="zh-CN" altLang="en-US" sz="2800" dirty="0">
                <a:solidFill>
                  <a:srgbClr val="3333FF"/>
                </a:solidFill>
              </a:rPr>
              <a:t>到</a:t>
            </a:r>
            <a:r>
              <a:rPr lang="en-US" altLang="zh-CN" sz="2800" dirty="0">
                <a:solidFill>
                  <a:srgbClr val="3333FF"/>
                </a:solidFill>
              </a:rPr>
              <a:t>10</a:t>
            </a:r>
            <a:r>
              <a:rPr lang="zh-CN" altLang="en-US" sz="2800" dirty="0">
                <a:solidFill>
                  <a:srgbClr val="3333FF"/>
                </a:solidFill>
              </a:rPr>
              <a:t>之间 （</a:t>
            </a:r>
            <a:r>
              <a:rPr lang="en-US" altLang="zh-CN" sz="2800" dirty="0">
                <a:solidFill>
                  <a:srgbClr val="3333FF"/>
                </a:solidFill>
              </a:rPr>
              <a:t>0</a:t>
            </a:r>
            <a:r>
              <a:rPr lang="en-US" altLang="zh-CN" sz="2800" u="sng" dirty="0">
                <a:solidFill>
                  <a:srgbClr val="3333FF"/>
                </a:solidFill>
              </a:rPr>
              <a:t>&lt;</a:t>
            </a:r>
            <a:r>
              <a:rPr lang="en-US" altLang="zh-CN" sz="2800" dirty="0">
                <a:solidFill>
                  <a:srgbClr val="3333FF"/>
                </a:solidFill>
              </a:rPr>
              <a:t>y</a:t>
            </a:r>
            <a:r>
              <a:rPr lang="en-US" altLang="zh-CN" sz="2800" u="sng" dirty="0">
                <a:solidFill>
                  <a:srgbClr val="3333FF"/>
                </a:solidFill>
              </a:rPr>
              <a:t>&lt;</a:t>
            </a:r>
            <a:r>
              <a:rPr lang="en-US" altLang="zh-CN" sz="2800" dirty="0">
                <a:solidFill>
                  <a:srgbClr val="3333FF"/>
                </a:solidFill>
              </a:rPr>
              <a:t>10</a:t>
            </a:r>
            <a:r>
              <a:rPr lang="zh-CN" altLang="en-US" sz="2800" dirty="0">
                <a:solidFill>
                  <a:srgbClr val="3333FF"/>
                </a:solidFill>
              </a:rPr>
              <a:t>）</a:t>
            </a:r>
            <a:endParaRPr lang="en-US" altLang="zh-CN" sz="2800" dirty="0">
              <a:solidFill>
                <a:srgbClr val="FFFF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 y&gt;=0 &amp;&amp; y&lt;=10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c1</a:t>
            </a:r>
            <a:r>
              <a:rPr lang="zh-CN" altLang="en-US" sz="2800" dirty="0"/>
              <a:t>是一个字母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c1&gt;=‘A’ &amp;&amp; c1&lt;=‘Z’ || </a:t>
            </a:r>
            <a:r>
              <a:rPr lang="en-US" altLang="zh-CN" sz="2800" dirty="0">
                <a:solidFill>
                  <a:srgbClr val="CC00CC"/>
                </a:solidFill>
              </a:rPr>
              <a:t>c1&gt;=‘a’ &amp;&amp; c1&lt;=‘z’</a:t>
            </a:r>
            <a:endParaRPr lang="en-US" altLang="zh-CN" sz="2800" dirty="0">
              <a:solidFill>
                <a:srgbClr val="3333FF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800" dirty="0"/>
          </a:p>
          <a:p>
            <a:pPr>
              <a:lnSpc>
                <a:spcPct val="80000"/>
              </a:lnSpc>
              <a:buNone/>
            </a:pPr>
            <a:r>
              <a:rPr lang="zh-CN" altLang="en-US" sz="2800" dirty="0"/>
              <a:t>判断</a:t>
            </a:r>
            <a:r>
              <a:rPr lang="en-US" altLang="zh-CN" sz="2800" dirty="0"/>
              <a:t>y</a:t>
            </a:r>
            <a:r>
              <a:rPr lang="zh-CN" altLang="en-US" sz="2800" dirty="0"/>
              <a:t>年是闰年吗？（能被</a:t>
            </a:r>
            <a:r>
              <a:rPr lang="en-US" altLang="zh-CN" sz="2800" dirty="0"/>
              <a:t>4</a:t>
            </a:r>
            <a:r>
              <a:rPr lang="zh-CN" altLang="en-US" sz="2800" dirty="0"/>
              <a:t>整除但不能被</a:t>
            </a:r>
            <a:r>
              <a:rPr lang="en-US" altLang="zh-CN" sz="2800" dirty="0"/>
              <a:t>100</a:t>
            </a:r>
            <a:r>
              <a:rPr lang="zh-CN" altLang="en-US" sz="2800" dirty="0"/>
              <a:t>整除，或能被</a:t>
            </a:r>
            <a:r>
              <a:rPr lang="en-US" altLang="zh-CN" sz="2800" dirty="0"/>
              <a:t>400</a:t>
            </a:r>
            <a:r>
              <a:rPr lang="zh-CN" altLang="en-US" sz="2800" dirty="0"/>
              <a:t>整除）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2800" dirty="0"/>
              <a:t>              </a:t>
            </a:r>
            <a:r>
              <a:rPr lang="en-US" altLang="zh-CN" sz="2800" dirty="0">
                <a:solidFill>
                  <a:srgbClr val="3333FF"/>
                </a:solidFill>
              </a:rPr>
              <a:t>y%4= =0 &amp;&amp; y%100!=0 || y%400= =0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8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</a:pPr>
            <a:r>
              <a:rPr lang="zh-CN" altLang="en-US" sz="2800" dirty="0"/>
              <a:t>为提高程序执行效率，</a:t>
            </a:r>
            <a:r>
              <a:rPr lang="en-US" altLang="zh-CN" sz="2800" dirty="0"/>
              <a:t>C</a:t>
            </a:r>
            <a:r>
              <a:rPr lang="zh-CN" altLang="en-US" sz="2800" dirty="0"/>
              <a:t>规定，只对能确定整个表达式值的最少数目的子表达式进行计算。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2800" dirty="0"/>
              <a:t>　　　</a:t>
            </a:r>
            <a:r>
              <a:rPr lang="en-US" altLang="zh-CN" sz="2800" dirty="0">
                <a:solidFill>
                  <a:srgbClr val="3333FF"/>
                </a:solidFill>
              </a:rPr>
              <a:t>a&amp;&amp;b          a||b                                     </a:t>
            </a:r>
            <a:endParaRPr lang="en-US" altLang="zh-CN" sz="2800" dirty="0">
              <a:solidFill>
                <a:srgbClr val="CC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800" dirty="0"/>
              <a:t>int x = 1, y = 2; 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800" dirty="0"/>
              <a:t>(x = 0) &amp;&amp; (y = 1 + 3);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800" dirty="0"/>
              <a:t>if(y != 0 &amp;&amp; x </a:t>
            </a:r>
            <a:r>
              <a:rPr lang="en-US" altLang="zh-CN" sz="2800" dirty="0">
                <a:solidFill>
                  <a:srgbClr val="FF0000"/>
                </a:solidFill>
              </a:rPr>
              <a:t>/ y </a:t>
            </a:r>
            <a:r>
              <a:rPr lang="en-US" altLang="zh-CN" sz="2800" dirty="0"/>
              <a:t>&gt; z) …</a:t>
            </a:r>
            <a:r>
              <a:rPr lang="zh-CN" altLang="en-US" sz="2800" dirty="0"/>
              <a:t>避免除</a:t>
            </a:r>
            <a:r>
              <a:rPr lang="en-US" altLang="zh-CN" sz="2800" dirty="0"/>
              <a:t>0</a:t>
            </a:r>
          </a:p>
        </p:txBody>
      </p:sp>
      <p:sp>
        <p:nvSpPr>
          <p:cNvPr id="57347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17184" y="353695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09725" algn="r"/>
                <a:tab pos="2636838" algn="ctr"/>
                <a:tab pos="2725738" algn="ctr"/>
                <a:tab pos="5273675" algn="r"/>
              </a:tabLst>
              <a:defRPr/>
            </a:pPr>
            <a:endParaRPr kumimoji="1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7348" name="Rectangle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965017" y="4908551"/>
            <a:ext cx="294216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09725" algn="l"/>
                <a:tab pos="2725738" algn="ctr"/>
              </a:tabLst>
              <a:defRPr/>
            </a:pPr>
            <a:endParaRPr kumimoji="1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7349" name="Rectangle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957917" y="353695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r"/>
                <a:tab pos="2636838" algn="ctr"/>
                <a:tab pos="2725738" algn="ctr"/>
                <a:tab pos="5273675" algn="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09725" algn="r"/>
                <a:tab pos="2636838" algn="ctr"/>
                <a:tab pos="2725738" algn="ctr"/>
                <a:tab pos="5273675" algn="r"/>
              </a:tabLst>
              <a:defRPr/>
            </a:pPr>
            <a:endParaRPr kumimoji="1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7350" name="Rectangle 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920568" y="4941889"/>
            <a:ext cx="29421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tabLst>
                <a:tab pos="1609725" algn="l"/>
                <a:tab pos="2725738" algn="ctr"/>
              </a:tabLst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09725" algn="l"/>
                <a:tab pos="2725738" algn="ctr"/>
              </a:tabLst>
              <a:defRPr/>
            </a:pPr>
            <a:endParaRPr kumimoji="1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3269" name="Text Box 37"/>
          <p:cNvSpPr txBox="1">
            <a:spLocks noChangeArrowheads="1"/>
          </p:cNvSpPr>
          <p:nvPr/>
        </p:nvSpPr>
        <p:spPr bwMode="auto">
          <a:xfrm>
            <a:off x="6858568" y="1584391"/>
            <a:ext cx="4716017" cy="523220"/>
          </a:xfrm>
          <a:prstGeom prst="rect">
            <a:avLst/>
          </a:prstGeom>
          <a:noFill/>
          <a:ln w="9525">
            <a:solidFill>
              <a:schemeClr val="bg1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B27C6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0&lt;=y&lt;=10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B27C6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结果始终为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B27C6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0968831" y="1465001"/>
            <a:ext cx="7191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×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651457" y="5288340"/>
            <a:ext cx="5577150" cy="1569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语言的逻辑运算法则：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!0 = 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!1 = 0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0&amp;&amp;0=0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0&amp;&amp;1=0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1&amp;&amp;0=0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1&amp;&amp;1=1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0||0=0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0||1=1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1||0=1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rPr>
              <a:t>1||1=1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812800" y="451104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2.3.1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常用运算符与表达式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51405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3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3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3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3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3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3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3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23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4" grpId="0" uiExpand="1" build="p" autoUpdateAnimBg="0"/>
      <p:bldP spid="10" grpId="0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304800" y="1125539"/>
            <a:ext cx="11887200" cy="5399087"/>
          </a:xfrm>
        </p:spPr>
        <p:txBody>
          <a:bodyPr>
            <a:normAutofit fontScale="85000" lnSpcReduction="20000"/>
          </a:bodyPr>
          <a:lstStyle/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algn="just">
              <a:lnSpc>
                <a:spcPct val="80000"/>
              </a:lnSpc>
            </a:pPr>
            <a:r>
              <a:rPr lang="en-US" altLang="zh-CN" dirty="0">
                <a:latin typeface="宋体" pitchFamily="2" charset="-122"/>
              </a:rPr>
              <a:t>5.</a:t>
            </a:r>
            <a:r>
              <a:rPr lang="zh-CN" altLang="en-US" dirty="0">
                <a:latin typeface="宋体" pitchFamily="2" charset="-122"/>
              </a:rPr>
              <a:t>条件表达式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条件运算符 </a:t>
            </a:r>
            <a:r>
              <a:rPr lang="en-US" altLang="zh-CN" sz="2400" dirty="0">
                <a:solidFill>
                  <a:srgbClr val="CC00CC"/>
                </a:solidFill>
                <a:cs typeface="Times New Roman" pitchFamily="18" charset="0"/>
              </a:rPr>
              <a:t>?</a:t>
            </a:r>
            <a:r>
              <a:rPr lang="zh-CN" altLang="en-US" sz="2400" dirty="0">
                <a:solidFill>
                  <a:srgbClr val="CC00CC"/>
                </a:solidFill>
              </a:rPr>
              <a:t>：</a:t>
            </a:r>
            <a:r>
              <a:rPr lang="zh-CN" altLang="en-US" sz="2400" dirty="0"/>
              <a:t>三目运算符，可代替某些</a:t>
            </a:r>
            <a:r>
              <a:rPr lang="en-US" altLang="zh-CN" sz="2400" dirty="0"/>
              <a:t>if</a:t>
            </a:r>
            <a:r>
              <a:rPr lang="zh-CN" altLang="en-US" sz="2400" dirty="0"/>
              <a:t>～</a:t>
            </a:r>
            <a:r>
              <a:rPr lang="en-US" altLang="zh-CN" sz="2400" dirty="0"/>
              <a:t>else</a:t>
            </a:r>
            <a:r>
              <a:rPr lang="zh-CN" altLang="en-US" sz="2400" dirty="0"/>
              <a:t>语句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条件表达式一般形式：　</a:t>
            </a:r>
            <a:r>
              <a:rPr lang="zh-CN" altLang="en-US" sz="2400" dirty="0">
                <a:solidFill>
                  <a:srgbClr val="CC00CC"/>
                </a:solidFill>
              </a:rPr>
              <a:t>表达式</a:t>
            </a:r>
            <a:r>
              <a:rPr lang="en-US" altLang="zh-CN" sz="2400" dirty="0">
                <a:solidFill>
                  <a:srgbClr val="CC00CC"/>
                </a:solidFill>
                <a:cs typeface="Times New Roman" pitchFamily="18" charset="0"/>
              </a:rPr>
              <a:t>1 ? </a:t>
            </a:r>
            <a:r>
              <a:rPr lang="zh-CN" altLang="en-US" sz="2400" dirty="0">
                <a:solidFill>
                  <a:srgbClr val="CC00CC"/>
                </a:solidFill>
              </a:rPr>
              <a:t>表达式</a:t>
            </a:r>
            <a:r>
              <a:rPr lang="en-US" altLang="zh-CN" sz="2400" dirty="0">
                <a:solidFill>
                  <a:srgbClr val="CC00CC"/>
                </a:solidFill>
                <a:cs typeface="Times New Roman" pitchFamily="18" charset="0"/>
              </a:rPr>
              <a:t>2 </a:t>
            </a:r>
            <a:r>
              <a:rPr lang="zh-CN" altLang="en-US" sz="2400" dirty="0">
                <a:solidFill>
                  <a:srgbClr val="CC00CC"/>
                </a:solidFill>
              </a:rPr>
              <a:t>：表达式</a:t>
            </a:r>
            <a:r>
              <a:rPr lang="en-US" altLang="zh-CN" sz="2400" dirty="0">
                <a:solidFill>
                  <a:srgbClr val="CC00CC"/>
                </a:solidFill>
                <a:cs typeface="Times New Roman" pitchFamily="18" charset="0"/>
              </a:rPr>
              <a:t>3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　</a:t>
            </a:r>
            <a:r>
              <a:rPr lang="en-US" altLang="zh-CN" sz="2400" dirty="0">
                <a:cs typeface="Times New Roman" pitchFamily="18" charset="0"/>
              </a:rPr>
              <a:t>&lt;</a:t>
            </a:r>
            <a:r>
              <a:rPr lang="zh-CN" altLang="en-US" sz="2400" dirty="0"/>
              <a:t>表达式</a:t>
            </a:r>
            <a:r>
              <a:rPr lang="en-US" altLang="zh-CN" sz="2400" dirty="0">
                <a:cs typeface="Times New Roman" pitchFamily="18" charset="0"/>
              </a:rPr>
              <a:t>1&gt;</a:t>
            </a:r>
            <a:r>
              <a:rPr lang="zh-CN" altLang="en-US" sz="2400" dirty="0"/>
              <a:t>值为真</a:t>
            </a:r>
            <a:r>
              <a:rPr lang="en-US" altLang="zh-CN" sz="2400" dirty="0"/>
              <a:t>(</a:t>
            </a:r>
            <a:r>
              <a:rPr lang="zh-CN" altLang="en-US" sz="2400" dirty="0"/>
              <a:t>非</a:t>
            </a:r>
            <a:r>
              <a:rPr lang="en-US" altLang="zh-CN" sz="2400" dirty="0">
                <a:cs typeface="Times New Roman" pitchFamily="18" charset="0"/>
              </a:rPr>
              <a:t>0</a:t>
            </a:r>
            <a:r>
              <a:rPr lang="en-US" altLang="zh-CN" sz="2400" dirty="0"/>
              <a:t>)</a:t>
            </a:r>
            <a:r>
              <a:rPr lang="en-US" altLang="zh-CN" sz="2400" dirty="0">
                <a:cs typeface="Times New Roman" pitchFamily="18" charset="0"/>
              </a:rPr>
              <a:t>, </a:t>
            </a:r>
            <a:r>
              <a:rPr lang="zh-CN" altLang="en-US" sz="2400" dirty="0"/>
              <a:t>则求</a:t>
            </a:r>
            <a:r>
              <a:rPr lang="en-US" altLang="zh-CN" sz="2400" dirty="0">
                <a:cs typeface="Times New Roman" pitchFamily="18" charset="0"/>
              </a:rPr>
              <a:t>&lt;</a:t>
            </a:r>
            <a:r>
              <a:rPr lang="zh-CN" altLang="en-US" sz="2400" dirty="0"/>
              <a:t>表达式</a:t>
            </a:r>
            <a:r>
              <a:rPr lang="en-US" altLang="zh-CN" sz="2400" dirty="0">
                <a:cs typeface="Times New Roman" pitchFamily="18" charset="0"/>
              </a:rPr>
              <a:t>2&gt;</a:t>
            </a:r>
            <a:r>
              <a:rPr lang="zh-CN" altLang="en-US" sz="2400" dirty="0"/>
              <a:t>的值为整个表达式值；否则计算</a:t>
            </a:r>
            <a:r>
              <a:rPr lang="en-US" altLang="zh-CN" sz="2400" dirty="0">
                <a:cs typeface="Times New Roman" pitchFamily="18" charset="0"/>
              </a:rPr>
              <a:t>&lt;</a:t>
            </a:r>
            <a:r>
              <a:rPr lang="zh-CN" altLang="en-US" sz="2400" dirty="0"/>
              <a:t>表达式</a:t>
            </a:r>
            <a:r>
              <a:rPr lang="en-US" altLang="zh-CN" sz="2400" dirty="0">
                <a:cs typeface="Times New Roman" pitchFamily="18" charset="0"/>
              </a:rPr>
              <a:t>3&gt;</a:t>
            </a:r>
            <a:r>
              <a:rPr lang="zh-CN" altLang="en-US" sz="2400" dirty="0"/>
              <a:t>的值作为条件表达式的值。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>
                <a:cs typeface="Times New Roman" pitchFamily="18" charset="0"/>
              </a:rPr>
              <a:t> 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 err="1"/>
              <a:t>Eg</a:t>
            </a:r>
            <a:r>
              <a:rPr lang="zh-CN" altLang="en-US" sz="2800" dirty="0"/>
              <a:t>：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dirty="0"/>
              <a:t>　　</a:t>
            </a:r>
            <a:r>
              <a:rPr lang="en-US" altLang="zh-CN" sz="2800" dirty="0"/>
              <a:t>max = </a:t>
            </a:r>
            <a:r>
              <a:rPr lang="en-US" altLang="zh-CN" sz="2800" dirty="0">
                <a:solidFill>
                  <a:srgbClr val="CC00CC"/>
                </a:solidFill>
              </a:rPr>
              <a:t>(a&gt;b) ? a : b</a:t>
            </a:r>
            <a:r>
              <a:rPr lang="en-US" altLang="zh-CN" sz="2800" dirty="0"/>
              <a:t>;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                                    </a:t>
            </a:r>
            <a:r>
              <a:rPr lang="zh-CN" altLang="en-US" sz="2800" dirty="0"/>
              <a:t>　</a:t>
            </a:r>
            <a:r>
              <a:rPr lang="zh-CN" altLang="en-US" sz="2800" dirty="0">
                <a:solidFill>
                  <a:srgbClr val="FFFF00"/>
                </a:solidFill>
              </a:rPr>
              <a:t>　　　</a:t>
            </a:r>
            <a:endParaRPr lang="en-US" altLang="zh-CN" sz="2800" dirty="0">
              <a:solidFill>
                <a:srgbClr val="FFFF00"/>
              </a:solidFill>
            </a:endParaRPr>
          </a:p>
          <a:p>
            <a:pPr algn="just">
              <a:buNone/>
            </a:pPr>
            <a:r>
              <a:rPr lang="en-US" altLang="zh-CN" dirty="0"/>
              <a:t>Eg2.11: x</a:t>
            </a:r>
            <a:r>
              <a:rPr lang="zh-CN" altLang="en-US" dirty="0"/>
              <a:t>取绝对值。</a:t>
            </a:r>
          </a:p>
          <a:p>
            <a:pPr algn="just">
              <a:buNone/>
            </a:pPr>
            <a:r>
              <a:rPr lang="zh-CN" altLang="en-US" dirty="0"/>
              <a:t>　　　　　　</a:t>
            </a:r>
            <a:r>
              <a:rPr lang="en-US" altLang="zh-CN" sz="2800" dirty="0">
                <a:solidFill>
                  <a:srgbClr val="3333FF"/>
                </a:solidFill>
              </a:rPr>
              <a:t>x = x &gt;= 0? x : -x;</a:t>
            </a:r>
          </a:p>
          <a:p>
            <a:pPr algn="just">
              <a:buNone/>
            </a:pPr>
            <a:endParaRPr lang="en-US" altLang="zh-CN" dirty="0"/>
          </a:p>
          <a:p>
            <a:pPr algn="just">
              <a:buNone/>
            </a:pPr>
            <a:r>
              <a:rPr lang="zh-CN" altLang="en-US" dirty="0"/>
              <a:t>若字符变量</a:t>
            </a:r>
            <a:r>
              <a:rPr lang="en-US" altLang="zh-CN" dirty="0" err="1"/>
              <a:t>ch</a:t>
            </a:r>
            <a:r>
              <a:rPr lang="zh-CN" altLang="en-US" dirty="0"/>
              <a:t>为小写字母则改为大写字母，为其余字符不变。</a:t>
            </a:r>
          </a:p>
          <a:p>
            <a:pPr algn="just">
              <a:buNone/>
            </a:pPr>
            <a:r>
              <a:rPr lang="en-US" altLang="zh-CN" sz="2800" dirty="0" err="1">
                <a:solidFill>
                  <a:srgbClr val="3333FF"/>
                </a:solidFill>
              </a:rPr>
              <a:t>ch</a:t>
            </a:r>
            <a:r>
              <a:rPr lang="en-US" altLang="zh-CN" sz="2800" dirty="0">
                <a:solidFill>
                  <a:srgbClr val="3333FF"/>
                </a:solidFill>
              </a:rPr>
              <a:t> = (</a:t>
            </a:r>
            <a:r>
              <a:rPr lang="en-US" altLang="zh-CN" sz="2800" dirty="0" err="1">
                <a:solidFill>
                  <a:srgbClr val="3333FF"/>
                </a:solidFill>
              </a:rPr>
              <a:t>ch</a:t>
            </a:r>
            <a:r>
              <a:rPr lang="en-US" altLang="zh-CN" sz="2800" dirty="0">
                <a:solidFill>
                  <a:srgbClr val="3333FF"/>
                </a:solidFill>
              </a:rPr>
              <a:t> &gt;= 'a' &amp;&amp; </a:t>
            </a:r>
            <a:r>
              <a:rPr lang="en-US" altLang="zh-CN" sz="2800" dirty="0" err="1">
                <a:solidFill>
                  <a:srgbClr val="3333FF"/>
                </a:solidFill>
              </a:rPr>
              <a:t>ch</a:t>
            </a:r>
            <a:r>
              <a:rPr lang="en-US" altLang="zh-CN" sz="2800" dirty="0">
                <a:solidFill>
                  <a:srgbClr val="3333FF"/>
                </a:solidFill>
              </a:rPr>
              <a:t> &lt;= 'z') ? </a:t>
            </a:r>
            <a:r>
              <a:rPr lang="en-US" altLang="zh-CN" sz="2800" dirty="0" err="1">
                <a:solidFill>
                  <a:srgbClr val="3333FF"/>
                </a:solidFill>
              </a:rPr>
              <a:t>ch</a:t>
            </a:r>
            <a:r>
              <a:rPr lang="en-US" altLang="zh-CN" sz="2800" dirty="0">
                <a:solidFill>
                  <a:srgbClr val="3333FF"/>
                </a:solidFill>
              </a:rPr>
              <a:t> - 32 : </a:t>
            </a:r>
            <a:r>
              <a:rPr lang="en-US" altLang="zh-CN" sz="2800" dirty="0" err="1">
                <a:solidFill>
                  <a:srgbClr val="3333FF"/>
                </a:solidFill>
              </a:rPr>
              <a:t>ch</a:t>
            </a:r>
            <a:endParaRPr lang="en-US" altLang="zh-CN" sz="2800" dirty="0">
              <a:solidFill>
                <a:srgbClr val="3333FF"/>
              </a:solidFill>
            </a:endParaRP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800" dirty="0">
              <a:solidFill>
                <a:srgbClr val="FFFF00"/>
              </a:solidFill>
            </a:endParaRPr>
          </a:p>
        </p:txBody>
      </p:sp>
      <p:sp>
        <p:nvSpPr>
          <p:cNvPr id="44036" name="AutoShape 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277600" y="6553200"/>
            <a:ext cx="914400" cy="304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下一张</a:t>
            </a:r>
          </a:p>
        </p:txBody>
      </p:sp>
      <p:sp>
        <p:nvSpPr>
          <p:cNvPr id="44037" name="AutoShape 5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277600" y="6092825"/>
            <a:ext cx="914400" cy="304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上一张</a:t>
            </a:r>
          </a:p>
        </p:txBody>
      </p:sp>
      <p:sp>
        <p:nvSpPr>
          <p:cNvPr id="2" name="矩形 1"/>
          <p:cNvSpPr/>
          <p:nvPr/>
        </p:nvSpPr>
        <p:spPr>
          <a:xfrm>
            <a:off x="4837645" y="3291328"/>
            <a:ext cx="1487424" cy="157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if (a&gt;b)  {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     max=a;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srgbClr val="3333FF"/>
                </a:solidFill>
                <a:latin typeface="Calibri"/>
                <a:ea typeface="宋体" panose="02010600030101010101" pitchFamily="2" charset="-122"/>
              </a:rPr>
              <a:t>}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Times New Roman" pitchFamily="18" charset="0"/>
              </a:rPr>
              <a:t>else { 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Times New Roman" pitchFamily="18" charset="0"/>
              </a:rPr>
              <a:t>        max=b;</a:t>
            </a:r>
            <a:endParaRPr lang="en-US" altLang="zh-CN" sz="2000" dirty="0">
              <a:solidFill>
                <a:srgbClr val="3333FF"/>
              </a:solidFill>
              <a:latin typeface="Calibri"/>
              <a:ea typeface="宋体" panose="02010600030101010101" pitchFamily="2" charset="-122"/>
              <a:cs typeface="Times New Roman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Times New Roman" pitchFamily="18" charset="0"/>
              </a:rPr>
              <a:t>}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12800" y="451104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2.3.1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常用运算符与表达式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13288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239185" y="1052514"/>
            <a:ext cx="11338983" cy="5070475"/>
          </a:xfrm>
        </p:spPr>
        <p:txBody>
          <a:bodyPr>
            <a:normAutofit/>
          </a:bodyPr>
          <a:lstStyle/>
          <a:p>
            <a:r>
              <a:rPr lang="en-US" altLang="zh-CN" dirty="0"/>
              <a:t>6.</a:t>
            </a:r>
            <a:r>
              <a:rPr lang="zh-CN" altLang="en-US" dirty="0"/>
              <a:t>逗号表达式</a:t>
            </a:r>
            <a:endParaRPr lang="en-US" altLang="zh-CN" dirty="0"/>
          </a:p>
          <a:p>
            <a:r>
              <a:rPr lang="zh-CN" altLang="en-US" sz="2400" dirty="0"/>
              <a:t>逗号运算符 </a:t>
            </a:r>
            <a:r>
              <a:rPr lang="en-US" altLang="zh-CN" sz="2400" dirty="0"/>
              <a:t>"</a:t>
            </a:r>
            <a:r>
              <a:rPr lang="zh-CN" altLang="en-US" sz="2400" dirty="0">
                <a:solidFill>
                  <a:srgbClr val="CC00CC"/>
                </a:solidFill>
              </a:rPr>
              <a:t>，</a:t>
            </a:r>
            <a:r>
              <a:rPr lang="en-US" altLang="zh-CN" sz="2400" dirty="0"/>
              <a:t>"</a:t>
            </a:r>
            <a:r>
              <a:rPr lang="zh-CN" altLang="en-US" sz="2400" dirty="0"/>
              <a:t> 将两个或多个表达式连接起来，从左至右求解各个表达式，最后一个表达式是</a:t>
            </a:r>
            <a:r>
              <a:rPr lang="zh-CN" altLang="en-US" sz="2400" dirty="0">
                <a:cs typeface="Times New Roman" pitchFamily="18" charset="0"/>
              </a:rPr>
              <a:t>整个表达式的值</a:t>
            </a:r>
            <a:r>
              <a:rPr lang="zh-CN" altLang="en-US" sz="2400" dirty="0"/>
              <a:t>。 </a:t>
            </a:r>
          </a:p>
          <a:p>
            <a:r>
              <a:rPr lang="zh-CN" altLang="en-US" dirty="0"/>
              <a:t>逗号表达式的一般形式：</a:t>
            </a:r>
            <a:endParaRPr lang="zh-CN" altLang="en-US" dirty="0">
              <a:cs typeface="Times New Roman" pitchFamily="18" charset="0"/>
            </a:endParaRPr>
          </a:p>
          <a:p>
            <a:pPr>
              <a:buNone/>
            </a:pPr>
            <a:r>
              <a:rPr lang="zh-CN" altLang="en-US" dirty="0">
                <a:solidFill>
                  <a:srgbClr val="FFFF00"/>
                </a:solidFill>
              </a:rPr>
              <a:t>　　</a:t>
            </a:r>
            <a:r>
              <a:rPr lang="zh-CN" altLang="en-US" dirty="0">
                <a:solidFill>
                  <a:srgbClr val="CC00CC"/>
                </a:solidFill>
              </a:rPr>
              <a:t>表达式</a:t>
            </a:r>
            <a:r>
              <a:rPr lang="en-US" altLang="zh-CN" dirty="0">
                <a:solidFill>
                  <a:srgbClr val="CC00CC"/>
                </a:solidFill>
                <a:cs typeface="Times New Roman" pitchFamily="18" charset="0"/>
              </a:rPr>
              <a:t>1</a:t>
            </a:r>
            <a:r>
              <a:rPr lang="zh-CN" altLang="en-US" dirty="0">
                <a:solidFill>
                  <a:srgbClr val="CC00CC"/>
                </a:solidFill>
              </a:rPr>
              <a:t>，表达式</a:t>
            </a:r>
            <a:r>
              <a:rPr lang="en-US" altLang="zh-CN" dirty="0">
                <a:solidFill>
                  <a:srgbClr val="CC00CC"/>
                </a:solidFill>
                <a:cs typeface="Times New Roman" pitchFamily="18" charset="0"/>
              </a:rPr>
              <a:t>2</a:t>
            </a:r>
            <a:r>
              <a:rPr lang="zh-CN" altLang="en-US" dirty="0">
                <a:solidFill>
                  <a:srgbClr val="CC00CC"/>
                </a:solidFill>
              </a:rPr>
              <a:t>，表达式</a:t>
            </a:r>
            <a:r>
              <a:rPr lang="en-US" altLang="zh-CN" dirty="0">
                <a:solidFill>
                  <a:srgbClr val="CC00CC"/>
                </a:solidFill>
                <a:cs typeface="Times New Roman" pitchFamily="18" charset="0"/>
              </a:rPr>
              <a:t>3</a:t>
            </a:r>
            <a:r>
              <a:rPr lang="zh-CN" altLang="en-US" dirty="0">
                <a:solidFill>
                  <a:srgbClr val="CC00CC"/>
                </a:solidFill>
              </a:rPr>
              <a:t>，</a:t>
            </a:r>
            <a:r>
              <a:rPr lang="en-US" altLang="zh-CN" dirty="0">
                <a:solidFill>
                  <a:srgbClr val="CC00CC"/>
                </a:solidFill>
              </a:rPr>
              <a:t>……</a:t>
            </a:r>
            <a:r>
              <a:rPr lang="zh-CN" altLang="en-US" dirty="0">
                <a:solidFill>
                  <a:srgbClr val="CC00CC"/>
                </a:solidFill>
              </a:rPr>
              <a:t>，表达式</a:t>
            </a:r>
            <a:r>
              <a:rPr lang="en-US" altLang="zh-CN" dirty="0">
                <a:solidFill>
                  <a:srgbClr val="CC00CC"/>
                </a:solidFill>
                <a:cs typeface="Times New Roman" pitchFamily="18" charset="0"/>
              </a:rPr>
              <a:t>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rgbClr val="3333FF"/>
                </a:solidFill>
              </a:rPr>
              <a:t>  用于只有一个表达式位置又需计算多个表达式的地方。</a:t>
            </a:r>
            <a:endParaRPr lang="en-US" altLang="zh-CN" sz="2400" dirty="0">
              <a:solidFill>
                <a:srgbClr val="CC00CC"/>
              </a:solidFill>
            </a:endParaRPr>
          </a:p>
          <a:p>
            <a:pPr>
              <a:buNone/>
            </a:pPr>
            <a:r>
              <a:rPr lang="zh-CN" altLang="en-US" dirty="0">
                <a:cs typeface="Times New Roman" pitchFamily="18" charset="0"/>
              </a:rPr>
              <a:t>　　</a:t>
            </a:r>
            <a:r>
              <a:rPr lang="en-US" altLang="zh-CN" dirty="0">
                <a:cs typeface="Times New Roman" pitchFamily="18" charset="0"/>
              </a:rPr>
              <a:t>for (</a:t>
            </a:r>
            <a:r>
              <a:rPr lang="en-US" altLang="zh-CN" dirty="0" err="1">
                <a:solidFill>
                  <a:srgbClr val="CC00CC"/>
                </a:solidFill>
                <a:cs typeface="Times New Roman" pitchFamily="18" charset="0"/>
              </a:rPr>
              <a:t>i</a:t>
            </a:r>
            <a:r>
              <a:rPr lang="en-US" altLang="zh-CN" dirty="0">
                <a:solidFill>
                  <a:srgbClr val="CC00CC"/>
                </a:solidFill>
                <a:cs typeface="Times New Roman" pitchFamily="18" charset="0"/>
              </a:rPr>
              <a:t>=0, j=0</a:t>
            </a:r>
            <a:r>
              <a:rPr lang="en-US" altLang="zh-CN" dirty="0">
                <a:cs typeface="Times New Roman" pitchFamily="18" charset="0"/>
              </a:rPr>
              <a:t>; </a:t>
            </a:r>
            <a:r>
              <a:rPr lang="en-US" altLang="zh-CN" dirty="0" err="1">
                <a:cs typeface="Times New Roman" pitchFamily="18" charset="0"/>
              </a:rPr>
              <a:t>i</a:t>
            </a:r>
            <a:r>
              <a:rPr lang="en-US" altLang="zh-CN" dirty="0">
                <a:cs typeface="Times New Roman" pitchFamily="18" charset="0"/>
              </a:rPr>
              <a:t>&lt;5; </a:t>
            </a:r>
            <a:r>
              <a:rPr lang="en-US" altLang="zh-CN" dirty="0" err="1">
                <a:cs typeface="Times New Roman" pitchFamily="18" charset="0"/>
              </a:rPr>
              <a:t>i</a:t>
            </a:r>
            <a:r>
              <a:rPr lang="en-US" altLang="zh-CN" dirty="0">
                <a:cs typeface="Times New Roman" pitchFamily="18" charset="0"/>
              </a:rPr>
              <a:t>++)     …</a:t>
            </a:r>
            <a:endParaRPr lang="en-US" altLang="zh-CN" dirty="0">
              <a:solidFill>
                <a:srgbClr val="3333FF"/>
              </a:solidFill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400" dirty="0">
              <a:solidFill>
                <a:srgbClr val="CC00CC"/>
              </a:solidFill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 err="1">
                <a:cs typeface="Times New Roman" pitchFamily="18" charset="0"/>
              </a:rPr>
              <a:t>eg</a:t>
            </a:r>
            <a:r>
              <a:rPr lang="zh-CN" altLang="en-US" sz="2800" dirty="0">
                <a:cs typeface="Times New Roman" pitchFamily="18" charset="0"/>
              </a:rPr>
              <a:t>：</a:t>
            </a:r>
            <a:r>
              <a:rPr lang="en-US" altLang="zh-CN" sz="2800" dirty="0">
                <a:cs typeface="Times New Roman" pitchFamily="18" charset="0"/>
              </a:rPr>
              <a:t>y=3*4, 4*5;</a:t>
            </a:r>
            <a:r>
              <a:rPr lang="en-US" altLang="zh-CN" sz="2800" dirty="0">
                <a:solidFill>
                  <a:srgbClr val="FFFF00"/>
                </a:solidFill>
                <a:cs typeface="Times New Roman" pitchFamily="18" charset="0"/>
              </a:rPr>
              <a:t>            </a:t>
            </a:r>
            <a:r>
              <a:rPr lang="en-US" altLang="zh-CN" sz="2800" dirty="0">
                <a:solidFill>
                  <a:srgbClr val="3333FF"/>
                </a:solidFill>
                <a:cs typeface="Times New Roman" pitchFamily="18" charset="0"/>
              </a:rPr>
              <a:t>//","</a:t>
            </a:r>
            <a:r>
              <a:rPr lang="zh-CN" altLang="en-US" sz="2800" dirty="0">
                <a:solidFill>
                  <a:srgbClr val="3333FF"/>
                </a:solidFill>
                <a:cs typeface="Times New Roman" pitchFamily="18" charset="0"/>
              </a:rPr>
              <a:t>在运算符中优先级最低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FFFF00"/>
                </a:solidFill>
                <a:cs typeface="Times New Roman" pitchFamily="18" charset="0"/>
              </a:rPr>
              <a:t>　　</a:t>
            </a:r>
            <a:r>
              <a:rPr lang="en-US" altLang="zh-CN" sz="2800" dirty="0">
                <a:cs typeface="Times New Roman" pitchFamily="18" charset="0"/>
              </a:rPr>
              <a:t>y=(3*4, 4*5);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800" dirty="0">
              <a:solidFill>
                <a:srgbClr val="FFFF00"/>
              </a:solidFill>
              <a:cs typeface="Times New Roman" pitchFamily="18" charset="0"/>
            </a:endParaRPr>
          </a:p>
        </p:txBody>
      </p:sp>
      <p:sp>
        <p:nvSpPr>
          <p:cNvPr id="39940" name="AutoShape 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277600" y="6553200"/>
            <a:ext cx="914400" cy="304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下一张</a:t>
            </a:r>
          </a:p>
        </p:txBody>
      </p:sp>
      <p:sp>
        <p:nvSpPr>
          <p:cNvPr id="39941" name="AutoShape 5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277600" y="6165850"/>
            <a:ext cx="914400" cy="304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上一张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12800" y="451104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2.3.1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常用运算符与表达式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9730826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43933" y="1524000"/>
            <a:ext cx="11582400" cy="4929188"/>
          </a:xfrm>
        </p:spPr>
        <p:txBody>
          <a:bodyPr>
            <a:normAutofit fontScale="85000" lnSpcReduction="20000"/>
          </a:bodyPr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600" dirty="0"/>
              <a:t>按运算符的优先级执行，同级时按运算符的结合性处理</a:t>
            </a:r>
          </a:p>
          <a:p>
            <a:pPr algn="just"/>
            <a:r>
              <a:rPr lang="zh-CN" altLang="en-US" sz="2800" dirty="0">
                <a:solidFill>
                  <a:srgbClr val="3333FF"/>
                </a:solidFill>
                <a:cs typeface="Times New Roman" pitchFamily="18" charset="0"/>
              </a:rPr>
              <a:t>运算符的优先级：        高    </a:t>
            </a:r>
            <a:r>
              <a:rPr lang="en-US" altLang="zh-CN" sz="2800" dirty="0">
                <a:solidFill>
                  <a:srgbClr val="3333FF"/>
                </a:solidFill>
                <a:cs typeface="Times New Roman" pitchFamily="18" charset="0"/>
              </a:rPr>
              <a:t>-&gt; </a:t>
            </a:r>
            <a:r>
              <a:rPr lang="en-US" altLang="zh-CN" sz="2800" dirty="0">
                <a:solidFill>
                  <a:srgbClr val="3333FF"/>
                </a:solidFill>
                <a:cs typeface="Times New Roman" pitchFamily="18" charset="0"/>
                <a:sym typeface="Wingdings" panose="05000000000000000000" pitchFamily="2" charset="2"/>
              </a:rPr>
              <a:t>  </a:t>
            </a:r>
            <a:r>
              <a:rPr lang="zh-CN" altLang="en-US" sz="2800" dirty="0">
                <a:solidFill>
                  <a:srgbClr val="3333FF"/>
                </a:solidFill>
                <a:cs typeface="Times New Roman" pitchFamily="18" charset="0"/>
                <a:sym typeface="Wingdings" panose="05000000000000000000" pitchFamily="2" charset="2"/>
              </a:rPr>
              <a:t>低</a:t>
            </a:r>
            <a:endParaRPr lang="zh-CN" altLang="en-US" sz="2800" dirty="0">
              <a:solidFill>
                <a:srgbClr val="3333FF"/>
              </a:solidFill>
              <a:cs typeface="Times New Roman" pitchFamily="18" charset="0"/>
            </a:endParaRPr>
          </a:p>
          <a:p>
            <a:endParaRPr lang="en-US" altLang="zh-CN" sz="2800" dirty="0">
              <a:solidFill>
                <a:srgbClr val="3333FF"/>
              </a:solidFill>
            </a:endParaRPr>
          </a:p>
          <a:p>
            <a:endParaRPr lang="en-US" altLang="zh-CN" sz="2800" dirty="0">
              <a:solidFill>
                <a:srgbClr val="3333FF"/>
              </a:solidFill>
            </a:endParaRPr>
          </a:p>
          <a:p>
            <a:endParaRPr lang="en-US" altLang="zh-CN" sz="2800" dirty="0">
              <a:solidFill>
                <a:srgbClr val="3333FF"/>
              </a:solidFill>
            </a:endParaRPr>
          </a:p>
          <a:p>
            <a:endParaRPr lang="en-US" altLang="zh-CN" sz="2800" dirty="0">
              <a:solidFill>
                <a:srgbClr val="3333FF"/>
              </a:solidFill>
            </a:endParaRPr>
          </a:p>
          <a:p>
            <a:r>
              <a:rPr lang="zh-CN" altLang="en-US" sz="2800" dirty="0">
                <a:solidFill>
                  <a:srgbClr val="3333FF"/>
                </a:solidFill>
              </a:rPr>
              <a:t>运算符的结合性：</a:t>
            </a:r>
            <a:r>
              <a:rPr lang="zh-CN" altLang="en-US" sz="2800" dirty="0"/>
              <a:t>左结合性</a:t>
            </a:r>
            <a:r>
              <a:rPr lang="en-US" altLang="zh-CN" sz="2800" dirty="0"/>
              <a:t>(</a:t>
            </a:r>
            <a:r>
              <a:rPr lang="zh-CN" altLang="en-US" sz="2800" dirty="0"/>
              <a:t>自左至右计算</a:t>
            </a:r>
            <a:r>
              <a:rPr lang="en-US" altLang="zh-CN" sz="2800" dirty="0"/>
              <a:t>)</a:t>
            </a:r>
            <a:r>
              <a:rPr lang="zh-CN" altLang="en-US" sz="2800" dirty="0"/>
              <a:t>和右结合性 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具右结合性：</a:t>
            </a:r>
            <a:r>
              <a:rPr lang="zh-CN" altLang="en-US" sz="2800" dirty="0">
                <a:solidFill>
                  <a:srgbClr val="CC00CC"/>
                </a:solidFill>
              </a:rPr>
              <a:t>赋值、条件、单目运算符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3333FF"/>
                </a:solidFill>
              </a:rPr>
              <a:t>     </a:t>
            </a:r>
            <a:r>
              <a:rPr lang="en-US" altLang="zh-CN" sz="2400" dirty="0">
                <a:solidFill>
                  <a:srgbClr val="3333FF"/>
                </a:solidFill>
              </a:rPr>
              <a:t>1.0*5/2</a:t>
            </a:r>
            <a:r>
              <a:rPr lang="en-US" altLang="zh-CN" sz="2400" dirty="0"/>
              <a:t>         </a:t>
            </a:r>
            <a:r>
              <a:rPr lang="en-US" altLang="zh-CN" sz="2400" dirty="0">
                <a:solidFill>
                  <a:schemeClr val="accent1"/>
                </a:solidFill>
              </a:rPr>
              <a:t>// *</a:t>
            </a:r>
            <a:r>
              <a:rPr lang="zh-CN" altLang="en-US" sz="2400" dirty="0">
                <a:solidFill>
                  <a:schemeClr val="accent1"/>
                </a:solidFill>
              </a:rPr>
              <a:t>、</a:t>
            </a:r>
            <a:r>
              <a:rPr lang="en-US" altLang="zh-CN" sz="2400" dirty="0">
                <a:solidFill>
                  <a:schemeClr val="accent1"/>
                </a:solidFill>
              </a:rPr>
              <a:t>/ </a:t>
            </a:r>
            <a:r>
              <a:rPr lang="zh-CN" altLang="en-US" sz="2400" dirty="0">
                <a:solidFill>
                  <a:schemeClr val="accent1"/>
                </a:solidFill>
              </a:rPr>
              <a:t>同级，具左结合性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rgbClr val="3333FF"/>
                </a:solidFill>
              </a:rPr>
              <a:t>      </a:t>
            </a:r>
            <a:r>
              <a:rPr lang="en-US" altLang="zh-CN" sz="2400" dirty="0">
                <a:solidFill>
                  <a:srgbClr val="3333FF"/>
                </a:solidFill>
              </a:rPr>
              <a:t>a=b=3*4</a:t>
            </a:r>
            <a:r>
              <a:rPr lang="en-US" altLang="zh-CN" sz="2400" dirty="0"/>
              <a:t>       </a:t>
            </a:r>
            <a:r>
              <a:rPr lang="en-US" altLang="zh-CN" sz="2400" dirty="0">
                <a:solidFill>
                  <a:schemeClr val="accent1"/>
                </a:solidFill>
              </a:rPr>
              <a:t>// *</a:t>
            </a:r>
            <a:r>
              <a:rPr lang="zh-CN" altLang="en-US" sz="2400" dirty="0">
                <a:solidFill>
                  <a:schemeClr val="accent1"/>
                </a:solidFill>
              </a:rPr>
              <a:t>比</a:t>
            </a:r>
            <a:r>
              <a:rPr lang="en-US" altLang="zh-CN" sz="2400" dirty="0">
                <a:solidFill>
                  <a:schemeClr val="accent1"/>
                </a:solidFill>
              </a:rPr>
              <a:t>=</a:t>
            </a:r>
            <a:r>
              <a:rPr lang="zh-CN" altLang="en-US" sz="2400" dirty="0">
                <a:solidFill>
                  <a:schemeClr val="accent1"/>
                </a:solidFill>
              </a:rPr>
              <a:t>优先，</a:t>
            </a:r>
            <a:r>
              <a:rPr lang="en-US" altLang="zh-CN" sz="2400" dirty="0">
                <a:solidFill>
                  <a:schemeClr val="accent1"/>
                </a:solidFill>
              </a:rPr>
              <a:t>=</a:t>
            </a:r>
            <a:r>
              <a:rPr lang="zh-CN" altLang="en-US" sz="2400" dirty="0">
                <a:solidFill>
                  <a:schemeClr val="accent1"/>
                </a:solidFill>
              </a:rPr>
              <a:t>具右结合性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</a:rPr>
              <a:t>避免歧义，多用</a:t>
            </a:r>
            <a:r>
              <a:rPr lang="en-US" altLang="zh-CN" sz="2400" dirty="0">
                <a:solidFill>
                  <a:srgbClr val="CC00CC"/>
                </a:solidFill>
              </a:rPr>
              <a:t>( )</a:t>
            </a:r>
          </a:p>
        </p:txBody>
      </p:sp>
      <p:sp>
        <p:nvSpPr>
          <p:cNvPr id="47108" name="AutoShape 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245600" y="5867400"/>
            <a:ext cx="914400" cy="304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下一张</a:t>
            </a:r>
          </a:p>
        </p:txBody>
      </p:sp>
      <p:sp>
        <p:nvSpPr>
          <p:cNvPr id="47109" name="AutoShape 5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924800" y="5867400"/>
            <a:ext cx="914400" cy="304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上一张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12800" y="451104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2.3.2</a:t>
            </a:r>
            <a:r>
              <a:rPr kumimoji="0" lang="zh-CN" altLang="en-US" sz="32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　多种类型混合运算</a:t>
            </a:r>
            <a:endParaRPr kumimoji="0" lang="en-US" altLang="zh-CN" sz="3200" b="1" i="0" u="none" strike="noStrike" kern="1200" cap="none" spc="20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j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1. </a:t>
            </a:r>
            <a:r>
              <a:rPr kumimoji="0" lang="zh-CN" altLang="en-US" sz="32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运算符的优先级和结合性 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32163A8-BC3C-0A43-1889-A4E8AACE5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471630"/>
              </p:ext>
            </p:extLst>
          </p:nvPr>
        </p:nvGraphicFramePr>
        <p:xfrm>
          <a:off x="552450" y="2254377"/>
          <a:ext cx="9747187" cy="1269873"/>
        </p:xfrm>
        <a:graphic>
          <a:graphicData uri="http://schemas.openxmlformats.org/drawingml/2006/table">
            <a:tbl>
              <a:tblPr firstRow="1" firstCol="1" bandRow="1"/>
              <a:tblGrid>
                <a:gridCol w="754278">
                  <a:extLst>
                    <a:ext uri="{9D8B030D-6E8A-4147-A177-3AD203B41FA5}">
                      <a16:colId xmlns:a16="http://schemas.microsoft.com/office/drawing/2014/main" val="1292642144"/>
                    </a:ext>
                  </a:extLst>
                </a:gridCol>
                <a:gridCol w="1169375">
                  <a:extLst>
                    <a:ext uri="{9D8B030D-6E8A-4147-A177-3AD203B41FA5}">
                      <a16:colId xmlns:a16="http://schemas.microsoft.com/office/drawing/2014/main" val="4069742731"/>
                    </a:ext>
                  </a:extLst>
                </a:gridCol>
                <a:gridCol w="1166925">
                  <a:extLst>
                    <a:ext uri="{9D8B030D-6E8A-4147-A177-3AD203B41FA5}">
                      <a16:colId xmlns:a16="http://schemas.microsoft.com/office/drawing/2014/main" val="3273971549"/>
                    </a:ext>
                  </a:extLst>
                </a:gridCol>
                <a:gridCol w="948022">
                  <a:extLst>
                    <a:ext uri="{9D8B030D-6E8A-4147-A177-3AD203B41FA5}">
                      <a16:colId xmlns:a16="http://schemas.microsoft.com/office/drawing/2014/main" val="3111606075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259507336"/>
                    </a:ext>
                  </a:extLst>
                </a:gridCol>
                <a:gridCol w="886520">
                  <a:extLst>
                    <a:ext uri="{9D8B030D-6E8A-4147-A177-3AD203B41FA5}">
                      <a16:colId xmlns:a16="http://schemas.microsoft.com/office/drawing/2014/main" val="975220184"/>
                    </a:ext>
                  </a:extLst>
                </a:gridCol>
                <a:gridCol w="854685">
                  <a:extLst>
                    <a:ext uri="{9D8B030D-6E8A-4147-A177-3AD203B41FA5}">
                      <a16:colId xmlns:a16="http://schemas.microsoft.com/office/drawing/2014/main" val="1770496195"/>
                    </a:ext>
                  </a:extLst>
                </a:gridCol>
                <a:gridCol w="1379985">
                  <a:extLst>
                    <a:ext uri="{9D8B030D-6E8A-4147-A177-3AD203B41FA5}">
                      <a16:colId xmlns:a16="http://schemas.microsoft.com/office/drawing/2014/main" val="449281434"/>
                    </a:ext>
                  </a:extLst>
                </a:gridCol>
                <a:gridCol w="996722">
                  <a:extLst>
                    <a:ext uri="{9D8B030D-6E8A-4147-A177-3AD203B41FA5}">
                      <a16:colId xmlns:a16="http://schemas.microsoft.com/office/drawing/2014/main" val="133219246"/>
                    </a:ext>
                  </a:extLst>
                </a:gridCol>
              </a:tblGrid>
              <a:tr h="491326"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圆括号</a:t>
                      </a: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单目</a:t>
                      </a:r>
                    </a:p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运算符</a:t>
                      </a: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算术</a:t>
                      </a:r>
                    </a:p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运算符</a:t>
                      </a: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移位</a:t>
                      </a:r>
                    </a:p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运算符</a:t>
                      </a: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关系</a:t>
                      </a:r>
                    </a:p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运算符</a:t>
                      </a: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</a:t>
                      </a:r>
                    </a:p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运算符</a:t>
                      </a: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条件</a:t>
                      </a:r>
                    </a:p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运算符</a:t>
                      </a: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赋值</a:t>
                      </a:r>
                    </a:p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运算符</a:t>
                      </a: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逗号</a:t>
                      </a:r>
                    </a:p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运算符</a:t>
                      </a: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8466365"/>
                  </a:ext>
                </a:extLst>
              </a:tr>
              <a:tr h="778547"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solidFill>
                            <a:srgbClr val="0072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 )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!</a:t>
                      </a:r>
                      <a:r>
                        <a:rPr lang="en-US" sz="1600" kern="10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取负</a:t>
                      </a:r>
                      <a:r>
                        <a:rPr lang="en-US" sz="1600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600" kern="10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++</a:t>
                      </a:r>
                      <a:r>
                        <a:rPr lang="en-US" sz="1600" kern="100">
                          <a:solidFill>
                            <a:srgbClr val="0072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>
                          <a:solidFill>
                            <a:srgbClr val="0072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 -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&lt;&lt;</a:t>
                      </a: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&gt;&gt;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&gt;=</a:t>
                      </a: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&lt;=</a:t>
                      </a: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==</a:t>
                      </a: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!=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&amp;&amp;</a:t>
                      </a: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||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?: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+=</a:t>
                      </a: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-=</a:t>
                      </a: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*=</a:t>
                      </a: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/=</a:t>
                      </a: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%=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200"/>
                        </a:lnSpc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 dirty="0">
                          <a:solidFill>
                            <a:srgbClr val="0072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446248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093263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24417" y="1341438"/>
            <a:ext cx="11343216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C</a:t>
            </a:r>
            <a:r>
              <a:rPr lang="zh-CN" altLang="en-US" sz="2800" dirty="0"/>
              <a:t>语言允许整型、实型、字符型数据间作混合运算。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3333FF"/>
                </a:solidFill>
                <a:latin typeface="宋体" pitchFamily="2" charset="-122"/>
              </a:rPr>
              <a:t>算术运算中的类型转换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6600CC"/>
                </a:solidFill>
                <a:latin typeface="宋体" pitchFamily="2" charset="-122"/>
              </a:rPr>
              <a:t>(1) </a:t>
            </a:r>
            <a:r>
              <a:rPr lang="zh-CN" altLang="en-US" sz="2800" dirty="0">
                <a:solidFill>
                  <a:srgbClr val="6600CC"/>
                </a:solidFill>
                <a:latin typeface="宋体" pitchFamily="2" charset="-122"/>
              </a:rPr>
              <a:t>自动转换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latin typeface="宋体" pitchFamily="2" charset="-122"/>
              </a:rPr>
              <a:t>　字节数少的数据类型－</a:t>
            </a:r>
            <a:r>
              <a:rPr lang="en-US" altLang="zh-CN" sz="2800" dirty="0">
                <a:latin typeface="宋体" pitchFamily="2" charset="-122"/>
              </a:rPr>
              <a:t>&gt;</a:t>
            </a:r>
            <a:r>
              <a:rPr lang="zh-CN" altLang="en-US" sz="2800" dirty="0">
                <a:latin typeface="宋体" pitchFamily="2" charset="-122"/>
              </a:rPr>
              <a:t>字节占用量高的类型</a:t>
            </a:r>
            <a:r>
              <a:rPr lang="zh-CN" altLang="en-US" sz="2800" dirty="0">
                <a:solidFill>
                  <a:srgbClr val="FFFF00"/>
                </a:solidFill>
                <a:latin typeface="宋体" pitchFamily="2" charset="-122"/>
              </a:rPr>
              <a:t> </a:t>
            </a:r>
            <a:endParaRPr lang="zh-CN" altLang="en-US" sz="2800" dirty="0">
              <a:solidFill>
                <a:srgbClr val="FFFF0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800" dirty="0">
              <a:solidFill>
                <a:srgbClr val="FFFF00"/>
              </a:solidFill>
              <a:latin typeface="宋体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800" dirty="0">
              <a:latin typeface="宋体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latin typeface="宋体" pitchFamily="2" charset="-122"/>
              </a:rPr>
              <a:t>　　</a:t>
            </a:r>
            <a:endParaRPr lang="en-US" altLang="zh-CN" sz="2800" dirty="0">
              <a:solidFill>
                <a:srgbClr val="3333FF"/>
              </a:solidFill>
              <a:latin typeface="宋体" pitchFamily="2" charset="-122"/>
            </a:endParaRPr>
          </a:p>
          <a:p>
            <a:pPr algn="just">
              <a:buNone/>
            </a:pPr>
            <a:r>
              <a:rPr lang="zh-CN" altLang="en-US" sz="2800" dirty="0">
                <a:solidFill>
                  <a:srgbClr val="3333FF"/>
                </a:solidFill>
                <a:latin typeface="宋体" pitchFamily="2" charset="-122"/>
              </a:rPr>
              <a:t>　　</a:t>
            </a:r>
            <a:r>
              <a:rPr lang="en-US" altLang="zh-CN" sz="2800" dirty="0">
                <a:solidFill>
                  <a:srgbClr val="3333FF"/>
                </a:solidFill>
                <a:latin typeface="宋体" pitchFamily="2" charset="-122"/>
              </a:rPr>
              <a:t>2+5.0</a:t>
            </a:r>
            <a:endParaRPr lang="en-US" altLang="zh-CN" sz="2800" dirty="0">
              <a:solidFill>
                <a:srgbClr val="00CCFF"/>
              </a:solidFill>
            </a:endParaRPr>
          </a:p>
        </p:txBody>
      </p:sp>
      <p:sp>
        <p:nvSpPr>
          <p:cNvPr id="196612" name="AutoShape 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277600" y="6553200"/>
            <a:ext cx="914400" cy="304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下一张</a:t>
            </a:r>
          </a:p>
        </p:txBody>
      </p:sp>
      <p:sp>
        <p:nvSpPr>
          <p:cNvPr id="196613" name="AutoShape 5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277600" y="6237288"/>
            <a:ext cx="914400" cy="304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上一张</a:t>
            </a:r>
          </a:p>
        </p:txBody>
      </p:sp>
      <p:sp>
        <p:nvSpPr>
          <p:cNvPr id="196614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784168" y="5348288"/>
            <a:ext cx="278341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short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、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char</a:t>
            </a:r>
          </a:p>
        </p:txBody>
      </p:sp>
      <p:sp>
        <p:nvSpPr>
          <p:cNvPr id="196615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893984" y="5341938"/>
            <a:ext cx="5437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int</a:t>
            </a:r>
          </a:p>
        </p:txBody>
      </p:sp>
      <p:sp>
        <p:nvSpPr>
          <p:cNvPr id="196616" name="Text Box 8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769100" y="4579938"/>
            <a:ext cx="13660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unsigned</a:t>
            </a:r>
          </a:p>
        </p:txBody>
      </p:sp>
      <p:sp>
        <p:nvSpPr>
          <p:cNvPr id="196617" name="Text Box 9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760633" y="3894138"/>
            <a:ext cx="7489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long</a:t>
            </a:r>
          </a:p>
        </p:txBody>
      </p:sp>
      <p:sp>
        <p:nvSpPr>
          <p:cNvPr id="196618" name="Text Box 10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690784" y="3284538"/>
            <a:ext cx="10743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double</a:t>
            </a:r>
          </a:p>
        </p:txBody>
      </p:sp>
      <p:sp>
        <p:nvSpPr>
          <p:cNvPr id="196619" name="Text Box 1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9027585" y="3284538"/>
            <a:ext cx="7825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float</a:t>
            </a:r>
          </a:p>
        </p:txBody>
      </p:sp>
      <p:sp>
        <p:nvSpPr>
          <p:cNvPr id="196620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H="1">
            <a:off x="8113184" y="3589338"/>
            <a:ext cx="711200" cy="0"/>
          </a:xfrm>
          <a:prstGeom prst="line">
            <a:avLst/>
          </a:prstGeom>
          <a:noFill/>
          <a:ln w="38100" cap="sq">
            <a:solidFill>
              <a:srgbClr val="54A5B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621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V="1">
            <a:off x="7401984" y="3665538"/>
            <a:ext cx="0" cy="304800"/>
          </a:xfrm>
          <a:prstGeom prst="line">
            <a:avLst/>
          </a:prstGeom>
          <a:noFill/>
          <a:ln w="38100" cap="sq">
            <a:solidFill>
              <a:srgbClr val="54A5B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622" name="Line 1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V="1">
            <a:off x="7344833" y="4348163"/>
            <a:ext cx="0" cy="304800"/>
          </a:xfrm>
          <a:prstGeom prst="line">
            <a:avLst/>
          </a:prstGeom>
          <a:noFill/>
          <a:ln w="38100" cap="sq">
            <a:solidFill>
              <a:srgbClr val="54A5B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623" name="Line 15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 flipV="1">
            <a:off x="7344833" y="5037138"/>
            <a:ext cx="0" cy="304800"/>
          </a:xfrm>
          <a:prstGeom prst="line">
            <a:avLst/>
          </a:prstGeom>
          <a:noFill/>
          <a:ln w="38100" cap="sq">
            <a:solidFill>
              <a:srgbClr val="54A5B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624" name="Line 16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flipH="1">
            <a:off x="7778751" y="5646738"/>
            <a:ext cx="812800" cy="0"/>
          </a:xfrm>
          <a:prstGeom prst="line">
            <a:avLst/>
          </a:prstGeom>
          <a:noFill/>
          <a:ln w="38100" cap="sq">
            <a:solidFill>
              <a:srgbClr val="54A5B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625" name="Text Box 17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437967" y="5949950"/>
            <a:ext cx="21082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+mn-cs"/>
              </a:rPr>
              <a:t>类型转换方向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812800" y="451104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2.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类型转换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37525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4" grpId="0"/>
      <p:bldP spid="196615" grpId="0"/>
      <p:bldP spid="196616" grpId="0"/>
      <p:bldP spid="196617" grpId="0"/>
      <p:bldP spid="196618" grpId="0"/>
      <p:bldP spid="196619" grpId="0"/>
      <p:bldP spid="196620" grpId="0" animBg="1"/>
      <p:bldP spid="196621" grpId="0" animBg="1"/>
      <p:bldP spid="196622" grpId="0" animBg="1"/>
      <p:bldP spid="196623" grpId="0" animBg="1"/>
      <p:bldP spid="196624" grpId="0" animBg="1"/>
      <p:bldP spid="1966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3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334434" y="692150"/>
            <a:ext cx="11137900" cy="5761038"/>
          </a:xfrm>
        </p:spPr>
        <p:txBody>
          <a:bodyPr>
            <a:normAutofit fontScale="85000" lnSpcReduction="2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6600CC"/>
                </a:solidFill>
                <a:cs typeface="Times New Roman" pitchFamily="18" charset="0"/>
              </a:rPr>
              <a:t>(2) </a:t>
            </a:r>
            <a:r>
              <a:rPr lang="zh-CN" altLang="en-US" sz="2800" dirty="0">
                <a:solidFill>
                  <a:srgbClr val="6600CC"/>
                </a:solidFill>
                <a:cs typeface="Times New Roman" pitchFamily="18" charset="0"/>
              </a:rPr>
              <a:t>强制类型转换</a:t>
            </a:r>
            <a:r>
              <a:rPr lang="zh-CN" altLang="en-US" sz="2800" dirty="0">
                <a:cs typeface="Times New Roman" pitchFamily="18" charset="0"/>
              </a:rPr>
              <a:t>－使用类型转换运算</a:t>
            </a:r>
            <a:r>
              <a:rPr lang="en-US" altLang="zh-CN" sz="2800" dirty="0"/>
              <a:t>,</a:t>
            </a:r>
            <a:r>
              <a:rPr lang="zh-CN" altLang="en-US" sz="2800" dirty="0">
                <a:cs typeface="Times New Roman" pitchFamily="18" charset="0"/>
              </a:rPr>
              <a:t>把表达式的运算结果强制转换成类型标识符所表示的类型：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FFFF00"/>
                </a:solidFill>
                <a:cs typeface="Times New Roman" pitchFamily="18" charset="0"/>
              </a:rPr>
              <a:t>               </a:t>
            </a:r>
            <a:r>
              <a:rPr lang="zh-CN" altLang="en-US" sz="2800" dirty="0">
                <a:solidFill>
                  <a:srgbClr val="CC00CC"/>
                </a:solidFill>
                <a:cs typeface="Times New Roman" pitchFamily="18" charset="0"/>
              </a:rPr>
              <a:t>（类型标识符）表达式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 err="1">
                <a:cs typeface="Times New Roman" pitchFamily="18" charset="0"/>
              </a:rPr>
              <a:t>eg</a:t>
            </a:r>
            <a:r>
              <a:rPr lang="en-US" altLang="zh-CN" sz="2800" dirty="0">
                <a:cs typeface="Times New Roman" pitchFamily="18" charset="0"/>
              </a:rPr>
              <a:t>:   int </a:t>
            </a:r>
            <a:r>
              <a:rPr lang="en-US" altLang="zh-CN" sz="2800" dirty="0" err="1">
                <a:cs typeface="Times New Roman" pitchFamily="18" charset="0"/>
              </a:rPr>
              <a:t>i</a:t>
            </a:r>
            <a:r>
              <a:rPr lang="en-US" altLang="zh-CN" sz="2800" dirty="0">
                <a:cs typeface="Times New Roman" pitchFamily="18" charset="0"/>
              </a:rPr>
              <a:t> = 5, j = 2;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cs typeface="Times New Roman" pitchFamily="18" charset="0"/>
              </a:rPr>
              <a:t>    </a:t>
            </a:r>
            <a:r>
              <a:rPr lang="zh-CN" altLang="en-US" sz="2800" dirty="0">
                <a:cs typeface="Times New Roman" pitchFamily="18" charset="0"/>
              </a:rPr>
              <a:t>　</a:t>
            </a:r>
            <a:r>
              <a:rPr lang="en-US" altLang="zh-CN" sz="2800" dirty="0">
                <a:cs typeface="Times New Roman" pitchFamily="18" charset="0"/>
              </a:rPr>
              <a:t>double k;</a:t>
            </a:r>
          </a:p>
          <a:p>
            <a:pPr algn="just">
              <a:buNone/>
            </a:pPr>
            <a:r>
              <a:rPr lang="en-US" altLang="zh-CN" sz="2800" dirty="0">
                <a:solidFill>
                  <a:srgbClr val="000000"/>
                </a:solidFill>
                <a:cs typeface="Times New Roman" pitchFamily="18" charset="0"/>
              </a:rPr>
              <a:t>    </a:t>
            </a:r>
            <a:r>
              <a:rPr lang="zh-CN" altLang="en-US" sz="2800" dirty="0">
                <a:solidFill>
                  <a:srgbClr val="000000"/>
                </a:solidFill>
                <a:cs typeface="Times New Roman" pitchFamily="18" charset="0"/>
              </a:rPr>
              <a:t>　</a:t>
            </a:r>
            <a:r>
              <a:rPr lang="en-US" altLang="zh-CN" sz="2800" dirty="0">
                <a:cs typeface="Times New Roman" pitchFamily="18" charset="0"/>
              </a:rPr>
              <a:t>k = </a:t>
            </a:r>
            <a:r>
              <a:rPr lang="en-US" altLang="zh-CN" sz="2800" dirty="0">
                <a:solidFill>
                  <a:srgbClr val="CC00CC"/>
                </a:solidFill>
                <a:cs typeface="Times New Roman" pitchFamily="18" charset="0"/>
              </a:rPr>
              <a:t>(double)</a:t>
            </a:r>
            <a:r>
              <a:rPr lang="en-US" altLang="zh-CN" sz="2800" dirty="0" err="1">
                <a:solidFill>
                  <a:srgbClr val="CC00CC"/>
                </a:solidFill>
                <a:cs typeface="Times New Roman" pitchFamily="18" charset="0"/>
              </a:rPr>
              <a:t>i</a:t>
            </a:r>
            <a:r>
              <a:rPr lang="en-US" altLang="zh-CN" sz="2800" dirty="0">
                <a:solidFill>
                  <a:srgbClr val="CC00CC"/>
                </a:solidFill>
                <a:cs typeface="Times New Roman" pitchFamily="18" charset="0"/>
              </a:rPr>
              <a:t> </a:t>
            </a:r>
            <a:r>
              <a:rPr lang="en-US" altLang="zh-CN" sz="2800" dirty="0">
                <a:cs typeface="Times New Roman" pitchFamily="18" charset="0"/>
              </a:rPr>
              <a:t>/ j;                  </a:t>
            </a:r>
            <a:r>
              <a:rPr lang="en-US" altLang="zh-CN" sz="2800" dirty="0">
                <a:solidFill>
                  <a:srgbClr val="CCCCFF"/>
                </a:solidFill>
                <a:cs typeface="Times New Roman" pitchFamily="18" charset="0"/>
              </a:rPr>
              <a:t>//  2.5 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  <a:cs typeface="Times New Roman" pitchFamily="18" charset="0"/>
              </a:rPr>
              <a:t>    </a:t>
            </a:r>
            <a:r>
              <a:rPr lang="zh-CN" altLang="en-US" sz="2800" dirty="0">
                <a:solidFill>
                  <a:srgbClr val="000000"/>
                </a:solidFill>
                <a:cs typeface="Times New Roman" pitchFamily="18" charset="0"/>
              </a:rPr>
              <a:t>　</a:t>
            </a:r>
            <a:r>
              <a:rPr lang="en-US" altLang="zh-CN" sz="2800" dirty="0">
                <a:cs typeface="Times New Roman" pitchFamily="18" charset="0"/>
              </a:rPr>
              <a:t>k = (double)</a:t>
            </a:r>
            <a:r>
              <a:rPr lang="en-US" altLang="zh-CN" sz="2800" dirty="0">
                <a:solidFill>
                  <a:srgbClr val="CC00CC"/>
                </a:solidFill>
                <a:cs typeface="Times New Roman" pitchFamily="18" charset="0"/>
              </a:rPr>
              <a:t>(</a:t>
            </a:r>
            <a:r>
              <a:rPr lang="en-US" altLang="zh-CN" sz="2800" dirty="0" err="1">
                <a:solidFill>
                  <a:srgbClr val="CC00CC"/>
                </a:solidFill>
                <a:cs typeface="Times New Roman" pitchFamily="18" charset="0"/>
              </a:rPr>
              <a:t>i</a:t>
            </a:r>
            <a:r>
              <a:rPr lang="en-US" altLang="zh-CN" sz="2800" dirty="0">
                <a:solidFill>
                  <a:srgbClr val="CC00CC"/>
                </a:solidFill>
                <a:cs typeface="Times New Roman" pitchFamily="18" charset="0"/>
              </a:rPr>
              <a:t> / j)</a:t>
            </a:r>
            <a:r>
              <a:rPr lang="en-US" altLang="zh-CN" sz="2800" dirty="0">
                <a:cs typeface="Times New Roman" pitchFamily="18" charset="0"/>
              </a:rPr>
              <a:t>;</a:t>
            </a:r>
            <a:r>
              <a:rPr lang="en-US" altLang="zh-CN" sz="2800" dirty="0">
                <a:solidFill>
                  <a:srgbClr val="FFFF00"/>
                </a:solidFill>
                <a:cs typeface="Times New Roman" pitchFamily="18" charset="0"/>
              </a:rPr>
              <a:t> </a:t>
            </a:r>
            <a:r>
              <a:rPr lang="zh-CN" altLang="en-US" sz="2800" dirty="0">
                <a:cs typeface="Times New Roman" pitchFamily="18" charset="0"/>
              </a:rPr>
              <a:t>　　　</a:t>
            </a:r>
            <a:r>
              <a:rPr lang="zh-CN" altLang="en-US" sz="2800" dirty="0">
                <a:solidFill>
                  <a:srgbClr val="CCCCFF"/>
                </a:solidFill>
                <a:cs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CCCCFF"/>
                </a:solidFill>
                <a:cs typeface="Times New Roman" pitchFamily="18" charset="0"/>
              </a:rPr>
              <a:t>//</a:t>
            </a:r>
            <a:r>
              <a:rPr lang="zh-CN" altLang="en-US" sz="2800" dirty="0">
                <a:solidFill>
                  <a:srgbClr val="CCCCFF"/>
                </a:solidFill>
                <a:cs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CCCCFF"/>
                </a:solidFill>
                <a:cs typeface="Times New Roman" pitchFamily="18" charset="0"/>
              </a:rPr>
              <a:t>2.0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FF00"/>
                </a:solidFill>
              </a:rPr>
              <a:t>　</a:t>
            </a:r>
            <a:r>
              <a:rPr lang="zh-CN" altLang="en-US" sz="2800" dirty="0">
                <a:cs typeface="Times New Roman" pitchFamily="18" charset="0"/>
              </a:rPr>
              <a:t>　　　　　　　　　　 </a:t>
            </a:r>
            <a:r>
              <a:rPr lang="en-US" altLang="zh-CN" sz="2800" dirty="0">
                <a:solidFill>
                  <a:srgbClr val="CC00CC"/>
                </a:solidFill>
                <a:cs typeface="Times New Roman" pitchFamily="18" charset="0"/>
              </a:rPr>
              <a:t>//  k=double(</a:t>
            </a:r>
            <a:r>
              <a:rPr lang="en-US" altLang="zh-CN" sz="2800" dirty="0" err="1">
                <a:solidFill>
                  <a:srgbClr val="CC00CC"/>
                </a:solidFill>
                <a:cs typeface="Times New Roman" pitchFamily="18" charset="0"/>
              </a:rPr>
              <a:t>i</a:t>
            </a:r>
            <a:r>
              <a:rPr lang="en-US" altLang="zh-CN" sz="2800" dirty="0">
                <a:solidFill>
                  <a:srgbClr val="CC00CC"/>
                </a:solidFill>
                <a:cs typeface="Times New Roman" pitchFamily="18" charset="0"/>
              </a:rPr>
              <a:t>/j);</a:t>
            </a:r>
            <a:r>
              <a:rPr lang="en-US" altLang="zh-CN" sz="2800" dirty="0">
                <a:cs typeface="Times New Roman" pitchFamily="18" charset="0"/>
              </a:rPr>
              <a:t>       </a:t>
            </a:r>
            <a:r>
              <a:rPr lang="en-US" altLang="zh-CN" sz="2800" dirty="0">
                <a:solidFill>
                  <a:srgbClr val="FF0000"/>
                </a:solidFill>
                <a:cs typeface="Times New Roman" pitchFamily="18" charset="0"/>
              </a:rPr>
              <a:t>×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/>
              <a:t>强制转换和自动转换 都只是一种作用于本次运算的临时性转换，不会改变数据原来的类型。  </a:t>
            </a:r>
            <a:r>
              <a:rPr lang="en-US" altLang="zh-CN" sz="2400" dirty="0" err="1">
                <a:solidFill>
                  <a:srgbClr val="CC00CC"/>
                </a:solidFill>
              </a:rPr>
              <a:t>i</a:t>
            </a:r>
            <a:r>
              <a:rPr lang="en-US" altLang="zh-CN" sz="2400" dirty="0">
                <a:solidFill>
                  <a:srgbClr val="CC00CC"/>
                </a:solidFill>
              </a:rPr>
              <a:t>-&gt;</a:t>
            </a:r>
            <a:r>
              <a:rPr lang="en-US" altLang="zh-CN" sz="2400" dirty="0" err="1">
                <a:solidFill>
                  <a:srgbClr val="CC00CC"/>
                </a:solidFill>
              </a:rPr>
              <a:t>int</a:t>
            </a:r>
            <a:endParaRPr lang="en-US" altLang="zh-CN" sz="2400" dirty="0">
              <a:solidFill>
                <a:srgbClr val="CC00CC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dirty="0">
              <a:solidFill>
                <a:srgbClr val="CC00CC"/>
              </a:solidFill>
            </a:endParaRPr>
          </a:p>
          <a:p>
            <a:r>
              <a:rPr lang="en-US" altLang="zh-CN" dirty="0">
                <a:solidFill>
                  <a:srgbClr val="6600CC"/>
                </a:solidFill>
              </a:rPr>
              <a:t>(3) </a:t>
            </a:r>
            <a:r>
              <a:rPr lang="zh-CN" altLang="en-US" dirty="0">
                <a:solidFill>
                  <a:srgbClr val="6600CC"/>
                </a:solidFill>
              </a:rPr>
              <a:t>赋值时数据类型的转换</a:t>
            </a:r>
            <a:endParaRPr lang="en-US" altLang="zh-CN" dirty="0">
              <a:solidFill>
                <a:srgbClr val="6600CC"/>
              </a:solidFill>
              <a:cs typeface="Times New Roman" pitchFamily="18" charset="0"/>
            </a:endParaRPr>
          </a:p>
          <a:p>
            <a:pPr>
              <a:buNone/>
            </a:pPr>
            <a:r>
              <a:rPr lang="en-US" altLang="zh-CN" dirty="0"/>
              <a:t>    </a:t>
            </a:r>
            <a:r>
              <a:rPr lang="zh-CN" altLang="en-US" dirty="0"/>
              <a:t>在赋值语句中，左边变量与右边表达式的类型不一致时，系统将表达式的值类型转换为左侧变量的类型，再赋值。</a:t>
            </a:r>
          </a:p>
          <a:p>
            <a:pPr>
              <a:buNone/>
            </a:pPr>
            <a:r>
              <a:rPr lang="en-US" altLang="zh-CN" dirty="0" err="1"/>
              <a:t>eg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3333FF"/>
                </a:solidFill>
              </a:rPr>
              <a:t>int x = 3; </a:t>
            </a:r>
            <a:r>
              <a:rPr lang="zh-CN" altLang="en-US" dirty="0">
                <a:solidFill>
                  <a:srgbClr val="3333FF"/>
                </a:solidFill>
              </a:rPr>
              <a:t>　　　　　　</a:t>
            </a:r>
          </a:p>
          <a:p>
            <a:pPr>
              <a:buNone/>
            </a:pPr>
            <a:r>
              <a:rPr lang="zh-CN" altLang="en-US" dirty="0">
                <a:solidFill>
                  <a:srgbClr val="3333FF"/>
                </a:solidFill>
              </a:rPr>
              <a:t>　　</a:t>
            </a:r>
            <a:r>
              <a:rPr lang="en-US" altLang="zh-CN" dirty="0">
                <a:solidFill>
                  <a:srgbClr val="3333FF"/>
                </a:solidFill>
              </a:rPr>
              <a:t>x = x + 1.99;</a:t>
            </a:r>
            <a:r>
              <a:rPr lang="zh-CN" altLang="en-US" dirty="0">
                <a:solidFill>
                  <a:srgbClr val="3333FF"/>
                </a:solidFill>
              </a:rPr>
              <a:t>　</a:t>
            </a:r>
            <a:r>
              <a:rPr lang="en-US" altLang="zh-CN" dirty="0">
                <a:solidFill>
                  <a:srgbClr val="CC00CC"/>
                </a:solidFill>
              </a:rPr>
              <a:t>// x = 4</a:t>
            </a:r>
            <a:r>
              <a:rPr lang="zh-CN" altLang="en-US" dirty="0">
                <a:solidFill>
                  <a:srgbClr val="3333FF"/>
                </a:solidFill>
              </a:rPr>
              <a:t>　　　　</a:t>
            </a:r>
            <a:endParaRPr lang="zh-CN" altLang="en-US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altLang="zh-CN" sz="2000" dirty="0"/>
              <a:t>long</a:t>
            </a:r>
            <a:r>
              <a:rPr lang="zh-CN" altLang="en-US" sz="2000" dirty="0"/>
              <a:t>型或</a:t>
            </a:r>
            <a:r>
              <a:rPr lang="en-US" altLang="zh-CN" sz="2000" dirty="0"/>
              <a:t>double</a:t>
            </a:r>
            <a:r>
              <a:rPr lang="zh-CN" altLang="en-US" sz="2000" dirty="0"/>
              <a:t>型数据给</a:t>
            </a:r>
            <a:r>
              <a:rPr lang="en-US" altLang="zh-CN" sz="2000" dirty="0" err="1"/>
              <a:t>int</a:t>
            </a:r>
            <a:r>
              <a:rPr lang="zh-CN" altLang="en-US" sz="2000" dirty="0"/>
              <a:t>型或</a:t>
            </a:r>
            <a:r>
              <a:rPr lang="en-US" altLang="zh-CN" sz="2000" dirty="0"/>
              <a:t>float</a:t>
            </a:r>
            <a:r>
              <a:rPr lang="zh-CN" altLang="en-US" sz="2000" dirty="0"/>
              <a:t>型变量赋值时，可能会引起数值溢出或产生舍入误差。</a:t>
            </a:r>
            <a:endParaRPr lang="en-US" altLang="zh-CN" sz="2400" dirty="0">
              <a:solidFill>
                <a:srgbClr val="CC00CC"/>
              </a:solidFill>
            </a:endParaRPr>
          </a:p>
        </p:txBody>
      </p:sp>
      <p:sp>
        <p:nvSpPr>
          <p:cNvPr id="204804" name="AutoShape 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703984" y="6308725"/>
            <a:ext cx="914400" cy="304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下一张</a:t>
            </a:r>
          </a:p>
        </p:txBody>
      </p:sp>
      <p:sp>
        <p:nvSpPr>
          <p:cNvPr id="204805" name="AutoShape 5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264651" y="6308725"/>
            <a:ext cx="914400" cy="304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上一张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8740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9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304800" y="476250"/>
            <a:ext cx="11582400" cy="604837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6600CC"/>
                </a:solidFill>
                <a:cs typeface="Times New Roman" pitchFamily="18" charset="0"/>
              </a:rPr>
              <a:t>强制类型转换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dirty="0">
              <a:solidFill>
                <a:srgbClr val="6600CC"/>
              </a:solidFill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eg11</a:t>
            </a:r>
            <a:r>
              <a:rPr lang="zh-CN" altLang="en-US" sz="2800" dirty="0"/>
              <a:t>：　　实型数据</a:t>
            </a:r>
            <a:r>
              <a:rPr lang="en-US" altLang="zh-CN" sz="2800" dirty="0"/>
              <a:t>d</a:t>
            </a:r>
            <a:r>
              <a:rPr lang="zh-CN" altLang="en-US" sz="2800" dirty="0"/>
              <a:t>保留</a:t>
            </a:r>
            <a:r>
              <a:rPr lang="en-US" altLang="zh-CN" sz="2800" dirty="0"/>
              <a:t>3</a:t>
            </a:r>
            <a:r>
              <a:rPr lang="zh-CN" altLang="en-US" sz="2800" dirty="0"/>
              <a:t>位小数</a:t>
            </a:r>
            <a:r>
              <a:rPr lang="en-US" altLang="zh-CN" sz="2800" dirty="0"/>
              <a:t>(</a:t>
            </a:r>
            <a:r>
              <a:rPr lang="zh-CN" altLang="en-US" sz="2800" dirty="0"/>
              <a:t>不四舍五入</a:t>
            </a:r>
            <a:r>
              <a:rPr lang="en-US" altLang="zh-CN" sz="2800" dirty="0"/>
              <a:t>)</a:t>
            </a:r>
            <a:r>
              <a:rPr lang="zh-CN" altLang="en-US" sz="2800" dirty="0"/>
              <a:t>。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                      </a:t>
            </a:r>
            <a:r>
              <a:rPr lang="en-US" altLang="zh-CN" sz="2800" dirty="0">
                <a:solidFill>
                  <a:srgbClr val="3333FF"/>
                </a:solidFill>
              </a:rPr>
              <a:t>(</a:t>
            </a:r>
            <a:r>
              <a:rPr lang="en-US" altLang="zh-CN" sz="2800" dirty="0" err="1">
                <a:solidFill>
                  <a:srgbClr val="3333FF"/>
                </a:solidFill>
              </a:rPr>
              <a:t>int</a:t>
            </a:r>
            <a:r>
              <a:rPr lang="en-US" altLang="zh-CN" sz="2800" dirty="0">
                <a:solidFill>
                  <a:srgbClr val="3333FF"/>
                </a:solidFill>
              </a:rPr>
              <a:t>)(d*1000)/1000</a:t>
            </a:r>
            <a:r>
              <a:rPr lang="en-US" altLang="zh-CN" sz="2800" dirty="0">
                <a:solidFill>
                  <a:srgbClr val="CC00CC"/>
                </a:solidFill>
              </a:rPr>
              <a:t>.0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800" dirty="0">
              <a:solidFill>
                <a:srgbClr val="3333FF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　　求整型变量</a:t>
            </a:r>
            <a:r>
              <a:rPr lang="en-US" altLang="zh-CN" sz="2800" dirty="0"/>
              <a:t>k</a:t>
            </a:r>
            <a:r>
              <a:rPr lang="zh-CN" altLang="en-US" sz="2800" dirty="0"/>
              <a:t>的右边第</a:t>
            </a:r>
            <a:r>
              <a:rPr lang="en-US" altLang="zh-CN" sz="2800" dirty="0"/>
              <a:t>n</a:t>
            </a:r>
            <a:r>
              <a:rPr lang="zh-CN" altLang="en-US" sz="2800" dirty="0"/>
              <a:t>位上的数字。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　　　　</a:t>
            </a:r>
            <a:r>
              <a:rPr lang="en-US" altLang="zh-CN" sz="2800" dirty="0"/>
              <a:t>k = 1234;     n = 3;</a:t>
            </a:r>
            <a:r>
              <a:rPr lang="en-US" altLang="zh-CN" sz="2800" dirty="0">
                <a:solidFill>
                  <a:srgbClr val="FFFF00"/>
                </a:solidFill>
              </a:rPr>
              <a:t> 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</a:rPr>
              <a:t>                         k / </a:t>
            </a:r>
            <a:r>
              <a:rPr lang="en-US" altLang="zh-CN" sz="2800" dirty="0">
                <a:solidFill>
                  <a:srgbClr val="CC00CC"/>
                </a:solidFill>
              </a:rPr>
              <a:t>10</a:t>
            </a:r>
            <a:r>
              <a:rPr lang="en-US" altLang="zh-CN" sz="2800" baseline="30000" dirty="0">
                <a:solidFill>
                  <a:srgbClr val="CC00CC"/>
                </a:solidFill>
              </a:rPr>
              <a:t>n-1 </a:t>
            </a:r>
            <a:r>
              <a:rPr lang="en-US" altLang="zh-CN" sz="2800" dirty="0">
                <a:solidFill>
                  <a:srgbClr val="3333FF"/>
                </a:solidFill>
              </a:rPr>
              <a:t>% 10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</a:rPr>
              <a:t>                      k / </a:t>
            </a:r>
            <a:r>
              <a:rPr lang="en-US" altLang="zh-CN" sz="2800" dirty="0">
                <a:solidFill>
                  <a:srgbClr val="CC00CC"/>
                </a:solidFill>
              </a:rPr>
              <a:t>(int)</a:t>
            </a:r>
            <a:r>
              <a:rPr lang="en-US" altLang="zh-CN" sz="2800" dirty="0">
                <a:solidFill>
                  <a:srgbClr val="3333FF"/>
                </a:solidFill>
              </a:rPr>
              <a:t>pow(10, n-1) % 10</a:t>
            </a:r>
          </a:p>
        </p:txBody>
      </p:sp>
      <p:sp>
        <p:nvSpPr>
          <p:cNvPr id="208900" name="AutoShape 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277600" y="6553200"/>
            <a:ext cx="914400" cy="304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下一张</a:t>
            </a:r>
          </a:p>
        </p:txBody>
      </p:sp>
      <p:sp>
        <p:nvSpPr>
          <p:cNvPr id="208901" name="AutoShape 5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277600" y="6092825"/>
            <a:ext cx="914400" cy="304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上一张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41051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谢谢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U5YWU2YzllNGZmZTViNjUwYjAxYWNhZmY5MDU0M2QifQ=="/>
  <p:tag name="KSO_WPP_MARK_KEY" val="c34bcdfb-13dc-4e7f-b54f-4cde71d08e7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1503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1503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1503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18;28;2"/>
  <p:tag name="KSO_WM_UNIT_BLOCK" val="0"/>
  <p:tag name="KSO_WM_UNIT_ISCONTENTSTITLE" val="0"/>
  <p:tag name="KSO_WM_UNIT_ISNUMDGMTITLE" val="0"/>
  <p:tag name="KSO_WM_UNIT_PRESET_TEXT" val="单/击/此/处/添/加/副/标/题/内/容"/>
  <p:tag name="KSO_WM_UNIT_NOCLEAR" val="0"/>
  <p:tag name="KSO_WM_UNIT_VALUE" val="5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5035_1*b*1"/>
  <p:tag name="KSO_WM_TEMPLATE_CATEGORY" val="custom"/>
  <p:tag name="KSO_WM_TEMPLATE_INDEX" val="20215035"/>
  <p:tag name="KSO_WM_UNIT_LAYERLEVEL" val="1"/>
  <p:tag name="KSO_WM_TAG_VERSION" val="1.0"/>
  <p:tag name="KSO_WM_BEAUTIFY_FLAG" val="#wm#"/>
  <p:tag name="KSO_WM_CHIP_GROUPID" val="5ebd04330ac41c4a0a525403"/>
  <p:tag name="KSO_WM_CHIP_XID" val="5ebd04330ac41c4a0a525404"/>
  <p:tag name="KSO_WM_UNIT_DEC_AREA_ID" val="a7eab4dc5908499b838b73a1fa3b2bb1"/>
  <p:tag name="KSO_WM_CHIP_FILLAREA_FILL_RULE" val="{&quot;fill_align&quot;:&quot;cm&quot;,&quot;fill_mode&quot;:&quot;adaptive&quot;,&quot;sacle_strategy&quot;:&quot;smart&quot;}"/>
  <p:tag name="KSO_WM_ASSEMBLE_CHIP_INDEX" val="ffbcb33553e5437999be5be7b3e28129"/>
  <p:tag name="KSO_WM_UNIT_TEXT_FILL_FORE_SCHEMECOLOR_INDEX_BRIGHTNESS" val="0.35"/>
  <p:tag name="KSO_WM_UNIT_TEXT_FILL_FORE_SCHEMECOLOR_INDEX" val="13"/>
  <p:tag name="KSO_WM_UNIT_TEXT_FILL_TYPE" val="1"/>
  <p:tag name="KSO_WM_TEMPLATE_ASSEMBLE_XID" val="5fab4958b46e6ebd9907b66b"/>
  <p:tag name="KSO_WM_TEMPLATE_ASSEMBLE_GROUPID" val="5faa52dd0ad14824cac57d3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60;74;4"/>
  <p:tag name="KSO_WM_UNIT_BLOCK" val="0"/>
  <p:tag name="KSO_WM_UNIT_ISCONTENTSTITLE" val="0"/>
  <p:tag name="KSO_WM_UNIT_ISNUMDGMTITLE" val="0"/>
  <p:tag name="KSO_WM_UNIT_PRESET_TEXT" val="大数据产品发布会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5035_1*a*1"/>
  <p:tag name="KSO_WM_TEMPLATE_CATEGORY" val="custom"/>
  <p:tag name="KSO_WM_TEMPLATE_INDEX" val="20215035"/>
  <p:tag name="KSO_WM_UNIT_LAYERLEVEL" val="1"/>
  <p:tag name="KSO_WM_TAG_VERSION" val="1.0"/>
  <p:tag name="KSO_WM_BEAUTIFY_FLAG" val="#wm#"/>
  <p:tag name="KSO_WM_CHIP_GROUPID" val="5ebd04330ac41c4a0a525403"/>
  <p:tag name="KSO_WM_CHIP_XID" val="5ebd04330ac41c4a0a525404"/>
  <p:tag name="KSO_WM_UNIT_DEC_AREA_ID" val="74e0bb5f67554d5ba3310756f96c4957"/>
  <p:tag name="KSO_WM_CHIP_FILLAREA_FILL_RULE" val="{&quot;fill_align&quot;:&quot;cm&quot;,&quot;fill_mode&quot;:&quot;adaptive&quot;,&quot;sacle_strategy&quot;:&quot;smart&quot;}"/>
  <p:tag name="KSO_WM_ASSEMBLE_CHIP_INDEX" val="ffbcb33553e5437999be5be7b3e28129"/>
  <p:tag name="KSO_WM_UNIT_TEXT_FILL_FORE_SCHEMECOLOR_INDEX_BRIGHTNESS" val="0.15"/>
  <p:tag name="KSO_WM_UNIT_TEXT_FILL_FORE_SCHEMECOLOR_INDEX" val="13"/>
  <p:tag name="KSO_WM_UNIT_TEXT_FILL_TYPE" val="1"/>
  <p:tag name="KSO_WM_TEMPLATE_ASSEMBLE_XID" val="5fab4958b46e6ebd9907b66b"/>
  <p:tag name="KSO_WM_TEMPLATE_ASSEMBLE_GROUPID" val="5faa52dd0ad14824cac57d3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0bfbdce0d6494e6fa218892f3a20235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521845bfda0c4d7f9e81721b313fda6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3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d"/>
  <p:tag name="KSO_WM_UNIT_DEC_AREA_ID" val="dee9a792411d45f58c6e5b99eb87e92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c69729ceb794182b0b48671241df94a"/>
  <p:tag name="KSO_WM_SLIDE_BACKGROUND_TYPE" val="belt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b1da29c00c7f45aeb3e2a6197fbd5a6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98ba860c38645fbbad577258b122222"/>
  <p:tag name="KSO_WM_SLIDE_BACKGROUND_TYPE" val="belt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ZMQBb2CYkaeI192ZqpX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hoWDyKfQblHrFFml4GS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KiaUGxcZD82U7tM7u01K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ZMQBb2CYkaeI192ZqpX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hoWDyKfQblHrFFml4GS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KiaUGxcZD82U7tM7u01K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1503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1503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1503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18;28;2"/>
  <p:tag name="KSO_WM_UNIT_BLOCK" val="0"/>
  <p:tag name="KSO_WM_UNIT_ISCONTENTSTITLE" val="0"/>
  <p:tag name="KSO_WM_UNIT_ISNUMDGMTITLE" val="0"/>
  <p:tag name="KSO_WM_UNIT_PRESET_TEXT" val="单/击/此/处/添/加/副/标/题/内/容"/>
  <p:tag name="KSO_WM_UNIT_NOCLEAR" val="0"/>
  <p:tag name="KSO_WM_UNIT_VALUE" val="5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5035_1*b*1"/>
  <p:tag name="KSO_WM_TEMPLATE_CATEGORY" val="custom"/>
  <p:tag name="KSO_WM_TEMPLATE_INDEX" val="20215035"/>
  <p:tag name="KSO_WM_UNIT_LAYERLEVEL" val="1"/>
  <p:tag name="KSO_WM_TAG_VERSION" val="1.0"/>
  <p:tag name="KSO_WM_BEAUTIFY_FLAG" val="#wm#"/>
  <p:tag name="KSO_WM_CHIP_GROUPID" val="5ebd04330ac41c4a0a525403"/>
  <p:tag name="KSO_WM_CHIP_XID" val="5ebd04330ac41c4a0a525404"/>
  <p:tag name="KSO_WM_UNIT_DEC_AREA_ID" val="a7eab4dc5908499b838b73a1fa3b2bb1"/>
  <p:tag name="KSO_WM_CHIP_FILLAREA_FILL_RULE" val="{&quot;fill_align&quot;:&quot;cm&quot;,&quot;fill_mode&quot;:&quot;adaptive&quot;,&quot;sacle_strategy&quot;:&quot;smart&quot;}"/>
  <p:tag name="KSO_WM_ASSEMBLE_CHIP_INDEX" val="ffbcb33553e5437999be5be7b3e28129"/>
  <p:tag name="KSO_WM_UNIT_TEXT_FILL_FORE_SCHEMECOLOR_INDEX_BRIGHTNESS" val="0.35"/>
  <p:tag name="KSO_WM_UNIT_TEXT_FILL_FORE_SCHEMECOLOR_INDEX" val="13"/>
  <p:tag name="KSO_WM_UNIT_TEXT_FILL_TYPE" val="1"/>
  <p:tag name="KSO_WM_TEMPLATE_ASSEMBLE_XID" val="5fab4958b46e6ebd9907b66b"/>
  <p:tag name="KSO_WM_TEMPLATE_ASSEMBLE_GROUPID" val="5faa52dd0ad14824cac57d3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60;74;4"/>
  <p:tag name="KSO_WM_UNIT_BLOCK" val="0"/>
  <p:tag name="KSO_WM_UNIT_ISCONTENTSTITLE" val="0"/>
  <p:tag name="KSO_WM_UNIT_ISNUMDGMTITLE" val="0"/>
  <p:tag name="KSO_WM_UNIT_PRESET_TEXT" val="大数据产品发布会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5035_1*a*1"/>
  <p:tag name="KSO_WM_TEMPLATE_CATEGORY" val="custom"/>
  <p:tag name="KSO_WM_TEMPLATE_INDEX" val="20215035"/>
  <p:tag name="KSO_WM_UNIT_LAYERLEVEL" val="1"/>
  <p:tag name="KSO_WM_TAG_VERSION" val="1.0"/>
  <p:tag name="KSO_WM_BEAUTIFY_FLAG" val="#wm#"/>
  <p:tag name="KSO_WM_CHIP_GROUPID" val="5ebd04330ac41c4a0a525403"/>
  <p:tag name="KSO_WM_CHIP_XID" val="5ebd04330ac41c4a0a525404"/>
  <p:tag name="KSO_WM_UNIT_DEC_AREA_ID" val="74e0bb5f67554d5ba3310756f96c4957"/>
  <p:tag name="KSO_WM_CHIP_FILLAREA_FILL_RULE" val="{&quot;fill_align&quot;:&quot;cm&quot;,&quot;fill_mode&quot;:&quot;adaptive&quot;,&quot;sacle_strategy&quot;:&quot;smart&quot;}"/>
  <p:tag name="KSO_WM_ASSEMBLE_CHIP_INDEX" val="ffbcb33553e5437999be5be7b3e28129"/>
  <p:tag name="KSO_WM_UNIT_TEXT_FILL_FORE_SCHEMECOLOR_INDEX_BRIGHTNESS" val="0.15"/>
  <p:tag name="KSO_WM_UNIT_TEXT_FILL_FORE_SCHEMECOLOR_INDEX" val="13"/>
  <p:tag name="KSO_WM_UNIT_TEXT_FILL_TYPE" val="1"/>
  <p:tag name="KSO_WM_TEMPLATE_ASSEMBLE_XID" val="5fab4958b46e6ebd9907b66b"/>
  <p:tag name="KSO_WM_TEMPLATE_ASSEMBLE_GROUPID" val="5faa52dd0ad14824cac57d3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0bfbdce0d6494e6fa218892f3a20235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521845bfda0c4d7f9e81721b313fda6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3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d"/>
  <p:tag name="KSO_WM_UNIT_DEC_AREA_ID" val="dee9a792411d45f58c6e5b99eb87e92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c69729ceb794182b0b48671241df94a"/>
  <p:tag name="KSO_WM_SLIDE_BACKGROUND_TYPE" val="belt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b1da29c00c7f45aeb3e2a6197fbd5a6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98ba860c38645fbbad577258b122222"/>
  <p:tag name="KSO_WM_SLIDE_BACKGROUND_TYPE" val="belt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X17d3tf5TsdvauqaxaIi9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alPnGZQNZxSwPOFSCXA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NDajSorXI1qZvWSe6y63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YhYBlSh5kyW2nIE3OAoQ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rwjSNEwouXOzESkg2zGCH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2tz9z2KvEOXsPrit4CzV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dO3LJxxP9EOzuQiD5tDYj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LqAxxhaq0ulixMVwo3vWt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1yd4tEZtyHBvwRESgVR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STlWU2AhAEz22zYkcGL0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X17d3tf5TsdvauqaxaIi9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alPnGZQNZxSwPOFSCXA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rwjSNEwouXOzESkg2zGCH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X17d3tf5TsdvauqaxaIi9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alPnGZQNZxSwPOFSCXA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rwjSNEwouXOzESkg2zGCH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X17d3tf5TsdvauqaxaIi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alPnGZQNZxSwPOFSCXA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rwjSNEwouXOzESkg2zGCH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X17d3tf5TsdvauqaxaIi9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alPnGZQNZxSwPOFSCXA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rwjSNEwouXOzESkg2zGCH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X17d3tf5TsdvauqaxaIi9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alPnGZQNZxSwPOFSCXA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rwjSNEwouXOzESkg2zGCH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X17d3tf5TsdvauqaxaIi9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alPnGZQNZxSwPOFSCXA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rwjSNEwouXOzESkg2zGCH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X17d3tf5TsdvauqaxaIi9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alPnGZQNZxSwPOFSCXA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rwjSNEwouXOzESkg2zGCH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X17d3tf5TsdvauqaxaIi9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alPnGZQNZxSwPOFSCXA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rwjSNEwouXOzESkg2zGCH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X17d3tf5TsdvauqaxaIi9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alPnGZQNZxSwPOFSCXA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rwjSNEwouXOzESkg2zGCH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X17d3tf5TsdvauqaxaIi9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alPnGZQNZxSwPOFSCXA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rwjSNEwouXOzESkg2zGCH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ZMQBb2CYkaeI192ZqpX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hoWDyKfQblHrFFml4GS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1N83hu75m1pGmvsExtSJu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S0zumC4kgl50fBOAhf8KO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KiaUGxcZD82U7tM7u01K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BmfQQWcCBJayIPbcIoN4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RdGG7u8DKNAf8WU4PAZm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yYrTUFKhR4puoVXlD820C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J2FPSnPi7RO4UHOoJTtM7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3SWmvxyH5yhQepd4MnrzX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ZMQBb2CYkaeI192ZqpX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hoWDyKfQblHrFFml4GSm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KiaUGxcZD82U7tM7u01K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ZMQBb2CYkaeI192ZqpX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hoWDyKfQblHrFFml4GSm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KiaUGxcZD82U7tM7u01K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ZMQBb2CYkaeI192ZqpX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hoWDyKfQblHrFFml4GS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KiaUGxcZD82U7tM7u01K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ZMQBb2CYkaeI192ZqpX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hoWDyKfQblHrFFml4GSm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KiaUGxcZD82U7tM7u01K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ZMQBb2CYkaeI192ZqpX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hoWDyKfQblHrFFml4GS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KiaUGxcZD82U7tM7u01K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ZMQBb2CYkaeI192ZqpX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hoWDyKfQblHrFFml4GSm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KiaUGxcZD82U7tM7u01K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ZMQBb2CYkaeI192ZqpX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hoWDyKfQblHrFFml4GSm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KiaUGxcZD82U7tM7u01K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ZMQBb2CYkaeI192ZqpX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hoWDyKfQblHrFFml4GS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KiaUGxcZD82U7tM7u01K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ZMQBb2CYkaeI192ZqpX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hoWDyKfQblHrFFml4GSm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KiaUGxcZD82U7tM7u01K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ZMQBb2CYkaeI192ZqpX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hoWDyKfQblHrFFml4GSm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KiaUGxcZD82U7tM7u01K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ZMQBb2CYkaeI192ZqpX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hoWDyKfQblHrFFml4GSm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KiaUGxcZD82U7tM7u01K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ZMQBb2CYkaeI192ZqpX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hoWDyKfQblHrFFml4GSm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KiaUGxcZD82U7tM7u01K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ZMQBb2CYkaeI192ZqpX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hoWDyKfQblHrFFml4GS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KiaUGxcZD82U7tM7u01K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lhX95IcqBTyBKxLUsjjpX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lhX95IcqBTyBKxLUsjjpX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lhX95IcqBTyBKxLUsjjpX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lhX95IcqBTyBKxLUsjjpX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SIUO8OnDvibmEaFw1IdcZ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MfSCpYwJs9uuRUFlNquJF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o7miPyZwJGkd6Zgquhoxs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3OUaDyhHK3RUPWXYKNLy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J0AxMg59mPb8fvHz7u0sv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mBYglof6Qw6yoyWWxmd7Z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O3nvjP3oZIrF8CEhcMkKMZ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TBB4hgbvadprmzsAC5Snl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zn5VQhe7LGPHLwoJC4jiv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FvYNAGqefOpRujHfEeEJo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AjuGj4hAf36sX1aR6X79I4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EJEhXGu1DWrye2X0TTAXS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a4Ezbb0SXAg5GUmFlqkqd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zPtNNIz42MbnimdF94YL3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zPtNNIz42MbnimdF94YL3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aGFMGeHhcuJMw746sZVBh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iPkZPtzPI6mOuO5nnijSy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NLZJeAwq9ERwskZDhBlxMU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6IJrr35CFDq6YW78Q6heM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XdeDK2RE9MszmVF2rDaR2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xDTbaO62fn54EiikB6X67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NHlUo9zFTzLs3uKbBFU3n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1Hrx0Tx90ITDOtX6HjUGCk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kpXhb09RemAq7f7s51ni9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EQ2ftEec1Ks5f1kXUh6C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k1xEGt1xtN6G93KTyiEmJ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cUiihY7zMsWuGrrXe71YS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O9DZCpMsEYydFtfJ1Xwfb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wLtzde6yW3uiF1lwIyqWsu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fG4SoZKav8lmnLsmlNYV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1VTGe89IOljjfKIetdzZ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Bnu2pmPKepg2RDnzG4RhT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QYneN2sNYw4ZKwbUUFQg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dLI8lruk4gGHpkgnVbmz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QqbRc7AzXLqG29s5U6muc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I3OLzDiV4kB2nkxg9jTK7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f1nbOh1505GQI73rxXh2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4GqzqbswsuKgztG3WaDcmI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UmZrxEqOfkiVObsMxtk4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Cv9GiqDJdq7FIZ7tmmANl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f8hhwjZ9dvewgfxeMcAdG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b6RP0VeMAxQJ3iVXon5Xf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3fLeUbSLNj4jHwY5zdi3Z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PrNY3OGgQMV0LtIlFzodNg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5AXwuYFd3nF7iJeMMQLIT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OyqkYOUHm7nwvWEv8fsvZ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7lO7Y9K30XtPLo59ZRjl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JMdi7gHvgohdr5vQQKXi6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2GbfqZfBcDzzB2TG1tmuH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4xJCjDuT99bo2cqc90jE6l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zTBQgHOTauECAFoDieTjC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eYGWG9UU67dcPb3ExKomf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83n813T92KWlED9j1FYfo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izsh4YcwL9WI1lVjp1dbFm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iwe1ybZ8ZDd46fHfa5Gw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OHt2qj0XwhHPqmK7JTZm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b6sitZ4DMpDkHwyvKF827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XpRPpBvBTLqM57xXoGLX3h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c5Edzd8jeB1gJct8t1hYS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021bVCO79fq64JGit8Fd3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EfCnFIwQBwoQ5Ccnivu7s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HCzrBbjJ7I3VB3pfzA19fa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HdE466P9IWfSoZfVglisc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yMeqOLyow97WVU5m5siaX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3unzh2Pf0bGZESQGh4Ajp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Ks3lPTfQ92KcIK3etwzh8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gVfdwpaeADWWJUvWcVZa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es95D3A3K8XOb85BnQGV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gM08JxjDhYUBHN4qM7DwT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YVJnQBy8t6c7cn5vj3K6Q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TzqhxW4yhVdrN5olGI59u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pzBGlgNzMNYZ19Wy3C4VO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TKz06Ym10Gu5aQGQANLH9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tO3fp8Et5zZ8GR7kaOdKM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uVY5Sc1g967tgLWQzenxB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62aOJfCWupDcj7gjfrrOq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0cAlnjfZmfFAPVU3tLDcC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hegOMrCwqIjFIffYZji9EI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P4sOzfYV5Nue2YenSjHu2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wJilocYGadghnwTyKZ0r9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5BTWP5Tkv7FqxJweRMWpC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CWl9ZBAHR6wzu6ijTtoeNp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fN1HmgjIdnYHufJuk9LpH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kAUEg2lSqEmUAghoT2TmG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y3AOvdmFGJMAtqNHZhnlW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heme/theme1.xml><?xml version="1.0" encoding="utf-8"?>
<a:theme xmlns:a="http://schemas.openxmlformats.org/drawingml/2006/main" name="1_Office 主题​​">
  <a:themeElements>
    <a:clrScheme name="Adjacency">
      <a:dk1>
        <a:srgbClr val="000000"/>
      </a:dk1>
      <a:lt1>
        <a:srgbClr val="FFFFFF"/>
      </a:lt1>
      <a:dk2>
        <a:srgbClr val="F0F0F0"/>
      </a:dk2>
      <a:lt2>
        <a:srgbClr val="FFFFFF"/>
      </a:lt2>
      <a:accent1>
        <a:srgbClr val="54A5BF"/>
      </a:accent1>
      <a:accent2>
        <a:srgbClr val="5596CD"/>
      </a:accent2>
      <a:accent3>
        <a:srgbClr val="6784CF"/>
      </a:accent3>
      <a:accent4>
        <a:srgbClr val="8571BD"/>
      </a:accent4>
      <a:accent5>
        <a:srgbClr val="A7609B"/>
      </a:accent5>
      <a:accent6>
        <a:srgbClr val="BE5370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主题​​">
  <a:themeElements>
    <a:clrScheme name="Adjacency">
      <a:dk1>
        <a:srgbClr val="000000"/>
      </a:dk1>
      <a:lt1>
        <a:srgbClr val="FFFFFF"/>
      </a:lt1>
      <a:dk2>
        <a:srgbClr val="F0F0F0"/>
      </a:dk2>
      <a:lt2>
        <a:srgbClr val="FFFFFF"/>
      </a:lt2>
      <a:accent1>
        <a:srgbClr val="54A5BF"/>
      </a:accent1>
      <a:accent2>
        <a:srgbClr val="5596CD"/>
      </a:accent2>
      <a:accent3>
        <a:srgbClr val="6784CF"/>
      </a:accent3>
      <a:accent4>
        <a:srgbClr val="8571BD"/>
      </a:accent4>
      <a:accent5>
        <a:srgbClr val="A7609B"/>
      </a:accent5>
      <a:accent6>
        <a:srgbClr val="BE5370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wo">
  <a:themeElements>
    <a:clrScheme name="wo 1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6666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5C5CE7"/>
      </a:accent6>
      <a:hlink>
        <a:srgbClr val="CCCCFF"/>
      </a:hlink>
      <a:folHlink>
        <a:srgbClr val="CC99FF"/>
      </a:folHlink>
    </a:clrScheme>
    <a:fontScheme name="wo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wo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6666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5C5CE7"/>
        </a:accent6>
        <a:hlink>
          <a:srgbClr val="CCCC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9525" algn="ctr">
          <a:solidFill>
            <a:srgbClr val="0070C0"/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lIns="0" tIns="0" rIns="0" bIns="0"/>
      <a:lstStyle>
        <a:defPPr algn="ctr">
          <a:spcBef>
            <a:spcPct val="0"/>
          </a:spcBef>
          <a:buClrTx/>
          <a:buSzTx/>
          <a:buFontTx/>
          <a:buNone/>
          <a:defRPr kumimoji="0" sz="2000">
            <a:solidFill>
              <a:srgbClr val="0000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FF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70000"/>
          <a:buFont typeface="Wingdings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FF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70000"/>
          <a:buFont typeface="Wingdings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_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宋体"/>
        <a:cs typeface=""/>
      </a:majorFont>
      <a:minorFont>
        <a:latin typeface="Garamond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2_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  <a:ea typeface="宋体" pitchFamily="2" charset="-122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14189</TotalTime>
  <Words>6710</Words>
  <Application>Microsoft Office PowerPoint</Application>
  <PresentationFormat>宽屏</PresentationFormat>
  <Paragraphs>1095</Paragraphs>
  <Slides>51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51</vt:i4>
      </vt:variant>
    </vt:vector>
  </HeadingPairs>
  <TitlesOfParts>
    <vt:vector size="72" baseType="lpstr">
      <vt:lpstr>等线</vt:lpstr>
      <vt:lpstr>等线 Light</vt:lpstr>
      <vt:lpstr>方正黑体_GBK</vt:lpstr>
      <vt:lpstr>楷体</vt:lpstr>
      <vt:lpstr>锐字潮牌真言简2.0免费 大粗</vt:lpstr>
      <vt:lpstr>宋体</vt:lpstr>
      <vt:lpstr>微软雅黑</vt:lpstr>
      <vt:lpstr>Arial</vt:lpstr>
      <vt:lpstr>Calibri</vt:lpstr>
      <vt:lpstr>Garamond</vt:lpstr>
      <vt:lpstr>Times New Roman</vt:lpstr>
      <vt:lpstr>Wingdings</vt:lpstr>
      <vt:lpstr>1_Office 主题​​</vt:lpstr>
      <vt:lpstr>3_Office 主题​​</vt:lpstr>
      <vt:lpstr>4_Office 主题​​</vt:lpstr>
      <vt:lpstr>5_Office 主题​​</vt:lpstr>
      <vt:lpstr>wo</vt:lpstr>
      <vt:lpstr>6_Office 主题​​</vt:lpstr>
      <vt:lpstr>Stream</vt:lpstr>
      <vt:lpstr>1_Stream</vt:lpstr>
      <vt:lpstr>2_Stream</vt:lpstr>
      <vt:lpstr>第2章 C语言程序设计基础知识 </vt:lpstr>
      <vt:lpstr>PowerPoint 演示文稿</vt:lpstr>
      <vt:lpstr> 2.1 常量、变量和数据类型</vt:lpstr>
      <vt:lpstr>2.1.1 字符集与标识符 </vt:lpstr>
      <vt:lpstr>一、字符集与标识符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单个字符的输入/输出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算术表达式的一般形式</vt:lpstr>
      <vt:lpstr>PowerPoint 演示文稿</vt:lpstr>
      <vt:lpstr>PowerPoint 演示文稿</vt:lpstr>
      <vt:lpstr>PowerPoint 演示文稿</vt:lpstr>
      <vt:lpstr>PowerPoint 演示文稿</vt:lpstr>
      <vt:lpstr>表2.11 关系运算符与关系表达式的基本形式 </vt:lpstr>
      <vt:lpstr>关系表达式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《C语言程序设计》</dc:title>
  <dc:creator>Administrator</dc:creator>
  <cp:lastModifiedBy>User</cp:lastModifiedBy>
  <cp:revision>189</cp:revision>
  <dcterms:created xsi:type="dcterms:W3CDTF">2022-07-08T03:32:00Z</dcterms:created>
  <dcterms:modified xsi:type="dcterms:W3CDTF">2025-09-19T02:04:12Z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BFD466564B3A47D89E7AF80165FC8B71</vt:lpwstr>
  </property>
  <property fmtid="{D5CDD505-2E9C-101B-9397-08002B2CF9AE}" pid="3" name="KSOProductBuildVer">
    <vt:lpwstr>2052-11.1.0.11875</vt:lpwstr>
  </property>
</Properties>
</file>