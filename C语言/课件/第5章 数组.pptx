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2" r:id="rId1"/>
    <p:sldMasterId id="2147483865" r:id="rId2"/>
  </p:sldMasterIdLst>
  <p:notesMasterIdLst>
    <p:notesMasterId r:id="rId40"/>
  </p:notesMasterIdLst>
  <p:sldIdLst>
    <p:sldId id="299" r:id="rId3"/>
    <p:sldId id="340" r:id="rId4"/>
    <p:sldId id="341" r:id="rId5"/>
    <p:sldId id="308" r:id="rId6"/>
    <p:sldId id="350" r:id="rId7"/>
    <p:sldId id="357" r:id="rId8"/>
    <p:sldId id="320" r:id="rId9"/>
    <p:sldId id="309" r:id="rId10"/>
    <p:sldId id="312" r:id="rId11"/>
    <p:sldId id="323" r:id="rId12"/>
    <p:sldId id="348" r:id="rId13"/>
    <p:sldId id="349" r:id="rId14"/>
    <p:sldId id="321" r:id="rId15"/>
    <p:sldId id="310" r:id="rId16"/>
    <p:sldId id="339" r:id="rId17"/>
    <p:sldId id="315" r:id="rId18"/>
    <p:sldId id="316" r:id="rId19"/>
    <p:sldId id="322" r:id="rId20"/>
    <p:sldId id="342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2" r:id="rId29"/>
    <p:sldId id="344" r:id="rId30"/>
    <p:sldId id="336" r:id="rId31"/>
    <p:sldId id="333" r:id="rId32"/>
    <p:sldId id="334" r:id="rId33"/>
    <p:sldId id="335" r:id="rId34"/>
    <p:sldId id="338" r:id="rId35"/>
    <p:sldId id="337" r:id="rId36"/>
    <p:sldId id="356" r:id="rId37"/>
    <p:sldId id="355" r:id="rId38"/>
    <p:sldId id="269" r:id="rId39"/>
  </p:sldIdLst>
  <p:sldSz cx="12192000" cy="6858000"/>
  <p:notesSz cx="6858000" cy="91440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5BF"/>
    <a:srgbClr val="CFD5EA"/>
    <a:srgbClr val="CC9900"/>
    <a:srgbClr val="E9EBF5"/>
    <a:srgbClr val="EB27C6"/>
    <a:srgbClr val="FFFFFF"/>
    <a:srgbClr val="EAEFF7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5" autoAdjust="0"/>
    <p:restoredTop sz="86921" autoAdjust="0"/>
  </p:normalViewPr>
  <p:slideViewPr>
    <p:cSldViewPr snapToGrid="0">
      <p:cViewPr varScale="1">
        <p:scale>
          <a:sx n="62" d="100"/>
          <a:sy n="62" d="100"/>
        </p:scale>
        <p:origin x="3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47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025CA9-F663-4615-B249-2C43CE614CA6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14576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7.png"/><Relationship Id="rId4" Type="http://schemas.openxmlformats.org/officeDocument/2006/relationships/tags" Target="../tags/tag7.xml"/><Relationship Id="rId9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9836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25">
            <a:extLst>
              <a:ext uri="{FF2B5EF4-FFF2-40B4-BE49-F238E27FC236}">
                <a16:creationId xmlns:a16="http://schemas.microsoft.com/office/drawing/2014/main" id="{C42E85EC-9686-4877-9478-EE7EC06ADCD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299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6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57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82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7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36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92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241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176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311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882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25">
            <a:extLst>
              <a:ext uri="{FF2B5EF4-FFF2-40B4-BE49-F238E27FC236}">
                <a16:creationId xmlns:a16="http://schemas.microsoft.com/office/drawing/2014/main" id="{2E24335B-A487-A6E2-A69A-D12C4C41DE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图片25">
            <a:extLst>
              <a:ext uri="{FF2B5EF4-FFF2-40B4-BE49-F238E27FC236}">
                <a16:creationId xmlns:a16="http://schemas.microsoft.com/office/drawing/2014/main" id="{FC8F4595-B6A7-7948-83DA-4754F4492B3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39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2278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53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8443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059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52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904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71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15408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79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ags" Target="../tags/tag1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7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KSO_TEMPLATE" hidden="1">
            <a:extLst>
              <a:ext uri="{FF2B5EF4-FFF2-40B4-BE49-F238E27FC236}">
                <a16:creationId xmlns:a16="http://schemas.microsoft.com/office/drawing/2014/main" id="{79D9F577-4446-4CD2-AFB4-0E06EA26A434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05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655" r:id="rId13"/>
    <p:sldLayoutId id="214748365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B41828C1-CFF6-41F5-34D2-12806C482A2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4FC198B4-0223-FD15-985E-D32759C4E21A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5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383" y="1464810"/>
            <a:ext cx="7766541" cy="238642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  数组</a:t>
            </a: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2"/>
          <p:cNvSpPr>
            <a:spLocks/>
          </p:cNvSpPr>
          <p:nvPr/>
        </p:nvSpPr>
        <p:spPr bwMode="auto">
          <a:xfrm>
            <a:off x="2268538" y="1989138"/>
            <a:ext cx="215900" cy="2447925"/>
          </a:xfrm>
          <a:prstGeom prst="leftBrace">
            <a:avLst>
              <a:gd name="adj1" fmla="val 9448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>
            <a:off x="3713163" y="3141663"/>
            <a:ext cx="211137" cy="677862"/>
          </a:xfrm>
          <a:prstGeom prst="leftBrace">
            <a:avLst>
              <a:gd name="adj1" fmla="val 2675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3779838" y="1484313"/>
            <a:ext cx="144462" cy="1296987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066381" y="1067593"/>
            <a:ext cx="1512888" cy="2917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结构类型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共用体类型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95963" y="1773238"/>
            <a:ext cx="13335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</a:t>
            </a: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5580063" y="1928813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2555875" y="1773238"/>
            <a:ext cx="1100138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构造类型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指针类型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8888" y="2781300"/>
            <a:ext cx="12731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数据类型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750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4" name="Rectangle 11"/>
          <p:cNvSpPr txBox="1">
            <a:spLocks noChangeArrowheads="1"/>
          </p:cNvSpPr>
          <p:nvPr/>
        </p:nvSpPr>
        <p:spPr bwMode="auto">
          <a:xfrm>
            <a:off x="-205252" y="138113"/>
            <a:ext cx="505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900113" y="4941888"/>
            <a:ext cx="7543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Wirth    </a:t>
            </a:r>
            <a:r>
              <a:rPr lang="zh-CN" altLang="en-US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程序＝数据结构＋算法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4824810" y="465427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077223" y="249153"/>
            <a:ext cx="25209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　　　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　　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6443663" y="981075"/>
            <a:ext cx="144462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70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037969" y="2911141"/>
            <a:ext cx="5799436" cy="3148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latin typeface="+mn-ea"/>
                <a:ea typeface="+mn-ea"/>
              </a:rPr>
              <a:t>1.</a:t>
            </a:r>
            <a:r>
              <a:rPr lang="zh-CN" altLang="en-US" sz="2400" b="1" dirty="0">
                <a:latin typeface="+mn-ea"/>
                <a:ea typeface="+mn-ea"/>
              </a:rPr>
              <a:t>求平均值</a:t>
            </a:r>
            <a:endParaRPr lang="en-US" altLang="zh-CN" sz="2400" b="1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dirty="0">
                <a:latin typeface="+mn-ea"/>
                <a:ea typeface="+mn-ea"/>
              </a:rPr>
              <a:t>  数据结构：一个变量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en-US" sz="2400" dirty="0">
                <a:latin typeface="+mn-ea"/>
                <a:ea typeface="+mn-ea"/>
              </a:rPr>
              <a:t>，重复输入刷新</a:t>
            </a:r>
            <a:endParaRPr lang="en-US" altLang="zh-CN" sz="2400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算法：加和，除以</a:t>
            </a:r>
            <a:r>
              <a:rPr lang="en-US" altLang="zh-CN" sz="2400" dirty="0">
                <a:latin typeface="+mn-ea"/>
                <a:ea typeface="+mn-ea"/>
              </a:rPr>
              <a:t>80</a:t>
            </a: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排序</a:t>
            </a:r>
            <a:endParaRPr lang="en-US" altLang="zh-CN" sz="2400" b="1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数据结构：定义</a:t>
            </a:r>
            <a:r>
              <a:rPr lang="en-US" altLang="zh-CN" sz="2400" dirty="0">
                <a:latin typeface="+mn-ea"/>
                <a:ea typeface="+mn-ea"/>
              </a:rPr>
              <a:t>80</a:t>
            </a:r>
            <a:r>
              <a:rPr lang="zh-CN" altLang="en-US" sz="2400" dirty="0">
                <a:latin typeface="+mn-ea"/>
                <a:ea typeface="+mn-ea"/>
              </a:rPr>
              <a:t>个变量？</a:t>
            </a:r>
            <a:endParaRPr lang="en-US" altLang="zh-CN" sz="2400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latin typeface="+mn-ea"/>
                <a:ea typeface="+mn-ea"/>
              </a:rPr>
              <a:t>            </a:t>
            </a:r>
            <a:r>
              <a:rPr lang="zh-CN" altLang="en-US" sz="2400" dirty="0">
                <a:latin typeface="+mn-ea"/>
                <a:ea typeface="+mn-ea"/>
              </a:rPr>
              <a:t>变量的顺序怎么约定？</a:t>
            </a:r>
            <a:endParaRPr lang="en-US" altLang="zh-CN" sz="2400" dirty="0">
              <a:latin typeface="+mn-ea"/>
              <a:ea typeface="+mn-ea"/>
            </a:endParaRPr>
          </a:p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算法：依赖于数据结构</a:t>
            </a:r>
            <a:endParaRPr lang="en-US" altLang="zh-CN" sz="2400" dirty="0">
              <a:latin typeface="+mn-ea"/>
              <a:ea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b="1" u="sng" dirty="0">
                <a:latin typeface="+mn-ea"/>
                <a:ea typeface="+mn-ea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 bwMode="auto">
          <a:xfrm>
            <a:off x="1145060" y="1617729"/>
            <a:ext cx="7792877" cy="46384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marL="91440"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b="1" dirty="0">
                <a:latin typeface="+mn-ea"/>
              </a:rPr>
              <a:t>问题：对全班</a:t>
            </a:r>
            <a:r>
              <a:rPr lang="en-US" altLang="zh-CN" sz="2400" b="1" dirty="0">
                <a:latin typeface="+mn-ea"/>
              </a:rPr>
              <a:t>80</a:t>
            </a:r>
            <a:r>
              <a:rPr lang="zh-CN" altLang="en-US" sz="2400" b="1" dirty="0">
                <a:latin typeface="+mn-ea"/>
              </a:rPr>
              <a:t>位同学期末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语言成绩求平均值和排名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34" name="标题 1"/>
          <p:cNvSpPr txBox="1">
            <a:spLocks/>
          </p:cNvSpPr>
          <p:nvPr/>
        </p:nvSpPr>
        <p:spPr>
          <a:xfrm>
            <a:off x="1037969" y="576828"/>
            <a:ext cx="4860324" cy="8798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数组的引入</a:t>
            </a:r>
          </a:p>
        </p:txBody>
      </p:sp>
      <p:sp>
        <p:nvSpPr>
          <p:cNvPr id="4" name="文本框 3"/>
          <p:cNvSpPr txBox="1"/>
          <p:nvPr/>
        </p:nvSpPr>
        <p:spPr bwMode="auto">
          <a:xfrm>
            <a:off x="7109254" y="2426171"/>
            <a:ext cx="4044777" cy="3787833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/>
              <a:t>#include&lt;stdio.h&gt;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#define N 80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int main(void) { 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int a,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sum = 0;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double average;</a:t>
            </a:r>
          </a:p>
          <a:p>
            <a:pPr>
              <a:spcBef>
                <a:spcPct val="0"/>
              </a:spcBef>
            </a:pPr>
            <a:endParaRPr lang="en-US" altLang="zh-CN" sz="2000" dirty="0"/>
          </a:p>
          <a:p>
            <a:pPr>
              <a:spcBef>
                <a:spcPct val="0"/>
              </a:spcBef>
            </a:pPr>
            <a:r>
              <a:rPr lang="en-US" altLang="zh-CN" sz="2000" dirty="0"/>
              <a:t>  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&lt;= N;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   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("%d", &amp;a);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     sum += a;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}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      average = (double)sum / N;</a:t>
            </a:r>
          </a:p>
          <a:p>
            <a:pPr>
              <a:spcBef>
                <a:spcPct val="0"/>
              </a:spcBef>
            </a:pPr>
            <a:r>
              <a:rPr lang="en-US" altLang="zh-CN" sz="2000" dirty="0"/>
              <a:t>}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1145061" y="2310410"/>
            <a:ext cx="2998571" cy="463846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EB27C6"/>
                </a:solidFill>
              </a:rPr>
              <a:t>程序</a:t>
            </a:r>
            <a:r>
              <a:rPr lang="en-US" altLang="zh-CN" sz="2400" b="1">
                <a:solidFill>
                  <a:srgbClr val="EB27C6"/>
                </a:solidFill>
              </a:rPr>
              <a:t>=</a:t>
            </a:r>
            <a:r>
              <a:rPr lang="zh-CN" altLang="en-US" sz="2400" b="1">
                <a:solidFill>
                  <a:srgbClr val="EB27C6"/>
                </a:solidFill>
              </a:rPr>
              <a:t>数据结构</a:t>
            </a:r>
            <a:r>
              <a:rPr lang="en-US" altLang="zh-CN" sz="2400" b="1">
                <a:solidFill>
                  <a:srgbClr val="EB27C6"/>
                </a:solidFill>
              </a:rPr>
              <a:t>+</a:t>
            </a:r>
            <a:r>
              <a:rPr lang="zh-CN" altLang="en-US" sz="2400" b="1">
                <a:solidFill>
                  <a:srgbClr val="EB27C6"/>
                </a:solidFill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2112999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7361" y="1649689"/>
            <a:ext cx="4482685" cy="31412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数组</a:t>
            </a:r>
            <a:endParaRPr lang="en-US" altLang="zh-CN" sz="28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多个变量</a:t>
            </a: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同一数据类型</a:t>
            </a:r>
            <a:endParaRPr lang="en-US" altLang="zh-CN" sz="2800" dirty="0">
              <a:latin typeface="+mn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n-ea"/>
              </a:rPr>
              <a:t>有确定的顺序</a:t>
            </a:r>
            <a:endParaRPr lang="en-US" altLang="zh-CN" sz="28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2608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D2C4BB-549C-464F-9DB6-2A30B116705B}"/>
              </a:ext>
            </a:extLst>
          </p:cNvPr>
          <p:cNvSpPr txBox="1"/>
          <p:nvPr/>
        </p:nvSpPr>
        <p:spPr>
          <a:xfrm>
            <a:off x="734096" y="386366"/>
            <a:ext cx="4365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5</a:t>
            </a:r>
            <a:r>
              <a:rPr lang="zh-CN" altLang="en-US" sz="2400" dirty="0"/>
              <a:t>章内容导图</a:t>
            </a:r>
            <a:endParaRPr 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ED19D1-F5BE-CC3C-DAD7-B2732BBE57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017" y="1356107"/>
            <a:ext cx="552533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8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E0C4C-BE41-4ED6-A6FA-FCFFFAE7E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367" y="342333"/>
            <a:ext cx="7159567" cy="959994"/>
          </a:xfrm>
        </p:spPr>
        <p:txBody>
          <a:bodyPr/>
          <a:lstStyle/>
          <a:p>
            <a:r>
              <a:rPr lang="en-US" dirty="0"/>
              <a:t>5.1  </a:t>
            </a:r>
            <a:r>
              <a:rPr lang="zh-CN" altLang="en-US" dirty="0"/>
              <a:t>一维数组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65D628-1098-A23F-A528-E73AA694A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195" y="1893453"/>
            <a:ext cx="6986853" cy="391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75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634261" y="2706459"/>
            <a:ext cx="7127225" cy="3010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800" b="1" dirty="0">
              <a:latin typeface="+mn-ea"/>
              <a:ea typeface="+mn-ea"/>
            </a:endParaRPr>
          </a:p>
          <a:p>
            <a:pPr marL="914400" lvl="1" indent="-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ea typeface="+mn-ea"/>
              </a:rPr>
              <a:t>数组名表示数组的首地址，是一个地址常量</a:t>
            </a:r>
            <a:endParaRPr lang="en-US" altLang="zh-CN" sz="2400" dirty="0">
              <a:latin typeface="+mn-ea"/>
              <a:ea typeface="+mn-ea"/>
            </a:endParaRPr>
          </a:p>
          <a:p>
            <a:pPr marL="914400" lvl="1" indent="-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n-ea"/>
                <a:ea typeface="+mn-ea"/>
              </a:rPr>
              <a:t>[]</a:t>
            </a:r>
            <a:r>
              <a:rPr lang="zh-CN" altLang="en-US" sz="2400" dirty="0">
                <a:latin typeface="+mn-ea"/>
                <a:ea typeface="+mn-ea"/>
              </a:rPr>
              <a:t>，数组运算符，计算元素的位置</a:t>
            </a:r>
            <a:endParaRPr lang="en-US" altLang="zh-CN" sz="2400" dirty="0">
              <a:latin typeface="+mn-ea"/>
              <a:ea typeface="+mn-ea"/>
            </a:endParaRPr>
          </a:p>
          <a:p>
            <a:pPr marL="914400" lvl="1" indent="-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ea typeface="+mn-ea"/>
              </a:rPr>
              <a:t>数组下标从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开始</a:t>
            </a:r>
            <a:endParaRPr lang="en-US" altLang="zh-CN" sz="2400" dirty="0">
              <a:latin typeface="+mn-ea"/>
              <a:ea typeface="+mn-ea"/>
            </a:endParaRPr>
          </a:p>
          <a:p>
            <a:pPr marL="914400" lvl="1" indent="-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ea typeface="+mn-ea"/>
              </a:rPr>
              <a:t>编译时分配连续内存</a:t>
            </a:r>
            <a:endParaRPr lang="en-US" altLang="zh-CN" sz="2400" dirty="0">
              <a:latin typeface="+mn-ea"/>
              <a:ea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latin typeface="+mn-ea"/>
                <a:ea typeface="+mn-ea"/>
              </a:rPr>
              <a:t>   </a:t>
            </a:r>
            <a:r>
              <a:rPr lang="zh-CN" altLang="en-US" sz="2400" dirty="0">
                <a:latin typeface="+mn-ea"/>
                <a:ea typeface="+mn-ea"/>
              </a:rPr>
              <a:t>所占字节数</a:t>
            </a:r>
            <a:r>
              <a:rPr lang="en-US" altLang="zh-CN" sz="2400" dirty="0">
                <a:latin typeface="+mn-ea"/>
                <a:ea typeface="+mn-ea"/>
              </a:rPr>
              <a:t>=5</a:t>
            </a:r>
            <a:r>
              <a:rPr lang="zh-CN" altLang="en-US" sz="2400" dirty="0">
                <a:latin typeface="+mn-ea"/>
                <a:ea typeface="+mn-ea"/>
              </a:rPr>
              <a:t>*</a:t>
            </a:r>
            <a:r>
              <a:rPr lang="en-US" altLang="zh-CN" sz="2400" dirty="0" err="1">
                <a:latin typeface="+mn-ea"/>
                <a:ea typeface="+mn-ea"/>
              </a:rPr>
              <a:t>sizeof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int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endParaRPr lang="en-US" altLang="zh-CN" sz="2400" dirty="0">
              <a:latin typeface="+mn-ea"/>
              <a:ea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800" b="1" u="sng" dirty="0">
                <a:latin typeface="+mn-ea"/>
                <a:ea typeface="+mn-ea"/>
              </a:rPr>
              <a:t>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873289" y="3090012"/>
            <a:ext cx="3149426" cy="2707972"/>
            <a:chOff x="1439" y="2430"/>
            <a:chExt cx="1687" cy="1259"/>
          </a:xfrm>
        </p:grpSpPr>
        <p:grpSp>
          <p:nvGrpSpPr>
            <p:cNvPr id="5131" name="Group 9"/>
            <p:cNvGrpSpPr>
              <a:grpSpLocks/>
            </p:cNvGrpSpPr>
            <p:nvPr/>
          </p:nvGrpSpPr>
          <p:grpSpPr bwMode="auto">
            <a:xfrm>
              <a:off x="1991" y="2479"/>
              <a:ext cx="1135" cy="1210"/>
              <a:chOff x="1689" y="864"/>
              <a:chExt cx="1459" cy="1210"/>
            </a:xfrm>
          </p:grpSpPr>
          <p:sp>
            <p:nvSpPr>
              <p:cNvPr id="5134" name="Rectangle 10"/>
              <p:cNvSpPr>
                <a:spLocks noChangeArrowheads="1"/>
              </p:cNvSpPr>
              <p:nvPr/>
            </p:nvSpPr>
            <p:spPr bwMode="auto">
              <a:xfrm>
                <a:off x="1872" y="864"/>
                <a:ext cx="1267" cy="12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135" name="Line 11"/>
              <p:cNvSpPr>
                <a:spLocks noChangeShapeType="1"/>
              </p:cNvSpPr>
              <p:nvPr/>
            </p:nvSpPr>
            <p:spPr bwMode="auto">
              <a:xfrm>
                <a:off x="1861" y="1109"/>
                <a:ext cx="1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6" name="Text Box 12"/>
              <p:cNvSpPr txBox="1">
                <a:spLocks noChangeArrowheads="1"/>
              </p:cNvSpPr>
              <p:nvPr/>
            </p:nvSpPr>
            <p:spPr bwMode="auto">
              <a:xfrm>
                <a:off x="2265" y="864"/>
                <a:ext cx="4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a[0]</a:t>
                </a:r>
              </a:p>
            </p:txBody>
          </p:sp>
          <p:sp>
            <p:nvSpPr>
              <p:cNvPr id="5137" name="Line 13"/>
              <p:cNvSpPr>
                <a:spLocks noChangeShapeType="1"/>
              </p:cNvSpPr>
              <p:nvPr/>
            </p:nvSpPr>
            <p:spPr bwMode="auto">
              <a:xfrm>
                <a:off x="1890" y="1327"/>
                <a:ext cx="1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8" name="Line 14"/>
              <p:cNvSpPr>
                <a:spLocks noChangeShapeType="1"/>
              </p:cNvSpPr>
              <p:nvPr/>
            </p:nvSpPr>
            <p:spPr bwMode="auto">
              <a:xfrm>
                <a:off x="1863" y="1574"/>
                <a:ext cx="1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9" name="Line 15"/>
              <p:cNvSpPr>
                <a:spLocks noChangeShapeType="1"/>
              </p:cNvSpPr>
              <p:nvPr/>
            </p:nvSpPr>
            <p:spPr bwMode="auto">
              <a:xfrm>
                <a:off x="1881" y="1824"/>
                <a:ext cx="1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0" name="Text Box 16"/>
              <p:cNvSpPr txBox="1">
                <a:spLocks noChangeArrowheads="1"/>
              </p:cNvSpPr>
              <p:nvPr/>
            </p:nvSpPr>
            <p:spPr bwMode="auto">
              <a:xfrm>
                <a:off x="1699" y="889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0</a:t>
                </a:r>
              </a:p>
            </p:txBody>
          </p:sp>
          <p:sp>
            <p:nvSpPr>
              <p:cNvPr id="5141" name="Text Box 17"/>
              <p:cNvSpPr txBox="1">
                <a:spLocks noChangeArrowheads="1"/>
              </p:cNvSpPr>
              <p:nvPr/>
            </p:nvSpPr>
            <p:spPr bwMode="auto">
              <a:xfrm>
                <a:off x="1699" y="1107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1</a:t>
                </a:r>
              </a:p>
            </p:txBody>
          </p:sp>
          <p:sp>
            <p:nvSpPr>
              <p:cNvPr id="5142" name="Text Box 18"/>
              <p:cNvSpPr txBox="1">
                <a:spLocks noChangeArrowheads="1"/>
              </p:cNvSpPr>
              <p:nvPr/>
            </p:nvSpPr>
            <p:spPr bwMode="auto">
              <a:xfrm>
                <a:off x="1699" y="1824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4</a:t>
                </a:r>
              </a:p>
            </p:txBody>
          </p:sp>
          <p:sp>
            <p:nvSpPr>
              <p:cNvPr id="5145" name="Text Box 21"/>
              <p:cNvSpPr txBox="1">
                <a:spLocks noChangeArrowheads="1"/>
              </p:cNvSpPr>
              <p:nvPr/>
            </p:nvSpPr>
            <p:spPr bwMode="auto">
              <a:xfrm>
                <a:off x="2265" y="1104"/>
                <a:ext cx="4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a[1]</a:t>
                </a:r>
              </a:p>
            </p:txBody>
          </p:sp>
          <p:sp>
            <p:nvSpPr>
              <p:cNvPr id="5146" name="Text Box 22"/>
              <p:cNvSpPr txBox="1">
                <a:spLocks noChangeArrowheads="1"/>
              </p:cNvSpPr>
              <p:nvPr/>
            </p:nvSpPr>
            <p:spPr bwMode="auto">
              <a:xfrm>
                <a:off x="2265" y="1344"/>
                <a:ext cx="4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a[2]</a:t>
                </a:r>
              </a:p>
            </p:txBody>
          </p:sp>
          <p:sp>
            <p:nvSpPr>
              <p:cNvPr id="5147" name="Text Box 23"/>
              <p:cNvSpPr txBox="1">
                <a:spLocks noChangeArrowheads="1"/>
              </p:cNvSpPr>
              <p:nvPr/>
            </p:nvSpPr>
            <p:spPr bwMode="auto">
              <a:xfrm>
                <a:off x="2265" y="1584"/>
                <a:ext cx="4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a[3]</a:t>
                </a:r>
              </a:p>
            </p:txBody>
          </p:sp>
          <p:sp>
            <p:nvSpPr>
              <p:cNvPr id="5148" name="Text Box 24"/>
              <p:cNvSpPr txBox="1">
                <a:spLocks noChangeArrowheads="1"/>
              </p:cNvSpPr>
              <p:nvPr/>
            </p:nvSpPr>
            <p:spPr bwMode="auto">
              <a:xfrm>
                <a:off x="2265" y="1824"/>
                <a:ext cx="4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a[4]</a:t>
                </a:r>
              </a:p>
            </p:txBody>
          </p:sp>
          <p:sp>
            <p:nvSpPr>
              <p:cNvPr id="5150" name="Text Box 26"/>
              <p:cNvSpPr txBox="1">
                <a:spLocks noChangeArrowheads="1"/>
              </p:cNvSpPr>
              <p:nvPr/>
            </p:nvSpPr>
            <p:spPr bwMode="auto">
              <a:xfrm>
                <a:off x="1689" y="1349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2</a:t>
                </a:r>
              </a:p>
            </p:txBody>
          </p:sp>
          <p:sp>
            <p:nvSpPr>
              <p:cNvPr id="5151" name="Text Box 27"/>
              <p:cNvSpPr txBox="1">
                <a:spLocks noChangeArrowheads="1"/>
              </p:cNvSpPr>
              <p:nvPr/>
            </p:nvSpPr>
            <p:spPr bwMode="auto">
              <a:xfrm>
                <a:off x="1689" y="1584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3</a:t>
                </a:r>
              </a:p>
            </p:txBody>
          </p:sp>
        </p:grpSp>
        <p:sp>
          <p:nvSpPr>
            <p:cNvPr id="5132" name="Line 28"/>
            <p:cNvSpPr>
              <a:spLocks noChangeShapeType="1"/>
            </p:cNvSpPr>
            <p:nvPr/>
          </p:nvSpPr>
          <p:spPr bwMode="auto">
            <a:xfrm>
              <a:off x="1631" y="2604"/>
              <a:ext cx="4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3" name="Text Box 29"/>
            <p:cNvSpPr txBox="1">
              <a:spLocks noChangeArrowheads="1"/>
            </p:cNvSpPr>
            <p:nvPr/>
          </p:nvSpPr>
          <p:spPr bwMode="auto">
            <a:xfrm>
              <a:off x="1439" y="2430"/>
              <a:ext cx="20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</a:t>
              </a:r>
              <a:endParaRPr lang="en-US" altLang="zh-CN" sz="2000"/>
            </a:p>
          </p:txBody>
        </p:sp>
      </p:grpSp>
      <p:sp>
        <p:nvSpPr>
          <p:cNvPr id="3" name="文本框 2"/>
          <p:cNvSpPr txBox="1"/>
          <p:nvPr/>
        </p:nvSpPr>
        <p:spPr bwMode="auto">
          <a:xfrm>
            <a:off x="1219201" y="1873281"/>
            <a:ext cx="5255740" cy="83317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数据类型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数组名</a:t>
            </a:r>
            <a:r>
              <a:rPr lang="en-US" altLang="zh-CN" sz="2400" dirty="0">
                <a:latin typeface="+mn-ea"/>
              </a:rPr>
              <a:t>[</a:t>
            </a:r>
            <a:r>
              <a:rPr lang="zh-CN" altLang="en-US" sz="2400" dirty="0">
                <a:solidFill>
                  <a:srgbClr val="7030A0"/>
                </a:solidFill>
                <a:latin typeface="+mn-ea"/>
              </a:rPr>
              <a:t>常量表达式</a:t>
            </a:r>
            <a:r>
              <a:rPr lang="en-US" altLang="zh-CN" sz="2400" dirty="0">
                <a:latin typeface="+mn-ea"/>
              </a:rPr>
              <a:t>];</a:t>
            </a:r>
            <a:endParaRPr lang="en-US" altLang="zh-CN" sz="2400" b="1" dirty="0">
              <a:latin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latin typeface="+mn-ea"/>
              </a:rPr>
              <a:t>int a[5];</a:t>
            </a:r>
          </a:p>
        </p:txBody>
      </p:sp>
      <p:sp>
        <p:nvSpPr>
          <p:cNvPr id="34" name="标题 1"/>
          <p:cNvSpPr txBox="1">
            <a:spLocks/>
          </p:cNvSpPr>
          <p:nvPr/>
        </p:nvSpPr>
        <p:spPr>
          <a:xfrm>
            <a:off x="1033500" y="970074"/>
            <a:ext cx="6328746" cy="8798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一维数组的定义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DE5FA4-1757-F42B-F51B-E9A8140453A0}"/>
              </a:ext>
            </a:extLst>
          </p:cNvPr>
          <p:cNvSpPr txBox="1"/>
          <p:nvPr/>
        </p:nvSpPr>
        <p:spPr>
          <a:xfrm>
            <a:off x="318780" y="510510"/>
            <a:ext cx="8216748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84480" algn="just" hangingPunct="0">
              <a:lnSpc>
                <a:spcPts val="1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4000" kern="1050" dirty="0">
                <a:effectLst/>
                <a:latin typeface="方正黑体_GBK"/>
                <a:cs typeface="Times New Roman" panose="02020603050405020304" pitchFamily="18" charset="0"/>
              </a:rPr>
              <a:t>5.1.1  </a:t>
            </a:r>
            <a:r>
              <a:rPr lang="zh-CN" altLang="zh-CN" sz="4000" kern="1050" dirty="0">
                <a:effectLst/>
                <a:latin typeface="方正黑体_GBK"/>
                <a:cs typeface="Times New Roman" panose="02020603050405020304" pitchFamily="18" charset="0"/>
              </a:rPr>
              <a:t>一维数组的定义和初始化</a:t>
            </a:r>
          </a:p>
        </p:txBody>
      </p:sp>
    </p:spTree>
    <p:extLst>
      <p:ext uri="{BB962C8B-B14F-4D97-AF65-F5344CB8AC3E}">
        <p14:creationId xmlns:p14="http://schemas.microsoft.com/office/powerpoint/2010/main" val="641605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一维数组的初始化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656805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400" dirty="0"/>
              <a:t>int a[5]={1,2,3,4,5};     //</a:t>
            </a:r>
            <a:r>
              <a:rPr lang="zh-CN" altLang="en-US" sz="2400" dirty="0"/>
              <a:t>全部初始化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a[5]={1,2};               //</a:t>
            </a:r>
            <a:r>
              <a:rPr lang="zh-CN" altLang="en-US" sz="2400" dirty="0"/>
              <a:t>部分初始化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static int a[5];               //</a:t>
            </a:r>
            <a:r>
              <a:rPr lang="zh-CN" altLang="en-US" sz="2400" dirty="0"/>
              <a:t>静态存储区，全部自动初始化为</a:t>
            </a:r>
            <a:r>
              <a:rPr lang="en-US" altLang="zh-CN" sz="2400" dirty="0"/>
              <a:t>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int a[]={1,2,3,4,5};       //</a:t>
            </a:r>
            <a:r>
              <a:rPr lang="zh-CN" altLang="en-US" sz="2400" dirty="0"/>
              <a:t>由初始化值个数决定元素个数，不建议使用。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205296" y="3301270"/>
            <a:ext cx="1853680" cy="1920875"/>
            <a:chOff x="1638" y="864"/>
            <a:chExt cx="1501" cy="1210"/>
          </a:xfrm>
        </p:grpSpPr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872" y="864"/>
              <a:ext cx="1267" cy="121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881" y="1109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153" y="86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a[0]=1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881" y="1327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863" y="157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870" y="183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665" y="88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0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646" y="1107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638" y="1813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157" y="110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a[1]=2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2152" y="133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a[2]=3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152" y="1583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a[3]=4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2152" y="181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a[4]=5</a:t>
              </a: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1640" y="1307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648" y="1584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</p:grpSp>
      <p:grpSp>
        <p:nvGrpSpPr>
          <p:cNvPr id="28" name="Group 9"/>
          <p:cNvGrpSpPr>
            <a:grpSpLocks/>
          </p:cNvGrpSpPr>
          <p:nvPr/>
        </p:nvGrpSpPr>
        <p:grpSpPr bwMode="auto">
          <a:xfrm>
            <a:off x="4239963" y="3301270"/>
            <a:ext cx="1914194" cy="1920875"/>
            <a:chOff x="1598" y="864"/>
            <a:chExt cx="1550" cy="1210"/>
          </a:xfrm>
        </p:grpSpPr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1872" y="864"/>
              <a:ext cx="1267" cy="121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1872" y="1109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2153" y="86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a[0]=1</a:t>
              </a: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890" y="1327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1879" y="157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1881" y="182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1611" y="88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0</a:t>
              </a:r>
            </a:p>
          </p:txBody>
        </p: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1598" y="1102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7" name="Text Box 18"/>
            <p:cNvSpPr txBox="1">
              <a:spLocks noChangeArrowheads="1"/>
            </p:cNvSpPr>
            <p:nvPr/>
          </p:nvSpPr>
          <p:spPr bwMode="auto">
            <a:xfrm>
              <a:off x="1612" y="181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38" name="Text Box 21"/>
            <p:cNvSpPr txBox="1">
              <a:spLocks noChangeArrowheads="1"/>
            </p:cNvSpPr>
            <p:nvPr/>
          </p:nvSpPr>
          <p:spPr bwMode="auto">
            <a:xfrm>
              <a:off x="2157" y="110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a[1]=2</a:t>
              </a:r>
            </a:p>
          </p:txBody>
        </p:sp>
        <p:sp>
          <p:nvSpPr>
            <p:cNvPr id="39" name="Text Box 22"/>
            <p:cNvSpPr txBox="1">
              <a:spLocks noChangeArrowheads="1"/>
            </p:cNvSpPr>
            <p:nvPr/>
          </p:nvSpPr>
          <p:spPr bwMode="auto">
            <a:xfrm>
              <a:off x="2152" y="133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a[2]=0</a:t>
              </a:r>
            </a:p>
          </p:txBody>
        </p:sp>
        <p:sp>
          <p:nvSpPr>
            <p:cNvPr id="40" name="Text Box 23"/>
            <p:cNvSpPr txBox="1">
              <a:spLocks noChangeArrowheads="1"/>
            </p:cNvSpPr>
            <p:nvPr/>
          </p:nvSpPr>
          <p:spPr bwMode="auto">
            <a:xfrm>
              <a:off x="2152" y="1583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a[3]=0</a:t>
              </a:r>
            </a:p>
          </p:txBody>
        </p:sp>
        <p:sp>
          <p:nvSpPr>
            <p:cNvPr id="41" name="Text Box 24"/>
            <p:cNvSpPr txBox="1">
              <a:spLocks noChangeArrowheads="1"/>
            </p:cNvSpPr>
            <p:nvPr/>
          </p:nvSpPr>
          <p:spPr bwMode="auto">
            <a:xfrm>
              <a:off x="2152" y="181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a[4]=0</a:t>
              </a:r>
            </a:p>
          </p:txBody>
        </p:sp>
        <p:sp>
          <p:nvSpPr>
            <p:cNvPr id="42" name="Text Box 26"/>
            <p:cNvSpPr txBox="1">
              <a:spLocks noChangeArrowheads="1"/>
            </p:cNvSpPr>
            <p:nvPr/>
          </p:nvSpPr>
          <p:spPr bwMode="auto">
            <a:xfrm>
              <a:off x="1615" y="1305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1621" y="157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</p:grpSp>
      <p:grpSp>
        <p:nvGrpSpPr>
          <p:cNvPr id="44" name="Group 9"/>
          <p:cNvGrpSpPr>
            <a:grpSpLocks/>
          </p:cNvGrpSpPr>
          <p:nvPr/>
        </p:nvGrpSpPr>
        <p:grpSpPr bwMode="auto">
          <a:xfrm>
            <a:off x="7278567" y="3294920"/>
            <a:ext cx="1914194" cy="1928813"/>
            <a:chOff x="1598" y="864"/>
            <a:chExt cx="1550" cy="1215"/>
          </a:xfrm>
        </p:grpSpPr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1872" y="864"/>
              <a:ext cx="1267" cy="121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1872" y="1108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Text Box 12"/>
            <p:cNvSpPr txBox="1">
              <a:spLocks noChangeArrowheads="1"/>
            </p:cNvSpPr>
            <p:nvPr/>
          </p:nvSpPr>
          <p:spPr bwMode="auto">
            <a:xfrm>
              <a:off x="2153" y="86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a[0]=0</a:t>
              </a:r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auto">
            <a:xfrm>
              <a:off x="1879" y="1327"/>
              <a:ext cx="1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14"/>
            <p:cNvSpPr>
              <a:spLocks noChangeShapeType="1"/>
            </p:cNvSpPr>
            <p:nvPr/>
          </p:nvSpPr>
          <p:spPr bwMode="auto">
            <a:xfrm>
              <a:off x="1879" y="1576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15"/>
            <p:cNvSpPr>
              <a:spLocks noChangeShapeType="1"/>
            </p:cNvSpPr>
            <p:nvPr/>
          </p:nvSpPr>
          <p:spPr bwMode="auto">
            <a:xfrm>
              <a:off x="1881" y="1824"/>
              <a:ext cx="1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Text Box 16"/>
            <p:cNvSpPr txBox="1">
              <a:spLocks noChangeArrowheads="1"/>
            </p:cNvSpPr>
            <p:nvPr/>
          </p:nvSpPr>
          <p:spPr bwMode="auto">
            <a:xfrm>
              <a:off x="1627" y="886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0</a:t>
              </a:r>
            </a:p>
          </p:txBody>
        </p:sp>
        <p:sp>
          <p:nvSpPr>
            <p:cNvPr id="52" name="Text Box 17"/>
            <p:cNvSpPr txBox="1">
              <a:spLocks noChangeArrowheads="1"/>
            </p:cNvSpPr>
            <p:nvPr/>
          </p:nvSpPr>
          <p:spPr bwMode="auto">
            <a:xfrm>
              <a:off x="1598" y="1108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>
              <a:off x="1630" y="182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54" name="Text Box 21"/>
            <p:cNvSpPr txBox="1">
              <a:spLocks noChangeArrowheads="1"/>
            </p:cNvSpPr>
            <p:nvPr/>
          </p:nvSpPr>
          <p:spPr bwMode="auto">
            <a:xfrm>
              <a:off x="2157" y="1104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a[1]=0</a:t>
              </a:r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2152" y="133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a[2]=0</a:t>
              </a:r>
            </a:p>
          </p:txBody>
        </p:sp>
        <p:sp>
          <p:nvSpPr>
            <p:cNvPr id="56" name="Text Box 23"/>
            <p:cNvSpPr txBox="1">
              <a:spLocks noChangeArrowheads="1"/>
            </p:cNvSpPr>
            <p:nvPr/>
          </p:nvSpPr>
          <p:spPr bwMode="auto">
            <a:xfrm>
              <a:off x="2152" y="1583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a[3]=0</a:t>
              </a:r>
            </a:p>
          </p:txBody>
        </p:sp>
        <p:sp>
          <p:nvSpPr>
            <p:cNvPr id="57" name="Text Box 24"/>
            <p:cNvSpPr txBox="1">
              <a:spLocks noChangeArrowheads="1"/>
            </p:cNvSpPr>
            <p:nvPr/>
          </p:nvSpPr>
          <p:spPr bwMode="auto">
            <a:xfrm>
              <a:off x="2152" y="1819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a[4]=0</a:t>
              </a:r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1614" y="1326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1615" y="1583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005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5995" y="365125"/>
            <a:ext cx="6913605" cy="1325563"/>
          </a:xfrm>
        </p:spPr>
        <p:txBody>
          <a:bodyPr/>
          <a:lstStyle/>
          <a:p>
            <a:r>
              <a:rPr lang="zh-CN" altLang="en-US"/>
              <a:t>数组长度的定义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15995" y="1598511"/>
            <a:ext cx="7720913" cy="34371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直接以常量定义元素个数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int a[5];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以符号常量定义，方便程序修改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#define N 5</a:t>
            </a:r>
          </a:p>
          <a:p>
            <a:pPr marL="0" indent="0">
              <a:buNone/>
            </a:pPr>
            <a:r>
              <a:rPr lang="en-US" altLang="zh-CN" sz="2400" dirty="0"/>
              <a:t>         int a[N];</a:t>
            </a:r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8685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数组长度越界问题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3108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C</a:t>
            </a:r>
            <a:r>
              <a:rPr lang="zh-CN" altLang="en-US" sz="2400" dirty="0"/>
              <a:t>语言不对数组做越界检查，数组下标可以是任意整数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越界不提示编译错误，越界造成的数据错误不容易被发现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int a[5];</a:t>
            </a:r>
          </a:p>
          <a:p>
            <a:pPr marL="0" indent="0">
              <a:buNone/>
            </a:pPr>
            <a:r>
              <a:rPr lang="en-US" altLang="zh-CN" sz="2400" dirty="0"/>
              <a:t>a[-1]=10;</a:t>
            </a:r>
          </a:p>
          <a:p>
            <a:pPr marL="0" indent="0">
              <a:buNone/>
            </a:pPr>
            <a:r>
              <a:rPr lang="en-US" altLang="zh-CN" sz="2400" dirty="0"/>
              <a:t>a[10]=20;</a:t>
            </a: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为避免越界发生，定义长度时要多定义</a:t>
            </a:r>
            <a:endParaRPr lang="zh-CN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160546"/>
              </p:ext>
            </p:extLst>
          </p:nvPr>
        </p:nvGraphicFramePr>
        <p:xfrm>
          <a:off x="746975" y="4443168"/>
          <a:ext cx="839153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7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527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… 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a[-2]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a[-1]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a[0]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a[1]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a[2]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 a[3] 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 a[4]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a[5]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a[6]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...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594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512" y="0"/>
            <a:ext cx="10058400" cy="1609344"/>
          </a:xfrm>
        </p:spPr>
        <p:txBody>
          <a:bodyPr/>
          <a:lstStyle/>
          <a:p>
            <a:r>
              <a:rPr lang="en-US" altLang="zh-CN" dirty="0"/>
              <a:t>5.1.2 </a:t>
            </a:r>
            <a:r>
              <a:rPr lang="zh-CN" altLang="en-US" dirty="0"/>
              <a:t>查找算法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8816" y="2851740"/>
            <a:ext cx="10058399" cy="284887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sz="9600" b="1" dirty="0"/>
              <a:t>算法：</a:t>
            </a:r>
            <a:endParaRPr lang="en-US" altLang="zh-CN" sz="96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CN" sz="9600" dirty="0"/>
              <a:t>  </a:t>
            </a:r>
            <a:r>
              <a:rPr lang="zh-CN" altLang="en-US" sz="9600" b="1" dirty="0"/>
              <a:t>顺序查找</a:t>
            </a:r>
            <a:endParaRPr lang="en-US" altLang="zh-CN" sz="9600" b="1" dirty="0"/>
          </a:p>
          <a:p>
            <a:pPr marL="0" indent="0">
              <a:buNone/>
            </a:pPr>
            <a:r>
              <a:rPr lang="en-US" altLang="zh-CN" sz="9600" dirty="0"/>
              <a:t>                 </a:t>
            </a:r>
            <a:r>
              <a:rPr lang="zh-CN" altLang="en-US" sz="9600" dirty="0"/>
              <a:t>按照数组下标顺序依次比对</a:t>
            </a:r>
            <a:endParaRPr lang="en-US" altLang="zh-CN" sz="9600" dirty="0"/>
          </a:p>
          <a:p>
            <a:pPr marL="0" indent="0">
              <a:buNone/>
            </a:pPr>
            <a:r>
              <a:rPr lang="en-US" altLang="zh-CN" sz="9600" dirty="0"/>
              <a:t>                 </a:t>
            </a:r>
            <a:r>
              <a:rPr lang="zh-CN" altLang="en-US" sz="9600" dirty="0"/>
              <a:t>适合任意一组值</a:t>
            </a:r>
            <a:endParaRPr lang="en-US" altLang="zh-CN" sz="9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CN" sz="9600" dirty="0"/>
              <a:t>  </a:t>
            </a:r>
            <a:r>
              <a:rPr lang="zh-CN" altLang="en-US" sz="9600" b="1" dirty="0"/>
              <a:t>二分查找</a:t>
            </a:r>
            <a:endParaRPr lang="en-US" altLang="zh-CN" sz="9600" b="1" dirty="0"/>
          </a:p>
          <a:p>
            <a:pPr marL="0" indent="0">
              <a:buNone/>
            </a:pPr>
            <a:r>
              <a:rPr lang="en-US" altLang="zh-CN" sz="9600" dirty="0"/>
              <a:t>                 </a:t>
            </a:r>
            <a:r>
              <a:rPr lang="zh-CN" altLang="en-US" sz="9600" dirty="0"/>
              <a:t>将数组二等分</a:t>
            </a:r>
            <a:endParaRPr lang="en-US" altLang="zh-CN" sz="9600" dirty="0"/>
          </a:p>
          <a:p>
            <a:pPr marL="0" indent="0">
              <a:buNone/>
            </a:pPr>
            <a:r>
              <a:rPr lang="en-US" altLang="zh-CN" sz="9600" dirty="0"/>
              <a:t>                 </a:t>
            </a:r>
            <a:r>
              <a:rPr lang="zh-CN" altLang="en-US" sz="9600" dirty="0"/>
              <a:t>要找的值和等分点值比较，判决下一步是向前还是向后。</a:t>
            </a:r>
            <a:endParaRPr lang="en-US" altLang="zh-CN" sz="9600" dirty="0"/>
          </a:p>
          <a:p>
            <a:pPr marL="0" indent="0">
              <a:buNone/>
            </a:pPr>
            <a:r>
              <a:rPr lang="en-US" altLang="zh-CN" sz="9600" dirty="0"/>
              <a:t>                 </a:t>
            </a:r>
            <a:r>
              <a:rPr lang="zh-CN" altLang="en-US" sz="9600" dirty="0"/>
              <a:t>适合顺序表里查找</a:t>
            </a:r>
            <a:r>
              <a:rPr lang="en-US" altLang="zh-CN" sz="9600" dirty="0"/>
              <a:t>       </a:t>
            </a:r>
            <a:endParaRPr lang="zh-CN" altLang="en-US" sz="9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1151239" y="2293708"/>
            <a:ext cx="4079788" cy="46384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数据结构： 一维数组</a:t>
            </a:r>
          </a:p>
        </p:txBody>
      </p:sp>
      <p:sp>
        <p:nvSpPr>
          <p:cNvPr id="7" name="文本框 6"/>
          <p:cNvSpPr txBox="1"/>
          <p:nvPr/>
        </p:nvSpPr>
        <p:spPr bwMode="auto">
          <a:xfrm>
            <a:off x="1120346" y="1773907"/>
            <a:ext cx="5190302" cy="46384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问题：在一组值里找一个特定的值</a:t>
            </a:r>
          </a:p>
        </p:txBody>
      </p:sp>
    </p:spTree>
    <p:extLst>
      <p:ext uri="{BB962C8B-B14F-4D97-AF65-F5344CB8AC3E}">
        <p14:creationId xmlns:p14="http://schemas.microsoft.com/office/powerpoint/2010/main" val="263282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2622"/>
            <a:ext cx="10058400" cy="1609344"/>
          </a:xfrm>
        </p:spPr>
        <p:txBody>
          <a:bodyPr/>
          <a:lstStyle/>
          <a:p>
            <a:r>
              <a:rPr lang="zh-CN" altLang="en-US" dirty="0"/>
              <a:t>顺序查找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5.1】</a:t>
            </a:r>
            <a:r>
              <a:rPr lang="zh-CN" altLang="en-US" sz="2000" b="1" dirty="0"/>
              <a:t>问题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在</a:t>
            </a:r>
            <a:r>
              <a:rPr lang="en-US" altLang="zh-CN" sz="2000" dirty="0"/>
              <a:t>10</a:t>
            </a:r>
            <a:r>
              <a:rPr lang="zh-CN" altLang="en-US" sz="2000" dirty="0"/>
              <a:t>个整数里查找所有</a:t>
            </a:r>
            <a:r>
              <a:rPr lang="en-US" altLang="zh-CN" sz="2000" dirty="0"/>
              <a:t>0</a:t>
            </a:r>
            <a:r>
              <a:rPr lang="zh-CN" altLang="en-US" sz="2000" dirty="0"/>
              <a:t>值输出它们的位置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算法步骤：</a:t>
            </a: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定义数组，以符号常量定义长度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输入数据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一维数组的输入输出不可以一条语句处理所有，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必须用循环语句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比较，满足等于</a:t>
            </a:r>
            <a:r>
              <a:rPr lang="en-US" altLang="zh-CN" sz="2000" dirty="0"/>
              <a:t>0</a:t>
            </a:r>
            <a:r>
              <a:rPr lang="zh-CN" altLang="en-US" sz="2000" dirty="0"/>
              <a:t>条件的输出元素下标。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数组元素的引用要使用下标变量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602627" y="994416"/>
            <a:ext cx="5423118" cy="5018939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#include&lt;stdio.h&gt;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#define SIZE 10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int main(void) {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int x[SIZE],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</a:p>
          <a:p>
            <a:pPr>
              <a:spcBef>
                <a:spcPct val="0"/>
              </a:spcBef>
              <a:buNone/>
            </a:pPr>
            <a:endParaRPr lang="en-US" altLang="zh-CN" sz="2000" dirty="0"/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("Input array:\n");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SIZE;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("%d", &amp;x[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SIZE;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      if (x[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== 0){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 0 element subscript is %d\n " ,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272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25000" y="1489512"/>
            <a:ext cx="504575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+mn-ea"/>
                <a:ea typeface="+mn-ea"/>
              </a:rPr>
              <a:t>【</a:t>
            </a:r>
            <a:r>
              <a:rPr lang="zh-CN" altLang="en-US" sz="2400" b="1" dirty="0">
                <a:latin typeface="+mn-ea"/>
                <a:ea typeface="+mn-ea"/>
              </a:rPr>
              <a:t>例 </a:t>
            </a:r>
            <a:r>
              <a:rPr lang="en-US" altLang="zh-CN" sz="2400" b="1" dirty="0">
                <a:latin typeface="+mn-ea"/>
                <a:ea typeface="+mn-ea"/>
              </a:rPr>
              <a:t>5.2】</a:t>
            </a:r>
            <a:r>
              <a:rPr lang="zh-CN" altLang="en-US" sz="2400" b="1" dirty="0">
                <a:latin typeface="+mn-ea"/>
                <a:ea typeface="+mn-ea"/>
              </a:rPr>
              <a:t>问题</a:t>
            </a:r>
            <a:r>
              <a:rPr lang="zh-CN" altLang="en-US" sz="2400" dirty="0">
                <a:latin typeface="+mn-ea"/>
                <a:ea typeface="+mn-ea"/>
              </a:rPr>
              <a:t>：读</a:t>
            </a:r>
            <a:r>
              <a:rPr lang="en-US" altLang="zh-CN" sz="2400" dirty="0">
                <a:latin typeface="+mn-ea"/>
                <a:ea typeface="+mn-ea"/>
              </a:rPr>
              <a:t>10</a:t>
            </a:r>
            <a:r>
              <a:rPr lang="zh-CN" altLang="en-US" sz="2400" dirty="0">
                <a:latin typeface="+mn-ea"/>
                <a:ea typeface="+mn-ea"/>
              </a:rPr>
              <a:t>个整数存入数组</a:t>
            </a:r>
            <a:r>
              <a:rPr lang="en-US" altLang="zh-CN" sz="2400" dirty="0">
                <a:latin typeface="+mn-ea"/>
                <a:ea typeface="+mn-ea"/>
              </a:rPr>
              <a:t>x</a:t>
            </a:r>
            <a:r>
              <a:rPr lang="zh-CN" altLang="en-US" sz="2400" dirty="0">
                <a:latin typeface="+mn-ea"/>
                <a:ea typeface="+mn-ea"/>
              </a:rPr>
              <a:t>，找出其中最大值。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979587" y="3022944"/>
            <a:ext cx="3651680" cy="1756508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+mn-ea"/>
                <a:ea typeface="+mn-ea"/>
              </a:rPr>
              <a:t>算法设计</a:t>
            </a:r>
            <a:endParaRPr lang="en-US" altLang="zh-CN" sz="1800" b="1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+mn-ea"/>
                <a:ea typeface="+mn-ea"/>
              </a:rPr>
              <a:t>确定查找的起点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+mn-ea"/>
                <a:ea typeface="+mn-ea"/>
              </a:rPr>
              <a:t>      </a:t>
            </a:r>
            <a:r>
              <a:rPr lang="zh-CN" altLang="zh-CN" sz="1800" dirty="0">
                <a:latin typeface="+mn-ea"/>
                <a:ea typeface="+mn-ea"/>
              </a:rPr>
              <a:t>令</a:t>
            </a:r>
            <a:r>
              <a:rPr lang="zh-CN" altLang="en-US" sz="1800" dirty="0">
                <a:latin typeface="+mn-ea"/>
                <a:ea typeface="+mn-ea"/>
              </a:rPr>
              <a:t>下标变量</a:t>
            </a:r>
            <a:r>
              <a:rPr lang="en-US" altLang="zh-CN" sz="1800" dirty="0">
                <a:latin typeface="+mn-ea"/>
                <a:ea typeface="+mn-ea"/>
              </a:rPr>
              <a:t>maxi =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+mn-ea"/>
                <a:ea typeface="+mn-ea"/>
              </a:rPr>
              <a:t>循环比较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+mn-ea"/>
                <a:ea typeface="+mn-ea"/>
              </a:rPr>
              <a:t>     </a:t>
            </a:r>
            <a:r>
              <a:rPr lang="zh-CN" altLang="zh-CN" sz="1800" dirty="0">
                <a:latin typeface="+mn-ea"/>
                <a:ea typeface="+mn-ea"/>
              </a:rPr>
              <a:t>依次用</a:t>
            </a:r>
            <a:r>
              <a:rPr lang="en-US" altLang="zh-CN" sz="1800" dirty="0">
                <a:latin typeface="+mn-ea"/>
                <a:ea typeface="+mn-ea"/>
              </a:rPr>
              <a:t>x[</a:t>
            </a:r>
            <a:r>
              <a:rPr lang="en-US" altLang="zh-CN" sz="1800" dirty="0" err="1">
                <a:latin typeface="+mn-ea"/>
                <a:ea typeface="+mn-ea"/>
              </a:rPr>
              <a:t>i</a:t>
            </a:r>
            <a:r>
              <a:rPr lang="en-US" altLang="zh-CN" sz="1800" dirty="0">
                <a:latin typeface="+mn-ea"/>
                <a:ea typeface="+mn-ea"/>
              </a:rPr>
              <a:t>]</a:t>
            </a:r>
            <a:r>
              <a:rPr lang="zh-CN" altLang="zh-CN" sz="1800" dirty="0">
                <a:latin typeface="+mn-ea"/>
                <a:ea typeface="+mn-ea"/>
              </a:rPr>
              <a:t>和</a:t>
            </a:r>
            <a:r>
              <a:rPr lang="en-US" altLang="zh-CN" sz="1800" dirty="0">
                <a:latin typeface="+mn-ea"/>
                <a:ea typeface="+mn-ea"/>
              </a:rPr>
              <a:t>max</a:t>
            </a:r>
            <a:r>
              <a:rPr lang="zh-CN" altLang="zh-CN" sz="1800" dirty="0">
                <a:latin typeface="+mn-ea"/>
                <a:ea typeface="+mn-ea"/>
              </a:rPr>
              <a:t>比较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dirty="0">
                <a:latin typeface="+mn-ea"/>
                <a:ea typeface="+mn-ea"/>
              </a:rPr>
              <a:t>     若</a:t>
            </a:r>
            <a:r>
              <a:rPr lang="en-US" altLang="zh-CN" sz="1800" dirty="0">
                <a:latin typeface="+mn-ea"/>
                <a:ea typeface="+mn-ea"/>
              </a:rPr>
              <a:t>x[max]&lt;x[</a:t>
            </a:r>
            <a:r>
              <a:rPr lang="en-US" altLang="zh-CN" sz="1800" dirty="0" err="1">
                <a:latin typeface="+mn-ea"/>
                <a:ea typeface="+mn-ea"/>
              </a:rPr>
              <a:t>i</a:t>
            </a:r>
            <a:r>
              <a:rPr lang="en-US" altLang="zh-CN" sz="1800" dirty="0">
                <a:latin typeface="+mn-ea"/>
                <a:ea typeface="+mn-ea"/>
              </a:rPr>
              <a:t>],</a:t>
            </a:r>
            <a:r>
              <a:rPr lang="zh-CN" altLang="zh-CN" sz="1800" dirty="0">
                <a:latin typeface="+mn-ea"/>
                <a:ea typeface="+mn-ea"/>
              </a:rPr>
              <a:t>令</a:t>
            </a:r>
            <a:r>
              <a:rPr lang="en-US" altLang="zh-CN" sz="1800" dirty="0">
                <a:latin typeface="+mn-ea"/>
                <a:ea typeface="+mn-ea"/>
              </a:rPr>
              <a:t>maxi=</a:t>
            </a:r>
            <a:r>
              <a:rPr lang="en-US" altLang="zh-CN" sz="1800" dirty="0" err="1">
                <a:latin typeface="+mn-ea"/>
                <a:ea typeface="+mn-ea"/>
              </a:rPr>
              <a:t>i</a:t>
            </a:r>
            <a:endParaRPr lang="en-US" altLang="zh-CN" sz="1800" dirty="0">
              <a:latin typeface="+mn-ea"/>
              <a:ea typeface="+mn-ea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970759" y="1355401"/>
            <a:ext cx="5982343" cy="5080494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#include&lt;stdio.h&gt;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#define SIZE 10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int main(void) {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int x[SIZE],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maxi;</a:t>
            </a:r>
          </a:p>
          <a:p>
            <a:pPr>
              <a:spcBef>
                <a:spcPct val="0"/>
              </a:spcBef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("input %d integer:\n", SIZE);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&lt;SIZE;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("%d", &amp;x[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maxi =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&lt;SIZE;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       if (x[maxi]&lt;x[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]){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              maxi =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("x[%d] is max value %d \n", maxi, x[maxi]);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57724" y="110062"/>
            <a:ext cx="10058400" cy="1609344"/>
          </a:xfrm>
        </p:spPr>
        <p:txBody>
          <a:bodyPr/>
          <a:lstStyle/>
          <a:p>
            <a:r>
              <a:rPr lang="zh-CN" altLang="en-US" dirty="0"/>
              <a:t>查找最大值</a:t>
            </a:r>
            <a:r>
              <a:rPr lang="en-US" altLang="zh-CN" dirty="0"/>
              <a:t>/</a:t>
            </a:r>
            <a:r>
              <a:rPr lang="zh-CN" altLang="en-US" dirty="0"/>
              <a:t>最小值</a:t>
            </a:r>
          </a:p>
        </p:txBody>
      </p:sp>
      <p:sp>
        <p:nvSpPr>
          <p:cNvPr id="4" name="文本框 3"/>
          <p:cNvSpPr txBox="1"/>
          <p:nvPr/>
        </p:nvSpPr>
        <p:spPr bwMode="auto">
          <a:xfrm>
            <a:off x="979587" y="5371344"/>
            <a:ext cx="3578954" cy="71006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定义</a:t>
            </a:r>
            <a:r>
              <a:rPr lang="zh-CN" altLang="zh-CN" sz="2000"/>
              <a:t>下标变量，</a:t>
            </a:r>
            <a:r>
              <a:rPr lang="zh-CN" altLang="en-US" sz="2000"/>
              <a:t>通过</a:t>
            </a:r>
            <a:r>
              <a:rPr lang="zh-CN" altLang="zh-CN" sz="2000"/>
              <a:t>下标位置</a:t>
            </a:r>
            <a:r>
              <a:rPr lang="zh-CN" altLang="en-US" sz="2000"/>
              <a:t>，来记录这个元素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1083772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3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3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3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3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3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3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3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3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3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3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3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3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3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3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53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3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3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3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53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3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53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53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53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  <p:bldP spid="15367" grpId="0" animBg="1" autoUpdateAnimBg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9622" y="-77993"/>
            <a:ext cx="10058400" cy="1609344"/>
          </a:xfrm>
        </p:spPr>
        <p:txBody>
          <a:bodyPr/>
          <a:lstStyle/>
          <a:p>
            <a:r>
              <a:rPr lang="en-US" altLang="zh-CN" dirty="0"/>
              <a:t>5.1.3 </a:t>
            </a:r>
            <a:r>
              <a:rPr lang="zh-CN" altLang="en-US" dirty="0"/>
              <a:t>排序算法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487062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选择法排序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4" name="Group 5"/>
          <p:cNvGrpSpPr>
            <a:grpSpLocks/>
          </p:cNvGrpSpPr>
          <p:nvPr/>
        </p:nvGrpSpPr>
        <p:grpSpPr bwMode="auto">
          <a:xfrm>
            <a:off x="6655585" y="2217188"/>
            <a:ext cx="4393779" cy="4037511"/>
            <a:chOff x="1392" y="986"/>
            <a:chExt cx="2784" cy="2800"/>
          </a:xfrm>
        </p:grpSpPr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1392" y="986"/>
              <a:ext cx="2784" cy="27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>
              <a:off x="1392" y="1322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1776" y="165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 flipV="1">
              <a:off x="2124" y="2246"/>
              <a:ext cx="20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H="1">
              <a:off x="1764" y="1658"/>
              <a:ext cx="12" cy="1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 flipH="1">
              <a:off x="2124" y="2258"/>
              <a:ext cx="0" cy="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2136" y="2570"/>
              <a:ext cx="2040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3192" y="2594"/>
              <a:ext cx="0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 flipV="1">
              <a:off x="1764" y="285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1766" y="1012"/>
              <a:ext cx="2076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输入</a:t>
              </a:r>
              <a:r>
                <a:rPr lang="en-US" altLang="zh-CN" sz="2000"/>
                <a:t>n </a:t>
              </a:r>
              <a:r>
                <a:rPr lang="zh-CN" altLang="zh-CN" sz="2000"/>
                <a:t>个数给</a:t>
              </a:r>
              <a:r>
                <a:rPr lang="en-US" altLang="zh-CN" sz="2000"/>
                <a:t>a[0] </a:t>
              </a:r>
              <a:r>
                <a:rPr lang="zh-CN" altLang="zh-CN" sz="2000"/>
                <a:t>到 </a:t>
              </a:r>
              <a:r>
                <a:rPr lang="en-US" altLang="zh-CN" sz="2000"/>
                <a:t>a[n-1</a:t>
              </a:r>
              <a:r>
                <a:rPr lang="en-US" altLang="zh-CN" sz="2400"/>
                <a:t>]</a:t>
              </a:r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1958" y="1300"/>
              <a:ext cx="117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for  i=0  to  n-2</a:t>
              </a:r>
            </a:p>
          </p:txBody>
        </p: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2256" y="1982"/>
              <a:ext cx="10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for  j=i+1  to  n</a:t>
              </a:r>
            </a:p>
          </p:txBody>
        </p:sp>
        <p:sp>
          <p:nvSpPr>
            <p:cNvPr id="37" name="Line 18"/>
            <p:cNvSpPr>
              <a:spLocks noChangeShapeType="1"/>
            </p:cNvSpPr>
            <p:nvPr/>
          </p:nvSpPr>
          <p:spPr bwMode="auto">
            <a:xfrm>
              <a:off x="2124" y="2251"/>
              <a:ext cx="1044" cy="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 flipV="1">
              <a:off x="3168" y="2246"/>
              <a:ext cx="1008" cy="3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20"/>
            <p:cNvSpPr txBox="1">
              <a:spLocks noChangeArrowheads="1"/>
            </p:cNvSpPr>
            <p:nvPr/>
          </p:nvSpPr>
          <p:spPr bwMode="auto">
            <a:xfrm>
              <a:off x="2760" y="2258"/>
              <a:ext cx="6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a[j]&lt;a[k]</a:t>
              </a:r>
            </a:p>
          </p:txBody>
        </p:sp>
        <p:sp>
          <p:nvSpPr>
            <p:cNvPr id="40" name="Text Box 21"/>
            <p:cNvSpPr txBox="1">
              <a:spLocks noChangeArrowheads="1"/>
            </p:cNvSpPr>
            <p:nvPr/>
          </p:nvSpPr>
          <p:spPr bwMode="auto">
            <a:xfrm>
              <a:off x="2148" y="2318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真</a:t>
              </a:r>
            </a:p>
          </p:txBody>
        </p:sp>
        <p:sp>
          <p:nvSpPr>
            <p:cNvPr id="41" name="Text Box 22"/>
            <p:cNvSpPr txBox="1">
              <a:spLocks noChangeArrowheads="1"/>
            </p:cNvSpPr>
            <p:nvPr/>
          </p:nvSpPr>
          <p:spPr bwMode="auto">
            <a:xfrm>
              <a:off x="3876" y="2318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假</a:t>
              </a:r>
            </a:p>
          </p:txBody>
        </p:sp>
        <p:sp>
          <p:nvSpPr>
            <p:cNvPr id="42" name="Text Box 23"/>
            <p:cNvSpPr txBox="1">
              <a:spLocks noChangeArrowheads="1"/>
            </p:cNvSpPr>
            <p:nvPr/>
          </p:nvSpPr>
          <p:spPr bwMode="auto">
            <a:xfrm>
              <a:off x="2196" y="2582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k=j</a:t>
              </a:r>
            </a:p>
          </p:txBody>
        </p: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2124" y="3494"/>
              <a:ext cx="14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输出</a:t>
              </a:r>
              <a:r>
                <a:rPr lang="en-US" altLang="zh-CN" sz="2000"/>
                <a:t>a[0] </a:t>
              </a:r>
              <a:r>
                <a:rPr lang="zh-CN" altLang="zh-CN" sz="2000"/>
                <a:t>到 </a:t>
              </a:r>
              <a:r>
                <a:rPr lang="en-US" altLang="zh-CN" sz="2000"/>
                <a:t>a[n-1]</a:t>
              </a:r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 flipV="1">
              <a:off x="1776" y="1981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>
              <a:off x="2462" y="1679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k=i</a:t>
              </a:r>
            </a:p>
          </p:txBody>
        </p:sp>
        <p:sp>
          <p:nvSpPr>
            <p:cNvPr id="46" name="Rectangle 27"/>
            <p:cNvSpPr>
              <a:spLocks noChangeArrowheads="1"/>
            </p:cNvSpPr>
            <p:nvPr/>
          </p:nvSpPr>
          <p:spPr bwMode="auto">
            <a:xfrm>
              <a:off x="2016" y="3127"/>
              <a:ext cx="7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a[i]</a:t>
              </a:r>
              <a:r>
                <a:rPr lang="en-US" altLang="zh-CN" sz="2000">
                  <a:sym typeface="Symbol" panose="05050102010706020507" pitchFamily="18" charset="2"/>
                </a:rPr>
                <a:t></a:t>
              </a:r>
              <a:r>
                <a:rPr lang="en-US" altLang="zh-CN" sz="2000"/>
                <a:t>a[k]</a:t>
              </a:r>
            </a:p>
          </p:txBody>
        </p:sp>
        <p:sp>
          <p:nvSpPr>
            <p:cNvPr id="47" name="Line 28"/>
            <p:cNvSpPr>
              <a:spLocks noChangeShapeType="1"/>
            </p:cNvSpPr>
            <p:nvPr/>
          </p:nvSpPr>
          <p:spPr bwMode="auto">
            <a:xfrm>
              <a:off x="1776" y="2859"/>
              <a:ext cx="1188" cy="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29"/>
            <p:cNvSpPr>
              <a:spLocks noChangeShapeType="1"/>
            </p:cNvSpPr>
            <p:nvPr/>
          </p:nvSpPr>
          <p:spPr bwMode="auto">
            <a:xfrm flipV="1">
              <a:off x="2964" y="2856"/>
              <a:ext cx="1212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2760" y="2867"/>
              <a:ext cx="4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i != k</a:t>
              </a:r>
            </a:p>
          </p:txBody>
        </p:sp>
        <p:sp>
          <p:nvSpPr>
            <p:cNvPr id="50" name="Line 31"/>
            <p:cNvSpPr>
              <a:spLocks noChangeShapeType="1"/>
            </p:cNvSpPr>
            <p:nvPr/>
          </p:nvSpPr>
          <p:spPr bwMode="auto">
            <a:xfrm flipV="1">
              <a:off x="1776" y="3144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Text Box 32"/>
            <p:cNvSpPr txBox="1">
              <a:spLocks noChangeArrowheads="1"/>
            </p:cNvSpPr>
            <p:nvPr/>
          </p:nvSpPr>
          <p:spPr bwMode="auto">
            <a:xfrm>
              <a:off x="1896" y="2906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真</a:t>
              </a:r>
            </a:p>
          </p:txBody>
        </p:sp>
        <p:sp>
          <p:nvSpPr>
            <p:cNvPr id="52" name="Text Box 33"/>
            <p:cNvSpPr txBox="1">
              <a:spLocks noChangeArrowheads="1"/>
            </p:cNvSpPr>
            <p:nvPr/>
          </p:nvSpPr>
          <p:spPr bwMode="auto">
            <a:xfrm>
              <a:off x="3816" y="2906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假</a:t>
              </a:r>
            </a:p>
          </p:txBody>
        </p:sp>
        <p:sp>
          <p:nvSpPr>
            <p:cNvPr id="53" name="Line 34"/>
            <p:cNvSpPr>
              <a:spLocks noChangeShapeType="1"/>
            </p:cNvSpPr>
            <p:nvPr/>
          </p:nvSpPr>
          <p:spPr bwMode="auto">
            <a:xfrm flipH="1">
              <a:off x="2988" y="3158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35"/>
            <p:cNvSpPr>
              <a:spLocks noChangeShapeType="1"/>
            </p:cNvSpPr>
            <p:nvPr/>
          </p:nvSpPr>
          <p:spPr bwMode="auto">
            <a:xfrm flipV="1">
              <a:off x="1400" y="3470"/>
              <a:ext cx="2764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文本框 54"/>
          <p:cNvSpPr txBox="1"/>
          <p:nvPr/>
        </p:nvSpPr>
        <p:spPr bwMode="auto">
          <a:xfrm>
            <a:off x="881223" y="2251423"/>
            <a:ext cx="5584975" cy="3972499"/>
          </a:xfrm>
          <a:prstGeom prst="rect">
            <a:avLst/>
          </a:prstGeom>
          <a:noFill/>
          <a:ln w="222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r>
              <a:rPr lang="en-US" altLang="zh-CN" sz="2400" dirty="0"/>
              <a:t>int </a:t>
            </a:r>
            <a:r>
              <a:rPr lang="zh-CN" altLang="en-US" sz="2400" dirty="0"/>
              <a:t> </a:t>
            </a:r>
            <a:r>
              <a:rPr lang="en-US" altLang="zh-CN" sz="2400" dirty="0"/>
              <a:t>a[5]={62,92,57,70,83};</a:t>
            </a:r>
          </a:p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轮数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     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每轮最小值下标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k</a:t>
            </a:r>
          </a:p>
          <a:p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                 </a:t>
            </a:r>
            <a:r>
              <a:rPr lang="en-US" altLang="zh-CN" sz="2000" dirty="0">
                <a:solidFill>
                  <a:srgbClr val="7030A0"/>
                </a:solidFill>
              </a:rPr>
              <a:t>k=0                   1</a:t>
            </a:r>
            <a:r>
              <a:rPr lang="en-US" altLang="zh-CN" sz="2000" dirty="0">
                <a:solidFill>
                  <a:srgbClr val="C00000"/>
                </a:solidFill>
              </a:rPr>
              <a:t>                    </a:t>
            </a:r>
          </a:p>
          <a:p>
            <a:r>
              <a:rPr lang="en-US" altLang="zh-CN" sz="2400" dirty="0"/>
              <a:t> 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=0</a:t>
            </a:r>
            <a:r>
              <a:rPr lang="en-US" altLang="zh-CN" sz="2400" dirty="0"/>
              <a:t>         62      92     57     70     83 </a:t>
            </a:r>
          </a:p>
          <a:p>
            <a:r>
              <a:rPr lang="en-US" altLang="zh-CN" sz="2000" dirty="0">
                <a:solidFill>
                  <a:srgbClr val="0070C0"/>
                </a:solidFill>
              </a:rPr>
              <a:t>                             j=1       2         3         4</a:t>
            </a:r>
          </a:p>
          <a:p>
            <a:r>
              <a:rPr lang="en-US" altLang="zh-CN" sz="2400" dirty="0"/>
              <a:t>                </a:t>
            </a:r>
            <a:r>
              <a:rPr lang="en-US" altLang="zh-CN" sz="2400" dirty="0">
                <a:solidFill>
                  <a:srgbClr val="FF0000"/>
                </a:solidFill>
              </a:rPr>
              <a:t>57</a:t>
            </a:r>
            <a:r>
              <a:rPr lang="en-US" altLang="zh-CN" sz="2400" dirty="0"/>
              <a:t>      92     </a:t>
            </a:r>
            <a:r>
              <a:rPr lang="en-US" altLang="zh-CN" sz="2400" dirty="0">
                <a:solidFill>
                  <a:srgbClr val="FF0000"/>
                </a:solidFill>
              </a:rPr>
              <a:t>62</a:t>
            </a:r>
            <a:r>
              <a:rPr lang="en-US" altLang="zh-CN" sz="2400" dirty="0"/>
              <a:t>    70     83</a:t>
            </a:r>
          </a:p>
          <a:p>
            <a:r>
              <a:rPr lang="en-US" altLang="zh-CN" sz="2400" dirty="0"/>
              <a:t> 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=1</a:t>
            </a:r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57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FF0000"/>
                </a:solidFill>
              </a:rPr>
              <a:t>62     92</a:t>
            </a:r>
            <a:r>
              <a:rPr lang="en-US" altLang="zh-CN" sz="2400" dirty="0"/>
              <a:t>    70     83 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=2</a:t>
            </a:r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57       62</a:t>
            </a: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FF0000"/>
                </a:solidFill>
              </a:rPr>
              <a:t>70     92</a:t>
            </a:r>
            <a:r>
              <a:rPr lang="en-US" altLang="zh-CN" sz="2400" dirty="0"/>
              <a:t>    83       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=3</a:t>
            </a:r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57       62</a:t>
            </a: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70</a:t>
            </a: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FF0000"/>
                </a:solidFill>
              </a:rPr>
              <a:t>83    92 </a:t>
            </a:r>
          </a:p>
        </p:txBody>
      </p:sp>
    </p:spTree>
    <p:extLst>
      <p:ext uri="{BB962C8B-B14F-4D97-AF65-F5344CB8AC3E}">
        <p14:creationId xmlns:p14="http://schemas.microsoft.com/office/powerpoint/2010/main" val="1847614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36"/>
          <p:cNvSpPr txBox="1">
            <a:spLocks noChangeArrowheads="1"/>
          </p:cNvSpPr>
          <p:nvPr/>
        </p:nvSpPr>
        <p:spPr bwMode="auto">
          <a:xfrm>
            <a:off x="2511526" y="18547"/>
            <a:ext cx="4175926" cy="69887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#include&lt;stdio.h&gt;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#define N 5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int main(void) {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int a[N],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j, k, temp;</a:t>
            </a:r>
          </a:p>
          <a:p>
            <a:pPr>
              <a:spcBef>
                <a:spcPct val="0"/>
              </a:spcBef>
              <a:buNone/>
            </a:pPr>
            <a:endParaRPr lang="en-US" altLang="zh-CN" sz="1600" dirty="0"/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("Selection sort: Input N numbers:\n");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N;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("%d", &amp;a[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&lt;N-1;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            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k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for (j = i+1; j&lt;N;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if (a[j]&lt;a[k]){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   k = j;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if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!= k)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temp =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 a[k];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a[k] = temp;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                                                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("The sorted numbers:\n");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&lt;N;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("%d ",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/>
          </a:p>
        </p:txBody>
      </p:sp>
      <p:sp>
        <p:nvSpPr>
          <p:cNvPr id="6" name="文本框 5"/>
          <p:cNvSpPr txBox="1"/>
          <p:nvPr/>
        </p:nvSpPr>
        <p:spPr bwMode="auto">
          <a:xfrm>
            <a:off x="7395859" y="2655743"/>
            <a:ext cx="3732390" cy="280294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//2.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</a:rPr>
              <a:t>冒泡法排序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for (i = 0; i &lt; N - 1; i++){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for (j = 0; j &lt; N - 1 - i; j++){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      if (a[j] &gt; a[j + 1]) {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           temp = a[j];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           a[j] = a[j + 1];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           a[j + 1] = temp;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      }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      }</a:t>
            </a:r>
          </a:p>
          <a:p>
            <a:pPr>
              <a:spcBef>
                <a:spcPct val="0"/>
              </a:spcBef>
            </a:pPr>
            <a:r>
              <a:rPr lang="pt-BR" altLang="zh-CN" sz="1600" dirty="0">
                <a:solidFill>
                  <a:schemeClr val="accent6">
                    <a:lumMod val="75000"/>
                  </a:schemeClr>
                </a:solidFill>
              </a:rPr>
              <a:t>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 dirty="0"/>
          </a:p>
        </p:txBody>
      </p:sp>
      <p:sp>
        <p:nvSpPr>
          <p:cNvPr id="7" name="文本框 6"/>
          <p:cNvSpPr txBox="1"/>
          <p:nvPr/>
        </p:nvSpPr>
        <p:spPr bwMode="auto">
          <a:xfrm>
            <a:off x="2511525" y="2329248"/>
            <a:ext cx="4175927" cy="3129443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00B0F0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20C711-CA6F-3828-EEDE-F8C5F5330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859" y="502812"/>
            <a:ext cx="5828029" cy="187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050" y="2103437"/>
            <a:ext cx="6007704" cy="1325563"/>
          </a:xfrm>
        </p:spPr>
        <p:txBody>
          <a:bodyPr>
            <a:normAutofit/>
          </a:bodyPr>
          <a:lstStyle/>
          <a:p>
            <a:r>
              <a:rPr lang="en-US" altLang="zh-CN" sz="6000" b="1" dirty="0"/>
              <a:t> 5.2   </a:t>
            </a:r>
            <a:r>
              <a:rPr lang="zh-CN" altLang="en-US" sz="6000" b="1" dirty="0"/>
              <a:t>二 维 数 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75FF04-99B5-000B-0A72-3788AA60F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050" y="4019145"/>
            <a:ext cx="6411807" cy="185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8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100155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5.2.1  </a:t>
            </a:r>
            <a:r>
              <a:rPr lang="zh-CN" altLang="en-US" sz="3600" dirty="0"/>
              <a:t>二维数组的定义和初始化</a:t>
            </a:r>
            <a:br>
              <a:rPr lang="en-US" altLang="zh-CN" sz="3600" dirty="0"/>
            </a:br>
            <a:r>
              <a:rPr lang="en-US" altLang="zh-CN" sz="3600" dirty="0"/>
              <a:t>1. </a:t>
            </a:r>
            <a:r>
              <a:rPr lang="zh-CN" altLang="en-US" sz="3600" dirty="0"/>
              <a:t>二维数组的定义</a:t>
            </a:r>
          </a:p>
        </p:txBody>
      </p:sp>
      <p:sp>
        <p:nvSpPr>
          <p:cNvPr id="49" name="内容占位符 48"/>
          <p:cNvSpPr>
            <a:spLocks noGrp="1"/>
          </p:cNvSpPr>
          <p:nvPr>
            <p:ph idx="1"/>
          </p:nvPr>
        </p:nvSpPr>
        <p:spPr>
          <a:xfrm>
            <a:off x="838201" y="1825625"/>
            <a:ext cx="5487128" cy="934051"/>
          </a:xfrm>
          <a:noFill/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数据类型　数组名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常量表达式</a:t>
            </a:r>
            <a:r>
              <a:rPr lang="en-US" altLang="zh-CN" sz="2000" b="1" dirty="0">
                <a:latin typeface="宋体" panose="02010600030101010101" pitchFamily="2" charset="-122"/>
              </a:rPr>
              <a:t>][</a:t>
            </a:r>
            <a:r>
              <a:rPr lang="zh-CN" altLang="en-US" sz="2000" b="1" dirty="0">
                <a:latin typeface="宋体" panose="02010600030101010101" pitchFamily="2" charset="-122"/>
              </a:rPr>
              <a:t>常量表达式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a[3][4];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6508646" y="1880758"/>
            <a:ext cx="2808652" cy="4619626"/>
            <a:chOff x="3815" y="602"/>
            <a:chExt cx="1837" cy="2910"/>
          </a:xfrm>
        </p:grpSpPr>
        <p:grpSp>
          <p:nvGrpSpPr>
            <p:cNvPr id="7" name="Group 52"/>
            <p:cNvGrpSpPr>
              <a:grpSpLocks/>
            </p:cNvGrpSpPr>
            <p:nvPr/>
          </p:nvGrpSpPr>
          <p:grpSpPr bwMode="auto">
            <a:xfrm>
              <a:off x="3815" y="631"/>
              <a:ext cx="1378" cy="2881"/>
              <a:chOff x="3923" y="223"/>
              <a:chExt cx="1378" cy="2881"/>
            </a:xfrm>
          </p:grpSpPr>
          <p:sp>
            <p:nvSpPr>
              <p:cNvPr id="11" name="Rectangle 53"/>
              <p:cNvSpPr>
                <a:spLocks noChangeArrowheads="1"/>
              </p:cNvSpPr>
              <p:nvPr/>
            </p:nvSpPr>
            <p:spPr bwMode="auto">
              <a:xfrm>
                <a:off x="4189" y="247"/>
                <a:ext cx="1112" cy="283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" name="Line 54"/>
              <p:cNvSpPr>
                <a:spLocks noChangeShapeType="1"/>
              </p:cNvSpPr>
              <p:nvPr/>
            </p:nvSpPr>
            <p:spPr bwMode="auto">
              <a:xfrm>
                <a:off x="4181" y="492"/>
                <a:ext cx="110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55"/>
              <p:cNvSpPr>
                <a:spLocks noChangeShapeType="1"/>
              </p:cNvSpPr>
              <p:nvPr/>
            </p:nvSpPr>
            <p:spPr bwMode="auto">
              <a:xfrm>
                <a:off x="4181" y="726"/>
                <a:ext cx="110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56"/>
              <p:cNvSpPr>
                <a:spLocks noChangeShapeType="1"/>
              </p:cNvSpPr>
              <p:nvPr/>
            </p:nvSpPr>
            <p:spPr bwMode="auto">
              <a:xfrm>
                <a:off x="4181" y="961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57"/>
              <p:cNvSpPr>
                <a:spLocks noChangeShapeType="1"/>
              </p:cNvSpPr>
              <p:nvPr/>
            </p:nvSpPr>
            <p:spPr bwMode="auto">
              <a:xfrm>
                <a:off x="4181" y="1195"/>
                <a:ext cx="1112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58"/>
              <p:cNvSpPr>
                <a:spLocks noChangeShapeType="1"/>
              </p:cNvSpPr>
              <p:nvPr/>
            </p:nvSpPr>
            <p:spPr bwMode="auto">
              <a:xfrm>
                <a:off x="4181" y="1430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59"/>
              <p:cNvSpPr>
                <a:spLocks noChangeShapeType="1"/>
              </p:cNvSpPr>
              <p:nvPr/>
            </p:nvSpPr>
            <p:spPr bwMode="auto">
              <a:xfrm>
                <a:off x="4181" y="1664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Line 60"/>
              <p:cNvSpPr>
                <a:spLocks noChangeShapeType="1"/>
              </p:cNvSpPr>
              <p:nvPr/>
            </p:nvSpPr>
            <p:spPr bwMode="auto">
              <a:xfrm>
                <a:off x="4181" y="1899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61"/>
              <p:cNvSpPr>
                <a:spLocks noChangeShapeType="1"/>
              </p:cNvSpPr>
              <p:nvPr/>
            </p:nvSpPr>
            <p:spPr bwMode="auto">
              <a:xfrm>
                <a:off x="4181" y="2134"/>
                <a:ext cx="1112" cy="0"/>
              </a:xfrm>
              <a:prstGeom prst="line">
                <a:avLst/>
              </a:prstGeom>
              <a:noFill/>
              <a:ln w="254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Line 62"/>
              <p:cNvSpPr>
                <a:spLocks noChangeShapeType="1"/>
              </p:cNvSpPr>
              <p:nvPr/>
            </p:nvSpPr>
            <p:spPr bwMode="auto">
              <a:xfrm>
                <a:off x="4181" y="2368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63"/>
              <p:cNvSpPr>
                <a:spLocks noChangeShapeType="1"/>
              </p:cNvSpPr>
              <p:nvPr/>
            </p:nvSpPr>
            <p:spPr bwMode="auto">
              <a:xfrm>
                <a:off x="4181" y="2603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64"/>
              <p:cNvSpPr>
                <a:spLocks noChangeShapeType="1"/>
              </p:cNvSpPr>
              <p:nvPr/>
            </p:nvSpPr>
            <p:spPr bwMode="auto">
              <a:xfrm>
                <a:off x="4181" y="2837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3" name="Group 65"/>
              <p:cNvGrpSpPr>
                <a:grpSpLocks/>
              </p:cNvGrpSpPr>
              <p:nvPr/>
            </p:nvGrpSpPr>
            <p:grpSpPr bwMode="auto">
              <a:xfrm>
                <a:off x="3983" y="260"/>
                <a:ext cx="215" cy="1425"/>
                <a:chOff x="1403" y="380"/>
                <a:chExt cx="215" cy="1425"/>
              </a:xfrm>
            </p:grpSpPr>
            <p:sp>
              <p:nvSpPr>
                <p:cNvPr id="43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415" y="380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0</a:t>
                  </a:r>
                </a:p>
              </p:txBody>
            </p:sp>
            <p:sp>
              <p:nvSpPr>
                <p:cNvPr id="44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415" y="598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1</a:t>
                  </a:r>
                </a:p>
              </p:txBody>
            </p:sp>
            <p:sp>
              <p:nvSpPr>
                <p:cNvPr id="45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1415" y="1315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4</a:t>
                  </a:r>
                </a:p>
              </p:txBody>
            </p:sp>
            <p:sp>
              <p:nvSpPr>
                <p:cNvPr id="46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1415" y="1555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5</a:t>
                  </a:r>
                </a:p>
              </p:txBody>
            </p:sp>
            <p:sp>
              <p:nvSpPr>
                <p:cNvPr id="47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1403" y="787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2</a:t>
                  </a:r>
                </a:p>
              </p:txBody>
            </p:sp>
            <p:sp>
              <p:nvSpPr>
                <p:cNvPr id="48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403" y="1075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3</a:t>
                  </a:r>
                </a:p>
              </p:txBody>
            </p:sp>
          </p:grpSp>
          <p:sp>
            <p:nvSpPr>
              <p:cNvPr id="24" name="Text Box 72"/>
              <p:cNvSpPr txBox="1">
                <a:spLocks noChangeArrowheads="1"/>
              </p:cNvSpPr>
              <p:nvPr/>
            </p:nvSpPr>
            <p:spPr bwMode="auto">
              <a:xfrm>
                <a:off x="4439" y="463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7030A0"/>
                    </a:solidFill>
                  </a:rPr>
                  <a:t>a[0][1]</a:t>
                </a:r>
              </a:p>
            </p:txBody>
          </p:sp>
          <p:sp>
            <p:nvSpPr>
              <p:cNvPr id="25" name="Text Box 73"/>
              <p:cNvSpPr txBox="1">
                <a:spLocks noChangeArrowheads="1"/>
              </p:cNvSpPr>
              <p:nvPr/>
            </p:nvSpPr>
            <p:spPr bwMode="auto">
              <a:xfrm>
                <a:off x="4439" y="703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7030A0"/>
                    </a:solidFill>
                  </a:rPr>
                  <a:t>a[0][2]</a:t>
                </a:r>
              </a:p>
            </p:txBody>
          </p:sp>
          <p:sp>
            <p:nvSpPr>
              <p:cNvPr id="26" name="Text Box 74"/>
              <p:cNvSpPr txBox="1">
                <a:spLocks noChangeArrowheads="1"/>
              </p:cNvSpPr>
              <p:nvPr/>
            </p:nvSpPr>
            <p:spPr bwMode="auto">
              <a:xfrm>
                <a:off x="4439" y="943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7030A0"/>
                    </a:solidFill>
                  </a:rPr>
                  <a:t>a[0][3]</a:t>
                </a:r>
              </a:p>
            </p:txBody>
          </p:sp>
          <p:sp>
            <p:nvSpPr>
              <p:cNvPr id="27" name="Text Box 75"/>
              <p:cNvSpPr txBox="1">
                <a:spLocks noChangeArrowheads="1"/>
              </p:cNvSpPr>
              <p:nvPr/>
            </p:nvSpPr>
            <p:spPr bwMode="auto">
              <a:xfrm>
                <a:off x="4439" y="1183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accent6">
                        <a:lumMod val="75000"/>
                      </a:schemeClr>
                    </a:solidFill>
                  </a:rPr>
                  <a:t>a[1][0]</a:t>
                </a:r>
              </a:p>
            </p:txBody>
          </p:sp>
          <p:sp>
            <p:nvSpPr>
              <p:cNvPr id="28" name="Text Box 76"/>
              <p:cNvSpPr txBox="1">
                <a:spLocks noChangeArrowheads="1"/>
              </p:cNvSpPr>
              <p:nvPr/>
            </p:nvSpPr>
            <p:spPr bwMode="auto">
              <a:xfrm>
                <a:off x="4459" y="140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accent6">
                        <a:lumMod val="75000"/>
                      </a:schemeClr>
                    </a:solidFill>
                  </a:rPr>
                  <a:t>a[1][1]</a:t>
                </a:r>
              </a:p>
            </p:txBody>
          </p:sp>
          <p:sp>
            <p:nvSpPr>
              <p:cNvPr id="29" name="Text Box 77"/>
              <p:cNvSpPr txBox="1">
                <a:spLocks noChangeArrowheads="1"/>
              </p:cNvSpPr>
              <p:nvPr/>
            </p:nvSpPr>
            <p:spPr bwMode="auto">
              <a:xfrm>
                <a:off x="4439" y="223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7030A0"/>
                    </a:solidFill>
                  </a:rPr>
                  <a:t>a[0][0]</a:t>
                </a:r>
              </a:p>
            </p:txBody>
          </p:sp>
          <p:sp>
            <p:nvSpPr>
              <p:cNvPr id="30" name="Text Box 78"/>
              <p:cNvSpPr txBox="1">
                <a:spLocks noChangeArrowheads="1"/>
              </p:cNvSpPr>
              <p:nvPr/>
            </p:nvSpPr>
            <p:spPr bwMode="auto">
              <a:xfrm>
                <a:off x="4439" y="187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accent6">
                        <a:lumMod val="75000"/>
                      </a:schemeClr>
                    </a:solidFill>
                  </a:rPr>
                  <a:t>a[1][3]</a:t>
                </a:r>
              </a:p>
            </p:txBody>
          </p:sp>
          <p:sp>
            <p:nvSpPr>
              <p:cNvPr id="31" name="Text Box 79"/>
              <p:cNvSpPr txBox="1">
                <a:spLocks noChangeArrowheads="1"/>
              </p:cNvSpPr>
              <p:nvPr/>
            </p:nvSpPr>
            <p:spPr bwMode="auto">
              <a:xfrm>
                <a:off x="4439" y="211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CC6600"/>
                    </a:solidFill>
                  </a:rPr>
                  <a:t>a[2][0]</a:t>
                </a:r>
              </a:p>
            </p:txBody>
          </p:sp>
          <p:sp>
            <p:nvSpPr>
              <p:cNvPr id="32" name="Text Box 80"/>
              <p:cNvSpPr txBox="1">
                <a:spLocks noChangeArrowheads="1"/>
              </p:cNvSpPr>
              <p:nvPr/>
            </p:nvSpPr>
            <p:spPr bwMode="auto">
              <a:xfrm>
                <a:off x="4439" y="235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CC6600"/>
                    </a:solidFill>
                  </a:rPr>
                  <a:t>a[2][1]</a:t>
                </a:r>
              </a:p>
            </p:txBody>
          </p:sp>
          <p:sp>
            <p:nvSpPr>
              <p:cNvPr id="33" name="Text Box 81"/>
              <p:cNvSpPr txBox="1">
                <a:spLocks noChangeArrowheads="1"/>
              </p:cNvSpPr>
              <p:nvPr/>
            </p:nvSpPr>
            <p:spPr bwMode="auto">
              <a:xfrm>
                <a:off x="4439" y="259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CC6600"/>
                    </a:solidFill>
                  </a:rPr>
                  <a:t>a[2][2]</a:t>
                </a:r>
              </a:p>
            </p:txBody>
          </p:sp>
          <p:sp>
            <p:nvSpPr>
              <p:cNvPr id="34" name="Text Box 82"/>
              <p:cNvSpPr txBox="1">
                <a:spLocks noChangeArrowheads="1"/>
              </p:cNvSpPr>
              <p:nvPr/>
            </p:nvSpPr>
            <p:spPr bwMode="auto">
              <a:xfrm>
                <a:off x="4439" y="283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CC6600"/>
                    </a:solidFill>
                  </a:rPr>
                  <a:t>a[2][3]</a:t>
                </a:r>
              </a:p>
            </p:txBody>
          </p:sp>
          <p:sp>
            <p:nvSpPr>
              <p:cNvPr id="35" name="Text Box 83"/>
              <p:cNvSpPr txBox="1">
                <a:spLocks noChangeArrowheads="1"/>
              </p:cNvSpPr>
              <p:nvPr/>
            </p:nvSpPr>
            <p:spPr bwMode="auto">
              <a:xfrm>
                <a:off x="4439" y="1639"/>
                <a:ext cx="58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accent6">
                        <a:lumMod val="75000"/>
                      </a:schemeClr>
                    </a:solidFill>
                  </a:rPr>
                  <a:t>a[1][2]</a:t>
                </a:r>
              </a:p>
            </p:txBody>
          </p:sp>
          <p:grpSp>
            <p:nvGrpSpPr>
              <p:cNvPr id="36" name="Group 84"/>
              <p:cNvGrpSpPr>
                <a:grpSpLocks/>
              </p:cNvGrpSpPr>
              <p:nvPr/>
            </p:nvGrpSpPr>
            <p:grpSpPr bwMode="auto">
              <a:xfrm>
                <a:off x="3923" y="1664"/>
                <a:ext cx="293" cy="1440"/>
                <a:chOff x="1355" y="380"/>
                <a:chExt cx="293" cy="1440"/>
              </a:xfrm>
            </p:grpSpPr>
            <p:sp>
              <p:nvSpPr>
                <p:cNvPr id="3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413" y="380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6</a:t>
                  </a:r>
                </a:p>
              </p:txBody>
            </p:sp>
            <p:sp>
              <p:nvSpPr>
                <p:cNvPr id="38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1413" y="598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7</a:t>
                  </a:r>
                </a:p>
              </p:txBody>
            </p:sp>
            <p:sp>
              <p:nvSpPr>
                <p:cNvPr id="39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1355" y="1315"/>
                  <a:ext cx="28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10</a:t>
                  </a:r>
                </a:p>
              </p:txBody>
            </p:sp>
            <p:sp>
              <p:nvSpPr>
                <p:cNvPr id="40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361" y="1570"/>
                  <a:ext cx="28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11</a:t>
                  </a:r>
                </a:p>
              </p:txBody>
            </p:sp>
            <p:sp>
              <p:nvSpPr>
                <p:cNvPr id="41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403" y="787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8</a:t>
                  </a:r>
                </a:p>
              </p:txBody>
            </p:sp>
            <p:sp>
              <p:nvSpPr>
                <p:cNvPr id="42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403" y="1075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/>
                    <a:t>9</a:t>
                  </a:r>
                </a:p>
              </p:txBody>
            </p:sp>
          </p:grpSp>
        </p:grpSp>
        <p:sp>
          <p:nvSpPr>
            <p:cNvPr id="8" name="Text Box 91"/>
            <p:cNvSpPr txBox="1">
              <a:spLocks noChangeArrowheads="1"/>
            </p:cNvSpPr>
            <p:nvPr/>
          </p:nvSpPr>
          <p:spPr bwMode="auto">
            <a:xfrm>
              <a:off x="5150" y="602"/>
              <a:ext cx="4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</a:rPr>
                <a:t>a[0]</a:t>
              </a:r>
            </a:p>
          </p:txBody>
        </p:sp>
        <p:sp>
          <p:nvSpPr>
            <p:cNvPr id="9" name="Text Box 92"/>
            <p:cNvSpPr txBox="1">
              <a:spLocks noChangeArrowheads="1"/>
            </p:cNvSpPr>
            <p:nvPr/>
          </p:nvSpPr>
          <p:spPr bwMode="auto">
            <a:xfrm>
              <a:off x="5174" y="1574"/>
              <a:ext cx="4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</a:rPr>
                <a:t>a[1]</a:t>
              </a:r>
            </a:p>
          </p:txBody>
        </p:sp>
        <p:sp>
          <p:nvSpPr>
            <p:cNvPr id="10" name="Text Box 93"/>
            <p:cNvSpPr txBox="1">
              <a:spLocks noChangeArrowheads="1"/>
            </p:cNvSpPr>
            <p:nvPr/>
          </p:nvSpPr>
          <p:spPr bwMode="auto">
            <a:xfrm>
              <a:off x="5210" y="2498"/>
              <a:ext cx="4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</a:rPr>
                <a:t>a[2]</a:t>
              </a:r>
            </a:p>
          </p:txBody>
        </p:sp>
      </p:grpSp>
      <p:sp>
        <p:nvSpPr>
          <p:cNvPr id="50" name="文本框 49"/>
          <p:cNvSpPr txBox="1"/>
          <p:nvPr/>
        </p:nvSpPr>
        <p:spPr bwMode="auto">
          <a:xfrm>
            <a:off x="838201" y="3203124"/>
            <a:ext cx="5546596" cy="1387176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/>
              <a:t>二维数组在内存中按行顺序以一维方式存储</a:t>
            </a:r>
            <a:endParaRPr lang="en-US" altLang="zh-CN" sz="2000" dirty="0"/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/>
              <a:t>行名表示行的首地址</a:t>
            </a:r>
            <a:endParaRPr lang="en-US" altLang="zh-CN" sz="2000" dirty="0"/>
          </a:p>
          <a:p>
            <a:pPr>
              <a:spcBef>
                <a:spcPct val="0"/>
              </a:spcBef>
            </a:pPr>
            <a:endParaRPr lang="zh-CN" altLang="en-US" sz="2400" dirty="0"/>
          </a:p>
        </p:txBody>
      </p:sp>
      <p:sp>
        <p:nvSpPr>
          <p:cNvPr id="51" name="文本框 50"/>
          <p:cNvSpPr txBox="1"/>
          <p:nvPr/>
        </p:nvSpPr>
        <p:spPr bwMode="auto">
          <a:xfrm>
            <a:off x="8478235" y="1307703"/>
            <a:ext cx="675790" cy="371513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行名</a:t>
            </a:r>
          </a:p>
        </p:txBody>
      </p:sp>
      <p:sp>
        <p:nvSpPr>
          <p:cNvPr id="52" name="下箭头 51"/>
          <p:cNvSpPr/>
          <p:nvPr/>
        </p:nvSpPr>
        <p:spPr>
          <a:xfrm>
            <a:off x="8816130" y="1669148"/>
            <a:ext cx="45719" cy="2325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750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175" y="132214"/>
            <a:ext cx="10058400" cy="1609344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二维数组的初始化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96160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int a[2][3]={{1,2,3},{4,5,6}};       //</a:t>
            </a:r>
            <a:r>
              <a:rPr lang="zh-CN" altLang="en-US" sz="2000" dirty="0"/>
              <a:t>全部初始化</a:t>
            </a:r>
            <a:r>
              <a:rPr lang="en-US" altLang="zh-CN" sz="2000" dirty="0"/>
              <a:t>,</a:t>
            </a:r>
            <a:r>
              <a:rPr lang="zh-CN" altLang="en-US" sz="2000" dirty="0"/>
              <a:t>按行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int a[2][3]={1,2,3,4,5,6};          //</a:t>
            </a:r>
            <a:r>
              <a:rPr lang="zh-CN" altLang="en-US" sz="2000" dirty="0"/>
              <a:t>全部初始化</a:t>
            </a:r>
            <a:r>
              <a:rPr lang="en-US" altLang="zh-CN" sz="2000" dirty="0"/>
              <a:t>,</a:t>
            </a:r>
            <a:r>
              <a:rPr lang="zh-CN" altLang="en-US" sz="2000" dirty="0"/>
              <a:t>不按行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int a[2][3]={{1},{2}};                  //</a:t>
            </a:r>
            <a:r>
              <a:rPr lang="zh-CN" altLang="en-US" sz="2000" dirty="0"/>
              <a:t>部分初始化</a:t>
            </a:r>
            <a:r>
              <a:rPr lang="en-US" altLang="zh-CN" sz="2000" dirty="0"/>
              <a:t>,</a:t>
            </a:r>
            <a:r>
              <a:rPr lang="zh-CN" altLang="en-US" sz="2000" dirty="0"/>
              <a:t>按行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int a[2][3]={1,2};                //</a:t>
            </a:r>
            <a:r>
              <a:rPr lang="zh-CN" altLang="en-US" sz="2000" dirty="0"/>
              <a:t>部分初始化</a:t>
            </a:r>
            <a:r>
              <a:rPr lang="en-US" altLang="zh-CN" sz="2000" dirty="0"/>
              <a:t>,</a:t>
            </a:r>
            <a:r>
              <a:rPr lang="zh-CN" altLang="en-US" sz="2000" dirty="0"/>
              <a:t>不按行</a:t>
            </a:r>
            <a:r>
              <a:rPr lang="en-US" altLang="zh-CN" sz="2000" dirty="0"/>
              <a:t>,</a:t>
            </a:r>
            <a:r>
              <a:rPr lang="zh-CN" altLang="en-US" sz="2000" dirty="0"/>
              <a:t>依一维次序得到值，得不到值的为</a:t>
            </a:r>
            <a:r>
              <a:rPr lang="en-US" altLang="zh-CN" sz="2000" dirty="0"/>
              <a:t>0</a:t>
            </a:r>
          </a:p>
          <a:p>
            <a:pPr marL="0" indent="0">
              <a:buNone/>
            </a:pPr>
            <a:r>
              <a:rPr lang="en-US" altLang="zh-CN" sz="2000" dirty="0"/>
              <a:t>int a[][3]={1,2,3,4,5,6};           //</a:t>
            </a:r>
            <a:r>
              <a:rPr lang="zh-CN" altLang="en-US" sz="2000" dirty="0"/>
              <a:t>第一维长度可以省略，第二维长度不可省略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64169"/>
              </p:ext>
            </p:extLst>
          </p:nvPr>
        </p:nvGraphicFramePr>
        <p:xfrm>
          <a:off x="2312090" y="4145487"/>
          <a:ext cx="1337276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1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5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05435"/>
              </p:ext>
            </p:extLst>
          </p:nvPr>
        </p:nvGraphicFramePr>
        <p:xfrm>
          <a:off x="4252099" y="4132202"/>
          <a:ext cx="1337276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1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73169"/>
              </p:ext>
            </p:extLst>
          </p:nvPr>
        </p:nvGraphicFramePr>
        <p:xfrm>
          <a:off x="6192108" y="4123965"/>
          <a:ext cx="1337276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1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 bwMode="auto">
          <a:xfrm>
            <a:off x="1422404" y="4052087"/>
            <a:ext cx="889686" cy="2385269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a[0][0]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a[0][1]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/>
              <a:t>a[0][2]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/>
              <a:t>a[1][0]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/>
              <a:t>a[1][1]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en-US" altLang="zh-CN"/>
              <a:t>a[1][2]</a:t>
            </a:r>
          </a:p>
        </p:txBody>
      </p:sp>
    </p:spTree>
    <p:extLst>
      <p:ext uri="{BB962C8B-B14F-4D97-AF65-F5344CB8AC3E}">
        <p14:creationId xmlns:p14="http://schemas.microsoft.com/office/powerpoint/2010/main" val="579857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9804" y="180142"/>
            <a:ext cx="3709086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多维数组降维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zh-CN"/>
              <a:t>int a[2][3][2]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2034747" y="2802821"/>
            <a:ext cx="609600" cy="402291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a[0]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 bwMode="auto">
          <a:xfrm>
            <a:off x="2034747" y="4554229"/>
            <a:ext cx="609600" cy="402291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a[1]</a:t>
            </a:r>
            <a:endParaRPr lang="zh-CN" altLang="en-US" sz="200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96119"/>
              </p:ext>
            </p:extLst>
          </p:nvPr>
        </p:nvGraphicFramePr>
        <p:xfrm>
          <a:off x="3675103" y="2382669"/>
          <a:ext cx="1033851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3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1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/>
                        <a:t>a[0][0]</a:t>
                      </a:r>
                      <a:endParaRPr lang="zh-CN" altLang="en-US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/>
                        <a:t>a[0][1]</a:t>
                      </a:r>
                      <a:endParaRPr lang="zh-CN" altLang="en-US" sz="2000" b="0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/>
                        <a:t>a[0][2]</a:t>
                      </a:r>
                      <a:endParaRPr lang="zh-CN" altLang="en-US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657517"/>
              </p:ext>
            </p:extLst>
          </p:nvPr>
        </p:nvGraphicFramePr>
        <p:xfrm>
          <a:off x="3677849" y="4128433"/>
          <a:ext cx="1033851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3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/>
                        <a:t>a[1][0]</a:t>
                      </a:r>
                      <a:endParaRPr lang="zh-CN" altLang="en-US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/>
                        <a:t>a[1][1]</a:t>
                      </a:r>
                      <a:endParaRPr lang="zh-CN" altLang="en-US" sz="2000" b="0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/>
                        <a:t>a[1][2]</a:t>
                      </a:r>
                      <a:endParaRPr lang="zh-CN" altLang="en-US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5038"/>
              </p:ext>
            </p:extLst>
          </p:nvPr>
        </p:nvGraphicFramePr>
        <p:xfrm>
          <a:off x="6096000" y="1576401"/>
          <a:ext cx="1559697" cy="4450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9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a[0][0][0]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a[0][0][1]</a:t>
                      </a:r>
                      <a:endParaRPr lang="zh-CN" altLang="en-US" b="0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a[0][1][0]</a:t>
                      </a:r>
                      <a:endParaRPr lang="zh-CN" altLang="en-US" b="0"/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a[0][1][1]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a[0][2][0]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a[0][2][1]</a:t>
                      </a:r>
                      <a:endParaRPr lang="zh-CN" altLang="en-US" b="0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a[1][0][0]</a:t>
                      </a:r>
                      <a:endParaRPr lang="zh-CN" altLang="en-US" b="0"/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a[1][0][1]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a[1][1][0]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a[1][1][1]</a:t>
                      </a:r>
                      <a:endParaRPr lang="zh-CN" altLang="en-US" b="0"/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a[1][2][0]</a:t>
                      </a:r>
                      <a:endParaRPr lang="zh-CN" altLang="en-US" b="0"/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/>
                        <a:t>a[1][2][1]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17" name="曲线连接符 16"/>
          <p:cNvCxnSpPr>
            <a:stCxn id="7" idx="3"/>
          </p:cNvCxnSpPr>
          <p:nvPr/>
        </p:nvCxnSpPr>
        <p:spPr>
          <a:xfrm flipV="1">
            <a:off x="2644347" y="2549774"/>
            <a:ext cx="1030756" cy="4541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曲线连接符 18"/>
          <p:cNvCxnSpPr/>
          <p:nvPr/>
        </p:nvCxnSpPr>
        <p:spPr>
          <a:xfrm>
            <a:off x="2644347" y="3016160"/>
            <a:ext cx="1030756" cy="36135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9" idx="1"/>
          </p:cNvCxnSpPr>
          <p:nvPr/>
        </p:nvCxnSpPr>
        <p:spPr>
          <a:xfrm flipV="1">
            <a:off x="2644347" y="2977029"/>
            <a:ext cx="1030756" cy="3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/>
          <p:cNvCxnSpPr/>
          <p:nvPr/>
        </p:nvCxnSpPr>
        <p:spPr>
          <a:xfrm flipV="1">
            <a:off x="2644347" y="4308555"/>
            <a:ext cx="1030756" cy="4541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/>
          <p:nvPr/>
        </p:nvCxnSpPr>
        <p:spPr>
          <a:xfrm>
            <a:off x="2644347" y="4774941"/>
            <a:ext cx="1030756" cy="36135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2644347" y="4735810"/>
            <a:ext cx="1030756" cy="3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/>
          <p:cNvCxnSpPr/>
          <p:nvPr/>
        </p:nvCxnSpPr>
        <p:spPr>
          <a:xfrm flipV="1">
            <a:off x="4708954" y="1576401"/>
            <a:ext cx="1384300" cy="9733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flipV="1">
            <a:off x="4708954" y="2323070"/>
            <a:ext cx="1384300" cy="65395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曲线连接符 33"/>
          <p:cNvCxnSpPr/>
          <p:nvPr/>
        </p:nvCxnSpPr>
        <p:spPr>
          <a:xfrm flipV="1">
            <a:off x="4714446" y="3080066"/>
            <a:ext cx="1378808" cy="2974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曲线连接符 38"/>
          <p:cNvCxnSpPr>
            <a:endCxn id="13" idx="1"/>
          </p:cNvCxnSpPr>
          <p:nvPr/>
        </p:nvCxnSpPr>
        <p:spPr>
          <a:xfrm flipV="1">
            <a:off x="4708954" y="3801441"/>
            <a:ext cx="1387046" cy="50711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/>
          <p:cNvCxnSpPr/>
          <p:nvPr/>
        </p:nvCxnSpPr>
        <p:spPr>
          <a:xfrm flipV="1">
            <a:off x="4708954" y="4554229"/>
            <a:ext cx="1384300" cy="1685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>
            <a:off x="4708954" y="5083236"/>
            <a:ext cx="1384300" cy="2066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 bwMode="auto">
          <a:xfrm>
            <a:off x="1206568" y="3664587"/>
            <a:ext cx="334044" cy="463846"/>
          </a:xfrm>
          <a:prstGeom prst="rect">
            <a:avLst/>
          </a:prstGeom>
          <a:solidFill>
            <a:srgbClr val="CFD5EA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46" name="左大括号 45"/>
          <p:cNvSpPr/>
          <p:nvPr/>
        </p:nvSpPr>
        <p:spPr>
          <a:xfrm>
            <a:off x="1610497" y="3016160"/>
            <a:ext cx="418758" cy="1706633"/>
          </a:xfrm>
          <a:prstGeom prst="leftBrace">
            <a:avLst/>
          </a:prstGeom>
          <a:ln w="127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 bwMode="auto">
          <a:xfrm>
            <a:off x="8418212" y="2480103"/>
            <a:ext cx="2850292" cy="13256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/>
              <a:t>多维数组在内存中也是按一维方式存储的，占连续内存，以下标顺序优先排序</a:t>
            </a:r>
          </a:p>
        </p:txBody>
      </p:sp>
      <p:sp>
        <p:nvSpPr>
          <p:cNvPr id="49" name="文本框 48"/>
          <p:cNvSpPr txBox="1"/>
          <p:nvPr/>
        </p:nvSpPr>
        <p:spPr bwMode="auto">
          <a:xfrm>
            <a:off x="8418212" y="4364202"/>
            <a:ext cx="2850292" cy="1325620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/>
              <a:t>就像我们的国家、集体，组织形式可以是多元的，但内在的政治秩序必须保持一致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219438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10453" y="1585657"/>
            <a:ext cx="3406775" cy="1006475"/>
            <a:chOff x="798" y="1745"/>
            <a:chExt cx="2146" cy="634"/>
          </a:xfrm>
        </p:grpSpPr>
        <p:grpSp>
          <p:nvGrpSpPr>
            <p:cNvPr id="17416" name="Group 7"/>
            <p:cNvGrpSpPr>
              <a:grpSpLocks/>
            </p:cNvGrpSpPr>
            <p:nvPr/>
          </p:nvGrpSpPr>
          <p:grpSpPr bwMode="auto">
            <a:xfrm>
              <a:off x="798" y="1761"/>
              <a:ext cx="882" cy="442"/>
              <a:chOff x="1198" y="1872"/>
              <a:chExt cx="882" cy="442"/>
            </a:xfrm>
          </p:grpSpPr>
          <p:sp>
            <p:nvSpPr>
              <p:cNvPr id="17422" name="Text Box 8"/>
              <p:cNvSpPr txBox="1">
                <a:spLocks noChangeArrowheads="1"/>
              </p:cNvSpPr>
              <p:nvPr/>
            </p:nvSpPr>
            <p:spPr bwMode="auto">
              <a:xfrm>
                <a:off x="1198" y="1928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a=</a:t>
                </a:r>
              </a:p>
            </p:txBody>
          </p:sp>
          <p:sp>
            <p:nvSpPr>
              <p:cNvPr id="17423" name="Text Box 9"/>
              <p:cNvSpPr txBox="1">
                <a:spLocks noChangeArrowheads="1"/>
              </p:cNvSpPr>
              <p:nvPr/>
            </p:nvSpPr>
            <p:spPr bwMode="auto">
              <a:xfrm>
                <a:off x="1531" y="1872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/>
                  <a:t>1  2  3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/>
                  <a:t>4  5  6</a:t>
                </a:r>
              </a:p>
            </p:txBody>
          </p:sp>
          <p:sp>
            <p:nvSpPr>
              <p:cNvPr id="17424" name="AutoShape 10"/>
              <p:cNvSpPr>
                <a:spLocks/>
              </p:cNvSpPr>
              <p:nvPr/>
            </p:nvSpPr>
            <p:spPr bwMode="auto">
              <a:xfrm>
                <a:off x="1509" y="1944"/>
                <a:ext cx="47" cy="311"/>
              </a:xfrm>
              <a:prstGeom prst="leftBracket">
                <a:avLst>
                  <a:gd name="adj" fmla="val 55142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7425" name="AutoShape 11"/>
              <p:cNvSpPr>
                <a:spLocks/>
              </p:cNvSpPr>
              <p:nvPr/>
            </p:nvSpPr>
            <p:spPr bwMode="auto">
              <a:xfrm>
                <a:off x="2022" y="1944"/>
                <a:ext cx="58" cy="300"/>
              </a:xfrm>
              <a:prstGeom prst="rightBracket">
                <a:avLst>
                  <a:gd name="adj" fmla="val 43103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grpSp>
          <p:nvGrpSpPr>
            <p:cNvPr id="17417" name="Group 12"/>
            <p:cNvGrpSpPr>
              <a:grpSpLocks/>
            </p:cNvGrpSpPr>
            <p:nvPr/>
          </p:nvGrpSpPr>
          <p:grpSpPr bwMode="auto">
            <a:xfrm>
              <a:off x="2161" y="1745"/>
              <a:ext cx="783" cy="634"/>
              <a:chOff x="2350" y="1812"/>
              <a:chExt cx="783" cy="634"/>
            </a:xfrm>
          </p:grpSpPr>
          <p:sp>
            <p:nvSpPr>
              <p:cNvPr id="17418" name="Text Box 13"/>
              <p:cNvSpPr txBox="1">
                <a:spLocks noChangeArrowheads="1"/>
              </p:cNvSpPr>
              <p:nvPr/>
            </p:nvSpPr>
            <p:spPr bwMode="auto">
              <a:xfrm>
                <a:off x="2350" y="1957"/>
                <a:ext cx="2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b=</a:t>
                </a:r>
              </a:p>
            </p:txBody>
          </p:sp>
          <p:sp>
            <p:nvSpPr>
              <p:cNvPr id="17419" name="Text Box 14"/>
              <p:cNvSpPr txBox="1">
                <a:spLocks noChangeArrowheads="1"/>
              </p:cNvSpPr>
              <p:nvPr/>
            </p:nvSpPr>
            <p:spPr bwMode="auto">
              <a:xfrm>
                <a:off x="2706" y="1812"/>
                <a:ext cx="396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1   4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2   5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/>
                  <a:t>3   6</a:t>
                </a:r>
              </a:p>
            </p:txBody>
          </p:sp>
          <p:sp>
            <p:nvSpPr>
              <p:cNvPr id="17420" name="AutoShape 15"/>
              <p:cNvSpPr>
                <a:spLocks/>
              </p:cNvSpPr>
              <p:nvPr/>
            </p:nvSpPr>
            <p:spPr bwMode="auto">
              <a:xfrm>
                <a:off x="2662" y="1884"/>
                <a:ext cx="69" cy="489"/>
              </a:xfrm>
              <a:prstGeom prst="leftBracket">
                <a:avLst>
                  <a:gd name="adj" fmla="val 59058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7421" name="AutoShape 16"/>
              <p:cNvSpPr>
                <a:spLocks/>
              </p:cNvSpPr>
              <p:nvPr/>
            </p:nvSpPr>
            <p:spPr bwMode="auto">
              <a:xfrm>
                <a:off x="3063" y="1873"/>
                <a:ext cx="70" cy="500"/>
              </a:xfrm>
              <a:prstGeom prst="rightBracket">
                <a:avLst>
                  <a:gd name="adj" fmla="val 5952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</p:grpSp>
      <p:sp>
        <p:nvSpPr>
          <p:cNvPr id="17414" name="Text Box 18"/>
          <p:cNvSpPr txBox="1">
            <a:spLocks noChangeArrowheads="1"/>
          </p:cNvSpPr>
          <p:nvPr/>
        </p:nvSpPr>
        <p:spPr bwMode="auto">
          <a:xfrm>
            <a:off x="5758677" y="-124569"/>
            <a:ext cx="5945617" cy="7234930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#include&lt;stdio.h&gt;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#define M 2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#define N 3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int main(void) {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int a[M][N] = {{1, 2, 3}, {4, 5, 6}};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int b[N][M],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j;</a:t>
            </a:r>
          </a:p>
          <a:p>
            <a:pPr>
              <a:spcBef>
                <a:spcPct val="0"/>
              </a:spcBef>
              <a:buNone/>
            </a:pPr>
            <a:endParaRPr lang="en-US" altLang="zh-CN" sz="1600" dirty="0"/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("array a:\n");                //</a:t>
            </a:r>
            <a:r>
              <a:rPr lang="zh-CN" altLang="en-US" sz="1600" dirty="0"/>
              <a:t>输出矩阵 </a:t>
            </a:r>
            <a:r>
              <a:rPr lang="en-US" altLang="zh-CN" sz="1600" dirty="0"/>
              <a:t>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M;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for (j = 0;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("%5d",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("\n");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M;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++){              //</a:t>
            </a:r>
            <a:r>
              <a:rPr lang="zh-CN" altLang="en-US" sz="1600" dirty="0"/>
              <a:t>转置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1600" dirty="0"/>
              <a:t>             </a:t>
            </a:r>
            <a:r>
              <a:rPr lang="en-US" altLang="zh-CN" sz="1600" dirty="0"/>
              <a:t>for (j = 0;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 b[j][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][j];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("Transposed matrix - array b:\n");//</a:t>
            </a:r>
            <a:r>
              <a:rPr lang="zh-CN" altLang="en-US" sz="1600" dirty="0"/>
              <a:t>输出转置后矩阵 </a:t>
            </a:r>
            <a:r>
              <a:rPr lang="en-US" altLang="zh-CN" sz="1600" dirty="0"/>
              <a:t>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N;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for (j = 0; j &lt; M;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("%5d", b[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][j]);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("\n");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} </a:t>
            </a:r>
          </a:p>
        </p:txBody>
      </p:sp>
      <p:sp>
        <p:nvSpPr>
          <p:cNvPr id="18" name="标题 1"/>
          <p:cNvSpPr txBox="1">
            <a:spLocks/>
          </p:cNvSpPr>
          <p:nvPr/>
        </p:nvSpPr>
        <p:spPr>
          <a:xfrm>
            <a:off x="621957" y="35693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5.2.2  </a:t>
            </a:r>
            <a:r>
              <a:rPr lang="zh-CN" altLang="en-US" sz="3600" dirty="0"/>
              <a:t>二维数组的引用</a:t>
            </a:r>
            <a:endParaRPr lang="en-US" altLang="zh-CN" sz="3600" dirty="0"/>
          </a:p>
          <a:p>
            <a:r>
              <a:rPr lang="zh-CN" altLang="en-US" sz="3600" dirty="0"/>
              <a:t>程序举例</a:t>
            </a:r>
            <a:r>
              <a:rPr lang="en-US" altLang="zh-CN" sz="3600" dirty="0"/>
              <a:t>  </a:t>
            </a:r>
            <a:r>
              <a:rPr lang="zh-CN" altLang="en-US" sz="3600" dirty="0"/>
              <a:t>矩阵转置</a:t>
            </a:r>
          </a:p>
        </p:txBody>
      </p:sp>
      <p:sp>
        <p:nvSpPr>
          <p:cNvPr id="3" name="文本框 2"/>
          <p:cNvSpPr txBox="1"/>
          <p:nvPr/>
        </p:nvSpPr>
        <p:spPr bwMode="auto">
          <a:xfrm>
            <a:off x="838200" y="2934494"/>
            <a:ext cx="4261022" cy="1017844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二维数组遍历到所有元素，通常使用两重</a:t>
            </a:r>
            <a:r>
              <a:rPr lang="en-US" altLang="zh-CN" sz="2000" dirty="0"/>
              <a:t>for</a:t>
            </a:r>
            <a:r>
              <a:rPr lang="zh-CN" altLang="en-US" sz="2000" dirty="0"/>
              <a:t>循环，分别访问到所有一维下标和所有二维下标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0BABE7-001B-ED03-5887-F459800FF431}"/>
              </a:ext>
            </a:extLst>
          </p:cNvPr>
          <p:cNvSpPr txBox="1"/>
          <p:nvPr/>
        </p:nvSpPr>
        <p:spPr>
          <a:xfrm>
            <a:off x="7751418" y="96383"/>
            <a:ext cx="3952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5.4】</a:t>
            </a:r>
            <a:r>
              <a:rPr lang="zh-CN" altLang="en-US" dirty="0"/>
              <a:t>对矩阵 </a:t>
            </a:r>
            <a:r>
              <a:rPr lang="en-US" altLang="zh-CN" dirty="0"/>
              <a:t>a </a:t>
            </a:r>
            <a:r>
              <a:rPr lang="zh-CN" altLang="en-US" dirty="0"/>
              <a:t>进行转置，并将其存储到矩阵 </a:t>
            </a:r>
            <a:r>
              <a:rPr lang="en-US" altLang="zh-CN" dirty="0"/>
              <a:t>b</a:t>
            </a:r>
            <a:r>
              <a:rPr lang="zh-CN" altLang="en-US" dirty="0"/>
              <a:t>中，按行列形式输出 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0107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4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4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4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4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4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4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4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4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4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4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4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4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4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4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4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4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74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74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74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74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4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74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74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4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74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74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74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74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74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74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74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74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4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74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741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74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74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74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741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741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741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741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741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741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741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741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741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741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741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741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741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741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41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741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741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741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741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741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741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6266424" y="156311"/>
            <a:ext cx="5944050" cy="6988709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#include&lt;stdio.h&gt;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#define M 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#define N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int main(void){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float x[M][N], total[M] = {0}, </a:t>
            </a:r>
            <a:r>
              <a:rPr lang="en-US" altLang="zh-CN" sz="1600" dirty="0" err="1"/>
              <a:t>ave</a:t>
            </a:r>
            <a:r>
              <a:rPr lang="en-US" altLang="zh-CN" sz="1600" dirty="0"/>
              <a:t>[N] = {0};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j;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M;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for (j = 0;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    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("%f", &amp;x[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M;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for (j = 0;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        total[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+= x[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][j];     	//</a:t>
            </a:r>
            <a:r>
              <a:rPr lang="zh-CN" altLang="en-US" sz="1600" dirty="0"/>
              <a:t>按行求总分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/>
              <a:t>                    </a:t>
            </a:r>
            <a:r>
              <a:rPr lang="en-US" altLang="zh-CN" sz="1600" dirty="0" err="1"/>
              <a:t>ave</a:t>
            </a:r>
            <a:r>
              <a:rPr lang="en-US" altLang="zh-CN" sz="1600" dirty="0"/>
              <a:t>[j] += x[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][j] / M;   	//</a:t>
            </a:r>
            <a:r>
              <a:rPr lang="zh-CN" altLang="en-US" sz="1600" dirty="0"/>
              <a:t>按列求平均值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/>
              <a:t>            </a:t>
            </a:r>
            <a:r>
              <a:rPr lang="en-US" altLang="zh-CN" sz="1600" dirty="0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M;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("Total score of student %d: %5f\n",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total[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for (j = 0;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("The average score for subject %d: %5f\t", j, </a:t>
            </a:r>
            <a:r>
              <a:rPr lang="en-US" altLang="zh-CN" sz="1600" dirty="0" err="1"/>
              <a:t>ave</a:t>
            </a:r>
            <a:r>
              <a:rPr lang="en-US" altLang="zh-CN" sz="1600" dirty="0"/>
              <a:t>[j]);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      return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/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dirty="0"/>
          </a:p>
        </p:txBody>
      </p:sp>
      <p:sp>
        <p:nvSpPr>
          <p:cNvPr id="33" name="标题 1"/>
          <p:cNvSpPr txBox="1">
            <a:spLocks/>
          </p:cNvSpPr>
          <p:nvPr/>
        </p:nvSpPr>
        <p:spPr>
          <a:xfrm>
            <a:off x="890774" y="406315"/>
            <a:ext cx="6279292" cy="8458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按行列求统计</a:t>
            </a:r>
          </a:p>
        </p:txBody>
      </p:sp>
      <p:sp>
        <p:nvSpPr>
          <p:cNvPr id="3" name="文本框 2"/>
          <p:cNvSpPr txBox="1"/>
          <p:nvPr/>
        </p:nvSpPr>
        <p:spPr bwMode="auto">
          <a:xfrm>
            <a:off x="683742" y="4089162"/>
            <a:ext cx="5329132" cy="1756508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b="1" dirty="0"/>
              <a:t>算法设计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</a:pPr>
            <a:r>
              <a:rPr lang="zh-CN" altLang="en-US" sz="2000" dirty="0"/>
              <a:t>定义数组维长度时，直接定义出存放统计结果的位置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endParaRPr lang="en-US" altLang="zh-CN" sz="2000" dirty="0"/>
          </a:p>
          <a:p>
            <a:pPr marL="342900" indent="-34290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/>
              <a:t>注意是按行循环，还是按列循环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930663"/>
              </p:ext>
            </p:extLst>
          </p:nvPr>
        </p:nvGraphicFramePr>
        <p:xfrm>
          <a:off x="1327695" y="1704103"/>
          <a:ext cx="1693071" cy="1483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6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61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62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849925"/>
              </p:ext>
            </p:extLst>
          </p:nvPr>
        </p:nvGraphicFramePr>
        <p:xfrm>
          <a:off x="3676305" y="1704103"/>
          <a:ext cx="2487428" cy="18542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8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61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62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>
                          <a:solidFill>
                            <a:srgbClr val="7030A0"/>
                          </a:solidFill>
                        </a:rPr>
                        <a:t>183</a:t>
                      </a:r>
                      <a:endParaRPr lang="zh-CN" altLang="en-US" b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7030A0"/>
                          </a:solidFill>
                        </a:rPr>
                        <a:t>213</a:t>
                      </a:r>
                      <a:endParaRPr lang="zh-CN" altLang="en-US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7030A0"/>
                          </a:solidFill>
                        </a:rPr>
                        <a:t>243</a:t>
                      </a:r>
                      <a:endParaRPr lang="zh-CN" altLang="en-US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7030A0"/>
                          </a:solidFill>
                        </a:rPr>
                        <a:t>273</a:t>
                      </a:r>
                      <a:endParaRPr lang="zh-CN" altLang="en-US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75</a:t>
                      </a:r>
                      <a:endParaRPr lang="zh-CN" alt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76</a:t>
                      </a:r>
                      <a:endParaRPr lang="zh-CN" alt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77</a:t>
                      </a:r>
                      <a:endParaRPr lang="zh-CN" altLang="en-US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346E2B2-9082-2D27-6EBE-2D293EF1C744}"/>
              </a:ext>
            </a:extLst>
          </p:cNvPr>
          <p:cNvSpPr txBox="1"/>
          <p:nvPr/>
        </p:nvSpPr>
        <p:spPr>
          <a:xfrm>
            <a:off x="123844" y="10577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5.5】</a:t>
            </a:r>
            <a:r>
              <a:rPr lang="zh-CN" altLang="en-US" dirty="0"/>
              <a:t>输入 </a:t>
            </a:r>
            <a:r>
              <a:rPr lang="en-US" altLang="zh-CN" dirty="0"/>
              <a:t>4 </a:t>
            </a:r>
            <a:r>
              <a:rPr lang="zh-CN" altLang="en-US" dirty="0"/>
              <a:t>个同学的 </a:t>
            </a:r>
            <a:r>
              <a:rPr lang="en-US" altLang="zh-CN" dirty="0"/>
              <a:t>3 </a:t>
            </a:r>
            <a:r>
              <a:rPr lang="zh-CN" altLang="en-US" dirty="0"/>
              <a:t>门课成绩（设成绩为实数），求每个同学的总分及每门课的平均分。</a:t>
            </a:r>
          </a:p>
        </p:txBody>
      </p:sp>
    </p:spTree>
    <p:extLst>
      <p:ext uri="{BB962C8B-B14F-4D97-AF65-F5344CB8AC3E}">
        <p14:creationId xmlns:p14="http://schemas.microsoft.com/office/powerpoint/2010/main" val="2429002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1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1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1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1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1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1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17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7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7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17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17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17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17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17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7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17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7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17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17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17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17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17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17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17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17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7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7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17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7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7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17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17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17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17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17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7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17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17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17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17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17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17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177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177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177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3177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177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177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177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177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177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3177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3177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3177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3177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177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177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5309" y="865655"/>
            <a:ext cx="8884133" cy="1325563"/>
          </a:xfrm>
        </p:spPr>
        <p:txBody>
          <a:bodyPr>
            <a:noAutofit/>
          </a:bodyPr>
          <a:lstStyle/>
          <a:p>
            <a:r>
              <a:rPr lang="en-US" altLang="zh-CN" sz="6000" b="1" dirty="0"/>
              <a:t>    5.3  </a:t>
            </a:r>
            <a:r>
              <a:rPr lang="zh-CN" altLang="en-US" sz="6000" b="1" dirty="0"/>
              <a:t>字符数组与字符串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309935-4497-3496-8D2A-C968957216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27" y="2822575"/>
            <a:ext cx="5320723" cy="223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9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912857" y="1592262"/>
            <a:ext cx="6262300" cy="121684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cs typeface="Times New Roman" panose="02020603050405020304" pitchFamily="18" charset="0"/>
              </a:rPr>
              <a:t>char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数组名</a:t>
            </a:r>
            <a:r>
              <a:rPr lang="en-US" altLang="zh-CN" sz="2400" b="1" dirty="0">
                <a:latin typeface="+mn-ea"/>
                <a:ea typeface="+mn-ea"/>
              </a:rPr>
              <a:t>[</a:t>
            </a:r>
            <a:r>
              <a:rPr lang="zh-CN" altLang="en-US" sz="2400" b="1" dirty="0">
                <a:latin typeface="+mn-ea"/>
                <a:ea typeface="+mn-ea"/>
              </a:rPr>
              <a:t>常量表达式</a:t>
            </a:r>
            <a:r>
              <a:rPr lang="en-US" altLang="zh-CN" sz="2400" b="1" dirty="0">
                <a:latin typeface="+mn-ea"/>
                <a:ea typeface="+mn-ea"/>
              </a:rPr>
              <a:t>1]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[</a:t>
            </a: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常量表达式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2]</a:t>
            </a:r>
            <a:r>
              <a:rPr lang="en-US" altLang="zh-CN" sz="2400" b="1" dirty="0">
                <a:latin typeface="+mn-ea"/>
                <a:ea typeface="+mn-ea"/>
              </a:rPr>
              <a:t>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char s[100];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char s[5][100];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800" b="1" dirty="0">
              <a:latin typeface="+mn-ea"/>
              <a:ea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400" dirty="0">
              <a:latin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4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latin typeface="+mn-ea"/>
              </a:rPr>
              <a:t>   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32" name="标题 1"/>
          <p:cNvSpPr txBox="1">
            <a:spLocks/>
          </p:cNvSpPr>
          <p:nvPr/>
        </p:nvSpPr>
        <p:spPr>
          <a:xfrm>
            <a:off x="662472" y="628648"/>
            <a:ext cx="10458061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5.3.1 </a:t>
            </a:r>
            <a:r>
              <a:rPr lang="zh-CN" altLang="en-US" dirty="0"/>
              <a:t>字符数组的定义和初始化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68463"/>
              </p:ext>
            </p:extLst>
          </p:nvPr>
        </p:nvGraphicFramePr>
        <p:xfrm>
          <a:off x="5108833" y="3192984"/>
          <a:ext cx="1287849" cy="18542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287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/>
                        <a:t>b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o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y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\0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 bwMode="auto">
          <a:xfrm>
            <a:off x="4428067" y="3180815"/>
            <a:ext cx="680766" cy="1796005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S[0]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S[1]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S[2]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S[3]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S[4]</a:t>
            </a:r>
            <a:endParaRPr lang="zh-CN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197728"/>
              </p:ext>
            </p:extLst>
          </p:nvPr>
        </p:nvGraphicFramePr>
        <p:xfrm>
          <a:off x="7816108" y="3165939"/>
          <a:ext cx="3421446" cy="18542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8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8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p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p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l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e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O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r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n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g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G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r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p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P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r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P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c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h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\0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 bwMode="auto">
          <a:xfrm>
            <a:off x="6815667" y="3212309"/>
            <a:ext cx="1000441" cy="1800109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fruit[0]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fruit[1]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70C0"/>
                </a:solidFill>
              </a:rPr>
              <a:t>fruit[2]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70C0"/>
                </a:solidFill>
              </a:rPr>
              <a:t>fruit[3]</a:t>
            </a: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70C0"/>
                </a:solidFill>
              </a:rPr>
              <a:t>fruit[4]</a:t>
            </a:r>
          </a:p>
        </p:txBody>
      </p:sp>
      <p:sp>
        <p:nvSpPr>
          <p:cNvPr id="10" name="文本框 9"/>
          <p:cNvSpPr txBox="1"/>
          <p:nvPr/>
        </p:nvSpPr>
        <p:spPr bwMode="auto">
          <a:xfrm>
            <a:off x="373432" y="3549515"/>
            <a:ext cx="10032101" cy="2679837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zh-CN" altLang="en-US" sz="2400" dirty="0">
                <a:latin typeface="+mn-ea"/>
              </a:rPr>
              <a:t>一维字符数组初始化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char s[5]={</a:t>
            </a:r>
            <a:r>
              <a:rPr lang="en-US" altLang="zh-CN" sz="2400" dirty="0">
                <a:ea typeface="Arial Unicode MS" panose="020B0604020202020204" pitchFamily="34" charset="-122"/>
                <a:cs typeface="Times New Roman" panose="02020603050405020304" pitchFamily="18" charset="0"/>
              </a:rPr>
              <a:t>'</a:t>
            </a:r>
            <a:r>
              <a:rPr lang="en-US" altLang="zh-CN" sz="2400" dirty="0"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ea typeface="Arial Unicode MS" panose="020B0604020202020204" pitchFamily="34" charset="-122"/>
                <a:cs typeface="Times New Roman" panose="02020603050405020304" pitchFamily="18" charset="0"/>
              </a:rPr>
              <a:t>', '</a:t>
            </a:r>
            <a:r>
              <a:rPr lang="en-US" altLang="zh-CN" sz="2400" dirty="0"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ea typeface="Arial Unicode MS" panose="020B0604020202020204" pitchFamily="34" charset="-122"/>
                <a:cs typeface="Times New Roman" panose="02020603050405020304" pitchFamily="18" charset="0"/>
              </a:rPr>
              <a:t>', '</a:t>
            </a:r>
            <a:r>
              <a:rPr lang="en-US" altLang="zh-CN" sz="2400" dirty="0"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ea typeface="Arial Unicode MS" panose="020B0604020202020204" pitchFamily="34" charset="-122"/>
                <a:cs typeface="Times New Roman" panose="02020603050405020304" pitchFamily="18" charset="0"/>
              </a:rPr>
              <a:t>'};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char s[5]=</a:t>
            </a:r>
            <a:r>
              <a:rPr lang="en-US" altLang="zh-CN" sz="2400" dirty="0"/>
              <a:t>"</a:t>
            </a:r>
            <a:r>
              <a:rPr lang="en-US" altLang="zh-CN" sz="2400" dirty="0">
                <a:cs typeface="Times New Roman" panose="02020603050405020304" pitchFamily="18" charset="0"/>
              </a:rPr>
              <a:t>boy</a:t>
            </a:r>
            <a:r>
              <a:rPr lang="en-US" altLang="zh-CN" sz="2400" dirty="0"/>
              <a:t>"</a:t>
            </a:r>
            <a:r>
              <a:rPr lang="en-US" altLang="zh-CN" sz="2400" dirty="0">
                <a:cs typeface="Times New Roman" panose="02020603050405020304" pitchFamily="18" charset="0"/>
              </a:rPr>
              <a:t>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char s[]=</a:t>
            </a:r>
            <a:r>
              <a:rPr lang="en-US" altLang="zh-CN" sz="2400" dirty="0"/>
              <a:t>"</a:t>
            </a:r>
            <a:r>
              <a:rPr lang="en-US" altLang="zh-CN" sz="2400" dirty="0">
                <a:cs typeface="Times New Roman" panose="02020603050405020304" pitchFamily="18" charset="0"/>
              </a:rPr>
              <a:t>boy</a:t>
            </a:r>
            <a:r>
              <a:rPr lang="en-US" altLang="zh-CN" sz="2400" dirty="0"/>
              <a:t>"</a:t>
            </a:r>
            <a:r>
              <a:rPr lang="en-US" altLang="zh-CN" sz="2400" dirty="0">
                <a:cs typeface="Times New Roman" panose="02020603050405020304" pitchFamily="18" charset="0"/>
              </a:rPr>
              <a:t>;</a:t>
            </a:r>
          </a:p>
          <a:p>
            <a:pPr lvl="1">
              <a:spcBef>
                <a:spcPct val="0"/>
              </a:spcBef>
              <a:buClr>
                <a:schemeClr val="tx1"/>
              </a:buClr>
              <a:buNone/>
            </a:pP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latin typeface="+mn-ea"/>
              </a:rPr>
              <a:t>   二维字符数组初始化</a:t>
            </a:r>
            <a:endParaRPr lang="en-US" altLang="zh-CN" sz="2400" dirty="0"/>
          </a:p>
          <a:p>
            <a:pPr>
              <a:spcBef>
                <a:spcPct val="0"/>
              </a:spcBef>
              <a:buNone/>
            </a:pPr>
            <a:r>
              <a:rPr lang="en-US" altLang="zh-CN" sz="2400" dirty="0"/>
              <a:t>     char fruit[][7]={"Apple", "Orange", "Grape", "Pear", "Peach"};</a:t>
            </a:r>
          </a:p>
        </p:txBody>
      </p:sp>
    </p:spTree>
    <p:extLst>
      <p:ext uri="{BB962C8B-B14F-4D97-AF65-F5344CB8AC3E}">
        <p14:creationId xmlns:p14="http://schemas.microsoft.com/office/powerpoint/2010/main" val="379406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 bldLvl="4" autoUpdateAnimBg="0"/>
      <p:bldP spid="7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44545" y="3100474"/>
            <a:ext cx="7499351" cy="2832099"/>
            <a:chOff x="459" y="1466"/>
            <a:chExt cx="4724" cy="1784"/>
          </a:xfrm>
        </p:grpSpPr>
        <p:grpSp>
          <p:nvGrpSpPr>
            <p:cNvPr id="23556" name="Group 4"/>
            <p:cNvGrpSpPr>
              <a:grpSpLocks/>
            </p:cNvGrpSpPr>
            <p:nvPr/>
          </p:nvGrpSpPr>
          <p:grpSpPr bwMode="auto">
            <a:xfrm>
              <a:off x="459" y="1466"/>
              <a:ext cx="4715" cy="1260"/>
              <a:chOff x="459" y="1466"/>
              <a:chExt cx="4715" cy="1260"/>
            </a:xfrm>
          </p:grpSpPr>
          <p:sp>
            <p:nvSpPr>
              <p:cNvPr id="23558" name="Text Box 5"/>
              <p:cNvSpPr txBox="1">
                <a:spLocks noChangeArrowheads="1"/>
              </p:cNvSpPr>
              <p:nvPr/>
            </p:nvSpPr>
            <p:spPr bwMode="auto">
              <a:xfrm>
                <a:off x="459" y="1466"/>
                <a:ext cx="4715" cy="1260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zh-CN" sz="2000">
                    <a:latin typeface="+mn-ea"/>
                    <a:ea typeface="+mn-ea"/>
                  </a:rPr>
                  <a:t>例  </a:t>
                </a:r>
                <a:r>
                  <a:rPr lang="en-US" altLang="zh-CN" sz="2000">
                    <a:ea typeface="+mn-ea"/>
                    <a:cs typeface="Times New Roman" panose="02020603050405020304" pitchFamily="18" charset="0"/>
                  </a:rPr>
                  <a:t>“hello”</a:t>
                </a:r>
                <a:r>
                  <a:rPr lang="zh-CN" altLang="zh-CN" sz="2000">
                    <a:latin typeface="+mn-ea"/>
                    <a:ea typeface="+mn-ea"/>
                  </a:rPr>
                  <a:t>共5个字符，在内存占6个字节   字符串长度5</a:t>
                </a:r>
                <a:r>
                  <a:rPr lang="en-US" altLang="zh-CN" sz="2000">
                    <a:latin typeface="+mn-ea"/>
                    <a:ea typeface="+mn-ea"/>
                  </a:rPr>
                  <a:t> </a:t>
                </a:r>
              </a:p>
            </p:txBody>
          </p:sp>
          <p:grpSp>
            <p:nvGrpSpPr>
              <p:cNvPr id="23559" name="Group 6"/>
              <p:cNvGrpSpPr>
                <a:grpSpLocks/>
              </p:cNvGrpSpPr>
              <p:nvPr/>
            </p:nvGrpSpPr>
            <p:grpSpPr bwMode="auto">
              <a:xfrm>
                <a:off x="1555" y="1835"/>
                <a:ext cx="2311" cy="301"/>
                <a:chOff x="1556" y="2121"/>
                <a:chExt cx="2311" cy="301"/>
              </a:xfrm>
            </p:grpSpPr>
            <p:sp>
              <p:nvSpPr>
                <p:cNvPr id="23567" name="Line 7"/>
                <p:cNvSpPr>
                  <a:spLocks noChangeShapeType="1"/>
                </p:cNvSpPr>
                <p:nvPr/>
              </p:nvSpPr>
              <p:spPr bwMode="auto">
                <a:xfrm>
                  <a:off x="2667" y="2145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8" name="Line 8"/>
                <p:cNvSpPr>
                  <a:spLocks noChangeShapeType="1"/>
                </p:cNvSpPr>
                <p:nvPr/>
              </p:nvSpPr>
              <p:spPr bwMode="auto">
                <a:xfrm>
                  <a:off x="1934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9" name="Line 9"/>
                <p:cNvSpPr>
                  <a:spLocks noChangeShapeType="1"/>
                </p:cNvSpPr>
                <p:nvPr/>
              </p:nvSpPr>
              <p:spPr bwMode="auto">
                <a:xfrm>
                  <a:off x="2300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70" name="Line 10"/>
                <p:cNvSpPr>
                  <a:spLocks noChangeShapeType="1"/>
                </p:cNvSpPr>
                <p:nvPr/>
              </p:nvSpPr>
              <p:spPr bwMode="auto">
                <a:xfrm>
                  <a:off x="3056" y="2132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71" name="Line 11"/>
                <p:cNvSpPr>
                  <a:spLocks noChangeShapeType="1"/>
                </p:cNvSpPr>
                <p:nvPr/>
              </p:nvSpPr>
              <p:spPr bwMode="auto">
                <a:xfrm>
                  <a:off x="3445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72" name="Rectangle 12"/>
                <p:cNvSpPr>
                  <a:spLocks noChangeArrowheads="1"/>
                </p:cNvSpPr>
                <p:nvPr/>
              </p:nvSpPr>
              <p:spPr bwMode="auto">
                <a:xfrm>
                  <a:off x="1556" y="2121"/>
                  <a:ext cx="2311" cy="30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4000"/>
                    <a:t> </a:t>
                  </a:r>
                  <a:r>
                    <a:rPr lang="en-US" altLang="zh-CN" sz="2000" b="1">
                      <a:latin typeface="宋体" panose="02010600030101010101" pitchFamily="2" charset="-122"/>
                    </a:rPr>
                    <a:t>h    e    l    l   o    \0</a:t>
                  </a:r>
                  <a:endParaRPr lang="en-US" altLang="zh-CN" sz="4000" b="1"/>
                </a:p>
              </p:txBody>
            </p:sp>
          </p:grpSp>
          <p:grpSp>
            <p:nvGrpSpPr>
              <p:cNvPr id="23560" name="Group 13"/>
              <p:cNvGrpSpPr>
                <a:grpSpLocks/>
              </p:cNvGrpSpPr>
              <p:nvPr/>
            </p:nvGrpSpPr>
            <p:grpSpPr bwMode="auto">
              <a:xfrm>
                <a:off x="1564" y="2244"/>
                <a:ext cx="2311" cy="301"/>
                <a:chOff x="1556" y="2121"/>
                <a:chExt cx="2311" cy="301"/>
              </a:xfrm>
            </p:grpSpPr>
            <p:sp>
              <p:nvSpPr>
                <p:cNvPr id="23561" name="Line 14"/>
                <p:cNvSpPr>
                  <a:spLocks noChangeShapeType="1"/>
                </p:cNvSpPr>
                <p:nvPr/>
              </p:nvSpPr>
              <p:spPr bwMode="auto">
                <a:xfrm>
                  <a:off x="2667" y="2145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2" name="Line 15"/>
                <p:cNvSpPr>
                  <a:spLocks noChangeShapeType="1"/>
                </p:cNvSpPr>
                <p:nvPr/>
              </p:nvSpPr>
              <p:spPr bwMode="auto">
                <a:xfrm>
                  <a:off x="1934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3" name="Line 16"/>
                <p:cNvSpPr>
                  <a:spLocks noChangeShapeType="1"/>
                </p:cNvSpPr>
                <p:nvPr/>
              </p:nvSpPr>
              <p:spPr bwMode="auto">
                <a:xfrm>
                  <a:off x="2300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4" name="Line 17"/>
                <p:cNvSpPr>
                  <a:spLocks noChangeShapeType="1"/>
                </p:cNvSpPr>
                <p:nvPr/>
              </p:nvSpPr>
              <p:spPr bwMode="auto">
                <a:xfrm>
                  <a:off x="3056" y="2132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5" name="Line 18"/>
                <p:cNvSpPr>
                  <a:spLocks noChangeShapeType="1"/>
                </p:cNvSpPr>
                <p:nvPr/>
              </p:nvSpPr>
              <p:spPr bwMode="auto">
                <a:xfrm>
                  <a:off x="3445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66" name="Rectangle 19"/>
                <p:cNvSpPr>
                  <a:spLocks noChangeArrowheads="1"/>
                </p:cNvSpPr>
                <p:nvPr/>
              </p:nvSpPr>
              <p:spPr bwMode="auto">
                <a:xfrm>
                  <a:off x="1556" y="2121"/>
                  <a:ext cx="2311" cy="30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>
                      <a:latin typeface="宋体" panose="02010600030101010101" pitchFamily="2" charset="-122"/>
                    </a:rPr>
                    <a:t>104  101 108  108  111   0</a:t>
                  </a:r>
                </a:p>
              </p:txBody>
            </p:sp>
          </p:grpSp>
        </p:grpSp>
        <p:sp>
          <p:nvSpPr>
            <p:cNvPr id="23557" name="AutoShape 20"/>
            <p:cNvSpPr>
              <a:spLocks noChangeArrowheads="1"/>
            </p:cNvSpPr>
            <p:nvPr/>
          </p:nvSpPr>
          <p:spPr bwMode="auto">
            <a:xfrm>
              <a:off x="2838" y="2894"/>
              <a:ext cx="2345" cy="356"/>
            </a:xfrm>
            <a:prstGeom prst="wedgeEllipseCallout">
              <a:avLst>
                <a:gd name="adj1" fmla="val -30769"/>
                <a:gd name="adj2" fmla="val -140111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/>
                <a:t>内存存放字符</a:t>
              </a:r>
              <a:r>
                <a:rPr lang="en-US" altLang="zh-CN" sz="2000"/>
                <a:t>ASCII</a:t>
              </a:r>
              <a:r>
                <a:rPr lang="zh-CN" altLang="en-US" sz="2000"/>
                <a:t>码</a:t>
              </a:r>
            </a:p>
          </p:txBody>
        </p:sp>
      </p:grpSp>
      <p:sp>
        <p:nvSpPr>
          <p:cNvPr id="21" name="标题 1"/>
          <p:cNvSpPr txBox="1">
            <a:spLocks/>
          </p:cNvSpPr>
          <p:nvPr/>
        </p:nvSpPr>
        <p:spPr>
          <a:xfrm>
            <a:off x="1113359" y="576792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字符串结束符</a:t>
            </a:r>
          </a:p>
        </p:txBody>
      </p:sp>
      <p:sp>
        <p:nvSpPr>
          <p:cNvPr id="3" name="文本框 2"/>
          <p:cNvSpPr txBox="1"/>
          <p:nvPr/>
        </p:nvSpPr>
        <p:spPr bwMode="auto">
          <a:xfrm>
            <a:off x="1144544" y="1568661"/>
            <a:ext cx="7485063" cy="83317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b="1"/>
              <a:t>C</a:t>
            </a:r>
            <a:r>
              <a:rPr lang="zh-CN" altLang="en-US" sz="2400" b="1"/>
              <a:t>语言以</a:t>
            </a:r>
            <a:r>
              <a:rPr lang="en-US" altLang="zh-CN" sz="2400" b="1"/>
              <a:t>ASCII</a:t>
            </a:r>
            <a:r>
              <a:rPr lang="zh-CN" altLang="en-US" sz="2400" b="1"/>
              <a:t>值为</a:t>
            </a:r>
            <a:r>
              <a:rPr lang="en-US" altLang="zh-CN" sz="2400" b="1"/>
              <a:t>0</a:t>
            </a:r>
            <a:r>
              <a:rPr lang="zh-CN" altLang="en-US" sz="2400" b="1"/>
              <a:t>的字符做字符串结束符</a:t>
            </a:r>
            <a:r>
              <a:rPr lang="zh-CN" altLang="zh-CN" sz="2400">
                <a:solidFill>
                  <a:srgbClr val="FF3300"/>
                </a:solidFill>
                <a:latin typeface="+mn-ea"/>
              </a:rPr>
              <a:t>‘\0’</a:t>
            </a:r>
            <a:endParaRPr lang="en-US" altLang="zh-CN" sz="2400" b="1"/>
          </a:p>
          <a:p>
            <a:pPr>
              <a:spcBef>
                <a:spcPct val="0"/>
              </a:spcBef>
            </a:pPr>
            <a:r>
              <a:rPr lang="zh-CN" altLang="en-US" sz="2400" b="1">
                <a:latin typeface="+mn-ea"/>
              </a:rPr>
              <a:t>结束符占内存位置，不计入字符串长度</a:t>
            </a:r>
            <a:endParaRPr lang="en-US" altLang="zh-CN" sz="24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461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113359" y="3046270"/>
            <a:ext cx="5314275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字符串输出函数</a:t>
            </a:r>
            <a:r>
              <a:rPr lang="en-US" altLang="zh-CN" sz="2000">
                <a:latin typeface="+mn-ea"/>
                <a:ea typeface="+mn-ea"/>
              </a:rPr>
              <a:t>puts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puts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字符数组)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功能：向显示器输出字符串（输出完，换行）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说明：字符数组必须以‘</a:t>
            </a:r>
            <a:r>
              <a:rPr lang="en-US" altLang="zh-CN" sz="2000">
                <a:latin typeface="+mn-ea"/>
                <a:ea typeface="+mn-ea"/>
              </a:rPr>
              <a:t>\0’</a:t>
            </a:r>
            <a:r>
              <a:rPr lang="zh-CN" altLang="en-US" sz="2000">
                <a:latin typeface="+mn-ea"/>
                <a:ea typeface="+mn-ea"/>
              </a:rPr>
              <a:t>结束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113359" y="4452770"/>
            <a:ext cx="5314275" cy="163121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字符串输入函数</a:t>
            </a:r>
            <a:r>
              <a:rPr lang="en-US" altLang="zh-CN" sz="2000">
                <a:latin typeface="+mn-ea"/>
                <a:ea typeface="+mn-ea"/>
              </a:rPr>
              <a:t>gets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gets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字符数组)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功能：从键盘输入一以</a:t>
            </a:r>
            <a:r>
              <a:rPr lang="zh-CN" altLang="zh-CN" sz="2000">
                <a:solidFill>
                  <a:srgbClr val="FF0000"/>
                </a:solidFill>
                <a:latin typeface="+mn-ea"/>
                <a:ea typeface="+mn-ea"/>
              </a:rPr>
              <a:t>回车结束</a:t>
            </a:r>
            <a:r>
              <a:rPr lang="zh-CN" altLang="zh-CN" sz="2000">
                <a:latin typeface="+mn-ea"/>
                <a:ea typeface="+mn-ea"/>
              </a:rPr>
              <a:t>的字符串放入</a:t>
            </a:r>
            <a:endParaRPr lang="en-US" altLang="zh-CN" sz="2000"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>
                <a:latin typeface="+mn-ea"/>
                <a:ea typeface="+mn-ea"/>
              </a:rPr>
              <a:t>      </a:t>
            </a:r>
            <a:r>
              <a:rPr lang="zh-CN" altLang="zh-CN" sz="2000">
                <a:latin typeface="+mn-ea"/>
                <a:ea typeface="+mn-ea"/>
              </a:rPr>
              <a:t>字符数组中，并自动加‘\0’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说明：输入串长度应小于字符数组维数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7306387" y="2430716"/>
            <a:ext cx="4506922" cy="4095609"/>
          </a:xfrm>
          <a:prstGeom prst="rect">
            <a:avLst/>
          </a:prstGeom>
          <a:solidFill>
            <a:schemeClr val="bg1"/>
          </a:solidFill>
          <a:ln w="25400">
            <a:solidFill>
              <a:srgbClr val="669900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【</a:t>
            </a:r>
            <a:r>
              <a:rPr lang="zh-CN" altLang="en-US" sz="2000" dirty="0"/>
              <a:t>例 </a:t>
            </a:r>
            <a:r>
              <a:rPr lang="en-US" altLang="zh-CN" sz="2000" dirty="0"/>
              <a:t>5.6】</a:t>
            </a:r>
            <a:r>
              <a:rPr lang="zh-CN" altLang="en-US" sz="2000" dirty="0"/>
              <a:t>使用 </a:t>
            </a:r>
            <a:r>
              <a:rPr lang="en-US" altLang="zh-CN" sz="2000" dirty="0"/>
              <a:t>gets</a:t>
            </a:r>
            <a:r>
              <a:rPr lang="zh-CN" altLang="en-US" sz="2000" dirty="0"/>
              <a:t>、</a:t>
            </a:r>
            <a:r>
              <a:rPr lang="en-US" altLang="zh-CN" sz="2000" dirty="0"/>
              <a:t>puts </a:t>
            </a:r>
            <a:r>
              <a:rPr lang="zh-CN" altLang="en-US" sz="2000" dirty="0"/>
              <a:t>函数输入、输出一个字符串。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int main(void) {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char str[81];</a:t>
            </a:r>
          </a:p>
          <a:p>
            <a:pPr>
              <a:spcBef>
                <a:spcPct val="0"/>
              </a:spcBef>
              <a:buNone/>
            </a:pPr>
            <a:endParaRPr lang="en-US" altLang="zh-CN" sz="2000" dirty="0"/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("Input a string: 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gets(str);   </a:t>
            </a:r>
            <a:r>
              <a:rPr lang="en-US" altLang="zh-CN" sz="1400" dirty="0"/>
              <a:t>//</a:t>
            </a:r>
            <a:r>
              <a:rPr lang="zh-CN" altLang="en-US" sz="1400" dirty="0"/>
              <a:t>输入字符串，保存到字符数组 </a:t>
            </a:r>
            <a:r>
              <a:rPr lang="en-US" altLang="zh-CN" sz="1400" dirty="0"/>
              <a:t>str</a:t>
            </a:r>
            <a:r>
              <a:rPr lang="zh-CN" altLang="en-US" sz="1400" dirty="0"/>
              <a:t>中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puts(str);    //</a:t>
            </a:r>
            <a:r>
              <a:rPr lang="zh-CN" altLang="en-US" sz="2000" dirty="0"/>
              <a:t>输出字符数组 </a:t>
            </a:r>
            <a:r>
              <a:rPr lang="en-US" altLang="zh-CN" sz="2000" dirty="0"/>
              <a:t>str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/>
              <a:t>运行结果：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Input a string:   </a:t>
            </a:r>
            <a:r>
              <a:rPr lang="en-US" altLang="zh-CN" sz="2000" u="sng" dirty="0"/>
              <a:t>How are you?↙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How are you? </a:t>
            </a: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3619500" y="6159352"/>
            <a:ext cx="1818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113359" y="534703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5.3.2  </a:t>
            </a:r>
            <a:r>
              <a:rPr lang="zh-CN" altLang="en-US" dirty="0"/>
              <a:t>常用字符串函数</a:t>
            </a:r>
          </a:p>
        </p:txBody>
      </p:sp>
      <p:sp>
        <p:nvSpPr>
          <p:cNvPr id="2" name="文本框 1"/>
          <p:cNvSpPr txBox="1"/>
          <p:nvPr/>
        </p:nvSpPr>
        <p:spPr bwMode="auto">
          <a:xfrm>
            <a:off x="1113359" y="1356970"/>
            <a:ext cx="8615527" cy="83317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C</a:t>
            </a:r>
            <a:r>
              <a:rPr lang="zh-CN" altLang="en-US" sz="2400" b="1"/>
              <a:t>语言没有字符串变量，处理字符串时要用字符串处理库函数</a:t>
            </a:r>
            <a:endParaRPr lang="en-US" altLang="zh-CN" sz="2400" b="1"/>
          </a:p>
          <a:p>
            <a:pPr>
              <a:spcBef>
                <a:spcPct val="0"/>
              </a:spcBef>
            </a:pPr>
            <a:r>
              <a:rPr lang="zh-CN" altLang="en-US" sz="2400" b="1"/>
              <a:t>实用字符串处理函数时，要包含头文件</a:t>
            </a:r>
            <a:r>
              <a:rPr lang="en-US" altLang="zh-CN" sz="2400">
                <a:solidFill>
                  <a:srgbClr val="FF0000"/>
                </a:solidFill>
                <a:ea typeface="隶书" panose="02010509060101010101" pitchFamily="49" charset="-122"/>
              </a:rPr>
              <a:t>string.h</a:t>
            </a:r>
            <a:endParaRPr lang="en-US" altLang="zh-CN" sz="2000">
              <a:ea typeface="隶书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 bwMode="auto">
          <a:xfrm>
            <a:off x="1113359" y="2253143"/>
            <a:ext cx="3631636" cy="71006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scanf(“%c,%s”,&amp;c,str);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printf(“%c,%s”,c,str);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58181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 autoUpdateAnimBg="0"/>
      <p:bldP spid="43013" grpId="0" animBg="1" autoUpdateAnimBg="0"/>
      <p:bldP spid="43014" grpId="0" animBg="1" autoUpdateAnimBg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44614" y="4160985"/>
            <a:ext cx="4940642" cy="2246769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字符串连接函数</a:t>
            </a:r>
            <a:r>
              <a:rPr lang="en-US" altLang="zh-CN" sz="2000">
                <a:latin typeface="+mn-ea"/>
                <a:ea typeface="+mn-ea"/>
              </a:rPr>
              <a:t>strcat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strcat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字符数组1,字符数组2)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功能：把字符数组2连到字符数组1后面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返值：返回字符数组1的首地址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说明：</a:t>
            </a:r>
            <a:r>
              <a:rPr lang="zh-CN" altLang="zh-CN" sz="2000">
                <a:latin typeface="+mn-ea"/>
                <a:ea typeface="+mn-ea"/>
                <a:sym typeface="Wingdings" panose="05000000000000000000" pitchFamily="2" charset="2"/>
              </a:rPr>
              <a:t>字符数组1必须足够大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  <a:sym typeface="Wingdings" panose="05000000000000000000" pitchFamily="2" charset="2"/>
              </a:rPr>
              <a:t>      连接前,两串均以‘\0’结束;连</a:t>
            </a:r>
            <a:r>
              <a:rPr lang="en-US" altLang="zh-CN" sz="2000">
                <a:latin typeface="+mn-ea"/>
                <a:ea typeface="+mn-ea"/>
                <a:sym typeface="Wingdings" panose="05000000000000000000" pitchFamily="2" charset="2"/>
              </a:rPr>
              <a:t>     </a:t>
            </a:r>
            <a:r>
              <a:rPr lang="zh-CN" altLang="zh-CN" sz="2000">
                <a:latin typeface="+mn-ea"/>
                <a:ea typeface="+mn-ea"/>
                <a:sym typeface="Wingdings" panose="05000000000000000000" pitchFamily="2" charset="2"/>
              </a:rPr>
              <a:t>接后,串1的‘\0’取消,新串最后加‘\0’</a:t>
            </a:r>
            <a:endParaRPr lang="en-US" altLang="zh-CN" sz="2000">
              <a:latin typeface="+mn-ea"/>
              <a:ea typeface="+mn-ea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44613" y="2135326"/>
            <a:ext cx="4940642" cy="193899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字符串拷贝函数</a:t>
            </a:r>
            <a:r>
              <a:rPr lang="en-US" altLang="zh-CN" sz="2000">
                <a:latin typeface="+mn-ea"/>
                <a:ea typeface="+mn-ea"/>
              </a:rPr>
              <a:t>strcpy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strcpy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字符数组1,字符</a:t>
            </a:r>
            <a:r>
              <a:rPr lang="zh-CN" altLang="en-US" sz="2000">
                <a:latin typeface="+mn-ea"/>
                <a:ea typeface="+mn-ea"/>
              </a:rPr>
              <a:t>数组</a:t>
            </a:r>
            <a:r>
              <a:rPr lang="zh-CN" altLang="zh-CN" sz="2000">
                <a:latin typeface="+mn-ea"/>
                <a:ea typeface="+mn-ea"/>
              </a:rPr>
              <a:t>2)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功能：将字符串2，拷贝到字符数组1中去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返值：返回字符数组1的首地址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说明：</a:t>
            </a:r>
            <a:r>
              <a:rPr lang="zh-CN" altLang="zh-CN" sz="2000">
                <a:latin typeface="+mn-ea"/>
                <a:ea typeface="+mn-ea"/>
                <a:sym typeface="Wingdings" panose="05000000000000000000" pitchFamily="2" charset="2"/>
              </a:rPr>
              <a:t>字符数组1必须足够大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  <a:sym typeface="Wingdings" panose="05000000000000000000" pitchFamily="2" charset="2"/>
              </a:rPr>
              <a:t>      拷贝时‘\0’一同拷贝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644613" y="1020852"/>
            <a:ext cx="3610582" cy="1017844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/>
              <a:t>例  </a:t>
            </a:r>
            <a:r>
              <a:rPr lang="en-US" altLang="zh-CN" sz="2000"/>
              <a:t>char str1[20],str2[20];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/>
              <a:t>      str1={"Hello! "};               (</a:t>
            </a:r>
            <a:r>
              <a:rPr lang="en-US" altLang="zh-CN" sz="2000" b="1">
                <a:sym typeface="Symbol" panose="05050102010706020507" pitchFamily="18" charset="2"/>
              </a:rPr>
              <a:t></a:t>
            </a:r>
            <a:r>
              <a:rPr lang="en-US" altLang="zh-CN" sz="200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/>
              <a:t>      str2=str1;                           (</a:t>
            </a:r>
            <a:r>
              <a:rPr lang="en-US" altLang="zh-CN" sz="2000" b="1">
                <a:sym typeface="Symbol" panose="05050102010706020507" pitchFamily="18" charset="2"/>
              </a:rPr>
              <a:t></a:t>
            </a:r>
            <a:r>
              <a:rPr lang="en-US" altLang="zh-CN" sz="2000"/>
              <a:t>)</a:t>
            </a: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3619500" y="6159352"/>
            <a:ext cx="1818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389091" y="2253683"/>
            <a:ext cx="4802909" cy="348005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string.h</a:t>
            </a:r>
            <a:r>
              <a:rPr lang="en-US" altLang="zh-CN" sz="2000" dirty="0"/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 char destination[25];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char v[] = "Visual", b[] = " ", c[]= "C++";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2"/>
                </a:solidFill>
              </a:rPr>
              <a:t>     </a:t>
            </a:r>
            <a:r>
              <a:rPr lang="en-US" altLang="zh-CN" sz="2000" dirty="0" err="1">
                <a:solidFill>
                  <a:schemeClr val="accent2">
                    <a:lumMod val="75000"/>
                  </a:schemeClr>
                </a:solidFill>
              </a:rPr>
              <a:t>strcpy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(destination, v);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altLang="zh-CN" sz="2000" dirty="0" err="1">
                <a:solidFill>
                  <a:schemeClr val="accent2">
                    <a:lumMod val="75000"/>
                  </a:schemeClr>
                </a:solidFill>
              </a:rPr>
              <a:t>strcat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(destination, b);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altLang="zh-CN" sz="2000" dirty="0" err="1">
                <a:solidFill>
                  <a:schemeClr val="accent2">
                    <a:lumMod val="75000"/>
                  </a:schemeClr>
                </a:solidFill>
              </a:rPr>
              <a:t>strcat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(destination, c);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2"/>
                </a:solidFill>
              </a:rPr>
              <a:t>     </a:t>
            </a:r>
            <a:r>
              <a:rPr lang="en-US" altLang="zh-CN" sz="2000" dirty="0"/>
              <a:t>puts(destination);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64267"/>
              </p:ext>
            </p:extLst>
          </p:nvPr>
        </p:nvGraphicFramePr>
        <p:xfrm>
          <a:off x="5970401" y="1935945"/>
          <a:ext cx="1147805" cy="44500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i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u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+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+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\0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…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4" name="标题 1"/>
          <p:cNvSpPr txBox="1">
            <a:spLocks/>
          </p:cNvSpPr>
          <p:nvPr/>
        </p:nvSpPr>
        <p:spPr>
          <a:xfrm>
            <a:off x="644613" y="257646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字符串处理函数</a:t>
            </a:r>
          </a:p>
        </p:txBody>
      </p:sp>
    </p:spTree>
    <p:extLst>
      <p:ext uri="{BB962C8B-B14F-4D97-AF65-F5344CB8AC3E}">
        <p14:creationId xmlns:p14="http://schemas.microsoft.com/office/powerpoint/2010/main" val="156393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 autoUpdateAnimBg="0"/>
      <p:bldP spid="44035" grpId="0" animBg="1" autoUpdateAnimBg="0"/>
      <p:bldP spid="44036" grpId="0" animBg="1" autoUpdateAnimBg="0"/>
      <p:bldP spid="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618385" y="2893902"/>
            <a:ext cx="5840079" cy="286232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字符串比较函数</a:t>
            </a:r>
            <a:r>
              <a:rPr lang="en-US" altLang="zh-CN" sz="2000">
                <a:latin typeface="+mn-ea"/>
                <a:ea typeface="+mn-ea"/>
              </a:rPr>
              <a:t>strcmp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strcmp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字符串1,字符串2)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功能：比较两个字符串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比较规则：对两串从左向右逐个字符比较</a:t>
            </a:r>
            <a:r>
              <a:rPr lang="en-US" altLang="zh-CN" sz="2000">
                <a:latin typeface="+mn-ea"/>
                <a:ea typeface="+mn-ea"/>
              </a:rPr>
              <a:t>(ASCII</a:t>
            </a:r>
            <a:r>
              <a:rPr lang="zh-CN" altLang="zh-CN" sz="2000">
                <a:latin typeface="+mn-ea"/>
                <a:ea typeface="+mn-ea"/>
              </a:rPr>
              <a:t>码</a:t>
            </a:r>
            <a:r>
              <a:rPr lang="en-US" altLang="zh-CN" sz="2000">
                <a:latin typeface="+mn-ea"/>
                <a:ea typeface="+mn-ea"/>
              </a:rPr>
              <a:t>)</a:t>
            </a:r>
            <a:endParaRPr lang="zh-CN" altLang="zh-CN" sz="2000"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          直到遇到不同字符或‘\0’为止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返值：返回</a:t>
            </a:r>
            <a:r>
              <a:rPr lang="en-US" altLang="zh-CN" sz="2000">
                <a:latin typeface="+mn-ea"/>
                <a:ea typeface="+mn-ea"/>
              </a:rPr>
              <a:t>int</a:t>
            </a:r>
            <a:r>
              <a:rPr lang="zh-CN" altLang="zh-CN" sz="2000">
                <a:latin typeface="+mn-ea"/>
                <a:ea typeface="+mn-ea"/>
              </a:rPr>
              <a:t>型整数，</a:t>
            </a:r>
            <a:endParaRPr lang="en-US" altLang="zh-CN" sz="2000"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>
                <a:latin typeface="+mn-ea"/>
                <a:ea typeface="+mn-ea"/>
              </a:rPr>
              <a:t>      a. </a:t>
            </a:r>
            <a:r>
              <a:rPr lang="zh-CN" altLang="zh-CN" sz="2000">
                <a:latin typeface="+mn-ea"/>
                <a:ea typeface="+mn-ea"/>
              </a:rPr>
              <a:t>若字符串1&lt; 字符串2， 返回</a:t>
            </a:r>
            <a:r>
              <a:rPr lang="zh-CN" altLang="zh-CN" sz="2000">
                <a:solidFill>
                  <a:srgbClr val="0000FF"/>
                </a:solidFill>
                <a:latin typeface="+mn-ea"/>
                <a:ea typeface="+mn-ea"/>
              </a:rPr>
              <a:t>负整数</a:t>
            </a:r>
            <a:endParaRPr lang="zh-CN" altLang="zh-CN" sz="2000">
              <a:solidFill>
                <a:schemeClr val="bg2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chemeClr val="bg2"/>
                </a:solidFill>
                <a:latin typeface="+mn-ea"/>
                <a:ea typeface="+mn-ea"/>
              </a:rPr>
              <a:t>      </a:t>
            </a:r>
            <a:r>
              <a:rPr lang="en-US" altLang="zh-CN" sz="2000">
                <a:latin typeface="+mn-ea"/>
                <a:ea typeface="+mn-ea"/>
              </a:rPr>
              <a:t>b. </a:t>
            </a:r>
            <a:r>
              <a:rPr lang="zh-CN" altLang="zh-CN" sz="2000">
                <a:latin typeface="+mn-ea"/>
                <a:ea typeface="+mn-ea"/>
              </a:rPr>
              <a:t>若字符串1&gt; 字符串2， 返回</a:t>
            </a:r>
            <a:r>
              <a:rPr lang="zh-CN" altLang="zh-CN" sz="2000">
                <a:solidFill>
                  <a:srgbClr val="0000FF"/>
                </a:solidFill>
                <a:latin typeface="+mn-ea"/>
                <a:ea typeface="+mn-ea"/>
              </a:rPr>
              <a:t>正整数</a:t>
            </a:r>
            <a:endParaRPr lang="zh-CN" altLang="zh-CN" sz="2000">
              <a:solidFill>
                <a:schemeClr val="bg2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chemeClr val="bg2"/>
                </a:solidFill>
                <a:latin typeface="+mn-ea"/>
                <a:ea typeface="+mn-ea"/>
              </a:rPr>
              <a:t>      </a:t>
            </a:r>
            <a:r>
              <a:rPr lang="en-US" altLang="zh-CN" sz="2000">
                <a:latin typeface="+mn-ea"/>
                <a:ea typeface="+mn-ea"/>
              </a:rPr>
              <a:t>c. </a:t>
            </a:r>
            <a:r>
              <a:rPr lang="zh-CN" altLang="zh-CN" sz="2000">
                <a:latin typeface="+mn-ea"/>
                <a:ea typeface="+mn-ea"/>
              </a:rPr>
              <a:t>若字符串1== 字符串2， 返回</a:t>
            </a:r>
            <a:r>
              <a:rPr lang="zh-CN" altLang="zh-CN" sz="2000">
                <a:solidFill>
                  <a:srgbClr val="0000FF"/>
                </a:solidFill>
                <a:latin typeface="+mn-ea"/>
                <a:ea typeface="+mn-ea"/>
              </a:rPr>
              <a:t>零</a:t>
            </a:r>
            <a:endParaRPr lang="zh-CN" altLang="zh-CN" sz="200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594184" y="1354175"/>
            <a:ext cx="5864280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2000">
                <a:latin typeface="+mn-ea"/>
                <a:ea typeface="+mn-ea"/>
              </a:rPr>
              <a:t>字符串长度函数</a:t>
            </a:r>
            <a:r>
              <a:rPr lang="en-US" altLang="zh-CN" sz="2000">
                <a:latin typeface="+mn-ea"/>
                <a:ea typeface="+mn-ea"/>
              </a:rPr>
              <a:t>strlen</a:t>
            </a:r>
          </a:p>
          <a:p>
            <a:pPr>
              <a:spcBef>
                <a:spcPct val="0"/>
              </a:spcBef>
              <a:buClr>
                <a:srgbClr val="669900"/>
              </a:buClr>
              <a:buFont typeface="Wingdings" panose="05000000000000000000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格式：</a:t>
            </a:r>
            <a:r>
              <a:rPr lang="en-US" altLang="zh-CN" sz="2000" b="1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strlen</a:t>
            </a:r>
            <a:r>
              <a:rPr lang="en-US" altLang="zh-CN" sz="2000">
                <a:latin typeface="+mn-ea"/>
                <a:ea typeface="+mn-ea"/>
              </a:rPr>
              <a:t>(</a:t>
            </a:r>
            <a:r>
              <a:rPr lang="zh-CN" altLang="zh-CN" sz="2000">
                <a:latin typeface="+mn-ea"/>
                <a:ea typeface="+mn-ea"/>
              </a:rPr>
              <a:t>字符数组)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功能：计算字符串长度</a:t>
            </a:r>
          </a:p>
          <a:p>
            <a:pPr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zh-CN" sz="2000">
                <a:latin typeface="+mn-ea"/>
                <a:ea typeface="+mn-ea"/>
              </a:rPr>
              <a:t>返值：返回字符串实际长度，</a:t>
            </a:r>
            <a:r>
              <a:rPr lang="zh-CN" altLang="zh-CN" sz="2000">
                <a:solidFill>
                  <a:srgbClr val="FF0000"/>
                </a:solidFill>
                <a:latin typeface="+mn-ea"/>
                <a:ea typeface="+mn-ea"/>
              </a:rPr>
              <a:t>不包括‘\0’在内</a:t>
            </a:r>
            <a:endParaRPr lang="zh-CN" altLang="zh-CN" sz="200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458464" y="205333"/>
            <a:ext cx="6367848" cy="649626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int main(void) {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char str1[100], str2[100], str[200];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int len1, len2, len3;</a:t>
            </a:r>
          </a:p>
          <a:p>
            <a:pPr>
              <a:spcBef>
                <a:spcPct val="0"/>
              </a:spcBef>
              <a:buNone/>
            </a:pPr>
            <a:endParaRPr lang="en-US" altLang="zh-CN" sz="1600" dirty="0"/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gets(str1);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gets(str2);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if (</a:t>
            </a:r>
            <a:r>
              <a:rPr lang="en-US" altLang="zh-CN" sz="1600" dirty="0" err="1"/>
              <a:t>strcmp</a:t>
            </a:r>
            <a:r>
              <a:rPr lang="en-US" altLang="zh-CN" sz="1600" dirty="0"/>
              <a:t>(str1, str2) &gt; 0)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(str, str1);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</a:t>
            </a:r>
            <a:r>
              <a:rPr lang="en-US" altLang="zh-CN" sz="1600" dirty="0" err="1"/>
              <a:t>strcat</a:t>
            </a:r>
            <a:r>
              <a:rPr lang="en-US" altLang="zh-CN" sz="1600" dirty="0"/>
              <a:t>(str, str2);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else if (</a:t>
            </a:r>
            <a:r>
              <a:rPr lang="en-US" altLang="zh-CN" sz="1600" dirty="0" err="1"/>
              <a:t>strcmp</a:t>
            </a:r>
            <a:r>
              <a:rPr lang="en-US" altLang="zh-CN" sz="1600" dirty="0"/>
              <a:t>(str1, str2) &lt; 0){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(str, str2);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strcat</a:t>
            </a:r>
            <a:r>
              <a:rPr lang="en-US" altLang="zh-CN" sz="1600" dirty="0"/>
              <a:t>(str, str1);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else{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(str, str1);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puts(str);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len1 = </a:t>
            </a:r>
            <a:r>
              <a:rPr lang="en-US" altLang="zh-CN" sz="1600" dirty="0" err="1"/>
              <a:t>strlen</a:t>
            </a:r>
            <a:r>
              <a:rPr lang="en-US" altLang="zh-CN" sz="1600" dirty="0"/>
              <a:t>(str1);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len2 = </a:t>
            </a:r>
            <a:r>
              <a:rPr lang="en-US" altLang="zh-CN" sz="1600" dirty="0" err="1"/>
              <a:t>strlen</a:t>
            </a:r>
            <a:r>
              <a:rPr lang="en-US" altLang="zh-CN" sz="1600" dirty="0"/>
              <a:t>(str2);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len3 = </a:t>
            </a:r>
            <a:r>
              <a:rPr lang="en-US" altLang="zh-CN" sz="1600" dirty="0" err="1"/>
              <a:t>strlen</a:t>
            </a:r>
            <a:r>
              <a:rPr lang="en-US" altLang="zh-CN" sz="1600" dirty="0"/>
              <a:t>(str);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("Len1 = %d, Len2 = %d, Len3 = %d\n", len1, len2, len3);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}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8776985" y="4497306"/>
            <a:ext cx="3415015" cy="1325620"/>
          </a:xfrm>
          <a:prstGeom prst="rect">
            <a:avLst/>
          </a:prstGeom>
          <a:solidFill>
            <a:schemeClr val="bg2"/>
          </a:solidFill>
          <a:ln w="25400">
            <a:solidFill>
              <a:srgbClr val="669900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u="sng" dirty="0"/>
              <a:t>Hangzhou ↙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u="sng" dirty="0" err="1"/>
              <a:t>Haerbin</a:t>
            </a:r>
            <a:r>
              <a:rPr lang="en-US" altLang="zh-CN" sz="2000" u="sng" dirty="0"/>
              <a:t>↙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Hangzhou </a:t>
            </a:r>
            <a:r>
              <a:rPr lang="en-US" altLang="zh-CN" sz="2000" dirty="0" err="1"/>
              <a:t>Haerbin</a:t>
            </a:r>
            <a:endParaRPr lang="en-US" altLang="zh-CN" sz="2000" dirty="0"/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Len1 = 9, Len2 = 7, Len3 = 16 </a:t>
            </a:r>
          </a:p>
        </p:txBody>
      </p:sp>
      <p:sp>
        <p:nvSpPr>
          <p:cNvPr id="12" name="标题 1"/>
          <p:cNvSpPr txBox="1">
            <a:spLocks/>
          </p:cNvSpPr>
          <p:nvPr/>
        </p:nvSpPr>
        <p:spPr>
          <a:xfrm>
            <a:off x="948602" y="376601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字符串处理函数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89A6E2-4910-B5BE-29C0-27F4BAF55825}"/>
              </a:ext>
            </a:extLst>
          </p:cNvPr>
          <p:cNvSpPr txBox="1"/>
          <p:nvPr/>
        </p:nvSpPr>
        <p:spPr>
          <a:xfrm>
            <a:off x="9615054" y="219587"/>
            <a:ext cx="2576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5.8】</a:t>
            </a:r>
            <a:r>
              <a:rPr lang="zh-CN" altLang="en-US" dirty="0"/>
              <a:t>从键盘输入 </a:t>
            </a:r>
            <a:r>
              <a:rPr lang="en-US" altLang="zh-CN" dirty="0"/>
              <a:t>2 </a:t>
            </a:r>
            <a:r>
              <a:rPr lang="zh-CN" altLang="en-US" dirty="0"/>
              <a:t>个字符串，把这 </a:t>
            </a:r>
            <a:r>
              <a:rPr lang="en-US" altLang="zh-CN" dirty="0"/>
              <a:t>2 </a:t>
            </a:r>
            <a:r>
              <a:rPr lang="zh-CN" altLang="en-US" dirty="0"/>
              <a:t>个字符串组合成一个新字符串，</a:t>
            </a:r>
            <a:r>
              <a:rPr lang="en-US" altLang="zh-CN" dirty="0"/>
              <a:t>ASCII</a:t>
            </a:r>
            <a:r>
              <a:rPr lang="zh-CN" altLang="en-US" dirty="0"/>
              <a:t>码值大的在前，</a:t>
            </a:r>
            <a:r>
              <a:rPr lang="en-US" altLang="zh-CN" dirty="0"/>
              <a:t>ASCII</a:t>
            </a:r>
            <a:r>
              <a:rPr lang="zh-CN" altLang="en-US" dirty="0"/>
              <a:t>码值小的在后。若 </a:t>
            </a:r>
            <a:r>
              <a:rPr lang="en-US" altLang="zh-CN" dirty="0"/>
              <a:t>2 </a:t>
            </a:r>
            <a:r>
              <a:rPr lang="zh-CN" altLang="en-US" dirty="0"/>
              <a:t>个字符串相等，则新字符串仅由其中一个字符串组成。输出新字符串，计算并输出 </a:t>
            </a:r>
            <a:r>
              <a:rPr lang="en-US" altLang="zh-CN" dirty="0"/>
              <a:t>3 </a:t>
            </a:r>
            <a:r>
              <a:rPr lang="zh-CN" altLang="en-US" dirty="0"/>
              <a:t>个字符串的长度。</a:t>
            </a:r>
          </a:p>
        </p:txBody>
      </p:sp>
    </p:spTree>
    <p:extLst>
      <p:ext uri="{BB962C8B-B14F-4D97-AF65-F5344CB8AC3E}">
        <p14:creationId xmlns:p14="http://schemas.microsoft.com/office/powerpoint/2010/main" val="168265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nimBg="1" autoUpdateAnimBg="0"/>
      <p:bldP spid="46084" grpId="0" animBg="1" autoUpdateAnimBg="0"/>
      <p:bldP spid="10" grpId="0" animBg="1"/>
      <p:bldP spid="11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269878" y="155926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字符串处理函数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FE93363-E55B-70D6-8C0E-31C31DEE0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942438"/>
              </p:ext>
            </p:extLst>
          </p:nvPr>
        </p:nvGraphicFramePr>
        <p:xfrm>
          <a:off x="794327" y="998891"/>
          <a:ext cx="10603345" cy="4306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5564">
                  <a:extLst>
                    <a:ext uri="{9D8B030D-6E8A-4147-A177-3AD203B41FA5}">
                      <a16:colId xmlns:a16="http://schemas.microsoft.com/office/drawing/2014/main" val="85933330"/>
                    </a:ext>
                  </a:extLst>
                </a:gridCol>
                <a:gridCol w="4257963">
                  <a:extLst>
                    <a:ext uri="{9D8B030D-6E8A-4147-A177-3AD203B41FA5}">
                      <a16:colId xmlns:a16="http://schemas.microsoft.com/office/drawing/2014/main" val="3144590667"/>
                    </a:ext>
                  </a:extLst>
                </a:gridCol>
                <a:gridCol w="3509818">
                  <a:extLst>
                    <a:ext uri="{9D8B030D-6E8A-4147-A177-3AD203B41FA5}">
                      <a16:colId xmlns:a16="http://schemas.microsoft.com/office/drawing/2014/main" val="2794387535"/>
                    </a:ext>
                  </a:extLst>
                </a:gridCol>
              </a:tblGrid>
              <a:tr h="240231"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字符串处理函数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函数原型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ctr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函数功能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2006094691"/>
                  </a:ext>
                </a:extLst>
              </a:tr>
              <a:tr h="240231">
                <a:tc rowSpan="2"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字符串输入、输出函数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char *gets(char *str);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输入字符串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500023245"/>
                  </a:ext>
                </a:extLst>
              </a:tr>
              <a:tr h="24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int puts(const char *str);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输出字符串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2040879125"/>
                  </a:ext>
                </a:extLst>
              </a:tr>
              <a:tr h="409806">
                <a:tc rowSpan="3"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字符串转换函数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double atof(const char *nptr);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将字符串转换为浮点数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2404632390"/>
                  </a:ext>
                </a:extLst>
              </a:tr>
              <a:tr h="240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int atoi(const char *nptr);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将字符串转换为整数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3868954435"/>
                  </a:ext>
                </a:extLst>
              </a:tr>
              <a:tr h="3668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long </a:t>
                      </a:r>
                      <a:r>
                        <a:rPr lang="en-US" sz="1600" kern="100" dirty="0" err="1">
                          <a:effectLst/>
                        </a:rPr>
                        <a:t>atol</a:t>
                      </a:r>
                      <a:r>
                        <a:rPr lang="en-US" sz="1600" kern="100" dirty="0">
                          <a:effectLst/>
                        </a:rPr>
                        <a:t>(const char *</a:t>
                      </a:r>
                      <a:r>
                        <a:rPr lang="en-US" sz="1600" kern="100" dirty="0" err="1">
                          <a:effectLst/>
                        </a:rPr>
                        <a:t>nptr</a:t>
                      </a:r>
                      <a:r>
                        <a:rPr lang="en-US" sz="1600" kern="100" dirty="0">
                          <a:effectLst/>
                        </a:rPr>
                        <a:t>); </a:t>
                      </a: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将字符串转换为长整型数据 </a:t>
                      </a: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528849378"/>
                  </a:ext>
                </a:extLst>
              </a:tr>
              <a:tr h="409806">
                <a:tc rowSpan="2"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字符串复制、连接函数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char *</a:t>
                      </a:r>
                      <a:r>
                        <a:rPr lang="en-US" sz="1600" kern="100" dirty="0" err="1">
                          <a:effectLst/>
                        </a:rPr>
                        <a:t>strcpy</a:t>
                      </a:r>
                      <a:r>
                        <a:rPr lang="en-US" sz="1600" kern="100" dirty="0">
                          <a:effectLst/>
                        </a:rPr>
                        <a:t>(char *</a:t>
                      </a:r>
                      <a:r>
                        <a:rPr lang="en-US" sz="1600" kern="100" dirty="0" err="1">
                          <a:effectLst/>
                        </a:rPr>
                        <a:t>dest</a:t>
                      </a:r>
                      <a:r>
                        <a:rPr lang="en-US" sz="1600" kern="100" dirty="0">
                          <a:effectLst/>
                        </a:rPr>
                        <a:t>, char *</a:t>
                      </a:r>
                      <a:r>
                        <a:rPr lang="en-US" sz="1600" kern="100" dirty="0" err="1">
                          <a:effectLst/>
                        </a:rPr>
                        <a:t>src</a:t>
                      </a:r>
                      <a:r>
                        <a:rPr lang="en-US" sz="1600" kern="100" dirty="0">
                          <a:effectLst/>
                        </a:rPr>
                        <a:t>);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复制字符串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3569947985"/>
                  </a:ext>
                </a:extLst>
              </a:tr>
              <a:tr h="409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char *strcat(char *dest, char *src);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连接字符串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3578953128"/>
                  </a:ext>
                </a:extLst>
              </a:tr>
              <a:tr h="409806"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字符串比较函数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int strcmp(char *str1, char *str2);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比较字符串大小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2856955172"/>
                  </a:ext>
                </a:extLst>
              </a:tr>
              <a:tr h="517188">
                <a:tc rowSpan="2"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>
                          <a:effectLst/>
                        </a:rPr>
                        <a:t>其他函数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 dirty="0">
                          <a:effectLst/>
                        </a:rPr>
                        <a:t>int </a:t>
                      </a:r>
                      <a:r>
                        <a:rPr lang="en-US" sz="1600" kern="100" dirty="0" err="1">
                          <a:effectLst/>
                        </a:rPr>
                        <a:t>strlen</a:t>
                      </a:r>
                      <a:r>
                        <a:rPr lang="en-US" sz="1600" kern="100" dirty="0">
                          <a:effectLst/>
                        </a:rPr>
                        <a:t>(char *str); 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求字符串长度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477370533"/>
                  </a:ext>
                </a:extLst>
              </a:tr>
              <a:tr h="57938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en-US" sz="1600" kern="100">
                          <a:effectLst/>
                        </a:rPr>
                        <a:t>char *strstr(char *str1, char *str2); 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tc>
                  <a:txBody>
                    <a:bodyPr/>
                    <a:lstStyle/>
                    <a:p>
                      <a:pPr indent="266700" algn="just" hangingPunct="0">
                        <a:tabLst>
                          <a:tab pos="2000250" algn="r"/>
                          <a:tab pos="2867025" algn="l"/>
                          <a:tab pos="4133850" algn="l"/>
                        </a:tabLst>
                      </a:pPr>
                      <a:r>
                        <a:rPr lang="zh-CN" sz="1600" kern="100" dirty="0">
                          <a:effectLst/>
                        </a:rPr>
                        <a:t>查找字符串</a:t>
                      </a:r>
                      <a:r>
                        <a:rPr lang="en-US" sz="1600" kern="100" dirty="0">
                          <a:effectLst/>
                        </a:rPr>
                        <a:t> str2 </a:t>
                      </a:r>
                      <a:r>
                        <a:rPr lang="zh-CN" sz="1600" kern="100" dirty="0">
                          <a:effectLst/>
                        </a:rPr>
                        <a:t>在字符串</a:t>
                      </a:r>
                      <a:r>
                        <a:rPr lang="en-US" sz="1600" kern="100" dirty="0">
                          <a:effectLst/>
                        </a:rPr>
                        <a:t> str1 </a:t>
                      </a:r>
                      <a:r>
                        <a:rPr lang="zh-CN" sz="1600" kern="100" dirty="0">
                          <a:effectLst/>
                        </a:rPr>
                        <a:t>中第一次出现的位置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28575" marB="28575" anchor="ctr"/>
                </a:tc>
                <a:extLst>
                  <a:ext uri="{0D108BD9-81ED-4DB2-BD59-A6C34878D82A}">
                    <a16:rowId xmlns:a16="http://schemas.microsoft.com/office/drawing/2014/main" val="378785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404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711201" y="1496419"/>
            <a:ext cx="4801314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【</a:t>
            </a:r>
            <a:r>
              <a:rPr lang="zh-CN" altLang="en-US" sz="2000" dirty="0">
                <a:latin typeface="+mn-ea"/>
                <a:ea typeface="+mn-ea"/>
              </a:rPr>
              <a:t>例 </a:t>
            </a:r>
            <a:r>
              <a:rPr lang="en-US" altLang="zh-CN" sz="2000" dirty="0">
                <a:latin typeface="+mn-ea"/>
                <a:ea typeface="+mn-ea"/>
              </a:rPr>
              <a:t>5.9】</a:t>
            </a:r>
            <a:r>
              <a:rPr lang="zh-CN" altLang="en-US" sz="2000" dirty="0">
                <a:latin typeface="+mn-ea"/>
                <a:ea typeface="+mn-ea"/>
              </a:rPr>
              <a:t>问题：将一个字符串逆序输出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数据结构：使用两个一维字符数组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算法要点：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1.</a:t>
            </a:r>
            <a:r>
              <a:rPr lang="zh-CN" altLang="en-US" sz="2000" dirty="0">
                <a:latin typeface="+mn-ea"/>
                <a:ea typeface="+mn-ea"/>
              </a:rPr>
              <a:t>找到字符串结尾字符位置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+mn-ea"/>
                <a:ea typeface="+mn-ea"/>
              </a:rPr>
              <a:t> 2.</a:t>
            </a:r>
            <a:r>
              <a:rPr lang="zh-CN" altLang="en-US" sz="2000" dirty="0">
                <a:latin typeface="+mn-ea"/>
                <a:ea typeface="+mn-ea"/>
              </a:rPr>
              <a:t>逆序后的字符串放在新字符数组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50261" name="Text Box 85"/>
          <p:cNvSpPr txBox="1">
            <a:spLocks noChangeArrowheads="1"/>
          </p:cNvSpPr>
          <p:nvPr/>
        </p:nvSpPr>
        <p:spPr bwMode="auto">
          <a:xfrm>
            <a:off x="5763737" y="1279447"/>
            <a:ext cx="5984918" cy="5326716"/>
          </a:xfrm>
          <a:prstGeom prst="rect">
            <a:avLst/>
          </a:prstGeom>
          <a:solidFill>
            <a:schemeClr val="bg1"/>
          </a:solidFill>
          <a:ln w="25400">
            <a:solidFill>
              <a:srgbClr val="669900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#include&lt;stdio.h&gt;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#include&lt;string.h&gt;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int main(void)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char str1[100], str2[100];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j;</a:t>
            </a:r>
          </a:p>
          <a:p>
            <a:pPr>
              <a:spcBef>
                <a:spcPct val="0"/>
              </a:spcBef>
              <a:buNone/>
            </a:pPr>
            <a:endParaRPr lang="en-US" altLang="zh-CN" sz="2000" dirty="0"/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("Enter string: 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gets(str1);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str1[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!= '\0';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{}	</a:t>
            </a:r>
            <a:r>
              <a:rPr lang="en-US" altLang="zh-CN" sz="1100" dirty="0"/>
              <a:t>//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</a:t>
            </a:r>
            <a:r>
              <a:rPr lang="zh-CN" altLang="en-US" sz="1100" dirty="0"/>
              <a:t>从 </a:t>
            </a:r>
            <a:r>
              <a:rPr lang="en-US" altLang="zh-CN" sz="1100" dirty="0"/>
              <a:t>str1 </a:t>
            </a:r>
            <a:r>
              <a:rPr lang="zh-CN" altLang="en-US" sz="1100" dirty="0"/>
              <a:t>的起始计数，直至结尾 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for (j = 0,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--;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&gt;=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--, </a:t>
            </a:r>
            <a:r>
              <a:rPr lang="en-US" altLang="zh-CN" sz="2000" dirty="0" err="1"/>
              <a:t>j++</a:t>
            </a:r>
            <a:r>
              <a:rPr lang="en-US" altLang="zh-CN" sz="2000" dirty="0"/>
              <a:t>){ 	//j </a:t>
            </a:r>
            <a:r>
              <a:rPr lang="zh-CN" altLang="en-US" sz="2000" dirty="0"/>
              <a:t>从 </a:t>
            </a:r>
            <a:r>
              <a:rPr lang="en-US" altLang="zh-CN" sz="2000" dirty="0"/>
              <a:t>str2 </a:t>
            </a:r>
            <a:r>
              <a:rPr lang="zh-CN" altLang="en-US" sz="2000" dirty="0"/>
              <a:t>开始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       str2[j] = str1[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             	//</a:t>
            </a:r>
            <a:r>
              <a:rPr lang="zh-CN" altLang="en-US" sz="2000" dirty="0"/>
              <a:t>赋值 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/>
              <a:t>      </a:t>
            </a:r>
            <a:r>
              <a:rPr lang="en-US" altLang="zh-CN" sz="2000" dirty="0"/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str2[j] = '\0'; 	//</a:t>
            </a:r>
            <a:r>
              <a:rPr lang="zh-CN" altLang="en-US" sz="2000" dirty="0"/>
              <a:t>在逆序字符串末尾加结束标志</a:t>
            </a:r>
            <a:r>
              <a:rPr lang="en-US" altLang="zh-CN" sz="2000" dirty="0"/>
              <a:t>'\0'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("Reversed: 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puts(str2);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84" name="标题 1"/>
          <p:cNvSpPr txBox="1">
            <a:spLocks/>
          </p:cNvSpPr>
          <p:nvPr/>
        </p:nvSpPr>
        <p:spPr>
          <a:xfrm>
            <a:off x="783495" y="543772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5.3.3 </a:t>
            </a:r>
            <a:r>
              <a:rPr lang="zh-CN" altLang="en-US" dirty="0"/>
              <a:t>字符串处理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964186"/>
              </p:ext>
            </p:extLst>
          </p:nvPr>
        </p:nvGraphicFramePr>
        <p:xfrm>
          <a:off x="711201" y="3571965"/>
          <a:ext cx="4434704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3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/>
                        <a:t>str1</a:t>
                      </a:r>
                      <a:endParaRPr lang="zh-CN" altLang="en-US" sz="1800" b="0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g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20077"/>
              </p:ext>
            </p:extLst>
          </p:nvPr>
        </p:nvGraphicFramePr>
        <p:xfrm>
          <a:off x="711202" y="4173371"/>
          <a:ext cx="4434703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43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str2</a:t>
                      </a:r>
                      <a:endParaRPr lang="zh-CN" altLang="en-US" b="0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直接箭头连接符 13"/>
          <p:cNvCxnSpPr/>
          <p:nvPr/>
        </p:nvCxnSpPr>
        <p:spPr>
          <a:xfrm>
            <a:off x="4917988" y="3327078"/>
            <a:ext cx="0" cy="244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556950" y="4559087"/>
            <a:ext cx="0" cy="187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auto">
          <a:xfrm>
            <a:off x="4802659" y="2985378"/>
            <a:ext cx="230659" cy="402291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/>
              <a:t>i</a:t>
            </a:r>
            <a:endParaRPr lang="zh-CN" altLang="en-US" sz="2000" b="1"/>
          </a:p>
        </p:txBody>
      </p:sp>
      <p:sp>
        <p:nvSpPr>
          <p:cNvPr id="105" name="文本框 104"/>
          <p:cNvSpPr txBox="1"/>
          <p:nvPr/>
        </p:nvSpPr>
        <p:spPr bwMode="auto">
          <a:xfrm>
            <a:off x="1441620" y="4679401"/>
            <a:ext cx="230659" cy="402291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/>
              <a:t>j</a:t>
            </a:r>
            <a:endParaRPr lang="zh-CN" altLang="en-US" sz="2000" b="1"/>
          </a:p>
        </p:txBody>
      </p:sp>
      <p:sp>
        <p:nvSpPr>
          <p:cNvPr id="18" name="文本框 17"/>
          <p:cNvSpPr txBox="1"/>
          <p:nvPr/>
        </p:nvSpPr>
        <p:spPr bwMode="auto">
          <a:xfrm>
            <a:off x="783495" y="5081692"/>
            <a:ext cx="4872235" cy="12025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 dirty="0"/>
              <a:t>总结：</a:t>
            </a:r>
            <a:endParaRPr lang="en-US" altLang="zh-CN" b="1" dirty="0"/>
          </a:p>
          <a:p>
            <a:pPr>
              <a:spcBef>
                <a:spcPct val="0"/>
              </a:spcBef>
            </a:pPr>
            <a:r>
              <a:rPr lang="en-US" altLang="zh-CN" dirty="0"/>
              <a:t>1.</a:t>
            </a:r>
            <a:r>
              <a:rPr lang="zh-CN" altLang="zh-CN" dirty="0"/>
              <a:t>定义字符数组长度的时可多定义一些位置。</a:t>
            </a:r>
            <a:r>
              <a:rPr lang="en-US" altLang="zh-CN" dirty="0"/>
              <a:t>2.</a:t>
            </a:r>
            <a:r>
              <a:rPr lang="zh-CN" altLang="zh-CN" dirty="0"/>
              <a:t>尽量用</a:t>
            </a:r>
            <a:r>
              <a:rPr lang="en-US" altLang="zh-CN" dirty="0"/>
              <a:t>gets puts</a:t>
            </a:r>
            <a:r>
              <a:rPr lang="zh-CN" altLang="zh-CN" dirty="0"/>
              <a:t>做字符串的输入输出</a:t>
            </a:r>
            <a:endParaRPr lang="en-US" altLang="zh-CN" dirty="0"/>
          </a:p>
          <a:p>
            <a:pPr>
              <a:spcBef>
                <a:spcPct val="0"/>
              </a:spcBef>
            </a:pPr>
            <a:r>
              <a:rPr lang="en-US" altLang="zh-CN" dirty="0"/>
              <a:t>3.</a:t>
            </a:r>
            <a:r>
              <a:rPr lang="zh-CN" altLang="en-US" dirty="0"/>
              <a:t>处理时</a:t>
            </a:r>
            <a:r>
              <a:rPr lang="zh-CN" altLang="zh-CN" dirty="0"/>
              <a:t>通常采用有没有到结束符做循环条件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1364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5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uiExpand="1" build="p" autoUpdateAnimBg="0"/>
      <p:bldP spid="50261" grpId="0" animBg="1" autoUpdateAnimBg="0"/>
      <p:bldP spid="17" grpId="0" animBg="1"/>
      <p:bldP spid="105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726797" y="1401140"/>
            <a:ext cx="57542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 </a:t>
            </a:r>
            <a:r>
              <a:rPr lang="en-US" altLang="zh-CN" sz="2400" dirty="0"/>
              <a:t>5.10】</a:t>
            </a:r>
            <a:r>
              <a:rPr lang="zh-CN" altLang="en-US" sz="2400" dirty="0"/>
              <a:t>从键盘输入多个姓名，并按字母顺序排序。</a:t>
            </a:r>
            <a:endParaRPr lang="en-US" altLang="zh-CN" sz="2400" dirty="0"/>
          </a:p>
          <a:p>
            <a:pPr>
              <a:spcBef>
                <a:spcPct val="0"/>
              </a:spcBef>
              <a:buNone/>
            </a:pPr>
            <a:r>
              <a:rPr lang="zh-CN" altLang="en-US" sz="2400" dirty="0"/>
              <a:t>在二维字符数组里的排序算法，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就是以字符串为单位的一维数组排序</a:t>
            </a:r>
          </a:p>
        </p:txBody>
      </p:sp>
      <p:sp>
        <p:nvSpPr>
          <p:cNvPr id="50261" name="Text Box 85"/>
          <p:cNvSpPr txBox="1">
            <a:spLocks noChangeArrowheads="1"/>
          </p:cNvSpPr>
          <p:nvPr/>
        </p:nvSpPr>
        <p:spPr bwMode="auto">
          <a:xfrm>
            <a:off x="6606714" y="-35727"/>
            <a:ext cx="4083844" cy="7234930"/>
          </a:xfrm>
          <a:prstGeom prst="rect">
            <a:avLst/>
          </a:prstGeom>
          <a:solidFill>
            <a:schemeClr val="bg1"/>
          </a:solidFill>
          <a:ln w="25400">
            <a:solidFill>
              <a:srgbClr val="669900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#define N 3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int main(void) {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char string[81], str[N][81];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, j, k;</a:t>
            </a:r>
          </a:p>
          <a:p>
            <a:pPr>
              <a:spcBef>
                <a:spcPct val="0"/>
              </a:spcBef>
              <a:buNone/>
            </a:pPr>
            <a:endParaRPr lang="en-US" altLang="zh-CN" sz="800" dirty="0"/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N;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++){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gets(str[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N - 1;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k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for (j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+ 1; j &lt; N; </a:t>
            </a:r>
            <a:r>
              <a:rPr lang="en-US" altLang="zh-CN" sz="1600" dirty="0" err="1"/>
              <a:t>j++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if (</a:t>
            </a:r>
            <a:r>
              <a:rPr lang="en-US" altLang="zh-CN" sz="1600" dirty="0" err="1"/>
              <a:t>strcmp</a:t>
            </a:r>
            <a:r>
              <a:rPr lang="en-US" altLang="zh-CN" sz="1600" dirty="0"/>
              <a:t>(str[k], str[j])&gt;0){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	                          k = j;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if(k !=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(string, str[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], str[k]);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      </a:t>
            </a:r>
            <a:r>
              <a:rPr lang="en-US" altLang="zh-CN" sz="1600" dirty="0" err="1"/>
              <a:t>strcpy</a:t>
            </a:r>
            <a:r>
              <a:rPr lang="en-US" altLang="zh-CN" sz="1600" dirty="0"/>
              <a:t>(str[k], string);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("Sorted: ");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0;i&lt;</a:t>
            </a:r>
            <a:r>
              <a:rPr lang="en-US" altLang="zh-CN" sz="1600" dirty="0" err="1"/>
              <a:t>N;i</a:t>
            </a:r>
            <a:r>
              <a:rPr lang="en-US" altLang="zh-CN" sz="1600" dirty="0"/>
              <a:t>++){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      puts(str[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   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600" dirty="0"/>
              <a:t>}</a:t>
            </a:r>
          </a:p>
        </p:txBody>
      </p:sp>
      <p:sp>
        <p:nvSpPr>
          <p:cNvPr id="84" name="标题 1"/>
          <p:cNvSpPr txBox="1">
            <a:spLocks/>
          </p:cNvSpPr>
          <p:nvPr/>
        </p:nvSpPr>
        <p:spPr>
          <a:xfrm>
            <a:off x="726797" y="568553"/>
            <a:ext cx="8333247" cy="842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字符串处理程序举例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821424"/>
              </p:ext>
            </p:extLst>
          </p:nvPr>
        </p:nvGraphicFramePr>
        <p:xfrm>
          <a:off x="1443104" y="3025477"/>
          <a:ext cx="4529330" cy="11125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52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7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4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7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29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J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n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J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o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a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n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J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e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n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n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y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/>
                        <a:t>\0</a:t>
                      </a:r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 bwMode="auto">
          <a:xfrm>
            <a:off x="601133" y="2970800"/>
            <a:ext cx="790443" cy="1221874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str[0]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str[1]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str[2]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40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5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 autoUpdateAnimBg="0"/>
      <p:bldP spid="50261" grpId="0" animBg="1" autoUpdateAnimBg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6327" y="1514667"/>
            <a:ext cx="7431110" cy="1325563"/>
          </a:xfrm>
        </p:spPr>
        <p:txBody>
          <a:bodyPr>
            <a:noAutofit/>
          </a:bodyPr>
          <a:lstStyle/>
          <a:p>
            <a:r>
              <a:rPr lang="zh-CN" altLang="en-US" sz="6000" dirty="0"/>
              <a:t>  </a:t>
            </a:r>
            <a:r>
              <a:rPr lang="en-US" altLang="zh-CN" sz="6000" dirty="0"/>
              <a:t>5.4  </a:t>
            </a:r>
            <a:r>
              <a:rPr lang="zh-CN" altLang="en-US" sz="6000" dirty="0"/>
              <a:t>数 组 和 函 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557E80-E483-1515-0518-59967E7BCB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45" y="3639079"/>
            <a:ext cx="5797231" cy="241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60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3616" y="388839"/>
            <a:ext cx="7020697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5.4.1  </a:t>
            </a:r>
            <a:r>
              <a:rPr lang="zh-CN" altLang="en-US" sz="4000" dirty="0"/>
              <a:t>一维数组与函数</a:t>
            </a:r>
            <a:br>
              <a:rPr lang="en-US" altLang="zh-CN" sz="4000" dirty="0"/>
            </a:br>
            <a:r>
              <a:rPr lang="zh-CN" altLang="en-US" sz="4000" dirty="0"/>
              <a:t>一维数组在函数间的传递</a:t>
            </a:r>
          </a:p>
        </p:txBody>
      </p:sp>
      <p:sp>
        <p:nvSpPr>
          <p:cNvPr id="49" name="内容占位符 48"/>
          <p:cNvSpPr>
            <a:spLocks noGrp="1"/>
          </p:cNvSpPr>
          <p:nvPr>
            <p:ph idx="1"/>
          </p:nvPr>
        </p:nvSpPr>
        <p:spPr>
          <a:xfrm>
            <a:off x="1447801" y="1882179"/>
            <a:ext cx="5348415" cy="959876"/>
          </a:xfrm>
          <a:noFill/>
          <a:ln w="127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>
                <a:latin typeface="宋体" panose="02010600030101010101" pitchFamily="2" charset="-122"/>
              </a:rPr>
              <a:t>值传递：传递数组元素的值</a:t>
            </a:r>
            <a:endParaRPr lang="en-US" altLang="zh-CN" b="1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>
                <a:latin typeface="宋体" panose="02010600030101010101" pitchFamily="2" charset="-122"/>
              </a:rPr>
              <a:t>地址传递：传递数组的地址（数组名）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395794" y="6323585"/>
            <a:ext cx="640080" cy="365125"/>
          </a:xfrm>
        </p:spPr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028233"/>
              </p:ext>
            </p:extLst>
          </p:nvPr>
        </p:nvGraphicFramePr>
        <p:xfrm>
          <a:off x="1447800" y="3827867"/>
          <a:ext cx="5348415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4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实参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形参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值传递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数组元素</a:t>
                      </a:r>
                      <a:r>
                        <a:rPr lang="en-US" altLang="zh-CN"/>
                        <a:t>a[0]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int 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地址传递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数组名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，</a:t>
                      </a:r>
                      <a:endParaRPr lang="en-US" altLang="zh-CN"/>
                    </a:p>
                    <a:p>
                      <a:r>
                        <a:rPr lang="zh-CN" altLang="en-US"/>
                        <a:t>数组元素个数</a:t>
                      </a:r>
                      <a:r>
                        <a:rPr lang="en-US" altLang="zh-CN"/>
                        <a:t>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int</a:t>
                      </a:r>
                      <a:r>
                        <a:rPr lang="en-US" altLang="zh-CN" baseline="0"/>
                        <a:t> b[] </a:t>
                      </a:r>
                      <a:r>
                        <a:rPr lang="zh-CN" altLang="en-US" baseline="0"/>
                        <a:t>或</a:t>
                      </a:r>
                      <a:r>
                        <a:rPr lang="en-US" altLang="zh-CN" baseline="0"/>
                        <a:t>int </a:t>
                      </a:r>
                      <a:r>
                        <a:rPr lang="zh-CN" altLang="en-US" baseline="0"/>
                        <a:t>*</a:t>
                      </a:r>
                      <a:r>
                        <a:rPr lang="en-US" altLang="zh-CN" baseline="0"/>
                        <a:t>b</a:t>
                      </a:r>
                    </a:p>
                    <a:p>
                      <a:r>
                        <a:rPr lang="en-US" altLang="zh-CN"/>
                        <a:t>int 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 bwMode="auto">
          <a:xfrm>
            <a:off x="1357183" y="3257799"/>
            <a:ext cx="3107724" cy="402291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+mn-ea"/>
              </a:rPr>
              <a:t>例如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 a[5]</a:t>
            </a:r>
            <a:r>
              <a:rPr lang="zh-CN" altLang="en-US" sz="2000" b="1"/>
              <a:t>的传递</a:t>
            </a:r>
          </a:p>
        </p:txBody>
      </p:sp>
    </p:spTree>
    <p:extLst>
      <p:ext uri="{BB962C8B-B14F-4D97-AF65-F5344CB8AC3E}">
        <p14:creationId xmlns:p14="http://schemas.microsoft.com/office/powerpoint/2010/main" val="45674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5100043" cy="10393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一维数组地址传递程序举例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3" name="文本框 52"/>
          <p:cNvSpPr txBox="1"/>
          <p:nvPr/>
        </p:nvSpPr>
        <p:spPr bwMode="auto">
          <a:xfrm>
            <a:off x="775856" y="1729650"/>
            <a:ext cx="4128654" cy="132562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例 </a:t>
            </a:r>
            <a:r>
              <a:rPr lang="en-US" altLang="zh-CN" sz="2000" b="1" dirty="0"/>
              <a:t>5.11】</a:t>
            </a:r>
            <a:r>
              <a:rPr lang="zh-CN" altLang="en-US" sz="2000" b="1" dirty="0"/>
              <a:t>编写程序，在一维数组（整数）里查找并输入最大元素，要求调用 </a:t>
            </a:r>
            <a:r>
              <a:rPr lang="en-US" altLang="zh-CN" sz="2000" b="1" dirty="0" err="1"/>
              <a:t>findmax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函数查找并返回最大元素的下标。</a:t>
            </a:r>
          </a:p>
        </p:txBody>
      </p:sp>
      <p:sp>
        <p:nvSpPr>
          <p:cNvPr id="54" name="文本框 53"/>
          <p:cNvSpPr txBox="1"/>
          <p:nvPr/>
        </p:nvSpPr>
        <p:spPr bwMode="auto">
          <a:xfrm>
            <a:off x="6096000" y="0"/>
            <a:ext cx="4234249" cy="701948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 5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b[], int n) { 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 m,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 = 0;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for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 (b[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 b[m]){     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 m;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main(void) { 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 a[N], maxi,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("input the score:\n");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 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maxi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N);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max = %d", a[maxi]);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 bwMode="auto">
          <a:xfrm>
            <a:off x="1011194" y="4086649"/>
            <a:ext cx="3083011" cy="40229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/>
              <a:t>数组名和数组长度做实参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366453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585" y="16575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5.4.2  </a:t>
            </a:r>
            <a:r>
              <a:rPr lang="zh-CN" altLang="en-US" sz="4000" dirty="0"/>
              <a:t>二维数组与函数</a:t>
            </a:r>
            <a:br>
              <a:rPr lang="en-US" altLang="zh-CN" sz="4000" dirty="0"/>
            </a:br>
            <a:r>
              <a:rPr lang="zh-CN" altLang="en-US" sz="4000" dirty="0"/>
              <a:t>二维数组在函数间的传递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491319"/>
            <a:ext cx="5373130" cy="453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>
                <a:latin typeface="+mn-ea"/>
              </a:rPr>
              <a:t>例如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 a[3][4]</a:t>
            </a:r>
            <a:r>
              <a:rPr lang="zh-CN" altLang="en-US" b="1"/>
              <a:t>的传递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397990"/>
              </p:ext>
            </p:extLst>
          </p:nvPr>
        </p:nvGraphicFramePr>
        <p:xfrm>
          <a:off x="838201" y="1965483"/>
          <a:ext cx="5447271" cy="1656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64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实参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形参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值传递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数组元素</a:t>
                      </a:r>
                      <a:r>
                        <a:rPr lang="en-US" altLang="zh-CN"/>
                        <a:t>a[0][0]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int 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地址传递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数组名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，</a:t>
                      </a:r>
                      <a:endParaRPr lang="en-US" altLang="zh-CN"/>
                    </a:p>
                    <a:p>
                      <a:r>
                        <a:rPr lang="zh-CN" altLang="en-US"/>
                        <a:t>数组行数</a:t>
                      </a:r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int</a:t>
                      </a:r>
                      <a:r>
                        <a:rPr lang="en-US" altLang="zh-CN" baseline="0"/>
                        <a:t> b[][4] </a:t>
                      </a:r>
                      <a:r>
                        <a:rPr lang="zh-CN" altLang="en-US" baseline="0"/>
                        <a:t>或</a:t>
                      </a:r>
                      <a:r>
                        <a:rPr lang="en-US" altLang="zh-CN" baseline="0"/>
                        <a:t>int (</a:t>
                      </a:r>
                      <a:r>
                        <a:rPr lang="zh-CN" altLang="en-US" baseline="0"/>
                        <a:t>*</a:t>
                      </a:r>
                      <a:r>
                        <a:rPr lang="en-US" altLang="zh-CN" baseline="0"/>
                        <a:t>b)[4]</a:t>
                      </a:r>
                    </a:p>
                    <a:p>
                      <a:r>
                        <a:rPr lang="en-US" altLang="zh-CN"/>
                        <a:t>int 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文本框 52"/>
          <p:cNvSpPr txBox="1"/>
          <p:nvPr/>
        </p:nvSpPr>
        <p:spPr bwMode="auto">
          <a:xfrm>
            <a:off x="801129" y="3932164"/>
            <a:ext cx="5447272" cy="13256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/>
              <a:t>地址传递程序举例</a:t>
            </a:r>
            <a:endParaRPr lang="en-US" altLang="zh-CN" sz="2000" b="1" dirty="0"/>
          </a:p>
          <a:p>
            <a:pPr>
              <a:spcBef>
                <a:spcPct val="0"/>
              </a:spcBef>
            </a:pPr>
            <a:r>
              <a:rPr lang="en-US" altLang="zh-CN" sz="2000" dirty="0"/>
              <a:t>【</a:t>
            </a:r>
            <a:r>
              <a:rPr lang="zh-CN" altLang="en-US" sz="2000" dirty="0"/>
              <a:t>例 </a:t>
            </a:r>
            <a:r>
              <a:rPr lang="en-US" altLang="zh-CN" sz="2000" dirty="0"/>
              <a:t>5.12】</a:t>
            </a:r>
            <a:r>
              <a:rPr lang="zh-CN" altLang="en-US" sz="2000" dirty="0"/>
              <a:t>编写程序，生成一个 </a:t>
            </a:r>
            <a:r>
              <a:rPr lang="en-US" altLang="zh-CN" sz="2000" dirty="0"/>
              <a:t>n </a:t>
            </a:r>
            <a:r>
              <a:rPr lang="zh-CN" altLang="en-US" sz="2000" dirty="0"/>
              <a:t>阶的杨辉三角，要求使用函数生成杨辉三角。例如，</a:t>
            </a:r>
            <a:r>
              <a:rPr lang="en-US" altLang="zh-CN" sz="2000" dirty="0"/>
              <a:t>n </a:t>
            </a:r>
            <a:r>
              <a:rPr lang="zh-CN" altLang="en-US" sz="2000" dirty="0"/>
              <a:t>为 </a:t>
            </a:r>
            <a:r>
              <a:rPr lang="en-US" altLang="zh-CN" sz="2000" dirty="0"/>
              <a:t>5 </a:t>
            </a:r>
            <a:r>
              <a:rPr lang="zh-CN" altLang="en-US" sz="2000" dirty="0"/>
              <a:t>时的输出结果如下： </a:t>
            </a:r>
          </a:p>
        </p:txBody>
      </p:sp>
      <p:sp>
        <p:nvSpPr>
          <p:cNvPr id="54" name="文本框 53"/>
          <p:cNvSpPr txBox="1"/>
          <p:nvPr/>
        </p:nvSpPr>
        <p:spPr bwMode="auto">
          <a:xfrm>
            <a:off x="7150443" y="5701"/>
            <a:ext cx="4203357" cy="69887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 5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matrix(int b[][N], int n, int m ){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pPr>
              <a:spcBef>
                <a:spcPct val="0"/>
              </a:spcBef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(j = 0; j &lt;=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if (j == 0 ||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j ){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b[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 1; { 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else{ 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b[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 b[i-1][j]+b[i-1][j-1];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main(void) { 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 a[N][N],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pPr>
              <a:spcBef>
                <a:spcPct val="0"/>
              </a:spcBef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matrix(a, N, N);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(j = 0; j &lt;=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 ", a[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pPr>
              <a:spcBef>
                <a:spcPct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801129" y="5257784"/>
            <a:ext cx="1989665" cy="14795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1</a:t>
            </a:r>
          </a:p>
          <a:p>
            <a:pPr marL="342900" indent="-342900" eaLnBrk="1" hangingPunct="1">
              <a:spcBef>
                <a:spcPct val="0"/>
              </a:spcBef>
              <a:buFontTx/>
              <a:buAutoNum type="arabicPlain"/>
            </a:pPr>
            <a:r>
              <a:rPr lang="en-US" altLang="zh-CN" b="1" dirty="0"/>
              <a:t>1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b="1" dirty="0"/>
              <a:t>1   2   1</a:t>
            </a:r>
          </a:p>
          <a:p>
            <a:pPr marL="342900" indent="-342900" eaLnBrk="1" hangingPunct="1">
              <a:spcBef>
                <a:spcPct val="0"/>
              </a:spcBef>
              <a:buAutoNum type="arabicPlain"/>
            </a:pPr>
            <a:r>
              <a:rPr lang="en-US" altLang="zh-CN" b="1" dirty="0"/>
              <a:t> 3   3  1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b="1" dirty="0"/>
              <a:t>1   4   6   4  1</a:t>
            </a:r>
          </a:p>
        </p:txBody>
      </p:sp>
    </p:spTree>
    <p:extLst>
      <p:ext uri="{BB962C8B-B14F-4D97-AF65-F5344CB8AC3E}">
        <p14:creationId xmlns:p14="http://schemas.microsoft.com/office/powerpoint/2010/main" val="46842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0726" y="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5.4.3  </a:t>
            </a:r>
            <a:r>
              <a:rPr lang="zh-CN" altLang="en-US" sz="4000" dirty="0"/>
              <a:t>字符数组与函数</a:t>
            </a:r>
            <a:br>
              <a:rPr lang="en-US" altLang="zh-CN" sz="4000" dirty="0"/>
            </a:br>
            <a:r>
              <a:rPr lang="zh-CN" altLang="en-US" sz="4000" dirty="0"/>
              <a:t>字符数组地址传递举例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7670" y="1786500"/>
            <a:ext cx="357008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问题：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 </a:t>
            </a:r>
            <a:r>
              <a:rPr lang="en-US" altLang="zh-CN" sz="2400" dirty="0"/>
              <a:t>5.13】</a:t>
            </a:r>
            <a:r>
              <a:rPr lang="zh-CN" altLang="en-US" sz="2400" dirty="0"/>
              <a:t>编写 </a:t>
            </a:r>
            <a:r>
              <a:rPr lang="en-US" altLang="zh-CN" sz="2400" dirty="0"/>
              <a:t>del</a:t>
            </a:r>
            <a:r>
              <a:rPr lang="zh-CN" altLang="en-US" sz="2400" dirty="0"/>
              <a:t>函数，用于删除字符串中的指定字符。指定字符及字符串通过主函数输入。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5793199" y="150089"/>
            <a:ext cx="4234249" cy="655782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#include&lt;string.h&gt;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del( char str[], char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pPr>
              <a:spcBef>
                <a:spcPct val="0"/>
              </a:spcBef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j = 0; str[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'\0';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(str[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str[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str[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str[j] = '\0';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main(void) { 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char s[81], c;</a:t>
            </a:r>
          </a:p>
          <a:p>
            <a:pPr>
              <a:spcBef>
                <a:spcPct val="0"/>
              </a:spcBef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gets(s);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del(s, c);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puts(s);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 bwMode="auto">
          <a:xfrm>
            <a:off x="1131672" y="4382811"/>
            <a:ext cx="3285782" cy="12025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rtlCol="0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字符数组做实参进行地址传递的时候，一般不需要传递数组长度</a:t>
            </a:r>
            <a:endParaRPr lang="en-US" altLang="zh-C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1374C5-54E6-04A7-E0AD-160D8B0D3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int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 i, j;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for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 (i = 0, j = 0; str[i] !=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48AB"/>
                </a:solidFill>
                <a:effectLst/>
                <a:latin typeface="Arial Unicode MS"/>
                <a:ea typeface="Monaco"/>
              </a:rPr>
              <a:t>'\0'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; i++)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if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 (str[i] != ch)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str[j++] = str[i];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str[j] =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48AB"/>
                </a:solidFill>
                <a:effectLst/>
                <a:latin typeface="Arial Unicode MS"/>
                <a:ea typeface="Monaco"/>
              </a:rPr>
              <a:t>'\0'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;</a:t>
            </a:r>
            <a:endParaRPr kumimoji="0" lang="zh-CN" altLang="zh-CN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0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065108" cy="1325563"/>
          </a:xfrm>
        </p:spPr>
        <p:txBody>
          <a:bodyPr>
            <a:normAutofit/>
          </a:bodyPr>
          <a:lstStyle/>
          <a:p>
            <a:r>
              <a:rPr lang="zh-CN" altLang="zh-CN" dirty="0"/>
              <a:t>总结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65108" cy="4351338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函数之间数组的地址传递，就是数组名做实参，同类型</a:t>
            </a:r>
            <a:r>
              <a:rPr lang="zh-CN" altLang="en-US" sz="2400" dirty="0"/>
              <a:t>数组或</a:t>
            </a:r>
            <a:r>
              <a:rPr lang="zh-CN" altLang="zh-CN" sz="2400" dirty="0"/>
              <a:t>指针做形参。</a:t>
            </a:r>
            <a:endParaRPr lang="en-US" altLang="zh-CN" sz="2400" dirty="0"/>
          </a:p>
          <a:p>
            <a:r>
              <a:rPr lang="zh-CN" altLang="zh-CN" sz="2400" dirty="0"/>
              <a:t>数组地址</a:t>
            </a:r>
            <a:r>
              <a:rPr lang="zh-CN" altLang="en-US" sz="2400" dirty="0"/>
              <a:t>的</a:t>
            </a:r>
            <a:r>
              <a:rPr lang="zh-CN" altLang="zh-CN" sz="2400" dirty="0"/>
              <a:t>传递自始至终，主调函数和被调函数，使用的都是同一个数组，并没有占用两个数组的存储区域。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16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木材纹理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木材纹理">
    <a:dk1>
      <a:sysClr val="windowText" lastClr="000000"/>
    </a:dk1>
    <a:lt1>
      <a:sysClr val="window" lastClr="FFFFFF"/>
    </a:lt1>
    <a:dk2>
      <a:srgbClr val="84ACB6"/>
    </a:dk2>
    <a:lt2>
      <a:srgbClr val="EBE9DD"/>
    </a:lt2>
    <a:accent1>
      <a:srgbClr val="6F8183"/>
    </a:accent1>
    <a:accent2>
      <a:srgbClr val="967E96"/>
    </a:accent2>
    <a:accent3>
      <a:srgbClr val="CCC893"/>
    </a:accent3>
    <a:accent4>
      <a:srgbClr val="A54D74"/>
    </a:accent4>
    <a:accent5>
      <a:srgbClr val="949C6B"/>
    </a:accent5>
    <a:accent6>
      <a:srgbClr val="766A50"/>
    </a:accent6>
    <a:hlink>
      <a:srgbClr val="CC6600"/>
    </a:hlink>
    <a:folHlink>
      <a:srgbClr val="77777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24763</TotalTime>
  <Words>5285</Words>
  <Application>Microsoft Office PowerPoint</Application>
  <PresentationFormat>宽屏</PresentationFormat>
  <Paragraphs>929</Paragraphs>
  <Slides>37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 Unicode MS</vt:lpstr>
      <vt:lpstr>方正黑体_GBK</vt:lpstr>
      <vt:lpstr>宋体</vt:lpstr>
      <vt:lpstr>微软雅黑</vt:lpstr>
      <vt:lpstr>Arial</vt:lpstr>
      <vt:lpstr>Bookman Old Style</vt:lpstr>
      <vt:lpstr>Calibri</vt:lpstr>
      <vt:lpstr>Century Gothic</vt:lpstr>
      <vt:lpstr>Times New Roman</vt:lpstr>
      <vt:lpstr>Wingdings</vt:lpstr>
      <vt:lpstr>木材纹理</vt:lpstr>
      <vt:lpstr>3_Office 主题​​</vt:lpstr>
      <vt:lpstr>第5章   数组</vt:lpstr>
      <vt:lpstr>PowerPoint 演示文稿</vt:lpstr>
      <vt:lpstr>PowerPoint 演示文稿</vt:lpstr>
      <vt:lpstr>PowerPoint 演示文稿</vt:lpstr>
      <vt:lpstr>PowerPoint 演示文稿</vt:lpstr>
      <vt:lpstr>5.1  一维数组</vt:lpstr>
      <vt:lpstr>PowerPoint 演示文稿</vt:lpstr>
      <vt:lpstr>一维数组的初始化</vt:lpstr>
      <vt:lpstr>数组长度的定义</vt:lpstr>
      <vt:lpstr>数组长度越界问题</vt:lpstr>
      <vt:lpstr>5.1.2 查找算法</vt:lpstr>
      <vt:lpstr>顺序查找</vt:lpstr>
      <vt:lpstr>查找最大值/最小值</vt:lpstr>
      <vt:lpstr>5.1.3 排序算法</vt:lpstr>
      <vt:lpstr>排序</vt:lpstr>
      <vt:lpstr> 5.2   二 维 数 组</vt:lpstr>
      <vt:lpstr>5.2.1  二维数组的定义和初始化 1. 二维数组的定义</vt:lpstr>
      <vt:lpstr>2. 二维数组的初始化</vt:lpstr>
      <vt:lpstr>多维数组降维</vt:lpstr>
      <vt:lpstr>PowerPoint 演示文稿</vt:lpstr>
      <vt:lpstr>PowerPoint 演示文稿</vt:lpstr>
      <vt:lpstr>    5.3  字符数组与字符串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5.4  数 组 和 函 数</vt:lpstr>
      <vt:lpstr>5.4.1  一维数组与函数 一维数组在函数间的传递</vt:lpstr>
      <vt:lpstr>一维数组地址传递程序举例</vt:lpstr>
      <vt:lpstr>5.4.2  二维数组与函数 二维数组在函数间的传递</vt:lpstr>
      <vt:lpstr>5.4.3  字符数组与函数 字符数组地址传递举例</vt:lpstr>
      <vt:lpstr>总结：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燕敏 陈</cp:lastModifiedBy>
  <cp:revision>348</cp:revision>
  <dcterms:created xsi:type="dcterms:W3CDTF">2022-07-08T03:32:00Z</dcterms:created>
  <dcterms:modified xsi:type="dcterms:W3CDTF">2025-09-03T15:11:38Z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