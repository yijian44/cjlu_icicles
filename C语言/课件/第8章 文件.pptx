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ags/tag1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42" r:id="rId1"/>
    <p:sldMasterId id="2147483755" r:id="rId2"/>
  </p:sldMasterIdLst>
  <p:notesMasterIdLst>
    <p:notesMasterId r:id="rId22"/>
  </p:notesMasterIdLst>
  <p:sldIdLst>
    <p:sldId id="299" r:id="rId3"/>
    <p:sldId id="308" r:id="rId4"/>
    <p:sldId id="321" r:id="rId5"/>
    <p:sldId id="320" r:id="rId6"/>
    <p:sldId id="325" r:id="rId7"/>
    <p:sldId id="311" r:id="rId8"/>
    <p:sldId id="309" r:id="rId9"/>
    <p:sldId id="310" r:id="rId10"/>
    <p:sldId id="312" r:id="rId11"/>
    <p:sldId id="313" r:id="rId12"/>
    <p:sldId id="324" r:id="rId13"/>
    <p:sldId id="314" r:id="rId14"/>
    <p:sldId id="315" r:id="rId15"/>
    <p:sldId id="316" r:id="rId16"/>
    <p:sldId id="317" r:id="rId17"/>
    <p:sldId id="319" r:id="rId18"/>
    <p:sldId id="318" r:id="rId19"/>
    <p:sldId id="326" r:id="rId20"/>
    <p:sldId id="269" r:id="rId21"/>
  </p:sldIdLst>
  <p:sldSz cx="12192000" cy="6858000"/>
  <p:notesSz cx="6858000" cy="9144000"/>
  <p:custDataLst>
    <p:tags r:id="rId23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幸全" initials="幸全" lastIdx="1" clrIdx="0"/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4A5BF"/>
    <a:srgbClr val="EB27C6"/>
    <a:srgbClr val="DEDE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DBED569-4797-4DF1-A0F4-6AAB3CD982D8}" styleName="浅色样式 3 - 强调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67" d="100"/>
          <a:sy n="67" d="100"/>
        </p:scale>
        <p:origin x="72" y="1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commentAuthors" Target="commentAuthor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gs" Target="tags/tag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538048-F63A-4A4D-9D00-3E4A08633E52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2E95F0-DD99-4637-B6CC-2CB7A5EF22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9832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同学，你好！欢迎同学们选修《麻醉学进展》这门课程。我是主讲老师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，来自浙江大学医学院附属第二医院麻醉手术部。首先我将讲述一下麻醉学概述中的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麻醉学的起源和发展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8C8E83-7467-4844-86B0-1E72CB4E1334}" type="slidenum">
              <a:rPr lang="zh-CN" altLang="en-US" smtClean="0">
                <a:solidFill>
                  <a:prstClr val="black"/>
                </a:solidFill>
              </a:rPr>
              <a:pPr/>
              <a:t>1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6476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10" Type="http://schemas.openxmlformats.org/officeDocument/2006/relationships/image" Target="../media/image6.png"/><Relationship Id="rId4" Type="http://schemas.openxmlformats.org/officeDocument/2006/relationships/tags" Target="../tags/tag5.xml"/><Relationship Id="rId9" Type="http://schemas.openxmlformats.org/officeDocument/2006/relationships/image" Target="../media/image5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5" Type="http://schemas.openxmlformats.org/officeDocument/2006/relationships/image" Target="../media/image7.png"/><Relationship Id="rId4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82762"/>
            <a:ext cx="10222992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5000"/>
              </a:lnSpc>
              <a:defRPr sz="7200" b="1" cap="none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000" b="1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17889-7F4F-4468-9749-CDB7CA8FB84F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2025/9/3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 b="1"/>
            </a:lvl1pPr>
          </a:lstStyle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6840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2025/9/3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7710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5000"/>
              </a:lnSpc>
              <a:defRPr sz="7200" b="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 b="1">
                <a:solidFill>
                  <a:schemeClr val="accent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>
            <a:lvl1pPr>
              <a:defRPr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BF51D89D-949D-4764-9E92-6A4C0240D476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>
            <a:lvl1pPr>
              <a:defRPr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9672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2025/9/3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2501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2025/9/3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41333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97422-9D7F-4A51-B3C7-4F59D04F0F49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4331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337CD-AE36-4315-98EF-9C53C5C4206E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7389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2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9B90F-2915-430D-A93A-745C87197AEF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82500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2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fld id="{9EFD9D74-47D9-4702-A33C-335B63B48DBF}" type="datetimeFigureOut">
              <a:rPr lang="zh-CN" altLang="en-US" smtClean="0"/>
              <a:t>2025/9/3</a:t>
            </a:fld>
            <a:endParaRPr lang="zh-CN" alt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3944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4AEEF-2762-45C6-B123-D04A8CE9603D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53838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F4548-D02D-4C05-86FF-41D48D9AAF9C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2532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2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0436061" y="-10801"/>
            <a:ext cx="1753527" cy="1753527"/>
          </a:xfrm>
          <a:prstGeom prst="rect">
            <a:avLst/>
          </a:prstGeom>
        </p:spPr>
      </p:pic>
      <p:pic>
        <p:nvPicPr>
          <p:cNvPr id="6" name="图片 5" descr="图片2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0" y="5104461"/>
            <a:ext cx="1753527" cy="175352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2025/9/3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7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6195034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2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1471910" y="6137910"/>
            <a:ext cx="720090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30" y="443234"/>
            <a:ext cx="10852237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38925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9EFD9D74-47D9-4702-A33C-335B63B48DBF}" type="datetimeFigureOut">
              <a:rPr lang="zh-CN" altLang="en-US" smtClean="0"/>
              <a:t>2025/9/3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图片2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1471910" y="6137910"/>
            <a:ext cx="720090" cy="72009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2025/9/3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17889-7F4F-4468-9749-CDB7CA8FB84F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2025/9/3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07309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2025/9/3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 descr="图片25">
            <a:extLst>
              <a:ext uri="{FF2B5EF4-FFF2-40B4-BE49-F238E27FC236}">
                <a16:creationId xmlns:a16="http://schemas.microsoft.com/office/drawing/2014/main" id="{2E24335B-A487-A6E2-A69A-D12C4C41DEB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1471910" y="6137910"/>
            <a:ext cx="720090" cy="720090"/>
          </a:xfrm>
          <a:prstGeom prst="rect">
            <a:avLst/>
          </a:prstGeom>
        </p:spPr>
      </p:pic>
      <p:pic>
        <p:nvPicPr>
          <p:cNvPr id="8" name="图片 7" descr="图片25">
            <a:extLst>
              <a:ext uri="{FF2B5EF4-FFF2-40B4-BE49-F238E27FC236}">
                <a16:creationId xmlns:a16="http://schemas.microsoft.com/office/drawing/2014/main" id="{FC8F4595-B6A7-7948-83DA-4754F4492B3E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1471910" y="6137910"/>
            <a:ext cx="720090" cy="720090"/>
          </a:xfrm>
          <a:prstGeom prst="rect">
            <a:avLst/>
          </a:prstGeom>
        </p:spPr>
      </p:pic>
      <p:pic>
        <p:nvPicPr>
          <p:cNvPr id="9" name="图片 8" descr="图片25">
            <a:extLst>
              <a:ext uri="{FF2B5EF4-FFF2-40B4-BE49-F238E27FC236}">
                <a16:creationId xmlns:a16="http://schemas.microsoft.com/office/drawing/2014/main" id="{CCD42075-A684-354A-B61A-0D1D2E75F61A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1471910" y="6137910"/>
            <a:ext cx="720090" cy="720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8772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846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571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1D89D-949D-4764-9E92-6A4C0240D476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47714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2025/9/3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834519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3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3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2025/9/3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5207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97422-9D7F-4A51-B3C7-4F59D04F0F49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227740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337CD-AE36-4315-98EF-9C53C5C4206E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04122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533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9B90F-2915-430D-A93A-745C87197AEF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652307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533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2025/9/3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78056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4AEEF-2762-45C6-B123-D04A8CE9603D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540014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3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F4548-D02D-4C05-86FF-41D48D9AAF9C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9839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tags" Target="../tags/tag11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tags" Target="../tags/tag13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tags" Target="../tags/tag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2025/9/3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6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7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67065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44" r:id="rId2"/>
    <p:sldLayoutId id="2147483745" r:id="rId3"/>
    <p:sldLayoutId id="2147483746" r:id="rId4"/>
    <p:sldLayoutId id="2147483747" r:id="rId5"/>
    <p:sldLayoutId id="2147483748" r:id="rId6"/>
    <p:sldLayoutId id="2147483749" r:id="rId7"/>
    <p:sldLayoutId id="2147483750" r:id="rId8"/>
    <p:sldLayoutId id="2147483751" r:id="rId9"/>
    <p:sldLayoutId id="2147483752" r:id="rId10"/>
    <p:sldLayoutId id="2147483753" r:id="rId11"/>
    <p:sldLayoutId id="2147483754" r:id="rId12"/>
    <p:sldLayoutId id="2147483655" r:id="rId13"/>
    <p:sldLayoutId id="2147483656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 cap="none" baseline="0">
          <a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2"/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2"/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2"/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2"/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2"/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2"/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2"/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2"/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2"/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45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2025/9/3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45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45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>
            <a:extLst>
              <a:ext uri="{FF2B5EF4-FFF2-40B4-BE49-F238E27FC236}">
                <a16:creationId xmlns:a16="http://schemas.microsoft.com/office/drawing/2014/main" id="{B41828C1-CFF6-41F5-34D2-12806C482A29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8" name="KSO_TEMPLATE" hidden="1">
            <a:extLst>
              <a:ext uri="{FF2B5EF4-FFF2-40B4-BE49-F238E27FC236}">
                <a16:creationId xmlns:a16="http://schemas.microsoft.com/office/drawing/2014/main" id="{4FC198B4-0223-FD15-985E-D32759C4E21A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9" name="KSO_TEMPLATE" hidden="1">
            <a:extLst>
              <a:ext uri="{FF2B5EF4-FFF2-40B4-BE49-F238E27FC236}">
                <a16:creationId xmlns:a16="http://schemas.microsoft.com/office/drawing/2014/main" id="{B065944D-CE02-E2E3-E817-8521AA3FBF26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1768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60" r:id="rId5"/>
    <p:sldLayoutId id="2147483761" r:id="rId6"/>
    <p:sldLayoutId id="2147483762" r:id="rId7"/>
    <p:sldLayoutId id="2147483763" r:id="rId8"/>
    <p:sldLayoutId id="2147483764" r:id="rId9"/>
    <p:sldLayoutId id="2147483765" r:id="rId10"/>
    <p:sldLayoutId id="214748376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5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436914" y="1389743"/>
            <a:ext cx="9144000" cy="2387600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章     文    件</a:t>
            </a:r>
          </a:p>
        </p:txBody>
      </p:sp>
    </p:spTree>
    <p:extLst>
      <p:ext uri="{BB962C8B-B14F-4D97-AF65-F5344CB8AC3E}">
        <p14:creationId xmlns:p14="http://schemas.microsoft.com/office/powerpoint/2010/main" val="633708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439564" y="1693820"/>
            <a:ext cx="8470555" cy="31582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400" b="1" dirty="0">
                <a:latin typeface="+mn-ea"/>
              </a:rPr>
              <a:t>文件</a:t>
            </a:r>
            <a:endParaRPr lang="en-US" altLang="zh-CN" sz="2400" b="1" dirty="0">
              <a:latin typeface="+mn-ea"/>
            </a:endParaRPr>
          </a:p>
          <a:p>
            <a:pPr marL="0" indent="0">
              <a:buNone/>
            </a:pPr>
            <a:r>
              <a:rPr lang="zh-CN" altLang="en-US" sz="2400" dirty="0">
                <a:latin typeface="+mn-ea"/>
              </a:rPr>
              <a:t>存储在外部介质上数据的集合，是操作系统数据管理的单位。</a:t>
            </a:r>
            <a:endParaRPr lang="en-US" altLang="zh-CN" sz="2400" dirty="0">
              <a:latin typeface="+mn-ea"/>
            </a:endParaRPr>
          </a:p>
          <a:p>
            <a:pPr marL="0" indent="0">
              <a:buNone/>
            </a:pPr>
            <a:endParaRPr lang="en-US" altLang="zh-CN" sz="2400" dirty="0">
              <a:latin typeface="+mn-ea"/>
            </a:endParaRPr>
          </a:p>
          <a:p>
            <a:pPr marL="0" indent="0">
              <a:buNone/>
            </a:pPr>
            <a:r>
              <a:rPr lang="zh-CN" altLang="en-US" sz="2400" b="1" dirty="0">
                <a:latin typeface="+mn-ea"/>
              </a:rPr>
              <a:t>使用文件的目的</a:t>
            </a:r>
            <a:endParaRPr lang="en-US" altLang="zh-CN" sz="2400" b="1" dirty="0">
              <a:latin typeface="+mn-ea"/>
            </a:endParaRPr>
          </a:p>
          <a:p>
            <a:pPr marL="0" indent="0">
              <a:buNone/>
            </a:pPr>
            <a:r>
              <a:rPr lang="zh-CN" altLang="en-US" sz="2400" dirty="0">
                <a:latin typeface="+mn-ea"/>
              </a:rPr>
              <a:t>程序与数据分离，数据共享，数据的长期保存。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5260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C语言程序设计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图片 5" descr="未标题-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0695" y="600710"/>
            <a:ext cx="5625465" cy="120904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3168650" y="803275"/>
            <a:ext cx="5991826" cy="4641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3600" dirty="0">
                <a:solidFill>
                  <a:prstClr val="white"/>
                </a:solidFill>
                <a:latin typeface="锐字潮牌真言简2.0免费 大粗" panose="02020300000000000000" charset="-122"/>
                <a:ea typeface="锐字潮牌真言简2.0免费 大粗" panose="02020300000000000000" charset="-122"/>
                <a:cs typeface="锐字潮牌真言简2.0免费 大粗" panose="02020300000000000000" charset="-122"/>
              </a:rPr>
              <a:t>文本文件读写实例</a:t>
            </a:r>
          </a:p>
        </p:txBody>
      </p:sp>
      <p:pic>
        <p:nvPicPr>
          <p:cNvPr id="7" name="图片 6" descr="未标1题-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345" y="1618615"/>
            <a:ext cx="802640" cy="600075"/>
          </a:xfrm>
          <a:prstGeom prst="rect">
            <a:avLst/>
          </a:prstGeom>
        </p:spPr>
      </p:pic>
      <p:sp>
        <p:nvSpPr>
          <p:cNvPr id="8" name="内容占位符 2"/>
          <p:cNvSpPr txBox="1">
            <a:spLocks/>
          </p:cNvSpPr>
          <p:nvPr/>
        </p:nvSpPr>
        <p:spPr>
          <a:xfrm>
            <a:off x="1243584" y="1618615"/>
            <a:ext cx="10643616" cy="4722494"/>
          </a:xfrm>
          <a:prstGeom prst="rect">
            <a:avLst/>
          </a:prstGeom>
        </p:spPr>
        <p:txBody>
          <a:bodyPr vert="horz" wrap="square" lIns="90170" tIns="46990" rIns="90170" bIns="46990" rtlCol="0">
            <a:normAutofit fontScale="25000" lnSpcReduction="20000"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3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3200" b="1" i="0" u="none" strike="noStrike" kern="1200" cap="none" spc="150" normalizeH="0" baseline="0" noProof="1" dirty="0">
                <a:solidFill>
                  <a:schemeClr val="accent2">
                    <a:lumMod val="50000"/>
                  </a:schemeClr>
                </a:solidFill>
                <a:uFillTx/>
                <a:latin typeface="楷体" panose="02010609060101010101" charset="-122"/>
                <a:ea typeface="楷体" panose="0201060906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  <a:defRPr/>
            </a:pPr>
            <a:r>
              <a:rPr lang="zh-CN" altLang="en-US" sz="9600" dirty="0">
                <a:solidFill>
                  <a:srgbClr val="000000"/>
                </a:solidFill>
              </a:rPr>
              <a:t>从键盘输入成绩存入文件，再从文件读出显示</a:t>
            </a:r>
            <a:r>
              <a:rPr sz="9600" dirty="0">
                <a:solidFill>
                  <a:srgbClr val="000000"/>
                </a:solidFill>
              </a:rPr>
              <a:t>。 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altLang="zh-CN" sz="5600" dirty="0">
                <a:latin typeface="Times New Roman" panose="02020603050405020304" pitchFamily="18" charset="0"/>
              </a:rPr>
              <a:t>#include&lt;stdio.h&gt;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altLang="zh-CN" sz="5600" dirty="0">
                <a:latin typeface="Times New Roman" panose="02020603050405020304" pitchFamily="18" charset="0"/>
              </a:rPr>
              <a:t>#include&lt;stdlib.h&gt;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altLang="zh-CN" sz="5600" dirty="0">
                <a:latin typeface="Times New Roman" panose="02020603050405020304" pitchFamily="18" charset="0"/>
              </a:rPr>
              <a:t>#include&lt;string.h&gt; 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altLang="zh-CN" sz="5600" dirty="0">
                <a:latin typeface="Times New Roman" panose="02020603050405020304" pitchFamily="18" charset="0"/>
              </a:rPr>
              <a:t>int main(void){  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altLang="zh-CN" sz="5600" dirty="0">
                <a:latin typeface="Times New Roman" panose="02020603050405020304" pitchFamily="18" charset="0"/>
              </a:rPr>
              <a:t>    FILE  *</a:t>
            </a:r>
            <a:r>
              <a:rPr lang="en-US" altLang="zh-CN" sz="5600" dirty="0" err="1">
                <a:latin typeface="Times New Roman" panose="02020603050405020304" pitchFamily="18" charset="0"/>
              </a:rPr>
              <a:t>fp</a:t>
            </a:r>
            <a:r>
              <a:rPr lang="en-US" altLang="zh-CN" sz="5600" dirty="0">
                <a:latin typeface="Times New Roman" panose="02020603050405020304" pitchFamily="18" charset="0"/>
              </a:rPr>
              <a:t>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altLang="zh-CN" sz="5600" dirty="0">
                <a:latin typeface="Times New Roman" panose="02020603050405020304" pitchFamily="18" charset="0"/>
              </a:rPr>
              <a:t>    char  string[100];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altLang="zh-CN" sz="5600" dirty="0">
                <a:latin typeface="Times New Roman" panose="02020603050405020304" pitchFamily="18" charset="0"/>
              </a:rPr>
              <a:t>    if((</a:t>
            </a:r>
            <a:r>
              <a:rPr lang="en-US" altLang="zh-CN" sz="5600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fp</a:t>
            </a:r>
            <a:r>
              <a:rPr lang="en-US" altLang="zh-CN" sz="5600" dirty="0">
                <a:solidFill>
                  <a:srgbClr val="0000FF"/>
                </a:solidFill>
                <a:latin typeface="Times New Roman" panose="02020603050405020304" pitchFamily="18" charset="0"/>
              </a:rPr>
              <a:t> = </a:t>
            </a:r>
            <a:r>
              <a:rPr lang="en-US" altLang="zh-CN" sz="5600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fopen</a:t>
            </a:r>
            <a:r>
              <a:rPr lang="en-US" altLang="zh-CN" sz="5600" dirty="0">
                <a:solidFill>
                  <a:srgbClr val="0000FF"/>
                </a:solidFill>
                <a:latin typeface="Times New Roman" panose="02020603050405020304" pitchFamily="18" charset="0"/>
              </a:rPr>
              <a:t>("file1.txt","w")) == NULL</a:t>
            </a:r>
            <a:r>
              <a:rPr lang="en-US" altLang="zh-CN" sz="5600" dirty="0">
                <a:latin typeface="Times New Roman" panose="02020603050405020304" pitchFamily="18" charset="0"/>
              </a:rPr>
              <a:t>){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altLang="zh-CN" sz="5600" dirty="0">
                <a:latin typeface="Times New Roman" panose="02020603050405020304" pitchFamily="18" charset="0"/>
              </a:rPr>
              <a:t>          </a:t>
            </a:r>
            <a:r>
              <a:rPr lang="en-US" altLang="zh-CN" sz="5600" dirty="0" err="1">
                <a:latin typeface="Times New Roman" panose="02020603050405020304" pitchFamily="18" charset="0"/>
              </a:rPr>
              <a:t>printf</a:t>
            </a:r>
            <a:r>
              <a:rPr lang="en-US" altLang="zh-CN" sz="5600" dirty="0">
                <a:latin typeface="Times New Roman" panose="02020603050405020304" pitchFamily="18" charset="0"/>
              </a:rPr>
              <a:t>("</a:t>
            </a:r>
            <a:r>
              <a:rPr lang="en-US" altLang="zh-CN" sz="5600" dirty="0" err="1">
                <a:latin typeface="Times New Roman" panose="02020603050405020304" pitchFamily="18" charset="0"/>
              </a:rPr>
              <a:t>cann't</a:t>
            </a:r>
            <a:r>
              <a:rPr lang="en-US" altLang="zh-CN" sz="5600" dirty="0">
                <a:latin typeface="Times New Roman" panose="02020603050405020304" pitchFamily="18" charset="0"/>
              </a:rPr>
              <a:t> open file");exit(0); 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altLang="zh-CN" sz="5600" dirty="0">
                <a:latin typeface="Times New Roman" panose="02020603050405020304" pitchFamily="18" charset="0"/>
              </a:rPr>
              <a:t>    }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altLang="zh-CN" sz="5600" dirty="0">
                <a:latin typeface="Times New Roman" panose="02020603050405020304" pitchFamily="18" charset="0"/>
              </a:rPr>
              <a:t>    while(</a:t>
            </a:r>
            <a:r>
              <a:rPr lang="en-US" altLang="zh-CN" sz="5600" dirty="0" err="1">
                <a:latin typeface="Times New Roman" panose="02020603050405020304" pitchFamily="18" charset="0"/>
              </a:rPr>
              <a:t>strlen</a:t>
            </a:r>
            <a:r>
              <a:rPr lang="en-US" altLang="zh-CN" sz="5600" dirty="0">
                <a:latin typeface="Times New Roman" panose="02020603050405020304" pitchFamily="18" charset="0"/>
              </a:rPr>
              <a:t>(gets(string)) &gt; 0){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altLang="zh-CN" sz="5600" dirty="0">
                <a:latin typeface="Times New Roman" panose="02020603050405020304" pitchFamily="18" charset="0"/>
              </a:rPr>
              <a:t>          </a:t>
            </a:r>
            <a:r>
              <a:rPr lang="en-US" altLang="zh-CN" sz="56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fputs</a:t>
            </a:r>
            <a:r>
              <a:rPr lang="en-US" altLang="zh-CN" sz="5600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56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string,fp</a:t>
            </a:r>
            <a:r>
              <a:rPr lang="en-US" altLang="zh-CN" sz="5600" dirty="0">
                <a:solidFill>
                  <a:srgbClr val="FF0000"/>
                </a:solidFill>
                <a:latin typeface="Times New Roman" panose="02020603050405020304" pitchFamily="18" charset="0"/>
              </a:rPr>
              <a:t>);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altLang="zh-CN" sz="5600" dirty="0">
                <a:latin typeface="Times New Roman" panose="02020603050405020304" pitchFamily="18" charset="0"/>
              </a:rPr>
              <a:t>          </a:t>
            </a:r>
            <a:r>
              <a:rPr lang="en-US" altLang="zh-CN" sz="56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fputs</a:t>
            </a:r>
            <a:r>
              <a:rPr lang="en-US" altLang="zh-CN" sz="5600" dirty="0">
                <a:solidFill>
                  <a:srgbClr val="FF0000"/>
                </a:solidFill>
                <a:latin typeface="Times New Roman" panose="02020603050405020304" pitchFamily="18" charset="0"/>
              </a:rPr>
              <a:t>("\n",</a:t>
            </a:r>
            <a:r>
              <a:rPr lang="en-US" altLang="zh-CN" sz="56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fp</a:t>
            </a:r>
            <a:r>
              <a:rPr lang="en-US" altLang="zh-CN" sz="5600" dirty="0">
                <a:solidFill>
                  <a:srgbClr val="FF0000"/>
                </a:solidFill>
                <a:latin typeface="Times New Roman" panose="02020603050405020304" pitchFamily="18" charset="0"/>
              </a:rPr>
              <a:t>);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altLang="zh-CN" sz="5600" dirty="0">
                <a:latin typeface="Times New Roman" panose="02020603050405020304" pitchFamily="18" charset="0"/>
              </a:rPr>
              <a:t>    }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altLang="zh-CN" sz="5600" dirty="0">
                <a:latin typeface="Times New Roman" panose="02020603050405020304" pitchFamily="18" charset="0"/>
              </a:rPr>
              <a:t>    </a:t>
            </a:r>
            <a:r>
              <a:rPr lang="en-US" altLang="zh-CN" sz="5600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fclose</a:t>
            </a:r>
            <a:r>
              <a:rPr lang="en-US" altLang="zh-CN" sz="5600" dirty="0">
                <a:solidFill>
                  <a:srgbClr val="0000FF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5600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fp</a:t>
            </a:r>
            <a:r>
              <a:rPr lang="en-US" altLang="zh-CN" sz="5600" dirty="0">
                <a:solidFill>
                  <a:srgbClr val="0000FF"/>
                </a:solidFill>
                <a:latin typeface="Times New Roman" panose="02020603050405020304" pitchFamily="18" charset="0"/>
              </a:rPr>
              <a:t>);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altLang="zh-CN" sz="5600" dirty="0">
                <a:latin typeface="Times New Roman" panose="02020603050405020304" pitchFamily="18" charset="0"/>
              </a:rPr>
              <a:t>    if((</a:t>
            </a:r>
            <a:r>
              <a:rPr lang="en-US" altLang="zh-CN" sz="5600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fp</a:t>
            </a:r>
            <a:r>
              <a:rPr lang="en-US" altLang="zh-CN" sz="5600" dirty="0">
                <a:solidFill>
                  <a:srgbClr val="0000FF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sz="5600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fopen</a:t>
            </a:r>
            <a:r>
              <a:rPr lang="en-US" altLang="zh-CN" sz="5600" dirty="0">
                <a:solidFill>
                  <a:srgbClr val="0000FF"/>
                </a:solidFill>
                <a:latin typeface="Times New Roman" panose="02020603050405020304" pitchFamily="18" charset="0"/>
              </a:rPr>
              <a:t>("file1.txt","r")) == NULL</a:t>
            </a:r>
            <a:r>
              <a:rPr lang="en-US" altLang="zh-CN" sz="5600" dirty="0">
                <a:latin typeface="Times New Roman" panose="02020603050405020304" pitchFamily="18" charset="0"/>
              </a:rPr>
              <a:t>){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altLang="zh-CN" sz="5600" dirty="0">
                <a:latin typeface="Times New Roman" panose="02020603050405020304" pitchFamily="18" charset="0"/>
              </a:rPr>
              <a:t>          </a:t>
            </a:r>
            <a:r>
              <a:rPr lang="en-US" altLang="zh-CN" sz="5600" dirty="0" err="1">
                <a:latin typeface="Times New Roman" panose="02020603050405020304" pitchFamily="18" charset="0"/>
              </a:rPr>
              <a:t>printf</a:t>
            </a:r>
            <a:r>
              <a:rPr lang="en-US" altLang="zh-CN" sz="5600" dirty="0">
                <a:latin typeface="Times New Roman" panose="02020603050405020304" pitchFamily="18" charset="0"/>
              </a:rPr>
              <a:t>("</a:t>
            </a:r>
            <a:r>
              <a:rPr lang="en-US" altLang="zh-CN" sz="5600" dirty="0" err="1">
                <a:latin typeface="Times New Roman" panose="02020603050405020304" pitchFamily="18" charset="0"/>
              </a:rPr>
              <a:t>cann't</a:t>
            </a:r>
            <a:r>
              <a:rPr lang="en-US" altLang="zh-CN" sz="5600" dirty="0">
                <a:latin typeface="Times New Roman" panose="02020603050405020304" pitchFamily="18" charset="0"/>
              </a:rPr>
              <a:t> open file");exit(0);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altLang="zh-CN" sz="5600" dirty="0">
                <a:latin typeface="Times New Roman" panose="02020603050405020304" pitchFamily="18" charset="0"/>
              </a:rPr>
              <a:t>    }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altLang="zh-CN" sz="5600" dirty="0">
                <a:latin typeface="Times New Roman" panose="02020603050405020304" pitchFamily="18" charset="0"/>
              </a:rPr>
              <a:t>    while(</a:t>
            </a:r>
            <a:r>
              <a:rPr lang="en-US" altLang="zh-CN" sz="5600" dirty="0" err="1">
                <a:solidFill>
                  <a:srgbClr val="CC6600"/>
                </a:solidFill>
                <a:latin typeface="Times New Roman" panose="02020603050405020304" pitchFamily="18" charset="0"/>
              </a:rPr>
              <a:t>fgets</a:t>
            </a:r>
            <a:r>
              <a:rPr lang="en-US" altLang="zh-CN" sz="5600" dirty="0">
                <a:solidFill>
                  <a:srgbClr val="CC6600"/>
                </a:solidFill>
                <a:latin typeface="Times New Roman" panose="02020603050405020304" pitchFamily="18" charset="0"/>
              </a:rPr>
              <a:t>(string,100,fp) != NULL)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altLang="zh-CN" sz="5600" dirty="0">
                <a:solidFill>
                  <a:srgbClr val="CC6600"/>
                </a:solidFill>
                <a:latin typeface="Times New Roman" panose="02020603050405020304" pitchFamily="18" charset="0"/>
              </a:rPr>
              <a:t>          </a:t>
            </a:r>
            <a:r>
              <a:rPr lang="en-US" altLang="zh-CN" sz="5600" dirty="0" err="1">
                <a:solidFill>
                  <a:srgbClr val="CC6600"/>
                </a:solidFill>
                <a:latin typeface="Times New Roman" panose="02020603050405020304" pitchFamily="18" charset="0"/>
              </a:rPr>
              <a:t>fputs</a:t>
            </a:r>
            <a:r>
              <a:rPr lang="en-US" altLang="zh-CN" sz="5600" dirty="0">
                <a:solidFill>
                  <a:srgbClr val="CC66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5600" dirty="0" err="1">
                <a:solidFill>
                  <a:srgbClr val="CC6600"/>
                </a:solidFill>
                <a:latin typeface="Times New Roman" panose="02020603050405020304" pitchFamily="18" charset="0"/>
              </a:rPr>
              <a:t>string,stdout</a:t>
            </a:r>
            <a:r>
              <a:rPr lang="en-US" altLang="zh-CN" sz="5600" dirty="0">
                <a:solidFill>
                  <a:srgbClr val="CC6600"/>
                </a:solidFill>
                <a:latin typeface="Times New Roman" panose="02020603050405020304" pitchFamily="18" charset="0"/>
              </a:rPr>
              <a:t>);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altLang="zh-CN" sz="5600" dirty="0">
                <a:solidFill>
                  <a:srgbClr val="0000FF"/>
                </a:solidFill>
                <a:latin typeface="Times New Roman" panose="02020603050405020304" pitchFamily="18" charset="0"/>
              </a:rPr>
              <a:t>    </a:t>
            </a:r>
            <a:r>
              <a:rPr lang="en-US" altLang="zh-CN" sz="5600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fclose</a:t>
            </a:r>
            <a:r>
              <a:rPr lang="en-US" altLang="zh-CN" sz="5600" dirty="0">
                <a:solidFill>
                  <a:srgbClr val="0000FF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5600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fp</a:t>
            </a:r>
            <a:r>
              <a:rPr lang="en-US" altLang="zh-CN" sz="5600" dirty="0">
                <a:solidFill>
                  <a:srgbClr val="0000FF"/>
                </a:solidFill>
                <a:latin typeface="Times New Roman" panose="02020603050405020304" pitchFamily="18" charset="0"/>
              </a:rPr>
              <a:t>);</a:t>
            </a:r>
            <a:endParaRPr lang="en-US" altLang="zh-CN" sz="5600" dirty="0">
              <a:latin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altLang="zh-CN" sz="5600" dirty="0">
                <a:latin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355542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57C7CDF-77DC-48D4-9F19-E8313FA133D1}"/>
              </a:ext>
            </a:extLst>
          </p:cNvPr>
          <p:cNvSpPr txBox="1"/>
          <p:nvPr/>
        </p:nvSpPr>
        <p:spPr>
          <a:xfrm>
            <a:off x="991673" y="373487"/>
            <a:ext cx="44560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第</a:t>
            </a:r>
            <a:r>
              <a:rPr lang="en-US" altLang="zh-CN" sz="2800" dirty="0"/>
              <a:t>8</a:t>
            </a:r>
            <a:r>
              <a:rPr lang="zh-CN" altLang="en-US" sz="2800" dirty="0"/>
              <a:t>章文件 内容导图</a:t>
            </a:r>
            <a:endParaRPr lang="en-US" sz="28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51B811F-4E2B-E8E0-FBAB-F17239D31E2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2549" y="1473835"/>
            <a:ext cx="6878954" cy="4174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7677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82617A-342F-4A5B-AA1D-365531D62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4281" y="1163750"/>
            <a:ext cx="6229526" cy="3520440"/>
          </a:xfrm>
        </p:spPr>
        <p:txBody>
          <a:bodyPr/>
          <a:lstStyle/>
          <a:p>
            <a:r>
              <a:rPr lang="en-US" dirty="0"/>
              <a:t>8.1 </a:t>
            </a:r>
            <a:r>
              <a:rPr lang="zh-CN" altLang="en-US" dirty="0"/>
              <a:t>文件概述</a:t>
            </a:r>
            <a:endParaRPr 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A3D8B90-16D2-460F-B558-68E04661EF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1313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文本文件和二进制文件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400" dirty="0"/>
              <a:t>文本文件：字符编码文件 ，顺序存取方式</a:t>
            </a: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/>
              <a:t>二进制文件：值编码文件，随机存取方式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23" name="Group 2"/>
          <p:cNvGrpSpPr>
            <a:grpSpLocks/>
          </p:cNvGrpSpPr>
          <p:nvPr/>
        </p:nvGrpSpPr>
        <p:grpSpPr bwMode="auto">
          <a:xfrm>
            <a:off x="1085850" y="3231292"/>
            <a:ext cx="8896350" cy="2554288"/>
            <a:chOff x="0" y="219"/>
            <a:chExt cx="5604" cy="1609"/>
          </a:xfrm>
        </p:grpSpPr>
        <p:sp>
          <p:nvSpPr>
            <p:cNvPr id="24" name="Text Box 3"/>
            <p:cNvSpPr txBox="1">
              <a:spLocks noChangeArrowheads="1"/>
            </p:cNvSpPr>
            <p:nvPr/>
          </p:nvSpPr>
          <p:spPr bwMode="auto">
            <a:xfrm>
              <a:off x="683" y="219"/>
              <a:ext cx="132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2000">
                  <a:latin typeface="Times New Roman" panose="02020603050405020304" pitchFamily="18" charset="0"/>
                </a:rPr>
                <a:t>如：</a:t>
              </a:r>
              <a:r>
                <a:rPr lang="en-US" altLang="zh-CN" sz="2000">
                  <a:latin typeface="Times New Roman" panose="02020603050405020304" pitchFamily="18" charset="0"/>
                </a:rPr>
                <a:t>int</a:t>
              </a:r>
              <a:r>
                <a:rPr lang="zh-CN" altLang="zh-CN" sz="2000">
                  <a:latin typeface="Times New Roman" panose="02020603050405020304" pitchFamily="18" charset="0"/>
                </a:rPr>
                <a:t>型数10000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grpSp>
          <p:nvGrpSpPr>
            <p:cNvPr id="25" name="Group 4"/>
            <p:cNvGrpSpPr>
              <a:grpSpLocks/>
            </p:cNvGrpSpPr>
            <p:nvPr/>
          </p:nvGrpSpPr>
          <p:grpSpPr bwMode="auto">
            <a:xfrm>
              <a:off x="0" y="234"/>
              <a:ext cx="5604" cy="1594"/>
              <a:chOff x="0" y="234"/>
              <a:chExt cx="5604" cy="1594"/>
            </a:xfrm>
          </p:grpSpPr>
          <p:grpSp>
            <p:nvGrpSpPr>
              <p:cNvPr id="26" name="Group 5"/>
              <p:cNvGrpSpPr>
                <a:grpSpLocks/>
              </p:cNvGrpSpPr>
              <p:nvPr/>
            </p:nvGrpSpPr>
            <p:grpSpPr bwMode="auto">
              <a:xfrm>
                <a:off x="0" y="799"/>
                <a:ext cx="1855" cy="722"/>
                <a:chOff x="322" y="722"/>
                <a:chExt cx="1855" cy="722"/>
              </a:xfrm>
            </p:grpSpPr>
            <p:sp>
              <p:nvSpPr>
                <p:cNvPr id="40" name="Rectangle 6"/>
                <p:cNvSpPr>
                  <a:spLocks noChangeArrowheads="1"/>
                </p:cNvSpPr>
                <p:nvPr/>
              </p:nvSpPr>
              <p:spPr bwMode="auto">
                <a:xfrm>
                  <a:off x="822" y="722"/>
                  <a:ext cx="1355" cy="256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r>
                    <a:rPr lang="en-US" altLang="zh-CN" sz="2000">
                      <a:latin typeface="Times New Roman" panose="02020603050405020304" pitchFamily="18" charset="0"/>
                    </a:rPr>
                    <a:t>0010011100010000</a:t>
                  </a:r>
                </a:p>
              </p:txBody>
            </p:sp>
            <p:sp>
              <p:nvSpPr>
                <p:cNvPr id="41" name="Line 7"/>
                <p:cNvSpPr>
                  <a:spLocks noChangeShapeType="1"/>
                </p:cNvSpPr>
                <p:nvPr/>
              </p:nvSpPr>
              <p:spPr bwMode="auto">
                <a:xfrm>
                  <a:off x="1500" y="722"/>
                  <a:ext cx="0" cy="256"/>
                </a:xfrm>
                <a:prstGeom prst="line">
                  <a:avLst/>
                </a:prstGeom>
                <a:noFill/>
                <a:ln w="9525" cap="rnd">
                  <a:solidFill>
                    <a:schemeClr val="tx2"/>
                  </a:solidFill>
                  <a:prstDash val="sys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2" name="AutoShape 8"/>
                <p:cNvSpPr>
                  <a:spLocks noChangeArrowheads="1"/>
                </p:cNvSpPr>
                <p:nvPr/>
              </p:nvSpPr>
              <p:spPr bwMode="auto">
                <a:xfrm>
                  <a:off x="322" y="1133"/>
                  <a:ext cx="1067" cy="311"/>
                </a:xfrm>
                <a:prstGeom prst="wedgeEllipseCallout">
                  <a:avLst>
                    <a:gd name="adj1" fmla="val 60403"/>
                    <a:gd name="adj2" fmla="val -104986"/>
                  </a:avLst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/>
                  <a:r>
                    <a:rPr lang="zh-CN" altLang="en-US" sz="2000">
                      <a:latin typeface="Times New Roman" panose="02020603050405020304" pitchFamily="18" charset="0"/>
                    </a:rPr>
                    <a:t>内存存储形式</a:t>
                  </a:r>
                </a:p>
              </p:txBody>
            </p:sp>
          </p:grpSp>
          <p:grpSp>
            <p:nvGrpSpPr>
              <p:cNvPr id="27" name="Group 9"/>
              <p:cNvGrpSpPr>
                <a:grpSpLocks/>
              </p:cNvGrpSpPr>
              <p:nvPr/>
            </p:nvGrpSpPr>
            <p:grpSpPr bwMode="auto">
              <a:xfrm>
                <a:off x="2307" y="1029"/>
                <a:ext cx="1867" cy="799"/>
                <a:chOff x="2563" y="1074"/>
                <a:chExt cx="1867" cy="799"/>
              </a:xfrm>
            </p:grpSpPr>
            <p:sp>
              <p:nvSpPr>
                <p:cNvPr id="37" name="Rectangle 10"/>
                <p:cNvSpPr>
                  <a:spLocks noChangeArrowheads="1"/>
                </p:cNvSpPr>
                <p:nvPr/>
              </p:nvSpPr>
              <p:spPr bwMode="auto">
                <a:xfrm>
                  <a:off x="2563" y="1074"/>
                  <a:ext cx="1355" cy="256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r>
                    <a:rPr lang="en-US" altLang="zh-CN" sz="2000">
                      <a:latin typeface="Times New Roman" panose="02020603050405020304" pitchFamily="18" charset="0"/>
                    </a:rPr>
                    <a:t>0010011100010000</a:t>
                  </a:r>
                </a:p>
              </p:txBody>
            </p:sp>
            <p:sp>
              <p:nvSpPr>
                <p:cNvPr id="38" name="Line 11"/>
                <p:cNvSpPr>
                  <a:spLocks noChangeShapeType="1"/>
                </p:cNvSpPr>
                <p:nvPr/>
              </p:nvSpPr>
              <p:spPr bwMode="auto">
                <a:xfrm>
                  <a:off x="3245" y="1078"/>
                  <a:ext cx="0" cy="255"/>
                </a:xfrm>
                <a:prstGeom prst="line">
                  <a:avLst/>
                </a:prstGeom>
                <a:noFill/>
                <a:ln w="9525" cap="rnd">
                  <a:solidFill>
                    <a:schemeClr val="tx2"/>
                  </a:solidFill>
                  <a:prstDash val="sys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9" name="AutoShape 12"/>
                <p:cNvSpPr>
                  <a:spLocks noChangeArrowheads="1"/>
                </p:cNvSpPr>
                <p:nvPr/>
              </p:nvSpPr>
              <p:spPr bwMode="auto">
                <a:xfrm>
                  <a:off x="3363" y="1562"/>
                  <a:ext cx="1067" cy="311"/>
                </a:xfrm>
                <a:prstGeom prst="wedgeEllipseCallout">
                  <a:avLst>
                    <a:gd name="adj1" fmla="val -62463"/>
                    <a:gd name="adj2" fmla="val -126204"/>
                  </a:avLst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/>
                  <a:r>
                    <a:rPr lang="zh-CN" altLang="en-US" sz="2000">
                      <a:latin typeface="Times New Roman" panose="02020603050405020304" pitchFamily="18" charset="0"/>
                    </a:rPr>
                    <a:t>二进制形式</a:t>
                  </a:r>
                </a:p>
              </p:txBody>
            </p:sp>
          </p:grpSp>
          <p:grpSp>
            <p:nvGrpSpPr>
              <p:cNvPr id="28" name="Group 13"/>
              <p:cNvGrpSpPr>
                <a:grpSpLocks/>
              </p:cNvGrpSpPr>
              <p:nvPr/>
            </p:nvGrpSpPr>
            <p:grpSpPr bwMode="auto">
              <a:xfrm>
                <a:off x="2315" y="234"/>
                <a:ext cx="3289" cy="607"/>
                <a:chOff x="2471" y="367"/>
                <a:chExt cx="3289" cy="607"/>
              </a:xfrm>
            </p:grpSpPr>
            <p:sp>
              <p:nvSpPr>
                <p:cNvPr id="31" name="Rectangle 14"/>
                <p:cNvSpPr>
                  <a:spLocks noChangeArrowheads="1"/>
                </p:cNvSpPr>
                <p:nvPr/>
              </p:nvSpPr>
              <p:spPr bwMode="auto">
                <a:xfrm>
                  <a:off x="2471" y="708"/>
                  <a:ext cx="3289" cy="256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r>
                    <a:rPr lang="en-US" altLang="zh-CN" sz="2000">
                      <a:latin typeface="Times New Roman" panose="02020603050405020304" pitchFamily="18" charset="0"/>
                    </a:rPr>
                    <a:t>0011000100110000001100000011000000110000</a:t>
                  </a:r>
                </a:p>
              </p:txBody>
            </p:sp>
            <p:sp>
              <p:nvSpPr>
                <p:cNvPr id="32" name="Line 15"/>
                <p:cNvSpPr>
                  <a:spLocks noChangeShapeType="1"/>
                </p:cNvSpPr>
                <p:nvPr/>
              </p:nvSpPr>
              <p:spPr bwMode="auto">
                <a:xfrm>
                  <a:off x="3154" y="711"/>
                  <a:ext cx="0" cy="256"/>
                </a:xfrm>
                <a:prstGeom prst="line">
                  <a:avLst/>
                </a:prstGeom>
                <a:noFill/>
                <a:ln w="9525" cap="rnd">
                  <a:solidFill>
                    <a:schemeClr val="tx2"/>
                  </a:solidFill>
                  <a:prstDash val="sys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3" name="Line 16"/>
                <p:cNvSpPr>
                  <a:spLocks noChangeShapeType="1"/>
                </p:cNvSpPr>
                <p:nvPr/>
              </p:nvSpPr>
              <p:spPr bwMode="auto">
                <a:xfrm>
                  <a:off x="3806" y="718"/>
                  <a:ext cx="0" cy="256"/>
                </a:xfrm>
                <a:prstGeom prst="line">
                  <a:avLst/>
                </a:prstGeom>
                <a:noFill/>
                <a:ln w="9525" cap="rnd">
                  <a:solidFill>
                    <a:schemeClr val="tx2"/>
                  </a:solidFill>
                  <a:prstDash val="sys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4" name="Line 17"/>
                <p:cNvSpPr>
                  <a:spLocks noChangeShapeType="1"/>
                </p:cNvSpPr>
                <p:nvPr/>
              </p:nvSpPr>
              <p:spPr bwMode="auto">
                <a:xfrm>
                  <a:off x="4450" y="707"/>
                  <a:ext cx="0" cy="256"/>
                </a:xfrm>
                <a:prstGeom prst="line">
                  <a:avLst/>
                </a:prstGeom>
                <a:noFill/>
                <a:ln w="9525" cap="rnd">
                  <a:solidFill>
                    <a:schemeClr val="tx2"/>
                  </a:solidFill>
                  <a:prstDash val="sys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5" name="Line 18"/>
                <p:cNvSpPr>
                  <a:spLocks noChangeShapeType="1"/>
                </p:cNvSpPr>
                <p:nvPr/>
              </p:nvSpPr>
              <p:spPr bwMode="auto">
                <a:xfrm>
                  <a:off x="5072" y="717"/>
                  <a:ext cx="0" cy="256"/>
                </a:xfrm>
                <a:prstGeom prst="line">
                  <a:avLst/>
                </a:prstGeom>
                <a:noFill/>
                <a:ln w="9525" cap="rnd">
                  <a:solidFill>
                    <a:schemeClr val="tx2"/>
                  </a:solidFill>
                  <a:prstDash val="sys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6" name="AutoShape 19"/>
                <p:cNvSpPr>
                  <a:spLocks noChangeArrowheads="1"/>
                </p:cNvSpPr>
                <p:nvPr/>
              </p:nvSpPr>
              <p:spPr bwMode="auto">
                <a:xfrm>
                  <a:off x="4312" y="367"/>
                  <a:ext cx="1222" cy="277"/>
                </a:xfrm>
                <a:prstGeom prst="wedgeEllipseCallout">
                  <a:avLst>
                    <a:gd name="adj1" fmla="val -64731"/>
                    <a:gd name="adj2" fmla="val 73468"/>
                  </a:avLst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/>
                  <a:r>
                    <a:rPr lang="en-US" altLang="zh-CN" sz="2000">
                      <a:latin typeface="Times New Roman" panose="02020603050405020304" pitchFamily="18" charset="0"/>
                    </a:rPr>
                    <a:t>ASCII</a:t>
                  </a:r>
                  <a:r>
                    <a:rPr lang="zh-CN" altLang="zh-CN" sz="2000">
                      <a:latin typeface="Times New Roman" panose="02020603050405020304" pitchFamily="18" charset="0"/>
                    </a:rPr>
                    <a:t>形式</a:t>
                  </a:r>
                  <a:endParaRPr lang="zh-CN" altLang="en-US" sz="200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29" name="Line 20"/>
              <p:cNvSpPr>
                <a:spLocks noChangeShapeType="1"/>
              </p:cNvSpPr>
              <p:nvPr/>
            </p:nvSpPr>
            <p:spPr bwMode="auto">
              <a:xfrm flipV="1">
                <a:off x="1934" y="733"/>
                <a:ext cx="333" cy="20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" name="Line 21"/>
              <p:cNvSpPr>
                <a:spLocks noChangeShapeType="1"/>
              </p:cNvSpPr>
              <p:nvPr/>
            </p:nvSpPr>
            <p:spPr bwMode="auto">
              <a:xfrm>
                <a:off x="1934" y="933"/>
                <a:ext cx="333" cy="23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69475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</a:t>
            </a:r>
            <a:r>
              <a:rPr lang="zh-CN" altLang="en-US"/>
              <a:t>语言的文件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1" y="1825625"/>
            <a:ext cx="4055076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dirty="0"/>
              <a:t>C</a:t>
            </a:r>
            <a:r>
              <a:rPr lang="zh-CN" altLang="en-US" sz="2400" dirty="0"/>
              <a:t>语言的文件是一个流式文件字节流或二进制流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7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9188221"/>
              </p:ext>
            </p:extLst>
          </p:nvPr>
        </p:nvGraphicFramePr>
        <p:xfrm>
          <a:off x="5450701" y="1922391"/>
          <a:ext cx="2721233" cy="347472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27212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2400" b="0"/>
                        <a:t>字节</a:t>
                      </a:r>
                      <a:r>
                        <a:rPr lang="en-US" altLang="zh-CN" sz="2400" b="0"/>
                        <a:t>1</a:t>
                      </a:r>
                      <a:endParaRPr lang="zh-CN" altLang="en-US" sz="2400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2400"/>
                        <a:t>字节</a:t>
                      </a:r>
                      <a:r>
                        <a:rPr lang="en-US" altLang="zh-CN" sz="2400"/>
                        <a:t>2</a:t>
                      </a:r>
                      <a:endParaRPr lang="zh-CN" alt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2400"/>
                        <a:t>字节</a:t>
                      </a:r>
                      <a:r>
                        <a:rPr lang="en-US" altLang="zh-CN" sz="2400"/>
                        <a:t>3</a:t>
                      </a:r>
                      <a:endParaRPr lang="zh-CN" alt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zh-CN" sz="2400"/>
                        <a:t>.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zh-CN" sz="2400"/>
                        <a:t>.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zh-CN" sz="2400"/>
                        <a:t>.</a:t>
                      </a:r>
                      <a:endParaRPr lang="zh-CN" alt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2400"/>
                        <a:t>字节</a:t>
                      </a:r>
                      <a:r>
                        <a:rPr lang="en-US" altLang="zh-CN" sz="2400"/>
                        <a:t>n-1</a:t>
                      </a:r>
                      <a:endParaRPr lang="zh-CN" alt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/>
                        <a:t>EOF</a:t>
                      </a:r>
                      <a:r>
                        <a:rPr lang="zh-CN" altLang="en-US" sz="2400"/>
                        <a:t>（文件结束符）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80057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 </a:t>
            </a:r>
            <a:r>
              <a:rPr lang="zh-CN" altLang="en-US" dirty="0"/>
              <a:t>文件缓冲区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63752" y="1920943"/>
            <a:ext cx="10058400" cy="40507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400" dirty="0"/>
              <a:t>程序运行时在内存中开辟的暂存数据的区域</a:t>
            </a: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/>
              <a:t>文件打开：开辟缓冲区，把文件从外存拷贝到缓冲区</a:t>
            </a: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/>
              <a:t>文件关闭：把文件拷贝到外存，释放缓冲区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5" name="Group 5"/>
          <p:cNvGrpSpPr>
            <a:grpSpLocks/>
          </p:cNvGrpSpPr>
          <p:nvPr/>
        </p:nvGrpSpPr>
        <p:grpSpPr bwMode="auto">
          <a:xfrm>
            <a:off x="1400433" y="3470625"/>
            <a:ext cx="6153150" cy="2796032"/>
            <a:chOff x="1607" y="2282"/>
            <a:chExt cx="3876" cy="1728"/>
          </a:xfrm>
        </p:grpSpPr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1607" y="2282"/>
              <a:ext cx="2400" cy="17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" name="Rectangle 7"/>
            <p:cNvSpPr>
              <a:spLocks noChangeArrowheads="1"/>
            </p:cNvSpPr>
            <p:nvPr/>
          </p:nvSpPr>
          <p:spPr bwMode="auto">
            <a:xfrm>
              <a:off x="1847" y="3098"/>
              <a:ext cx="672" cy="76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8" name="Line 8"/>
            <p:cNvSpPr>
              <a:spLocks noChangeShapeType="1"/>
            </p:cNvSpPr>
            <p:nvPr/>
          </p:nvSpPr>
          <p:spPr bwMode="auto">
            <a:xfrm>
              <a:off x="2183" y="309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Line 9"/>
            <p:cNvSpPr>
              <a:spLocks noChangeShapeType="1"/>
            </p:cNvSpPr>
            <p:nvPr/>
          </p:nvSpPr>
          <p:spPr bwMode="auto">
            <a:xfrm>
              <a:off x="2183" y="3338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Rectangle 10"/>
            <p:cNvSpPr>
              <a:spLocks noChangeArrowheads="1"/>
            </p:cNvSpPr>
            <p:nvPr/>
          </p:nvSpPr>
          <p:spPr bwMode="auto">
            <a:xfrm>
              <a:off x="2855" y="2570"/>
              <a:ext cx="1008" cy="3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" name="Rectangle 11"/>
            <p:cNvSpPr>
              <a:spLocks noChangeArrowheads="1"/>
            </p:cNvSpPr>
            <p:nvPr/>
          </p:nvSpPr>
          <p:spPr bwMode="auto">
            <a:xfrm>
              <a:off x="2855" y="3338"/>
              <a:ext cx="1008" cy="33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" name="Oval 12"/>
            <p:cNvSpPr>
              <a:spLocks noChangeArrowheads="1"/>
            </p:cNvSpPr>
            <p:nvPr/>
          </p:nvSpPr>
          <p:spPr bwMode="auto">
            <a:xfrm>
              <a:off x="4727" y="2906"/>
              <a:ext cx="720" cy="672"/>
            </a:xfrm>
            <a:prstGeom prst="ellipse">
              <a:avLst/>
            </a:prstGeom>
            <a:solidFill>
              <a:srgbClr val="54A5B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" name="Text Box 13"/>
            <p:cNvSpPr txBox="1">
              <a:spLocks noChangeArrowheads="1"/>
            </p:cNvSpPr>
            <p:nvPr/>
          </p:nvSpPr>
          <p:spPr bwMode="auto">
            <a:xfrm>
              <a:off x="4727" y="2618"/>
              <a:ext cx="756" cy="2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磁盘文件</a:t>
              </a:r>
            </a:p>
          </p:txBody>
        </p:sp>
        <p:sp>
          <p:nvSpPr>
            <p:cNvPr id="14" name="Text Box 14"/>
            <p:cNvSpPr txBox="1">
              <a:spLocks noChangeArrowheads="1"/>
            </p:cNvSpPr>
            <p:nvPr/>
          </p:nvSpPr>
          <p:spPr bwMode="auto">
            <a:xfrm>
              <a:off x="2711" y="3674"/>
              <a:ext cx="1236" cy="2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输出文件缓冲区</a:t>
              </a:r>
            </a:p>
          </p:txBody>
        </p:sp>
        <p:sp>
          <p:nvSpPr>
            <p:cNvPr id="15" name="Text Box 15"/>
            <p:cNvSpPr txBox="1">
              <a:spLocks noChangeArrowheads="1"/>
            </p:cNvSpPr>
            <p:nvPr/>
          </p:nvSpPr>
          <p:spPr bwMode="auto">
            <a:xfrm>
              <a:off x="2711" y="2330"/>
              <a:ext cx="1236" cy="2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输入文件缓冲区</a:t>
              </a:r>
            </a:p>
          </p:txBody>
        </p:sp>
        <p:sp>
          <p:nvSpPr>
            <p:cNvPr id="16" name="Text Box 16"/>
            <p:cNvSpPr txBox="1">
              <a:spLocks noChangeArrowheads="1"/>
            </p:cNvSpPr>
            <p:nvPr/>
          </p:nvSpPr>
          <p:spPr bwMode="auto">
            <a:xfrm>
              <a:off x="1703" y="2858"/>
              <a:ext cx="916" cy="2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程序数据区</a:t>
              </a:r>
            </a:p>
          </p:txBody>
        </p:sp>
        <p:sp>
          <p:nvSpPr>
            <p:cNvPr id="17" name="Text Box 17"/>
            <p:cNvSpPr txBox="1">
              <a:spLocks noChangeArrowheads="1"/>
            </p:cNvSpPr>
            <p:nvPr/>
          </p:nvSpPr>
          <p:spPr bwMode="auto">
            <a:xfrm>
              <a:off x="2279" y="3098"/>
              <a:ext cx="187" cy="2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8" name="Line 18"/>
            <p:cNvSpPr>
              <a:spLocks noChangeShapeType="1"/>
            </p:cNvSpPr>
            <p:nvPr/>
          </p:nvSpPr>
          <p:spPr bwMode="auto">
            <a:xfrm flipH="1">
              <a:off x="2519" y="2762"/>
              <a:ext cx="33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Line 19"/>
            <p:cNvSpPr>
              <a:spLocks noChangeShapeType="1"/>
            </p:cNvSpPr>
            <p:nvPr/>
          </p:nvSpPr>
          <p:spPr bwMode="auto">
            <a:xfrm>
              <a:off x="2519" y="3194"/>
              <a:ext cx="33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Line 20"/>
            <p:cNvSpPr>
              <a:spLocks noChangeShapeType="1"/>
            </p:cNvSpPr>
            <p:nvPr/>
          </p:nvSpPr>
          <p:spPr bwMode="auto">
            <a:xfrm flipH="1" flipV="1">
              <a:off x="3867" y="2695"/>
              <a:ext cx="912" cy="384"/>
            </a:xfrm>
            <a:prstGeom prst="line">
              <a:avLst/>
            </a:prstGeom>
            <a:noFill/>
            <a:ln w="38100">
              <a:solidFill>
                <a:schemeClr val="accent1">
                  <a:lumMod val="75000"/>
                </a:schemeClr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Line 21"/>
            <p:cNvSpPr>
              <a:spLocks noChangeShapeType="1"/>
            </p:cNvSpPr>
            <p:nvPr/>
          </p:nvSpPr>
          <p:spPr bwMode="auto">
            <a:xfrm flipV="1">
              <a:off x="3870" y="3338"/>
              <a:ext cx="864" cy="192"/>
            </a:xfrm>
            <a:prstGeom prst="line">
              <a:avLst/>
            </a:prstGeom>
            <a:noFill/>
            <a:ln w="38100">
              <a:solidFill>
                <a:schemeClr val="accent1">
                  <a:lumMod val="60000"/>
                  <a:lumOff val="40000"/>
                </a:schemeClr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847614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mute="1"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5822" y="186631"/>
            <a:ext cx="10058400" cy="1609344"/>
          </a:xfrm>
        </p:spPr>
        <p:txBody>
          <a:bodyPr/>
          <a:lstStyle/>
          <a:p>
            <a:r>
              <a:rPr lang="en-US" altLang="zh-CN" dirty="0"/>
              <a:t>3. </a:t>
            </a:r>
            <a:r>
              <a:rPr lang="zh-CN" altLang="en-US" dirty="0"/>
              <a:t>文件结构和文件指针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20578" y="1591834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400" dirty="0"/>
              <a:t>文件信息用系统定义的名为</a:t>
            </a:r>
            <a:r>
              <a:rPr lang="en-US" altLang="zh-CN" sz="2400" dirty="0"/>
              <a:t>FILE</a:t>
            </a:r>
            <a:r>
              <a:rPr lang="zh-CN" altLang="zh-CN" sz="2400" dirty="0"/>
              <a:t>的结构体描述</a:t>
            </a:r>
            <a:r>
              <a:rPr lang="zh-CN" altLang="en-US" sz="2400" dirty="0"/>
              <a:t>，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FILE</a:t>
            </a:r>
            <a:r>
              <a:rPr lang="zh-CN" altLang="zh-CN" sz="2400" dirty="0"/>
              <a:t>定义在</a:t>
            </a:r>
            <a:r>
              <a:rPr lang="en-US" altLang="zh-CN" sz="2400" dirty="0" err="1"/>
              <a:t>stdio.h</a:t>
            </a:r>
            <a:r>
              <a:rPr lang="zh-CN" altLang="zh-CN" sz="2400" dirty="0"/>
              <a:t>中</a:t>
            </a:r>
            <a:endParaRPr lang="zh-CN" altLang="en-US" sz="2400" dirty="0"/>
          </a:p>
          <a:p>
            <a:pPr marL="0" indent="0">
              <a:buNone/>
            </a:pPr>
            <a:endParaRPr lang="zh-CN" altLang="zh-CN" dirty="0"/>
          </a:p>
          <a:p>
            <a:endParaRPr lang="zh-CN" altLang="en-US" dirty="0"/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1085335" y="2646162"/>
            <a:ext cx="7325497" cy="3477875"/>
          </a:xfrm>
          <a:prstGeom prst="rect">
            <a:avLst/>
          </a:prstGeom>
          <a:noFill/>
          <a:ln w="19050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 dirty="0">
                <a:latin typeface="Times New Roman" panose="02020603050405020304" pitchFamily="18" charset="0"/>
              </a:rPr>
              <a:t>typedef   struct{</a:t>
            </a:r>
          </a:p>
          <a:p>
            <a:r>
              <a:rPr lang="en-US" altLang="zh-CN" sz="2000" dirty="0">
                <a:latin typeface="Times New Roman" panose="02020603050405020304" pitchFamily="18" charset="0"/>
              </a:rPr>
              <a:t>    int level;                                    //</a:t>
            </a:r>
            <a:r>
              <a:rPr lang="zh-CN" altLang="en-US" sz="2000" dirty="0">
                <a:latin typeface="Times New Roman" panose="02020603050405020304" pitchFamily="18" charset="0"/>
              </a:rPr>
              <a:t>缓冲区“满”或“空”的程度</a:t>
            </a:r>
          </a:p>
          <a:p>
            <a:r>
              <a:rPr lang="en-US" altLang="zh-CN" sz="2000" dirty="0">
                <a:latin typeface="Times New Roman" panose="02020603050405020304" pitchFamily="18" charset="0"/>
              </a:rPr>
              <a:t>    unsigned flags</a:t>
            </a:r>
            <a:r>
              <a:rPr lang="zh-CN" altLang="en-US" sz="2000" dirty="0">
                <a:latin typeface="Times New Roman" panose="02020603050405020304" pitchFamily="18" charset="0"/>
              </a:rPr>
              <a:t>；                       </a:t>
            </a:r>
            <a:r>
              <a:rPr lang="en-US" altLang="zh-CN" sz="2000" dirty="0">
                <a:latin typeface="Times New Roman" panose="02020603050405020304" pitchFamily="18" charset="0"/>
              </a:rPr>
              <a:t>//</a:t>
            </a:r>
            <a:r>
              <a:rPr lang="zh-CN" altLang="en-US" sz="2000" dirty="0">
                <a:latin typeface="Times New Roman" panose="02020603050405020304" pitchFamily="18" charset="0"/>
              </a:rPr>
              <a:t>文件状态标志</a:t>
            </a:r>
          </a:p>
          <a:p>
            <a:r>
              <a:rPr lang="en-US" altLang="zh-CN" sz="2000" dirty="0">
                <a:latin typeface="Times New Roman" panose="02020603050405020304" pitchFamily="18" charset="0"/>
              </a:rPr>
              <a:t>    char </a:t>
            </a:r>
            <a:r>
              <a:rPr lang="en-US" altLang="zh-CN" sz="2000" dirty="0" err="1">
                <a:latin typeface="Times New Roman" panose="02020603050405020304" pitchFamily="18" charset="0"/>
              </a:rPr>
              <a:t>fd</a:t>
            </a:r>
            <a:r>
              <a:rPr lang="zh-CN" altLang="en-US" sz="2000" dirty="0">
                <a:latin typeface="Times New Roman" panose="02020603050405020304" pitchFamily="18" charset="0"/>
              </a:rPr>
              <a:t>；                                   </a:t>
            </a:r>
            <a:r>
              <a:rPr lang="en-US" altLang="zh-CN" sz="2000" dirty="0">
                <a:latin typeface="Times New Roman" panose="02020603050405020304" pitchFamily="18" charset="0"/>
              </a:rPr>
              <a:t>//</a:t>
            </a:r>
            <a:r>
              <a:rPr lang="zh-CN" altLang="en-US" sz="2000" dirty="0">
                <a:latin typeface="Times New Roman" panose="02020603050405020304" pitchFamily="18" charset="0"/>
              </a:rPr>
              <a:t>文件描述符号 </a:t>
            </a:r>
          </a:p>
          <a:p>
            <a:r>
              <a:rPr lang="en-US" altLang="zh-CN" sz="2000" dirty="0">
                <a:latin typeface="Times New Roman" panose="02020603050405020304" pitchFamily="18" charset="0"/>
              </a:rPr>
              <a:t>    unsigned char hold</a:t>
            </a:r>
            <a:r>
              <a:rPr lang="zh-CN" altLang="en-US" sz="2000" dirty="0">
                <a:latin typeface="Times New Roman" panose="02020603050405020304" pitchFamily="18" charset="0"/>
              </a:rPr>
              <a:t>；                </a:t>
            </a:r>
            <a:r>
              <a:rPr lang="en-US" altLang="zh-CN" sz="2000" dirty="0">
                <a:latin typeface="Times New Roman" panose="02020603050405020304" pitchFamily="18" charset="0"/>
              </a:rPr>
              <a:t>//</a:t>
            </a:r>
            <a:r>
              <a:rPr lang="zh-CN" altLang="en-US" sz="2000" dirty="0">
                <a:latin typeface="Times New Roman" panose="02020603050405020304" pitchFamily="18" charset="0"/>
              </a:rPr>
              <a:t>如无缓冲区则不读取字符串</a:t>
            </a:r>
          </a:p>
          <a:p>
            <a:r>
              <a:rPr lang="en-US" altLang="zh-CN" sz="2000" dirty="0">
                <a:latin typeface="Times New Roman" panose="02020603050405020304" pitchFamily="18" charset="0"/>
              </a:rPr>
              <a:t>    int </a:t>
            </a:r>
            <a:r>
              <a:rPr lang="en-US" altLang="zh-CN" sz="2000" dirty="0" err="1">
                <a:latin typeface="Times New Roman" panose="02020603050405020304" pitchFamily="18" charset="0"/>
              </a:rPr>
              <a:t>bsize</a:t>
            </a:r>
            <a:r>
              <a:rPr lang="zh-CN" altLang="en-US" sz="2000" dirty="0">
                <a:latin typeface="Times New Roman" panose="02020603050405020304" pitchFamily="18" charset="0"/>
              </a:rPr>
              <a:t>；                                 </a:t>
            </a:r>
            <a:r>
              <a:rPr lang="en-US" altLang="zh-CN" sz="2000" dirty="0">
                <a:latin typeface="Times New Roman" panose="02020603050405020304" pitchFamily="18" charset="0"/>
              </a:rPr>
              <a:t>//</a:t>
            </a:r>
            <a:r>
              <a:rPr lang="zh-CN" altLang="en-US" sz="2000" dirty="0">
                <a:latin typeface="Times New Roman" panose="02020603050405020304" pitchFamily="18" charset="0"/>
              </a:rPr>
              <a:t>缓冲区大小</a:t>
            </a:r>
          </a:p>
          <a:p>
            <a:r>
              <a:rPr lang="en-US" altLang="zh-CN" sz="2000" dirty="0">
                <a:latin typeface="Times New Roman" panose="02020603050405020304" pitchFamily="18" charset="0"/>
              </a:rPr>
              <a:t>    unsigned char _FAR* buffer</a:t>
            </a:r>
            <a:r>
              <a:rPr lang="zh-CN" altLang="en-US" sz="2000" dirty="0">
                <a:latin typeface="Times New Roman" panose="02020603050405020304" pitchFamily="18" charset="0"/>
              </a:rPr>
              <a:t>； </a:t>
            </a:r>
            <a:r>
              <a:rPr lang="en-US" altLang="zh-CN" sz="2000" dirty="0">
                <a:latin typeface="Times New Roman" panose="02020603050405020304" pitchFamily="18" charset="0"/>
              </a:rPr>
              <a:t>//</a:t>
            </a:r>
            <a:r>
              <a:rPr lang="zh-CN" altLang="en-US" sz="2000" dirty="0">
                <a:latin typeface="Times New Roman" panose="02020603050405020304" pitchFamily="18" charset="0"/>
              </a:rPr>
              <a:t>数据传输缓冲区指针</a:t>
            </a:r>
          </a:p>
          <a:p>
            <a:r>
              <a:rPr lang="en-US" altLang="zh-CN" sz="2000" dirty="0">
                <a:latin typeface="Times New Roman" panose="02020603050405020304" pitchFamily="18" charset="0"/>
              </a:rPr>
              <a:t>    unsigned char _FAR* </a:t>
            </a:r>
            <a:r>
              <a:rPr lang="en-US" altLang="zh-CN" sz="2000" dirty="0" err="1">
                <a:latin typeface="Times New Roman" panose="02020603050405020304" pitchFamily="18" charset="0"/>
              </a:rPr>
              <a:t>curp</a:t>
            </a:r>
            <a:r>
              <a:rPr lang="zh-CN" altLang="en-US" sz="2000" dirty="0">
                <a:latin typeface="Times New Roman" panose="02020603050405020304" pitchFamily="18" charset="0"/>
              </a:rPr>
              <a:t>；    </a:t>
            </a:r>
            <a:r>
              <a:rPr lang="en-US" altLang="zh-CN" sz="2000" dirty="0">
                <a:latin typeface="Times New Roman" panose="02020603050405020304" pitchFamily="18" charset="0"/>
              </a:rPr>
              <a:t>//</a:t>
            </a:r>
            <a:r>
              <a:rPr lang="zh-CN" altLang="en-US" sz="2000" dirty="0">
                <a:latin typeface="Times New Roman" panose="02020603050405020304" pitchFamily="18" charset="0"/>
              </a:rPr>
              <a:t>文件缓冲区位置</a:t>
            </a:r>
          </a:p>
          <a:p>
            <a:r>
              <a:rPr lang="en-US" altLang="zh-CN" sz="2000" dirty="0">
                <a:latin typeface="Times New Roman" panose="02020603050405020304" pitchFamily="18" charset="0"/>
              </a:rPr>
              <a:t>    unsigned </a:t>
            </a:r>
            <a:r>
              <a:rPr lang="en-US" altLang="zh-CN" sz="2000" dirty="0" err="1">
                <a:latin typeface="Times New Roman" panose="02020603050405020304" pitchFamily="18" charset="0"/>
              </a:rPr>
              <a:t>istemp</a:t>
            </a:r>
            <a:r>
              <a:rPr lang="zh-CN" altLang="en-US" sz="2000" dirty="0">
                <a:latin typeface="Times New Roman" panose="02020603050405020304" pitchFamily="18" charset="0"/>
              </a:rPr>
              <a:t>；                     </a:t>
            </a:r>
            <a:r>
              <a:rPr lang="en-US" altLang="zh-CN" sz="2000" dirty="0">
                <a:latin typeface="Times New Roman" panose="02020603050405020304" pitchFamily="18" charset="0"/>
              </a:rPr>
              <a:t>//</a:t>
            </a:r>
            <a:r>
              <a:rPr lang="zh-CN" altLang="en-US" sz="2000" dirty="0">
                <a:latin typeface="Times New Roman" panose="02020603050405020304" pitchFamily="18" charset="0"/>
              </a:rPr>
              <a:t>临时文件指示器</a:t>
            </a:r>
          </a:p>
          <a:p>
            <a:r>
              <a:rPr lang="en-US" altLang="zh-CN" sz="2000" dirty="0">
                <a:latin typeface="Times New Roman" panose="02020603050405020304" pitchFamily="18" charset="0"/>
              </a:rPr>
              <a:t>    short token</a:t>
            </a:r>
            <a:r>
              <a:rPr lang="zh-CN" altLang="en-US" sz="2000" dirty="0">
                <a:latin typeface="Times New Roman" panose="02020603050405020304" pitchFamily="18" charset="0"/>
              </a:rPr>
              <a:t>；                             </a:t>
            </a:r>
            <a:r>
              <a:rPr lang="en-US" altLang="zh-CN" sz="2000" dirty="0">
                <a:latin typeface="Times New Roman" panose="02020603050405020304" pitchFamily="18" charset="0"/>
              </a:rPr>
              <a:t>//</a:t>
            </a:r>
            <a:r>
              <a:rPr lang="zh-CN" altLang="en-US" sz="2000" dirty="0">
                <a:latin typeface="Times New Roman" panose="02020603050405020304" pitchFamily="18" charset="0"/>
              </a:rPr>
              <a:t>用于有效性检查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r>
              <a:rPr lang="zh-CN" altLang="zh-CN" sz="2000" dirty="0">
                <a:latin typeface="Times New Roman" panose="02020603050405020304" pitchFamily="18" charset="0"/>
              </a:rPr>
              <a:t>}</a:t>
            </a:r>
            <a:r>
              <a:rPr lang="en-US" altLang="zh-CN" sz="2000" dirty="0">
                <a:latin typeface="Times New Roman" panose="02020603050405020304" pitchFamily="18" charset="0"/>
              </a:rPr>
              <a:t>FILE;</a:t>
            </a:r>
          </a:p>
        </p:txBody>
      </p:sp>
      <p:cxnSp>
        <p:nvCxnSpPr>
          <p:cNvPr id="9" name="直接箭头连接符 8"/>
          <p:cNvCxnSpPr/>
          <p:nvPr/>
        </p:nvCxnSpPr>
        <p:spPr>
          <a:xfrm flipH="1">
            <a:off x="7101016" y="4677507"/>
            <a:ext cx="1609231" cy="117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 flipH="1">
            <a:off x="6693877" y="4689230"/>
            <a:ext cx="2016369" cy="3048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8720623" y="4385099"/>
            <a:ext cx="1856762" cy="70788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000"/>
              <a:t>管理文件读写过程的指针</a:t>
            </a:r>
          </a:p>
        </p:txBody>
      </p:sp>
    </p:spTree>
    <p:extLst>
      <p:ext uri="{BB962C8B-B14F-4D97-AF65-F5344CB8AC3E}">
        <p14:creationId xmlns:p14="http://schemas.microsoft.com/office/powerpoint/2010/main" val="3081868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mute="1"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 autoUpdateAnimBg="0"/>
      <p:bldP spid="1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35555"/>
            <a:ext cx="10515600" cy="1325563"/>
          </a:xfrm>
        </p:spPr>
        <p:txBody>
          <a:bodyPr/>
          <a:lstStyle/>
          <a:p>
            <a:r>
              <a:rPr lang="en-US" altLang="zh-CN"/>
              <a:t>C</a:t>
            </a:r>
            <a:r>
              <a:rPr lang="zh-CN" altLang="en-US"/>
              <a:t>语言文件读写的过程和所用函数</a:t>
            </a:r>
          </a:p>
        </p:txBody>
      </p:sp>
      <p:graphicFrame>
        <p:nvGraphicFramePr>
          <p:cNvPr id="5" name="内容占位符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40773698"/>
              </p:ext>
            </p:extLst>
          </p:nvPr>
        </p:nvGraphicFramePr>
        <p:xfrm>
          <a:off x="838200" y="1825625"/>
          <a:ext cx="3099486" cy="3184816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30994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9046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/>
                        <a:t>定义文件指针</a:t>
                      </a:r>
                      <a:r>
                        <a:rPr lang="en-US" altLang="zh-CN" sz="2400"/>
                        <a:t>FILE </a:t>
                      </a:r>
                      <a:r>
                        <a:rPr lang="zh-CN" altLang="en-US" sz="2400"/>
                        <a:t>*</a:t>
                      </a:r>
                      <a:r>
                        <a:rPr lang="en-US" altLang="zh-CN" sz="2400"/>
                        <a:t>fp</a:t>
                      </a:r>
                      <a:endParaRPr lang="zh-CN" alt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46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/>
                        <a:t>文件打开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46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/>
                        <a:t>文件定位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46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/>
                        <a:t>文件读</a:t>
                      </a:r>
                      <a:r>
                        <a:rPr lang="en-US" altLang="zh-CN" sz="2400"/>
                        <a:t>/</a:t>
                      </a:r>
                      <a:r>
                        <a:rPr lang="zh-CN" altLang="en-US" sz="2400"/>
                        <a:t>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46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/>
                        <a:t>文件关闭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10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748347"/>
              </p:ext>
            </p:extLst>
          </p:nvPr>
        </p:nvGraphicFramePr>
        <p:xfrm>
          <a:off x="5483653" y="1798479"/>
          <a:ext cx="4731265" cy="3464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12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7524">
                <a:tc>
                  <a:txBody>
                    <a:bodyPr/>
                    <a:lstStyle/>
                    <a:p>
                      <a:r>
                        <a:rPr lang="zh-CN" altLang="en-US" sz="2400"/>
                        <a:t>文件操作的库函数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7524">
                <a:tc>
                  <a:txBody>
                    <a:bodyPr/>
                    <a:lstStyle/>
                    <a:p>
                      <a:r>
                        <a:rPr lang="en-US" altLang="zh-CN" sz="2400"/>
                        <a:t>fopen()</a:t>
                      </a:r>
                      <a:endParaRPr lang="zh-CN" alt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7524">
                <a:tc>
                  <a:txBody>
                    <a:bodyPr/>
                    <a:lstStyle/>
                    <a:p>
                      <a:r>
                        <a:rPr lang="zh-CN" altLang="en-US" sz="2400"/>
                        <a:t>首位置</a:t>
                      </a:r>
                      <a:r>
                        <a:rPr lang="en-US" altLang="zh-CN" sz="2400"/>
                        <a:t>rewind()</a:t>
                      </a:r>
                      <a:r>
                        <a:rPr lang="zh-CN" altLang="en-US" sz="2400"/>
                        <a:t>、任意位置</a:t>
                      </a:r>
                      <a:r>
                        <a:rPr lang="en-US" altLang="zh-CN" sz="2400"/>
                        <a:t>fseek()</a:t>
                      </a:r>
                      <a:endParaRPr lang="zh-CN" alt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0692">
                <a:tc>
                  <a:txBody>
                    <a:bodyPr/>
                    <a:lstStyle/>
                    <a:p>
                      <a:r>
                        <a:rPr lang="zh-CN" altLang="en-US" sz="2400"/>
                        <a:t>数据块读写 </a:t>
                      </a:r>
                      <a:r>
                        <a:rPr lang="en-US" altLang="zh-CN" sz="2400"/>
                        <a:t>fread()</a:t>
                      </a:r>
                      <a:r>
                        <a:rPr lang="en-US" altLang="zh-CN" sz="2400" baseline="0"/>
                        <a:t>  fwrite()</a:t>
                      </a:r>
                      <a:endParaRPr lang="en-US" altLang="zh-CN" sz="2400"/>
                    </a:p>
                    <a:p>
                      <a:r>
                        <a:rPr lang="zh-CN" altLang="en-US" sz="2400"/>
                        <a:t>格式读写</a:t>
                      </a:r>
                      <a:r>
                        <a:rPr lang="en-US" altLang="zh-CN" sz="2400"/>
                        <a:t>fscanf()</a:t>
                      </a:r>
                      <a:r>
                        <a:rPr lang="en-US" altLang="zh-CN" sz="2400" baseline="0"/>
                        <a:t>  fprintf()</a:t>
                      </a:r>
                    </a:p>
                    <a:p>
                      <a:r>
                        <a:rPr lang="zh-CN" altLang="en-US" sz="2400"/>
                        <a:t>字符读写</a:t>
                      </a:r>
                      <a:r>
                        <a:rPr lang="en-US" altLang="zh-CN" sz="2400"/>
                        <a:t>fgetc() fputc()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/>
                        <a:t>字符串读写</a:t>
                      </a:r>
                      <a:r>
                        <a:rPr lang="en-US" altLang="zh-CN" sz="2400"/>
                        <a:t>fgets() fputs()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752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/>
                        <a:t>fclose()</a:t>
                      </a:r>
                      <a:endParaRPr lang="zh-CN" alt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8" name="直接箭头连接符 7"/>
          <p:cNvCxnSpPr/>
          <p:nvPr/>
        </p:nvCxnSpPr>
        <p:spPr>
          <a:xfrm flipV="1">
            <a:off x="3937685" y="2471352"/>
            <a:ext cx="1545968" cy="266846"/>
          </a:xfrm>
          <a:prstGeom prst="straightConnector1">
            <a:avLst/>
          </a:prstGeom>
          <a:ln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>
            <a:stCxn id="5" idx="3"/>
          </p:cNvCxnSpPr>
          <p:nvPr/>
        </p:nvCxnSpPr>
        <p:spPr>
          <a:xfrm flipV="1">
            <a:off x="3937686" y="3017999"/>
            <a:ext cx="1545967" cy="400034"/>
          </a:xfrm>
          <a:prstGeom prst="straightConnector1">
            <a:avLst/>
          </a:prstGeom>
          <a:ln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 flipV="1">
            <a:off x="3937685" y="3840242"/>
            <a:ext cx="1545968" cy="28371"/>
          </a:xfrm>
          <a:prstGeom prst="straightConnector1">
            <a:avLst/>
          </a:prstGeom>
          <a:ln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>
            <a:off x="3937685" y="4415260"/>
            <a:ext cx="1545968" cy="610434"/>
          </a:xfrm>
          <a:prstGeom prst="straightConnector1">
            <a:avLst/>
          </a:prstGeom>
          <a:ln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0746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B3BD65-E8CD-4507-B478-EF4ADC2F0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1671" y="1234088"/>
            <a:ext cx="6308657" cy="3520440"/>
          </a:xfrm>
        </p:spPr>
        <p:txBody>
          <a:bodyPr/>
          <a:lstStyle/>
          <a:p>
            <a:r>
              <a:rPr lang="en-US" altLang="zh-CN" dirty="0"/>
              <a:t>8.2 </a:t>
            </a:r>
            <a:r>
              <a:rPr lang="zh-CN" altLang="en-US" dirty="0"/>
              <a:t>文件操作</a:t>
            </a:r>
            <a:endParaRPr 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AD8F038-744A-4686-A133-F4CF5AAA76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240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8299" y="-40935"/>
            <a:ext cx="8657205" cy="1325563"/>
          </a:xfrm>
        </p:spPr>
        <p:txBody>
          <a:bodyPr>
            <a:normAutofit/>
          </a:bodyPr>
          <a:lstStyle/>
          <a:p>
            <a:r>
              <a:rPr lang="zh-CN" altLang="en-US" dirty="0"/>
              <a:t>文件的打开</a:t>
            </a:r>
            <a:r>
              <a:rPr lang="en-US" altLang="zh-CN" dirty="0" err="1"/>
              <a:t>fopen</a:t>
            </a:r>
            <a:r>
              <a:rPr lang="zh-CN" altLang="en-US" dirty="0"/>
              <a:t>与关闭</a:t>
            </a:r>
            <a:r>
              <a:rPr lang="en-US" altLang="zh-CN" dirty="0" err="1"/>
              <a:t>fclose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53874" y="1104900"/>
            <a:ext cx="6504176" cy="1596069"/>
          </a:xfrm>
          <a:ln>
            <a:solidFill>
              <a:schemeClr val="accent1"/>
            </a:solidFill>
          </a:ln>
        </p:spPr>
        <p:txBody>
          <a:bodyPr>
            <a:noAutofit/>
          </a:bodyPr>
          <a:lstStyle/>
          <a:p>
            <a:r>
              <a:rPr lang="en-US" altLang="zh-CN" sz="1800" dirty="0" err="1"/>
              <a:t>fopen</a:t>
            </a:r>
            <a:r>
              <a:rPr lang="zh-CN" altLang="en-US" sz="1800" dirty="0"/>
              <a:t>函数原型：</a:t>
            </a:r>
            <a:r>
              <a:rPr lang="en-US" altLang="zh-CN" sz="1800" dirty="0">
                <a:solidFill>
                  <a:srgbClr val="FF0000"/>
                </a:solidFill>
              </a:rPr>
              <a:t> FILE  *</a:t>
            </a:r>
            <a:r>
              <a:rPr lang="en-US" altLang="zh-CN" sz="1800" dirty="0" err="1">
                <a:solidFill>
                  <a:srgbClr val="006600"/>
                </a:solidFill>
              </a:rPr>
              <a:t>fopen</a:t>
            </a:r>
            <a:r>
              <a:rPr lang="en-US" altLang="zh-CN" sz="1800" dirty="0">
                <a:solidFill>
                  <a:schemeClr val="tx2"/>
                </a:solidFill>
              </a:rPr>
              <a:t>(char *</a:t>
            </a:r>
            <a:r>
              <a:rPr lang="en-US" altLang="zh-CN" sz="1800" dirty="0">
                <a:solidFill>
                  <a:srgbClr val="990033"/>
                </a:solidFill>
              </a:rPr>
              <a:t>name</a:t>
            </a:r>
            <a:r>
              <a:rPr lang="en-US" altLang="zh-CN" sz="1800" dirty="0">
                <a:solidFill>
                  <a:schemeClr val="tx2"/>
                </a:solidFill>
              </a:rPr>
              <a:t>, char *</a:t>
            </a:r>
            <a:r>
              <a:rPr lang="en-US" altLang="zh-CN" sz="1800" dirty="0">
                <a:solidFill>
                  <a:srgbClr val="C00000"/>
                </a:solidFill>
              </a:rPr>
              <a:t>mode</a:t>
            </a:r>
            <a:r>
              <a:rPr lang="en-US" altLang="zh-CN" sz="1800" dirty="0">
                <a:solidFill>
                  <a:schemeClr val="tx2"/>
                </a:solidFill>
              </a:rPr>
              <a:t>);</a:t>
            </a:r>
          </a:p>
          <a:p>
            <a:r>
              <a:rPr lang="zh-CN" altLang="en-US" sz="1800" dirty="0"/>
              <a:t>功能：按指定方式打开文件</a:t>
            </a:r>
            <a:endParaRPr lang="en-US" altLang="zh-CN" sz="1800" dirty="0"/>
          </a:p>
          <a:p>
            <a:r>
              <a:rPr lang="zh-CN" altLang="en-US" sz="1800" dirty="0"/>
              <a:t>返值：正常打开返回指向文件结构体的指针</a:t>
            </a:r>
            <a:endParaRPr lang="en-US" altLang="zh-CN" sz="1800" dirty="0"/>
          </a:p>
          <a:p>
            <a:pPr marL="0" indent="0">
              <a:buNone/>
            </a:pPr>
            <a:r>
              <a:rPr lang="en-US" altLang="zh-CN" sz="1800" dirty="0"/>
              <a:t>                  </a:t>
            </a:r>
            <a:r>
              <a:rPr lang="zh-CN" altLang="en-US" sz="1800" dirty="0"/>
              <a:t>打开失败返回</a:t>
            </a:r>
            <a:r>
              <a:rPr lang="en-US" altLang="zh-CN" sz="1800" dirty="0"/>
              <a:t>NULL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5" name="Group 9"/>
          <p:cNvGrpSpPr>
            <a:grpSpLocks/>
          </p:cNvGrpSpPr>
          <p:nvPr/>
        </p:nvGrpSpPr>
        <p:grpSpPr bwMode="auto">
          <a:xfrm>
            <a:off x="669093" y="4118329"/>
            <a:ext cx="6200352" cy="2603146"/>
            <a:chOff x="345" y="198"/>
            <a:chExt cx="4917" cy="2023"/>
          </a:xfrm>
        </p:grpSpPr>
        <p:sp>
          <p:nvSpPr>
            <p:cNvPr id="6" name="Rectangle 10"/>
            <p:cNvSpPr>
              <a:spLocks noChangeArrowheads="1"/>
            </p:cNvSpPr>
            <p:nvPr/>
          </p:nvSpPr>
          <p:spPr bwMode="auto">
            <a:xfrm>
              <a:off x="422" y="211"/>
              <a:ext cx="4831" cy="201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5">
                  <a:lumMod val="75000"/>
                </a:scheme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7" name="Line 11"/>
            <p:cNvSpPr>
              <a:spLocks noChangeShapeType="1"/>
            </p:cNvSpPr>
            <p:nvPr/>
          </p:nvSpPr>
          <p:spPr bwMode="auto">
            <a:xfrm>
              <a:off x="1716" y="198"/>
              <a:ext cx="0" cy="201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" name="Text Box 12"/>
            <p:cNvSpPr txBox="1">
              <a:spLocks noChangeArrowheads="1"/>
            </p:cNvSpPr>
            <p:nvPr/>
          </p:nvSpPr>
          <p:spPr bwMode="auto">
            <a:xfrm>
              <a:off x="345" y="1325"/>
              <a:ext cx="1448" cy="2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1600">
                  <a:latin typeface="+mn-ea"/>
                  <a:ea typeface="+mn-ea"/>
                </a:rPr>
                <a:t>“r+/rb+”(</a:t>
              </a:r>
              <a:r>
                <a:rPr lang="zh-CN" altLang="zh-CN" sz="1600">
                  <a:latin typeface="+mn-ea"/>
                  <a:ea typeface="+mn-ea"/>
                </a:rPr>
                <a:t>读写</a:t>
              </a:r>
              <a:r>
                <a:rPr lang="en-US" altLang="zh-CN" sz="1600">
                  <a:latin typeface="+mn-ea"/>
                  <a:ea typeface="+mn-ea"/>
                </a:rPr>
                <a:t>)</a:t>
              </a:r>
            </a:p>
          </p:txBody>
        </p:sp>
        <p:sp>
          <p:nvSpPr>
            <p:cNvPr id="9" name="Text Box 13"/>
            <p:cNvSpPr txBox="1">
              <a:spLocks noChangeArrowheads="1"/>
            </p:cNvSpPr>
            <p:nvPr/>
          </p:nvSpPr>
          <p:spPr bwMode="auto">
            <a:xfrm>
              <a:off x="422" y="1066"/>
              <a:ext cx="1277" cy="2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1600">
                  <a:latin typeface="+mn-ea"/>
                  <a:ea typeface="+mn-ea"/>
                </a:rPr>
                <a:t>“a/ab” (</a:t>
              </a:r>
              <a:r>
                <a:rPr lang="zh-CN" altLang="zh-CN" sz="1600">
                  <a:latin typeface="+mn-ea"/>
                  <a:ea typeface="+mn-ea"/>
                </a:rPr>
                <a:t>追加</a:t>
              </a:r>
              <a:r>
                <a:rPr lang="en-US" altLang="zh-CN" sz="1600">
                  <a:latin typeface="+mn-ea"/>
                  <a:ea typeface="+mn-ea"/>
                </a:rPr>
                <a:t>)</a:t>
              </a:r>
            </a:p>
          </p:txBody>
        </p:sp>
        <p:sp>
          <p:nvSpPr>
            <p:cNvPr id="10" name="Text Box 14"/>
            <p:cNvSpPr txBox="1">
              <a:spLocks noChangeArrowheads="1"/>
            </p:cNvSpPr>
            <p:nvPr/>
          </p:nvSpPr>
          <p:spPr bwMode="auto">
            <a:xfrm>
              <a:off x="443" y="786"/>
              <a:ext cx="1277" cy="2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1600">
                  <a:latin typeface="+mn-ea"/>
                  <a:ea typeface="+mn-ea"/>
                </a:rPr>
                <a:t>“w/wb” (</a:t>
              </a:r>
              <a:r>
                <a:rPr lang="zh-CN" altLang="zh-CN" sz="1600">
                  <a:latin typeface="+mn-ea"/>
                  <a:ea typeface="+mn-ea"/>
                </a:rPr>
                <a:t>只写</a:t>
              </a:r>
              <a:r>
                <a:rPr lang="en-US" altLang="zh-CN" sz="1600">
                  <a:latin typeface="+mn-ea"/>
                  <a:ea typeface="+mn-ea"/>
                </a:rPr>
                <a:t>)</a:t>
              </a:r>
            </a:p>
          </p:txBody>
        </p:sp>
        <p:sp>
          <p:nvSpPr>
            <p:cNvPr id="11" name="Text Box 15"/>
            <p:cNvSpPr txBox="1">
              <a:spLocks noChangeArrowheads="1"/>
            </p:cNvSpPr>
            <p:nvPr/>
          </p:nvSpPr>
          <p:spPr bwMode="auto">
            <a:xfrm>
              <a:off x="413" y="515"/>
              <a:ext cx="1277" cy="2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1600">
                  <a:latin typeface="+mn-ea"/>
                  <a:ea typeface="+mn-ea"/>
                </a:rPr>
                <a:t>“r/rb” (</a:t>
              </a:r>
              <a:r>
                <a:rPr lang="zh-CN" altLang="zh-CN" sz="1600">
                  <a:latin typeface="+mn-ea"/>
                  <a:ea typeface="+mn-ea"/>
                </a:rPr>
                <a:t>只读</a:t>
              </a:r>
              <a:r>
                <a:rPr lang="en-US" altLang="zh-CN" sz="1600">
                  <a:latin typeface="+mn-ea"/>
                  <a:ea typeface="+mn-ea"/>
                </a:rPr>
                <a:t>)</a:t>
              </a:r>
            </a:p>
          </p:txBody>
        </p:sp>
        <p:sp>
          <p:nvSpPr>
            <p:cNvPr id="12" name="Text Box 16"/>
            <p:cNvSpPr txBox="1">
              <a:spLocks noChangeArrowheads="1"/>
            </p:cNvSpPr>
            <p:nvPr/>
          </p:nvSpPr>
          <p:spPr bwMode="auto">
            <a:xfrm>
              <a:off x="378" y="1622"/>
              <a:ext cx="1448" cy="2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1600">
                  <a:latin typeface="+mn-ea"/>
                  <a:ea typeface="+mn-ea"/>
                </a:rPr>
                <a:t>“w+/wb+”(</a:t>
              </a:r>
              <a:r>
                <a:rPr lang="zh-CN" altLang="zh-CN" sz="1600">
                  <a:latin typeface="+mn-ea"/>
                  <a:ea typeface="+mn-ea"/>
                </a:rPr>
                <a:t>读写</a:t>
              </a:r>
              <a:r>
                <a:rPr lang="en-US" altLang="zh-CN" sz="1600">
                  <a:latin typeface="+mn-ea"/>
                  <a:ea typeface="+mn-ea"/>
                </a:rPr>
                <a:t>)</a:t>
              </a:r>
            </a:p>
          </p:txBody>
        </p:sp>
        <p:sp>
          <p:nvSpPr>
            <p:cNvPr id="13" name="Text Box 17"/>
            <p:cNvSpPr txBox="1">
              <a:spLocks noChangeArrowheads="1"/>
            </p:cNvSpPr>
            <p:nvPr/>
          </p:nvSpPr>
          <p:spPr bwMode="auto">
            <a:xfrm>
              <a:off x="355" y="1930"/>
              <a:ext cx="1448" cy="2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1600">
                  <a:latin typeface="+mn-ea"/>
                  <a:ea typeface="+mn-ea"/>
                </a:rPr>
                <a:t>“a+/ab+”(</a:t>
              </a:r>
              <a:r>
                <a:rPr lang="zh-CN" altLang="zh-CN" sz="1600">
                  <a:latin typeface="+mn-ea"/>
                  <a:ea typeface="+mn-ea"/>
                </a:rPr>
                <a:t>读写</a:t>
              </a:r>
              <a:r>
                <a:rPr lang="en-US" altLang="zh-CN" sz="1600">
                  <a:latin typeface="+mn-ea"/>
                  <a:ea typeface="+mn-ea"/>
                </a:rPr>
                <a:t>)</a:t>
              </a:r>
            </a:p>
          </p:txBody>
        </p:sp>
        <p:sp>
          <p:nvSpPr>
            <p:cNvPr id="14" name="Text Box 18"/>
            <p:cNvSpPr txBox="1">
              <a:spLocks noChangeArrowheads="1"/>
            </p:cNvSpPr>
            <p:nvPr/>
          </p:nvSpPr>
          <p:spPr bwMode="auto">
            <a:xfrm>
              <a:off x="2254" y="536"/>
              <a:ext cx="2341" cy="2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1600">
                  <a:latin typeface="+mn-ea"/>
                  <a:ea typeface="+mn-ea"/>
                </a:rPr>
                <a:t>为</a:t>
              </a:r>
              <a:r>
                <a:rPr lang="zh-CN" altLang="en-US" sz="1600">
                  <a:solidFill>
                    <a:srgbClr val="FF0000"/>
                  </a:solidFill>
                  <a:latin typeface="+mn-ea"/>
                  <a:ea typeface="+mn-ea"/>
                </a:rPr>
                <a:t>输入</a:t>
              </a:r>
              <a:r>
                <a:rPr lang="zh-CN" altLang="en-US" sz="1600">
                  <a:latin typeface="+mn-ea"/>
                  <a:ea typeface="+mn-ea"/>
                </a:rPr>
                <a:t>打开一个文本</a:t>
              </a:r>
              <a:r>
                <a:rPr lang="en-US" altLang="zh-CN" sz="1600">
                  <a:latin typeface="+mn-ea"/>
                  <a:ea typeface="+mn-ea"/>
                </a:rPr>
                <a:t>/</a:t>
              </a:r>
              <a:r>
                <a:rPr lang="zh-CN" altLang="en-US" sz="1600">
                  <a:latin typeface="+mn-ea"/>
                  <a:ea typeface="+mn-ea"/>
                </a:rPr>
                <a:t>二进制文件</a:t>
              </a:r>
            </a:p>
          </p:txBody>
        </p:sp>
        <p:sp>
          <p:nvSpPr>
            <p:cNvPr id="15" name="Text Box 19"/>
            <p:cNvSpPr txBox="1">
              <a:spLocks noChangeArrowheads="1"/>
            </p:cNvSpPr>
            <p:nvPr/>
          </p:nvSpPr>
          <p:spPr bwMode="auto">
            <a:xfrm>
              <a:off x="2102" y="834"/>
              <a:ext cx="2797" cy="2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1600">
                  <a:latin typeface="+mn-ea"/>
                  <a:ea typeface="+mn-ea"/>
                </a:rPr>
                <a:t>为</a:t>
              </a:r>
              <a:r>
                <a:rPr lang="zh-CN" altLang="en-US" sz="1600">
                  <a:solidFill>
                    <a:srgbClr val="FF0000"/>
                  </a:solidFill>
                  <a:latin typeface="+mn-ea"/>
                  <a:ea typeface="+mn-ea"/>
                </a:rPr>
                <a:t>输出</a:t>
              </a:r>
              <a:r>
                <a:rPr lang="zh-CN" altLang="en-US" sz="1600">
                  <a:latin typeface="+mn-ea"/>
                  <a:ea typeface="+mn-ea"/>
                </a:rPr>
                <a:t>打开或建立一个文本</a:t>
              </a:r>
              <a:r>
                <a:rPr lang="en-US" altLang="zh-CN" sz="1600">
                  <a:latin typeface="+mn-ea"/>
                  <a:ea typeface="+mn-ea"/>
                </a:rPr>
                <a:t>/</a:t>
              </a:r>
              <a:r>
                <a:rPr lang="zh-CN" altLang="en-US" sz="1600">
                  <a:latin typeface="+mn-ea"/>
                  <a:ea typeface="+mn-ea"/>
                </a:rPr>
                <a:t>二进制文件</a:t>
              </a:r>
            </a:p>
          </p:txBody>
        </p:sp>
        <p:sp>
          <p:nvSpPr>
            <p:cNvPr id="16" name="Text Box 20"/>
            <p:cNvSpPr txBox="1">
              <a:spLocks noChangeArrowheads="1"/>
            </p:cNvSpPr>
            <p:nvPr/>
          </p:nvSpPr>
          <p:spPr bwMode="auto">
            <a:xfrm>
              <a:off x="2289" y="1339"/>
              <a:ext cx="2417" cy="2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1600">
                  <a:latin typeface="+mn-ea"/>
                  <a:ea typeface="+mn-ea"/>
                </a:rPr>
                <a:t>为读</a:t>
              </a:r>
              <a:r>
                <a:rPr lang="en-US" altLang="zh-CN" sz="1600">
                  <a:latin typeface="+mn-ea"/>
                  <a:ea typeface="+mn-ea"/>
                </a:rPr>
                <a:t>/</a:t>
              </a:r>
              <a:r>
                <a:rPr lang="zh-CN" altLang="en-US" sz="1600">
                  <a:latin typeface="+mn-ea"/>
                  <a:ea typeface="+mn-ea"/>
                </a:rPr>
                <a:t>写打开一个文本</a:t>
              </a:r>
              <a:r>
                <a:rPr lang="en-US" altLang="zh-CN" sz="1600">
                  <a:latin typeface="+mn-ea"/>
                  <a:ea typeface="+mn-ea"/>
                </a:rPr>
                <a:t>/</a:t>
              </a:r>
              <a:r>
                <a:rPr lang="zh-CN" altLang="en-US" sz="1600">
                  <a:latin typeface="+mn-ea"/>
                  <a:ea typeface="+mn-ea"/>
                </a:rPr>
                <a:t>二进制文件</a:t>
              </a:r>
            </a:p>
          </p:txBody>
        </p:sp>
        <p:sp>
          <p:nvSpPr>
            <p:cNvPr id="17" name="Text Box 21"/>
            <p:cNvSpPr txBox="1">
              <a:spLocks noChangeArrowheads="1"/>
            </p:cNvSpPr>
            <p:nvPr/>
          </p:nvSpPr>
          <p:spPr bwMode="auto">
            <a:xfrm>
              <a:off x="2331" y="1638"/>
              <a:ext cx="2417" cy="2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1600">
                  <a:latin typeface="+mn-ea"/>
                  <a:ea typeface="+mn-ea"/>
                </a:rPr>
                <a:t>为读</a:t>
              </a:r>
              <a:r>
                <a:rPr lang="en-US" altLang="zh-CN" sz="1600">
                  <a:latin typeface="+mn-ea"/>
                  <a:ea typeface="+mn-ea"/>
                </a:rPr>
                <a:t>/</a:t>
              </a:r>
              <a:r>
                <a:rPr lang="zh-CN" altLang="en-US" sz="1600">
                  <a:latin typeface="+mn-ea"/>
                  <a:ea typeface="+mn-ea"/>
                </a:rPr>
                <a:t>写建立一个文本</a:t>
              </a:r>
              <a:r>
                <a:rPr lang="en-US" altLang="zh-CN" sz="1600">
                  <a:latin typeface="+mn-ea"/>
                  <a:ea typeface="+mn-ea"/>
                </a:rPr>
                <a:t>/</a:t>
              </a:r>
              <a:r>
                <a:rPr lang="zh-CN" altLang="en-US" sz="1600">
                  <a:latin typeface="+mn-ea"/>
                  <a:ea typeface="+mn-ea"/>
                </a:rPr>
                <a:t>二进制文件</a:t>
              </a:r>
            </a:p>
          </p:txBody>
        </p:sp>
        <p:sp>
          <p:nvSpPr>
            <p:cNvPr id="18" name="Text Box 22"/>
            <p:cNvSpPr txBox="1">
              <a:spLocks noChangeArrowheads="1"/>
            </p:cNvSpPr>
            <p:nvPr/>
          </p:nvSpPr>
          <p:spPr bwMode="auto">
            <a:xfrm>
              <a:off x="2061" y="1947"/>
              <a:ext cx="2873" cy="2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1600">
                  <a:latin typeface="+mn-ea"/>
                  <a:ea typeface="+mn-ea"/>
                </a:rPr>
                <a:t>为读</a:t>
              </a:r>
              <a:r>
                <a:rPr lang="en-US" altLang="zh-CN" sz="1600">
                  <a:latin typeface="+mn-ea"/>
                  <a:ea typeface="+mn-ea"/>
                </a:rPr>
                <a:t>/</a:t>
              </a:r>
              <a:r>
                <a:rPr lang="zh-CN" altLang="en-US" sz="1600">
                  <a:latin typeface="+mn-ea"/>
                  <a:ea typeface="+mn-ea"/>
                </a:rPr>
                <a:t>写打开或建立一个文本</a:t>
              </a:r>
              <a:r>
                <a:rPr lang="en-US" altLang="zh-CN" sz="1600">
                  <a:latin typeface="+mn-ea"/>
                  <a:ea typeface="+mn-ea"/>
                </a:rPr>
                <a:t>/</a:t>
              </a:r>
              <a:r>
                <a:rPr lang="zh-CN" altLang="en-US" sz="1600">
                  <a:latin typeface="+mn-ea"/>
                  <a:ea typeface="+mn-ea"/>
                </a:rPr>
                <a:t>二进制文件</a:t>
              </a:r>
            </a:p>
          </p:txBody>
        </p:sp>
        <p:sp>
          <p:nvSpPr>
            <p:cNvPr id="19" name="Text Box 23"/>
            <p:cNvSpPr txBox="1">
              <a:spLocks noChangeArrowheads="1"/>
            </p:cNvSpPr>
            <p:nvPr/>
          </p:nvSpPr>
          <p:spPr bwMode="auto">
            <a:xfrm>
              <a:off x="2325" y="1103"/>
              <a:ext cx="2189" cy="2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1600">
                  <a:latin typeface="+mn-ea"/>
                  <a:ea typeface="+mn-ea"/>
                </a:rPr>
                <a:t>向文本</a:t>
              </a:r>
              <a:r>
                <a:rPr lang="en-US" altLang="zh-CN" sz="1600">
                  <a:latin typeface="+mn-ea"/>
                  <a:ea typeface="+mn-ea"/>
                </a:rPr>
                <a:t>/</a:t>
              </a:r>
              <a:r>
                <a:rPr lang="zh-CN" altLang="en-US" sz="1600">
                  <a:latin typeface="+mn-ea"/>
                  <a:ea typeface="+mn-ea"/>
                </a:rPr>
                <a:t>二进制文件尾</a:t>
              </a:r>
              <a:r>
                <a:rPr lang="zh-CN" altLang="en-US" sz="1600">
                  <a:solidFill>
                    <a:srgbClr val="FF0000"/>
                  </a:solidFill>
                  <a:latin typeface="+mn-ea"/>
                  <a:ea typeface="+mn-ea"/>
                </a:rPr>
                <a:t>追加</a:t>
              </a:r>
              <a:r>
                <a:rPr lang="zh-CN" altLang="en-US" sz="1600">
                  <a:latin typeface="+mn-ea"/>
                  <a:ea typeface="+mn-ea"/>
                </a:rPr>
                <a:t>数据</a:t>
              </a:r>
            </a:p>
          </p:txBody>
        </p:sp>
        <p:sp>
          <p:nvSpPr>
            <p:cNvPr id="20" name="Text Box 24"/>
            <p:cNvSpPr txBox="1">
              <a:spLocks noChangeArrowheads="1"/>
            </p:cNvSpPr>
            <p:nvPr/>
          </p:nvSpPr>
          <p:spPr bwMode="auto">
            <a:xfrm>
              <a:off x="593" y="246"/>
              <a:ext cx="1049" cy="2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1600">
                  <a:solidFill>
                    <a:srgbClr val="339933"/>
                  </a:solidFill>
                  <a:latin typeface="+mn-ea"/>
                  <a:ea typeface="+mn-ea"/>
                </a:rPr>
                <a:t>文件使用方式</a:t>
              </a:r>
              <a:endParaRPr lang="zh-CN" altLang="en-US" sz="1600">
                <a:latin typeface="+mn-ea"/>
                <a:ea typeface="+mn-ea"/>
              </a:endParaRPr>
            </a:p>
          </p:txBody>
        </p:sp>
        <p:sp>
          <p:nvSpPr>
            <p:cNvPr id="21" name="Text Box 25"/>
            <p:cNvSpPr txBox="1">
              <a:spLocks noChangeArrowheads="1"/>
            </p:cNvSpPr>
            <p:nvPr/>
          </p:nvSpPr>
          <p:spPr bwMode="auto">
            <a:xfrm>
              <a:off x="2858" y="235"/>
              <a:ext cx="441" cy="2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1600">
                  <a:solidFill>
                    <a:srgbClr val="339933"/>
                  </a:solidFill>
                  <a:latin typeface="+mn-ea"/>
                  <a:ea typeface="+mn-ea"/>
                </a:rPr>
                <a:t>含义</a:t>
              </a:r>
              <a:endParaRPr lang="zh-CN" altLang="en-US" sz="1600">
                <a:latin typeface="+mn-ea"/>
                <a:ea typeface="+mn-ea"/>
              </a:endParaRPr>
            </a:p>
          </p:txBody>
        </p:sp>
        <p:sp>
          <p:nvSpPr>
            <p:cNvPr id="22" name="Line 26"/>
            <p:cNvSpPr>
              <a:spLocks noChangeShapeType="1"/>
            </p:cNvSpPr>
            <p:nvPr/>
          </p:nvSpPr>
          <p:spPr bwMode="auto">
            <a:xfrm flipV="1">
              <a:off x="422" y="498"/>
              <a:ext cx="4831" cy="13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Line 27"/>
            <p:cNvSpPr>
              <a:spLocks noChangeShapeType="1"/>
            </p:cNvSpPr>
            <p:nvPr/>
          </p:nvSpPr>
          <p:spPr bwMode="auto">
            <a:xfrm flipV="1">
              <a:off x="429" y="793"/>
              <a:ext cx="4824" cy="3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Line 28"/>
            <p:cNvSpPr>
              <a:spLocks noChangeShapeType="1"/>
            </p:cNvSpPr>
            <p:nvPr/>
          </p:nvSpPr>
          <p:spPr bwMode="auto">
            <a:xfrm>
              <a:off x="430" y="1074"/>
              <a:ext cx="4832" cy="13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" name="Line 29"/>
            <p:cNvSpPr>
              <a:spLocks noChangeShapeType="1"/>
            </p:cNvSpPr>
            <p:nvPr/>
          </p:nvSpPr>
          <p:spPr bwMode="auto">
            <a:xfrm flipV="1">
              <a:off x="422" y="1324"/>
              <a:ext cx="4831" cy="15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" name="Line 30"/>
            <p:cNvSpPr>
              <a:spLocks noChangeShapeType="1"/>
            </p:cNvSpPr>
            <p:nvPr/>
          </p:nvSpPr>
          <p:spPr bwMode="auto">
            <a:xfrm>
              <a:off x="429" y="1618"/>
              <a:ext cx="4824" cy="3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Line 31"/>
            <p:cNvSpPr>
              <a:spLocks noChangeShapeType="1"/>
            </p:cNvSpPr>
            <p:nvPr/>
          </p:nvSpPr>
          <p:spPr bwMode="auto">
            <a:xfrm>
              <a:off x="429" y="1896"/>
              <a:ext cx="4824" cy="2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8" name="内容占位符 2"/>
          <p:cNvSpPr txBox="1">
            <a:spLocks/>
          </p:cNvSpPr>
          <p:nvPr/>
        </p:nvSpPr>
        <p:spPr>
          <a:xfrm>
            <a:off x="741468" y="2792330"/>
            <a:ext cx="6071997" cy="122773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/>
              <a:t>fclose</a:t>
            </a:r>
            <a:r>
              <a:rPr lang="zh-CN" altLang="en-US" sz="1800"/>
              <a:t>函数原型：</a:t>
            </a:r>
            <a:r>
              <a:rPr lang="en-US" altLang="zh-CN" sz="1800">
                <a:solidFill>
                  <a:schemeClr val="tx2"/>
                </a:solidFill>
              </a:rPr>
              <a:t>int  fclose(FILE  *fp);</a:t>
            </a:r>
            <a:endParaRPr lang="en-US" altLang="zh-CN" sz="1800"/>
          </a:p>
          <a:p>
            <a:r>
              <a:rPr lang="zh-CN" altLang="en-US" sz="1800"/>
              <a:t>功能：关闭</a:t>
            </a:r>
            <a:r>
              <a:rPr lang="en-US" altLang="zh-CN" sz="1800"/>
              <a:t>fp</a:t>
            </a:r>
            <a:r>
              <a:rPr lang="zh-CN" altLang="zh-CN" sz="1800"/>
              <a:t>指向的文件</a:t>
            </a:r>
            <a:r>
              <a:rPr lang="zh-CN" altLang="en-US" sz="1800"/>
              <a:t>，释放文件结构体</a:t>
            </a:r>
            <a:endParaRPr lang="en-US" altLang="zh-CN" sz="1800"/>
          </a:p>
          <a:p>
            <a:r>
              <a:rPr lang="zh-CN" altLang="zh-CN" sz="1800"/>
              <a:t>返值：正常关闭为0</a:t>
            </a:r>
            <a:r>
              <a:rPr lang="zh-CN" altLang="en-US" sz="1800"/>
              <a:t>，</a:t>
            </a:r>
            <a:r>
              <a:rPr lang="zh-CN" altLang="zh-CN" sz="1800"/>
              <a:t>出错时非0</a:t>
            </a:r>
          </a:p>
        </p:txBody>
      </p:sp>
      <p:sp>
        <p:nvSpPr>
          <p:cNvPr id="29" name="Text Box 6"/>
          <p:cNvSpPr txBox="1">
            <a:spLocks noChangeArrowheads="1"/>
          </p:cNvSpPr>
          <p:nvPr/>
        </p:nvSpPr>
        <p:spPr bwMode="auto">
          <a:xfrm>
            <a:off x="7184023" y="1487821"/>
            <a:ext cx="4002962" cy="224895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dirty="0">
                <a:latin typeface="+mn-ea"/>
                <a:ea typeface="+mn-ea"/>
              </a:rPr>
              <a:t>例：文件打开与测试 </a:t>
            </a:r>
          </a:p>
          <a:p>
            <a:pPr eaLnBrk="1" hangingPunct="1"/>
            <a:r>
              <a:rPr lang="zh-CN" altLang="en-US" sz="2000" dirty="0">
                <a:latin typeface="Times New Roman" panose="02020603050405020304" pitchFamily="18" charset="0"/>
                <a:ea typeface="隶书" panose="02010509060101010101" pitchFamily="49" charset="-122"/>
              </a:rPr>
              <a:t>      </a:t>
            </a:r>
            <a:r>
              <a:rPr lang="en-US" altLang="zh-CN" sz="2000" dirty="0">
                <a:latin typeface="Times New Roman" panose="02020603050405020304" pitchFamily="18" charset="0"/>
                <a:ea typeface="隶书" panose="02010509060101010101" pitchFamily="49" charset="-122"/>
              </a:rPr>
              <a:t>FILE   *</a:t>
            </a:r>
            <a:r>
              <a:rPr lang="en-US" altLang="zh-CN" sz="2000" dirty="0" err="1">
                <a:latin typeface="Times New Roman" panose="02020603050405020304" pitchFamily="18" charset="0"/>
                <a:ea typeface="隶书" panose="02010509060101010101" pitchFamily="49" charset="-122"/>
              </a:rPr>
              <a:t>fp</a:t>
            </a:r>
            <a:r>
              <a:rPr lang="en-US" altLang="zh-CN" sz="2000" dirty="0">
                <a:latin typeface="Times New Roman" panose="02020603050405020304" pitchFamily="18" charset="0"/>
                <a:ea typeface="隶书" panose="02010509060101010101" pitchFamily="49" charset="-122"/>
              </a:rPr>
              <a:t>;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隶书" panose="02010509060101010101" pitchFamily="49" charset="-122"/>
              </a:rPr>
              <a:t>      </a:t>
            </a:r>
            <a:r>
              <a:rPr lang="en-US" altLang="zh-CN" sz="2000" dirty="0" err="1">
                <a:latin typeface="Times New Roman" panose="02020603050405020304" pitchFamily="18" charset="0"/>
                <a:ea typeface="隶书" panose="02010509060101010101" pitchFamily="49" charset="-122"/>
              </a:rPr>
              <a:t>fp</a:t>
            </a:r>
            <a:r>
              <a:rPr lang="en-US" altLang="zh-CN" sz="2000" dirty="0">
                <a:latin typeface="Times New Roman" panose="02020603050405020304" pitchFamily="18" charset="0"/>
                <a:ea typeface="隶书" panose="02010509060101010101" pitchFamily="49" charset="-122"/>
              </a:rPr>
              <a:t> = </a:t>
            </a:r>
            <a:r>
              <a:rPr lang="en-US" altLang="zh-CN" sz="2000" dirty="0" err="1">
                <a:latin typeface="Times New Roman" panose="02020603050405020304" pitchFamily="18" charset="0"/>
                <a:ea typeface="隶书" panose="02010509060101010101" pitchFamily="49" charset="-122"/>
              </a:rPr>
              <a:t>fopen</a:t>
            </a:r>
            <a:r>
              <a:rPr lang="en-US" altLang="zh-CN" sz="2000" dirty="0">
                <a:latin typeface="Times New Roman" panose="02020603050405020304" pitchFamily="18" charset="0"/>
                <a:ea typeface="隶书" panose="02010509060101010101" pitchFamily="49" charset="-122"/>
              </a:rPr>
              <a:t>(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ea typeface="隶书" panose="02010509060101010101" pitchFamily="49" charset="-122"/>
              </a:rPr>
              <a:t>"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c:\\py\\test.dat</a:t>
            </a:r>
            <a:r>
              <a:rPr lang="en-US" altLang="zh-CN" sz="2000" dirty="0">
                <a:latin typeface="Times New Roman" panose="02020603050405020304" pitchFamily="18" charset="0"/>
                <a:ea typeface="隶书" panose="02010509060101010101" pitchFamily="49" charset="-122"/>
              </a:rPr>
              <a:t>", "r");</a:t>
            </a:r>
          </a:p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隶书" panose="02010509060101010101" pitchFamily="49" charset="-122"/>
              </a:rPr>
              <a:t>      if(</a:t>
            </a:r>
            <a:r>
              <a:rPr lang="en-US" altLang="zh-CN" sz="2000" dirty="0" err="1">
                <a:solidFill>
                  <a:srgbClr val="0066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fp</a:t>
            </a:r>
            <a:r>
              <a:rPr lang="en-US" altLang="zh-CN" sz="2000" dirty="0">
                <a:solidFill>
                  <a:srgbClr val="0066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== 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NULL</a:t>
            </a:r>
            <a:r>
              <a:rPr lang="en-US" altLang="zh-CN" sz="2000" dirty="0">
                <a:latin typeface="Times New Roman" panose="02020603050405020304" pitchFamily="18" charset="0"/>
                <a:ea typeface="隶书" panose="02010509060101010101" pitchFamily="49" charset="-122"/>
              </a:rPr>
              <a:t>){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隶书" panose="02010509060101010101" pitchFamily="49" charset="-122"/>
              </a:rPr>
              <a:t>            </a:t>
            </a:r>
            <a:r>
              <a:rPr lang="en-US" altLang="zh-CN" sz="2000" dirty="0" err="1">
                <a:latin typeface="Times New Roman" panose="02020603050405020304" pitchFamily="18" charset="0"/>
                <a:ea typeface="隶书" panose="02010509060101010101" pitchFamily="49" charset="-122"/>
              </a:rPr>
              <a:t>printf</a:t>
            </a:r>
            <a:r>
              <a:rPr lang="en-US" altLang="zh-CN" sz="2000" dirty="0">
                <a:latin typeface="Times New Roman" panose="02020603050405020304" pitchFamily="18" charset="0"/>
                <a:ea typeface="隶书" panose="02010509060101010101" pitchFamily="49" charset="-122"/>
              </a:rPr>
              <a:t>("File open error!\n");</a:t>
            </a:r>
          </a:p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隶书" panose="02010509060101010101" pitchFamily="49" charset="-122"/>
              </a:rPr>
              <a:t>            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exit(0);</a:t>
            </a:r>
            <a:endParaRPr lang="en-US" altLang="zh-CN" sz="2000" dirty="0"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隶书" panose="02010509060101010101" pitchFamily="49" charset="-122"/>
              </a:rPr>
              <a:t>     }</a:t>
            </a:r>
          </a:p>
        </p:txBody>
      </p:sp>
    </p:spTree>
    <p:extLst>
      <p:ext uri="{BB962C8B-B14F-4D97-AF65-F5344CB8AC3E}">
        <p14:creationId xmlns:p14="http://schemas.microsoft.com/office/powerpoint/2010/main" val="561578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mute="1"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mute="1"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79389" y="69553"/>
            <a:ext cx="5307227" cy="1325563"/>
          </a:xfrm>
        </p:spPr>
        <p:txBody>
          <a:bodyPr/>
          <a:lstStyle/>
          <a:p>
            <a:r>
              <a:rPr lang="zh-CN" altLang="en-US" dirty="0"/>
              <a:t>字符读写函数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36821" y="1690687"/>
            <a:ext cx="5049795" cy="2955453"/>
          </a:xfrm>
          <a:ln w="19050">
            <a:solidFill>
              <a:srgbClr val="0070C0"/>
            </a:solidFill>
          </a:ln>
        </p:spPr>
        <p:txBody>
          <a:bodyPr>
            <a:normAutofit fontScale="92500" lnSpcReduction="20000"/>
          </a:bodyPr>
          <a:lstStyle/>
          <a:p>
            <a:pPr marL="182880" lvl="2" indent="0">
              <a:buNone/>
            </a:pPr>
            <a:r>
              <a:rPr lang="en-US" altLang="zh-CN" sz="2200"/>
              <a:t>fputc()</a:t>
            </a:r>
          </a:p>
          <a:p>
            <a:pPr marL="182880" lvl="2" indent="0">
              <a:buNone/>
            </a:pPr>
            <a:r>
              <a:rPr lang="zh-CN" altLang="en-US" sz="2200"/>
              <a:t>函数原型：</a:t>
            </a:r>
            <a:r>
              <a:rPr lang="en-US" altLang="zh-CN" sz="2200">
                <a:solidFill>
                  <a:schemeClr val="tx2"/>
                </a:solidFill>
              </a:rPr>
              <a:t>int  fputc(char c, FILE *fp);</a:t>
            </a:r>
          </a:p>
          <a:p>
            <a:pPr marL="182880" lvl="2" indent="0">
              <a:buNone/>
            </a:pPr>
            <a:r>
              <a:rPr lang="zh-CN" altLang="en-US" sz="2200"/>
              <a:t>功能：把一字节代码</a:t>
            </a:r>
            <a:r>
              <a:rPr lang="en-US" altLang="zh-CN" sz="2200"/>
              <a:t>c</a:t>
            </a:r>
            <a:r>
              <a:rPr lang="zh-CN" altLang="zh-CN" sz="2200"/>
              <a:t>写入</a:t>
            </a:r>
            <a:r>
              <a:rPr lang="en-US" altLang="zh-CN" sz="2200"/>
              <a:t>fp</a:t>
            </a:r>
            <a:r>
              <a:rPr lang="zh-CN" altLang="zh-CN" sz="2200"/>
              <a:t>指向的文件中</a:t>
            </a:r>
            <a:endParaRPr lang="en-US" altLang="zh-CN" sz="2200"/>
          </a:p>
          <a:p>
            <a:pPr marL="182880" lvl="2" indent="0">
              <a:buNone/>
            </a:pPr>
            <a:r>
              <a:rPr lang="zh-CN" altLang="zh-CN" sz="2200"/>
              <a:t>返值：正常，返回</a:t>
            </a:r>
            <a:r>
              <a:rPr lang="en-US" altLang="zh-CN" sz="2200"/>
              <a:t>c</a:t>
            </a:r>
            <a:r>
              <a:rPr lang="zh-CN" altLang="en-US" sz="2200"/>
              <a:t>；</a:t>
            </a:r>
            <a:r>
              <a:rPr lang="zh-CN" altLang="zh-CN" sz="2200"/>
              <a:t>出错，返回非</a:t>
            </a:r>
            <a:r>
              <a:rPr lang="en-US" altLang="zh-CN" sz="2200"/>
              <a:t>0</a:t>
            </a:r>
          </a:p>
          <a:p>
            <a:pPr marL="182880" lvl="2" indent="0">
              <a:buNone/>
            </a:pPr>
            <a:r>
              <a:rPr lang="en-US" altLang="zh-CN" sz="2200"/>
              <a:t>fgetc()</a:t>
            </a:r>
          </a:p>
          <a:p>
            <a:pPr marL="182880" lvl="2" indent="0">
              <a:buNone/>
            </a:pPr>
            <a:r>
              <a:rPr lang="zh-CN" altLang="en-US" sz="2200"/>
              <a:t>函数原型：</a:t>
            </a:r>
            <a:r>
              <a:rPr lang="en-US" altLang="zh-CN" sz="2200">
                <a:solidFill>
                  <a:schemeClr val="tx2"/>
                </a:solidFill>
              </a:rPr>
              <a:t>int  fgetc(FILE *fp);</a:t>
            </a:r>
          </a:p>
          <a:p>
            <a:pPr marL="182880" lvl="2" indent="0">
              <a:buNone/>
            </a:pPr>
            <a:r>
              <a:rPr lang="zh-CN" altLang="en-US" sz="2200"/>
              <a:t>功能：从</a:t>
            </a:r>
            <a:r>
              <a:rPr lang="en-US" altLang="zh-CN" sz="2200"/>
              <a:t>fp</a:t>
            </a:r>
            <a:r>
              <a:rPr lang="zh-CN" altLang="zh-CN" sz="2200"/>
              <a:t>指向的文件中读取</a:t>
            </a:r>
            <a:r>
              <a:rPr lang="zh-CN" altLang="en-US" sz="2200"/>
              <a:t>一字节代码</a:t>
            </a:r>
            <a:endParaRPr lang="en-US" altLang="zh-CN" sz="2200"/>
          </a:p>
          <a:p>
            <a:pPr marL="182880" lvl="2" indent="0">
              <a:buNone/>
            </a:pPr>
            <a:r>
              <a:rPr lang="zh-CN" altLang="zh-CN" sz="2200"/>
              <a:t>返值：正常，返回读到的字符；</a:t>
            </a:r>
            <a:endParaRPr lang="en-US" altLang="zh-CN" sz="2200"/>
          </a:p>
          <a:p>
            <a:pPr marL="182880" lvl="2" indent="0">
              <a:buNone/>
            </a:pPr>
            <a:r>
              <a:rPr lang="en-US" altLang="zh-CN" sz="2200"/>
              <a:t>              </a:t>
            </a:r>
            <a:r>
              <a:rPr lang="zh-CN" altLang="zh-CN" sz="2200"/>
              <a:t>读到文件尾或出错，为</a:t>
            </a:r>
            <a:r>
              <a:rPr lang="en-US" altLang="zh-CN" sz="2200"/>
              <a:t>EOF</a:t>
            </a:r>
          </a:p>
          <a:p>
            <a:pPr marL="182880"/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13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ctangle 10"/>
          <p:cNvSpPr>
            <a:spLocks noChangeArrowheads="1"/>
          </p:cNvSpPr>
          <p:nvPr/>
        </p:nvSpPr>
        <p:spPr bwMode="auto">
          <a:xfrm>
            <a:off x="6186615" y="941238"/>
            <a:ext cx="4596713" cy="5634492"/>
          </a:xfrm>
          <a:prstGeom prst="rect">
            <a:avLst/>
          </a:prstGeom>
          <a:noFill/>
          <a:ln w="1905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 lIns="90000" tIns="46800" rIns="90000" bIns="4680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 dirty="0">
                <a:latin typeface="Times New Roman" panose="02020603050405020304" pitchFamily="18" charset="0"/>
              </a:rPr>
              <a:t>#include &lt;</a:t>
            </a:r>
            <a:r>
              <a:rPr lang="en-US" altLang="zh-CN" sz="2000" dirty="0" err="1">
                <a:latin typeface="Times New Roman" panose="02020603050405020304" pitchFamily="18" charset="0"/>
              </a:rPr>
              <a:t>stdio.h</a:t>
            </a:r>
            <a:r>
              <a:rPr lang="en-US" altLang="zh-CN" sz="2000" dirty="0">
                <a:latin typeface="Times New Roman" panose="02020603050405020304" pitchFamily="18" charset="0"/>
              </a:rPr>
              <a:t>&gt;</a:t>
            </a:r>
          </a:p>
          <a:p>
            <a:r>
              <a:rPr lang="en-US" altLang="zh-CN" sz="2000" dirty="0">
                <a:latin typeface="Times New Roman" panose="02020603050405020304" pitchFamily="18" charset="0"/>
              </a:rPr>
              <a:t>#include&lt;stdlib.h&gt;</a:t>
            </a:r>
          </a:p>
          <a:p>
            <a:r>
              <a:rPr lang="en-US" altLang="zh-CN" sz="2000" dirty="0">
                <a:latin typeface="Times New Roman" panose="02020603050405020304" pitchFamily="18" charset="0"/>
              </a:rPr>
              <a:t>int main(void){</a:t>
            </a:r>
          </a:p>
          <a:p>
            <a:r>
              <a:rPr lang="en-US" altLang="zh-CN" sz="2000" dirty="0">
                <a:latin typeface="Times New Roman" panose="02020603050405020304" pitchFamily="18" charset="0"/>
              </a:rPr>
              <a:t>    FILE *</a:t>
            </a:r>
            <a:r>
              <a:rPr lang="en-US" altLang="zh-CN" sz="2000" dirty="0" err="1">
                <a:latin typeface="Times New Roman" panose="02020603050405020304" pitchFamily="18" charset="0"/>
              </a:rPr>
              <a:t>fp</a:t>
            </a:r>
            <a:r>
              <a:rPr lang="en-US" altLang="zh-CN" sz="2000" dirty="0">
                <a:latin typeface="Times New Roman" panose="02020603050405020304" pitchFamily="18" charset="0"/>
              </a:rPr>
              <a:t>;</a:t>
            </a:r>
          </a:p>
          <a:p>
            <a:r>
              <a:rPr lang="en-US" altLang="zh-CN" sz="2000" dirty="0">
                <a:latin typeface="Times New Roman" panose="02020603050405020304" pitchFamily="18" charset="0"/>
              </a:rPr>
              <a:t>    char </a:t>
            </a:r>
            <a:r>
              <a:rPr lang="en-US" altLang="zh-CN" sz="2000" dirty="0" err="1">
                <a:latin typeface="Times New Roman" panose="02020603050405020304" pitchFamily="18" charset="0"/>
              </a:rPr>
              <a:t>ch</a:t>
            </a:r>
            <a:r>
              <a:rPr lang="en-US" altLang="zh-CN" sz="2000" dirty="0">
                <a:latin typeface="Times New Roman" panose="02020603050405020304" pitchFamily="18" charset="0"/>
              </a:rPr>
              <a:t>,*filename="out.txt";</a:t>
            </a:r>
          </a:p>
          <a:p>
            <a:r>
              <a:rPr lang="en-US" altLang="zh-CN" sz="2000" dirty="0">
                <a:latin typeface="Times New Roman" panose="02020603050405020304" pitchFamily="18" charset="0"/>
              </a:rPr>
              <a:t>    if((</a:t>
            </a:r>
            <a:r>
              <a:rPr lang="en-US" altLang="zh-CN" sz="2000" dirty="0" err="1">
                <a:latin typeface="Times New Roman" panose="02020603050405020304" pitchFamily="18" charset="0"/>
              </a:rPr>
              <a:t>fp</a:t>
            </a:r>
            <a:r>
              <a:rPr lang="en-US" altLang="zh-CN" sz="2000" dirty="0">
                <a:latin typeface="Times New Roman" panose="02020603050405020304" pitchFamily="18" charset="0"/>
              </a:rPr>
              <a:t>=</a:t>
            </a:r>
            <a:r>
              <a:rPr lang="en-US" altLang="zh-CN" sz="2000" dirty="0" err="1">
                <a:latin typeface="Times New Roman" panose="02020603050405020304" pitchFamily="18" charset="0"/>
              </a:rPr>
              <a:t>fopen</a:t>
            </a:r>
            <a:r>
              <a:rPr lang="en-US" altLang="zh-CN" sz="2000" dirty="0">
                <a:latin typeface="Times New Roman" panose="02020603050405020304" pitchFamily="18" charset="0"/>
              </a:rPr>
              <a:t>(</a:t>
            </a:r>
            <a:r>
              <a:rPr lang="en-US" altLang="zh-CN" sz="2000" dirty="0" err="1">
                <a:latin typeface="Times New Roman" panose="02020603050405020304" pitchFamily="18" charset="0"/>
              </a:rPr>
              <a:t>filename,"w</a:t>
            </a:r>
            <a:r>
              <a:rPr lang="en-US" altLang="zh-CN" sz="2000" dirty="0">
                <a:latin typeface="Times New Roman" panose="02020603050405020304" pitchFamily="18" charset="0"/>
              </a:rPr>
              <a:t>"))==NULL){</a:t>
            </a:r>
          </a:p>
          <a:p>
            <a:r>
              <a:rPr lang="en-US" altLang="zh-CN" sz="2000" dirty="0">
                <a:latin typeface="Times New Roman" panose="02020603050405020304" pitchFamily="18" charset="0"/>
              </a:rPr>
              <a:t>         </a:t>
            </a:r>
            <a:r>
              <a:rPr lang="en-US" altLang="zh-CN" sz="2000" dirty="0" err="1">
                <a:latin typeface="Times New Roman" panose="02020603050405020304" pitchFamily="18" charset="0"/>
              </a:rPr>
              <a:t>printf</a:t>
            </a:r>
            <a:r>
              <a:rPr lang="en-US" altLang="zh-CN" sz="2000" dirty="0">
                <a:latin typeface="Times New Roman" panose="02020603050405020304" pitchFamily="18" charset="0"/>
              </a:rPr>
              <a:t>("cannot open file\n");</a:t>
            </a:r>
          </a:p>
          <a:p>
            <a:r>
              <a:rPr lang="en-US" altLang="zh-CN" sz="2000" dirty="0">
                <a:latin typeface="Times New Roman" panose="02020603050405020304" pitchFamily="18" charset="0"/>
              </a:rPr>
              <a:t>	  exit(0);</a:t>
            </a:r>
          </a:p>
          <a:p>
            <a:r>
              <a:rPr lang="en-US" altLang="zh-CN" sz="2000" dirty="0">
                <a:latin typeface="Times New Roman" panose="02020603050405020304" pitchFamily="18" charset="0"/>
              </a:rPr>
              <a:t>    }</a:t>
            </a:r>
          </a:p>
          <a:p>
            <a:r>
              <a:rPr lang="en-US" altLang="zh-CN" sz="2000" dirty="0">
                <a:latin typeface="Times New Roman" panose="02020603050405020304" pitchFamily="18" charset="0"/>
              </a:rPr>
              <a:t>    </a:t>
            </a:r>
            <a:r>
              <a:rPr lang="en-US" altLang="zh-CN" sz="2000" dirty="0" err="1">
                <a:latin typeface="Times New Roman" panose="02020603050405020304" pitchFamily="18" charset="0"/>
              </a:rPr>
              <a:t>printf</a:t>
            </a:r>
            <a:r>
              <a:rPr lang="en-US" altLang="zh-CN" sz="2000" dirty="0">
                <a:latin typeface="Times New Roman" panose="02020603050405020304" pitchFamily="18" charset="0"/>
              </a:rPr>
              <a:t>("Please input string:");</a:t>
            </a:r>
          </a:p>
          <a:p>
            <a:r>
              <a:rPr lang="en-US" altLang="zh-CN" sz="2000" dirty="0">
                <a:latin typeface="Times New Roman" panose="02020603050405020304" pitchFamily="18" charset="0"/>
              </a:rPr>
              <a:t>    </a:t>
            </a:r>
            <a:r>
              <a:rPr lang="en-US" altLang="zh-CN" sz="2000" dirty="0" err="1">
                <a:latin typeface="Times New Roman" panose="02020603050405020304" pitchFamily="18" charset="0"/>
              </a:rPr>
              <a:t>ch</a:t>
            </a:r>
            <a:r>
              <a:rPr lang="en-US" altLang="zh-CN" sz="2000" dirty="0">
                <a:latin typeface="Times New Roman" panose="02020603050405020304" pitchFamily="18" charset="0"/>
              </a:rPr>
              <a:t>=</a:t>
            </a:r>
            <a:r>
              <a:rPr lang="en-US" altLang="zh-CN" sz="2000" dirty="0" err="1">
                <a:latin typeface="Times New Roman" panose="02020603050405020304" pitchFamily="18" charset="0"/>
              </a:rPr>
              <a:t>getchar</a:t>
            </a:r>
            <a:r>
              <a:rPr lang="en-US" altLang="zh-CN" sz="2000" dirty="0">
                <a:latin typeface="Times New Roman" panose="02020603050405020304" pitchFamily="18" charset="0"/>
              </a:rPr>
              <a:t>();</a:t>
            </a:r>
          </a:p>
          <a:p>
            <a:r>
              <a:rPr lang="en-US" altLang="zh-CN" sz="2000" dirty="0">
                <a:latin typeface="Times New Roman" panose="02020603050405020304" pitchFamily="18" charset="0"/>
              </a:rPr>
              <a:t>    while(</a:t>
            </a:r>
            <a:r>
              <a:rPr lang="en-US" altLang="zh-CN" sz="2000" dirty="0" err="1">
                <a:latin typeface="Times New Roman" panose="02020603050405020304" pitchFamily="18" charset="0"/>
              </a:rPr>
              <a:t>ch</a:t>
            </a:r>
            <a:r>
              <a:rPr lang="en-US" altLang="zh-CN" sz="2000" dirty="0">
                <a:latin typeface="Times New Roman" panose="02020603050405020304" pitchFamily="18" charset="0"/>
              </a:rPr>
              <a:t>!='#’){</a:t>
            </a:r>
          </a:p>
          <a:p>
            <a:r>
              <a:rPr lang="en-US" altLang="zh-CN" sz="2000" dirty="0">
                <a:latin typeface="Times New Roman" panose="02020603050405020304" pitchFamily="18" charset="0"/>
              </a:rPr>
              <a:t>          </a:t>
            </a:r>
            <a:r>
              <a:rPr lang="en-US" altLang="zh-CN" sz="2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fputc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ch,fp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);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r>
              <a:rPr lang="en-US" altLang="zh-CN" sz="2000" dirty="0">
                <a:latin typeface="Times New Roman" panose="02020603050405020304" pitchFamily="18" charset="0"/>
              </a:rPr>
              <a:t>          </a:t>
            </a:r>
            <a:r>
              <a:rPr lang="en-US" altLang="zh-CN" sz="2000" dirty="0" err="1">
                <a:latin typeface="Times New Roman" panose="02020603050405020304" pitchFamily="18" charset="0"/>
              </a:rPr>
              <a:t>putchar</a:t>
            </a:r>
            <a:r>
              <a:rPr lang="en-US" altLang="zh-CN" sz="2000" dirty="0">
                <a:latin typeface="Times New Roman" panose="02020603050405020304" pitchFamily="18" charset="0"/>
              </a:rPr>
              <a:t>(</a:t>
            </a:r>
            <a:r>
              <a:rPr lang="en-US" altLang="zh-CN" sz="2000" dirty="0" err="1">
                <a:latin typeface="Times New Roman" panose="02020603050405020304" pitchFamily="18" charset="0"/>
              </a:rPr>
              <a:t>ch</a:t>
            </a:r>
            <a:r>
              <a:rPr lang="en-US" altLang="zh-CN" sz="2000" dirty="0">
                <a:latin typeface="Times New Roman" panose="02020603050405020304" pitchFamily="18" charset="0"/>
              </a:rPr>
              <a:t>);</a:t>
            </a:r>
          </a:p>
          <a:p>
            <a:r>
              <a:rPr lang="en-US" altLang="zh-CN" sz="2000" dirty="0">
                <a:latin typeface="Times New Roman" panose="02020603050405020304" pitchFamily="18" charset="0"/>
              </a:rPr>
              <a:t>          </a:t>
            </a:r>
            <a:r>
              <a:rPr lang="en-US" altLang="zh-CN" sz="2000" dirty="0" err="1">
                <a:latin typeface="Times New Roman" panose="02020603050405020304" pitchFamily="18" charset="0"/>
              </a:rPr>
              <a:t>ch</a:t>
            </a:r>
            <a:r>
              <a:rPr lang="en-US" altLang="zh-CN" sz="2000" dirty="0">
                <a:latin typeface="Times New Roman" panose="02020603050405020304" pitchFamily="18" charset="0"/>
              </a:rPr>
              <a:t>=</a:t>
            </a:r>
            <a:r>
              <a:rPr lang="en-US" altLang="zh-CN" sz="2000" dirty="0" err="1">
                <a:latin typeface="Times New Roman" panose="02020603050405020304" pitchFamily="18" charset="0"/>
              </a:rPr>
              <a:t>getchar</a:t>
            </a:r>
            <a:r>
              <a:rPr lang="en-US" altLang="zh-CN" sz="2000" dirty="0">
                <a:latin typeface="Times New Roman" panose="02020603050405020304" pitchFamily="18" charset="0"/>
              </a:rPr>
              <a:t>();</a:t>
            </a:r>
          </a:p>
          <a:p>
            <a:r>
              <a:rPr lang="en-US" altLang="zh-CN" sz="2000" dirty="0">
                <a:latin typeface="Times New Roman" panose="02020603050405020304" pitchFamily="18" charset="0"/>
              </a:rPr>
              <a:t>    }</a:t>
            </a:r>
          </a:p>
          <a:p>
            <a:r>
              <a:rPr lang="en-US" altLang="zh-CN" sz="2000" dirty="0">
                <a:latin typeface="Times New Roman" panose="02020603050405020304" pitchFamily="18" charset="0"/>
              </a:rPr>
              <a:t>    </a:t>
            </a:r>
            <a:r>
              <a:rPr lang="en-US" altLang="zh-CN" sz="2000" dirty="0" err="1">
                <a:latin typeface="Times New Roman" panose="02020603050405020304" pitchFamily="18" charset="0"/>
              </a:rPr>
              <a:t>fclose</a:t>
            </a:r>
            <a:r>
              <a:rPr lang="en-US" altLang="zh-CN" sz="2000" dirty="0">
                <a:latin typeface="Times New Roman" panose="02020603050405020304" pitchFamily="18" charset="0"/>
              </a:rPr>
              <a:t>(</a:t>
            </a:r>
            <a:r>
              <a:rPr lang="en-US" altLang="zh-CN" sz="2000" dirty="0" err="1">
                <a:latin typeface="Times New Roman" panose="02020603050405020304" pitchFamily="18" charset="0"/>
              </a:rPr>
              <a:t>fp</a:t>
            </a:r>
            <a:r>
              <a:rPr lang="en-US" altLang="zh-CN" sz="2000" dirty="0">
                <a:latin typeface="Times New Roman" panose="02020603050405020304" pitchFamily="18" charset="0"/>
              </a:rPr>
              <a:t>);</a:t>
            </a:r>
          </a:p>
          <a:p>
            <a:r>
              <a:rPr lang="en-US" altLang="zh-CN" sz="2000" dirty="0">
                <a:latin typeface="Times New Roman" panose="02020603050405020304" pitchFamily="18" charset="0"/>
              </a:rPr>
              <a:t>}</a:t>
            </a:r>
          </a:p>
        </p:txBody>
      </p:sp>
      <p:sp>
        <p:nvSpPr>
          <p:cNvPr id="6" name="Rectangle 12"/>
          <p:cNvSpPr>
            <a:spLocks noChangeArrowheads="1"/>
          </p:cNvSpPr>
          <p:nvPr/>
        </p:nvSpPr>
        <p:spPr bwMode="auto">
          <a:xfrm>
            <a:off x="6714414" y="2454614"/>
            <a:ext cx="4596714" cy="4403386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 lIns="90000" tIns="46800" rIns="90000" bIns="4680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 dirty="0">
                <a:latin typeface="Times New Roman" panose="02020603050405020304" pitchFamily="18" charset="0"/>
              </a:rPr>
              <a:t>#include &lt;</a:t>
            </a:r>
            <a:r>
              <a:rPr lang="en-US" altLang="zh-CN" sz="2000" dirty="0" err="1">
                <a:latin typeface="Times New Roman" panose="02020603050405020304" pitchFamily="18" charset="0"/>
              </a:rPr>
              <a:t>stdio.h</a:t>
            </a:r>
            <a:r>
              <a:rPr lang="en-US" altLang="zh-CN" sz="2000" dirty="0">
                <a:latin typeface="Times New Roman" panose="02020603050405020304" pitchFamily="18" charset="0"/>
              </a:rPr>
              <a:t>&gt;</a:t>
            </a:r>
          </a:p>
          <a:p>
            <a:r>
              <a:rPr lang="en-US" altLang="zh-CN" sz="2000" dirty="0">
                <a:latin typeface="Times New Roman" panose="02020603050405020304" pitchFamily="18" charset="0"/>
              </a:rPr>
              <a:t>#include&lt;stdlib.h&gt;</a:t>
            </a:r>
          </a:p>
          <a:p>
            <a:r>
              <a:rPr lang="en-US" altLang="zh-CN" sz="2000" dirty="0">
                <a:latin typeface="Times New Roman" panose="02020603050405020304" pitchFamily="18" charset="0"/>
              </a:rPr>
              <a:t>int main(void){  </a:t>
            </a:r>
          </a:p>
          <a:p>
            <a:r>
              <a:rPr lang="en-US" altLang="zh-CN" sz="2000" dirty="0">
                <a:latin typeface="Times New Roman" panose="02020603050405020304" pitchFamily="18" charset="0"/>
              </a:rPr>
              <a:t>    FILE *</a:t>
            </a:r>
            <a:r>
              <a:rPr lang="en-US" altLang="zh-CN" sz="2000" dirty="0" err="1">
                <a:latin typeface="Times New Roman" panose="02020603050405020304" pitchFamily="18" charset="0"/>
              </a:rPr>
              <a:t>fp</a:t>
            </a:r>
            <a:r>
              <a:rPr lang="en-US" altLang="zh-CN" sz="2000" dirty="0">
                <a:latin typeface="Times New Roman" panose="02020603050405020304" pitchFamily="18" charset="0"/>
              </a:rPr>
              <a:t>;</a:t>
            </a:r>
          </a:p>
          <a:p>
            <a:r>
              <a:rPr lang="en-US" altLang="zh-CN" sz="2000" dirty="0">
                <a:latin typeface="Times New Roman" panose="02020603050405020304" pitchFamily="18" charset="0"/>
              </a:rPr>
              <a:t>    char </a:t>
            </a:r>
            <a:r>
              <a:rPr lang="en-US" altLang="zh-CN" sz="2000" dirty="0" err="1">
                <a:latin typeface="Times New Roman" panose="02020603050405020304" pitchFamily="18" charset="0"/>
              </a:rPr>
              <a:t>ch</a:t>
            </a:r>
            <a:r>
              <a:rPr lang="en-US" altLang="zh-CN" sz="2000" dirty="0">
                <a:latin typeface="Times New Roman" panose="02020603050405020304" pitchFamily="18" charset="0"/>
              </a:rPr>
              <a:t>,*filename="out.txt";</a:t>
            </a:r>
          </a:p>
          <a:p>
            <a:r>
              <a:rPr lang="en-US" altLang="zh-CN" sz="2000" dirty="0">
                <a:latin typeface="Times New Roman" panose="02020603050405020304" pitchFamily="18" charset="0"/>
              </a:rPr>
              <a:t>    if((</a:t>
            </a:r>
            <a:r>
              <a:rPr lang="en-US" altLang="zh-CN" sz="2000" dirty="0" err="1">
                <a:latin typeface="Times New Roman" panose="02020603050405020304" pitchFamily="18" charset="0"/>
              </a:rPr>
              <a:t>fp</a:t>
            </a:r>
            <a:r>
              <a:rPr lang="en-US" altLang="zh-CN" sz="2000" dirty="0">
                <a:latin typeface="Times New Roman" panose="02020603050405020304" pitchFamily="18" charset="0"/>
              </a:rPr>
              <a:t>=</a:t>
            </a:r>
            <a:r>
              <a:rPr lang="en-US" altLang="zh-CN" sz="2000" dirty="0" err="1">
                <a:latin typeface="Times New Roman" panose="02020603050405020304" pitchFamily="18" charset="0"/>
              </a:rPr>
              <a:t>fopen</a:t>
            </a:r>
            <a:r>
              <a:rPr lang="en-US" altLang="zh-CN" sz="2000" dirty="0">
                <a:latin typeface="Times New Roman" panose="02020603050405020304" pitchFamily="18" charset="0"/>
              </a:rPr>
              <a:t>(filename, "r"))==NULL){   </a:t>
            </a:r>
          </a:p>
          <a:p>
            <a:r>
              <a:rPr lang="en-US" altLang="zh-CN" sz="2000" dirty="0">
                <a:latin typeface="Times New Roman" panose="02020603050405020304" pitchFamily="18" charset="0"/>
              </a:rPr>
              <a:t>          </a:t>
            </a:r>
            <a:r>
              <a:rPr lang="en-US" altLang="zh-CN" sz="2000" dirty="0" err="1">
                <a:latin typeface="Times New Roman" panose="02020603050405020304" pitchFamily="18" charset="0"/>
              </a:rPr>
              <a:t>printf</a:t>
            </a:r>
            <a:r>
              <a:rPr lang="en-US" altLang="zh-CN" sz="2000" dirty="0">
                <a:latin typeface="Times New Roman" panose="02020603050405020304" pitchFamily="18" charset="0"/>
              </a:rPr>
              <a:t>("cannot open file\n");</a:t>
            </a:r>
          </a:p>
          <a:p>
            <a:r>
              <a:rPr lang="en-US" altLang="zh-CN" sz="2000" dirty="0">
                <a:latin typeface="Times New Roman" panose="02020603050405020304" pitchFamily="18" charset="0"/>
              </a:rPr>
              <a:t>          exit(0);</a:t>
            </a:r>
          </a:p>
          <a:p>
            <a:r>
              <a:rPr lang="en-US" altLang="zh-CN" sz="2000" dirty="0">
                <a:latin typeface="Times New Roman" panose="02020603050405020304" pitchFamily="18" charset="0"/>
              </a:rPr>
              <a:t>    }</a:t>
            </a:r>
          </a:p>
          <a:p>
            <a:r>
              <a:rPr lang="en-US" altLang="zh-CN" sz="2000" dirty="0">
                <a:latin typeface="Times New Roman" panose="02020603050405020304" pitchFamily="18" charset="0"/>
              </a:rPr>
              <a:t>    while((</a:t>
            </a:r>
            <a:r>
              <a:rPr lang="en-US" altLang="zh-CN" sz="2000" dirty="0" err="1">
                <a:solidFill>
                  <a:srgbClr val="006600"/>
                </a:solidFill>
                <a:latin typeface="Times New Roman" panose="02020603050405020304" pitchFamily="18" charset="0"/>
              </a:rPr>
              <a:t>ch</a:t>
            </a:r>
            <a:r>
              <a:rPr lang="en-US" altLang="zh-CN" sz="2000" dirty="0">
                <a:solidFill>
                  <a:srgbClr val="006600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sz="2000" dirty="0" err="1">
                <a:solidFill>
                  <a:srgbClr val="006600"/>
                </a:solidFill>
                <a:latin typeface="Times New Roman" panose="02020603050405020304" pitchFamily="18" charset="0"/>
              </a:rPr>
              <a:t>fgetc</a:t>
            </a:r>
            <a:r>
              <a:rPr lang="en-US" altLang="zh-CN" sz="2000" dirty="0">
                <a:solidFill>
                  <a:srgbClr val="0066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000" dirty="0" err="1">
                <a:solidFill>
                  <a:srgbClr val="006600"/>
                </a:solidFill>
                <a:latin typeface="Times New Roman" panose="02020603050405020304" pitchFamily="18" charset="0"/>
              </a:rPr>
              <a:t>fp</a:t>
            </a:r>
            <a:r>
              <a:rPr lang="en-US" altLang="zh-CN" sz="2000" dirty="0">
                <a:solidFill>
                  <a:srgbClr val="0066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sz="2000" dirty="0">
                <a:latin typeface="Times New Roman" panose="02020603050405020304" pitchFamily="18" charset="0"/>
              </a:rPr>
              <a:t>)!=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EOF</a:t>
            </a:r>
            <a:r>
              <a:rPr lang="en-US" altLang="zh-CN" sz="2000" dirty="0">
                <a:latin typeface="Times New Roman" panose="02020603050405020304" pitchFamily="18" charset="0"/>
              </a:rPr>
              <a:t>){</a:t>
            </a:r>
          </a:p>
          <a:p>
            <a:r>
              <a:rPr lang="en-US" altLang="zh-CN" sz="2000" dirty="0">
                <a:latin typeface="Times New Roman" panose="02020603050405020304" pitchFamily="18" charset="0"/>
              </a:rPr>
              <a:t>          </a:t>
            </a:r>
            <a:r>
              <a:rPr lang="en-US" altLang="zh-CN" sz="2000" dirty="0" err="1">
                <a:solidFill>
                  <a:schemeClr val="folHlink"/>
                </a:solidFill>
                <a:latin typeface="Times New Roman" panose="02020603050405020304" pitchFamily="18" charset="0"/>
              </a:rPr>
              <a:t>putchar</a:t>
            </a:r>
            <a:r>
              <a:rPr lang="en-US" altLang="zh-CN" sz="2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000" dirty="0" err="1">
                <a:solidFill>
                  <a:schemeClr val="folHlink"/>
                </a:solidFill>
                <a:latin typeface="Times New Roman" panose="02020603050405020304" pitchFamily="18" charset="0"/>
              </a:rPr>
              <a:t>ch</a:t>
            </a:r>
            <a:r>
              <a:rPr lang="en-US" altLang="zh-CN" sz="2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);</a:t>
            </a:r>
          </a:p>
          <a:p>
            <a:r>
              <a:rPr lang="en-US" altLang="zh-CN" sz="2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    }</a:t>
            </a:r>
          </a:p>
          <a:p>
            <a:r>
              <a:rPr lang="en-US" altLang="zh-CN" sz="2000" dirty="0">
                <a:latin typeface="Times New Roman" panose="02020603050405020304" pitchFamily="18" charset="0"/>
              </a:rPr>
              <a:t>    </a:t>
            </a:r>
            <a:r>
              <a:rPr lang="en-US" altLang="zh-CN" sz="2000" dirty="0" err="1">
                <a:latin typeface="Times New Roman" panose="02020603050405020304" pitchFamily="18" charset="0"/>
              </a:rPr>
              <a:t>fclose</a:t>
            </a:r>
            <a:r>
              <a:rPr lang="en-US" altLang="zh-CN" sz="2000" dirty="0">
                <a:latin typeface="Times New Roman" panose="02020603050405020304" pitchFamily="18" charset="0"/>
              </a:rPr>
              <a:t>(</a:t>
            </a:r>
            <a:r>
              <a:rPr lang="en-US" altLang="zh-CN" sz="2000" dirty="0" err="1">
                <a:latin typeface="Times New Roman" panose="02020603050405020304" pitchFamily="18" charset="0"/>
              </a:rPr>
              <a:t>fp</a:t>
            </a:r>
            <a:r>
              <a:rPr lang="en-US" altLang="zh-CN" sz="2000" dirty="0">
                <a:latin typeface="Times New Roman" panose="02020603050405020304" pitchFamily="18" charset="0"/>
              </a:rPr>
              <a:t>);</a:t>
            </a:r>
          </a:p>
          <a:p>
            <a:r>
              <a:rPr lang="en-US" altLang="zh-CN" sz="2000" dirty="0">
                <a:latin typeface="Times New Roman" panose="02020603050405020304" pitchFamily="18" charset="0"/>
              </a:rPr>
              <a:t>}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332470" y="4802226"/>
            <a:ext cx="425896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【</a:t>
            </a:r>
            <a:r>
              <a:rPr lang="zh-CN" altLang="en-US" sz="2000" b="1" dirty="0"/>
              <a:t>例 </a:t>
            </a:r>
            <a:r>
              <a:rPr lang="en-US" altLang="zh-CN" sz="2000" b="1" dirty="0"/>
              <a:t>8.1】</a:t>
            </a:r>
            <a:r>
              <a:rPr lang="zh-CN" altLang="en-US" sz="2000" b="1" dirty="0"/>
              <a:t>从键盘输入若干字符并保存到文件 </a:t>
            </a:r>
            <a:r>
              <a:rPr lang="en-US" altLang="zh-CN" sz="2000" b="1" dirty="0"/>
              <a:t>out.txt </a:t>
            </a:r>
            <a:r>
              <a:rPr lang="zh-CN" altLang="en-US" sz="2000" b="1" dirty="0"/>
              <a:t>中，直到输入字符</a:t>
            </a:r>
            <a:r>
              <a:rPr lang="en-US" altLang="zh-CN" sz="2000" b="1" dirty="0"/>
              <a:t>#</a:t>
            </a:r>
            <a:r>
              <a:rPr lang="zh-CN" altLang="en-US" sz="2000" b="1" dirty="0"/>
              <a:t>为止。把字符从文件中读出，并输出到显示器中。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555587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mute="1">
                                        <p:cTn display="0" masterRel="sameClick">
                                          <p:stCondLst>
                                            <p:cond evt="begin" delay="0">
                                              <p:tn val="1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1000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mute="1">
                                        <p:cTn display="0" masterRel="sameClick">
                                          <p:stCondLst>
                                            <p:cond evt="begin" delay="0">
                                              <p:tn val="1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 autoUpdateAnimBg="0"/>
      <p:bldP spid="6" grpId="0" animBg="1" autoUpdateAnimBg="0"/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79400" y="86689"/>
            <a:ext cx="5150708" cy="1325563"/>
          </a:xfrm>
        </p:spPr>
        <p:txBody>
          <a:bodyPr/>
          <a:lstStyle/>
          <a:p>
            <a:r>
              <a:rPr lang="zh-CN" altLang="en-US" dirty="0"/>
              <a:t>字符串读写函数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414849" y="1657736"/>
            <a:ext cx="5414320" cy="3128448"/>
          </a:xfrm>
          <a:ln w="19050">
            <a:solidFill>
              <a:schemeClr val="accent5">
                <a:lumMod val="75000"/>
              </a:schemeClr>
            </a:solidFill>
          </a:ln>
        </p:spPr>
        <p:txBody>
          <a:bodyPr>
            <a:normAutofit lnSpcReduction="10000"/>
          </a:bodyPr>
          <a:lstStyle/>
          <a:p>
            <a:pPr marL="91440" lvl="2" indent="0">
              <a:buNone/>
            </a:pPr>
            <a:r>
              <a:rPr lang="en-US" altLang="zh-CN" sz="2000"/>
              <a:t>fputs()</a:t>
            </a:r>
          </a:p>
          <a:p>
            <a:pPr marL="91440" lvl="2" indent="0">
              <a:buNone/>
            </a:pPr>
            <a:r>
              <a:rPr lang="zh-CN" altLang="en-US" sz="2000"/>
              <a:t>函数原型：</a:t>
            </a:r>
            <a:r>
              <a:rPr lang="en-US" altLang="zh-CN" sz="2000">
                <a:solidFill>
                  <a:schemeClr val="tx2"/>
                </a:solidFill>
                <a:latin typeface="Times New Roman" panose="02020603050405020304" pitchFamily="18" charset="0"/>
              </a:rPr>
              <a:t>int   fputs(char  *s, FILE  *fp);</a:t>
            </a:r>
          </a:p>
          <a:p>
            <a:pPr marL="91440" lvl="2" indent="0">
              <a:buNone/>
            </a:pPr>
            <a:r>
              <a:rPr lang="zh-CN" altLang="en-US" sz="2000"/>
              <a:t>功能：</a:t>
            </a:r>
            <a:r>
              <a:rPr lang="zh-CN" altLang="zh-CN" sz="2000"/>
              <a:t>写一个字符串</a:t>
            </a:r>
            <a:r>
              <a:rPr lang="zh-CN" altLang="en-US" sz="2000"/>
              <a:t>到</a:t>
            </a:r>
            <a:r>
              <a:rPr lang="en-US" altLang="zh-CN" sz="2000"/>
              <a:t>fp</a:t>
            </a:r>
            <a:r>
              <a:rPr lang="zh-CN" altLang="zh-CN" sz="2000"/>
              <a:t>指向的文件</a:t>
            </a:r>
            <a:endParaRPr lang="en-US" altLang="zh-CN" sz="2000"/>
          </a:p>
          <a:p>
            <a:pPr marL="91440" lvl="2" indent="0">
              <a:buNone/>
            </a:pPr>
            <a:r>
              <a:rPr lang="zh-CN" altLang="zh-CN" sz="2000"/>
              <a:t>返值：正常时返回</a:t>
            </a:r>
            <a:r>
              <a:rPr lang="en-US" altLang="zh-CN" sz="2000"/>
              <a:t>0</a:t>
            </a:r>
            <a:r>
              <a:rPr lang="zh-CN" altLang="zh-CN" sz="2000"/>
              <a:t>；出错返回非</a:t>
            </a:r>
            <a:r>
              <a:rPr lang="en-US" altLang="zh-CN" sz="2000"/>
              <a:t>0</a:t>
            </a:r>
          </a:p>
          <a:p>
            <a:pPr marL="91440" lvl="2" indent="0">
              <a:buNone/>
            </a:pPr>
            <a:r>
              <a:rPr lang="en-US" altLang="zh-CN" sz="2000"/>
              <a:t>fgets()</a:t>
            </a:r>
          </a:p>
          <a:p>
            <a:pPr marL="91440" lvl="2" indent="0">
              <a:buNone/>
            </a:pPr>
            <a:r>
              <a:rPr lang="zh-CN" altLang="en-US" sz="2000"/>
              <a:t>函数原型：</a:t>
            </a:r>
            <a:r>
              <a:rPr lang="en-US" altLang="zh-CN" sz="2000">
                <a:solidFill>
                  <a:schemeClr val="tx2"/>
                </a:solidFill>
                <a:latin typeface="Times New Roman" panose="02020603050405020304" pitchFamily="18" charset="0"/>
              </a:rPr>
              <a:t>char  *fgets(char *s, int n, FILE *fp);</a:t>
            </a:r>
          </a:p>
          <a:p>
            <a:pPr marL="91440" lvl="2" indent="0">
              <a:buNone/>
            </a:pPr>
            <a:r>
              <a:rPr lang="zh-CN" altLang="en-US" sz="2000"/>
              <a:t>功能：</a:t>
            </a:r>
            <a:r>
              <a:rPr lang="zh-CN" altLang="zh-CN" sz="2000"/>
              <a:t>从</a:t>
            </a:r>
            <a:r>
              <a:rPr lang="en-US" altLang="zh-CN" sz="2000"/>
              <a:t>fp</a:t>
            </a:r>
            <a:r>
              <a:rPr lang="zh-CN" altLang="zh-CN" sz="2000"/>
              <a:t>指向的文件读一个字符串</a:t>
            </a:r>
            <a:endParaRPr lang="en-US" altLang="zh-CN" sz="2000"/>
          </a:p>
          <a:p>
            <a:pPr marL="91440" lvl="2" indent="0">
              <a:buNone/>
            </a:pPr>
            <a:r>
              <a:rPr lang="zh-CN" altLang="zh-CN" sz="2000"/>
              <a:t>返值：正常时返回读取字符串的首地址；</a:t>
            </a:r>
            <a:endParaRPr lang="en-US" altLang="zh-CN" sz="2000"/>
          </a:p>
          <a:p>
            <a:pPr marL="91440" lvl="2" indent="0">
              <a:buNone/>
            </a:pPr>
            <a:r>
              <a:rPr lang="en-US" altLang="zh-CN" sz="2000"/>
              <a:t>             </a:t>
            </a:r>
            <a:r>
              <a:rPr lang="zh-CN" altLang="zh-CN" sz="2000"/>
              <a:t>出错或文件尾，返回</a:t>
            </a:r>
            <a:r>
              <a:rPr lang="en-US" altLang="zh-CN" sz="2000"/>
              <a:t>NULL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Text Box 8"/>
          <p:cNvSpPr txBox="1">
            <a:spLocks noChangeArrowheads="1"/>
          </p:cNvSpPr>
          <p:nvPr/>
        </p:nvSpPr>
        <p:spPr bwMode="auto">
          <a:xfrm>
            <a:off x="6706715" y="-7598"/>
            <a:ext cx="5704360" cy="6865598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 dirty="0">
                <a:latin typeface="Times New Roman" panose="02020603050405020304" pitchFamily="18" charset="0"/>
              </a:rPr>
              <a:t>#include&lt;stdio.h&gt;</a:t>
            </a:r>
          </a:p>
          <a:p>
            <a:r>
              <a:rPr lang="en-US" altLang="zh-CN" sz="2000" dirty="0">
                <a:latin typeface="Times New Roman" panose="02020603050405020304" pitchFamily="18" charset="0"/>
              </a:rPr>
              <a:t>#include&lt;stdlib.h&gt;</a:t>
            </a:r>
          </a:p>
          <a:p>
            <a:r>
              <a:rPr lang="en-US" altLang="zh-CN" sz="2000" dirty="0">
                <a:latin typeface="Times New Roman" panose="02020603050405020304" pitchFamily="18" charset="0"/>
              </a:rPr>
              <a:t>#include&lt;string.h&gt; </a:t>
            </a:r>
          </a:p>
          <a:p>
            <a:r>
              <a:rPr lang="en-US" altLang="zh-CN" sz="2000" dirty="0">
                <a:latin typeface="Times New Roman" panose="02020603050405020304" pitchFamily="18" charset="0"/>
              </a:rPr>
              <a:t>int main(void){  </a:t>
            </a:r>
          </a:p>
          <a:p>
            <a:r>
              <a:rPr lang="en-US" altLang="zh-CN" sz="2000" dirty="0">
                <a:latin typeface="Times New Roman" panose="02020603050405020304" pitchFamily="18" charset="0"/>
              </a:rPr>
              <a:t>    FILE  *</a:t>
            </a:r>
            <a:r>
              <a:rPr lang="en-US" altLang="zh-CN" sz="2000" dirty="0" err="1">
                <a:latin typeface="Times New Roman" panose="02020603050405020304" pitchFamily="18" charset="0"/>
              </a:rPr>
              <a:t>fp</a:t>
            </a:r>
            <a:r>
              <a:rPr lang="en-US" altLang="zh-CN" sz="2000" dirty="0">
                <a:latin typeface="Times New Roman" panose="02020603050405020304" pitchFamily="18" charset="0"/>
              </a:rPr>
              <a:t>;</a:t>
            </a:r>
          </a:p>
          <a:p>
            <a:r>
              <a:rPr lang="en-US" altLang="zh-CN" sz="2000" dirty="0">
                <a:latin typeface="Times New Roman" panose="02020603050405020304" pitchFamily="18" charset="0"/>
              </a:rPr>
              <a:t>    char  string[100];        </a:t>
            </a:r>
          </a:p>
          <a:p>
            <a:r>
              <a:rPr lang="en-US" altLang="zh-CN" sz="2000" dirty="0">
                <a:latin typeface="Times New Roman" panose="02020603050405020304" pitchFamily="18" charset="0"/>
              </a:rPr>
              <a:t>    if((</a:t>
            </a:r>
            <a:r>
              <a:rPr lang="en-US" altLang="zh-CN" sz="2000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fp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sz="2000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fopen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</a:rPr>
              <a:t>("file1.txt","w"))==NULL</a:t>
            </a:r>
            <a:r>
              <a:rPr lang="en-US" altLang="zh-CN" sz="2000" dirty="0">
                <a:latin typeface="Times New Roman" panose="02020603050405020304" pitchFamily="18" charset="0"/>
              </a:rPr>
              <a:t>){</a:t>
            </a:r>
          </a:p>
          <a:p>
            <a:r>
              <a:rPr lang="en-US" altLang="zh-CN" sz="2000" dirty="0">
                <a:latin typeface="Times New Roman" panose="02020603050405020304" pitchFamily="18" charset="0"/>
              </a:rPr>
              <a:t>         </a:t>
            </a:r>
            <a:r>
              <a:rPr lang="en-US" altLang="zh-CN" sz="2000" dirty="0" err="1">
                <a:latin typeface="Times New Roman" panose="02020603050405020304" pitchFamily="18" charset="0"/>
              </a:rPr>
              <a:t>printf</a:t>
            </a:r>
            <a:r>
              <a:rPr lang="en-US" altLang="zh-CN" sz="2000" dirty="0">
                <a:latin typeface="Times New Roman" panose="02020603050405020304" pitchFamily="18" charset="0"/>
              </a:rPr>
              <a:t>("</a:t>
            </a:r>
            <a:r>
              <a:rPr lang="en-US" altLang="zh-CN" sz="2000" dirty="0" err="1">
                <a:latin typeface="Times New Roman" panose="02020603050405020304" pitchFamily="18" charset="0"/>
              </a:rPr>
              <a:t>cann't</a:t>
            </a:r>
            <a:r>
              <a:rPr lang="en-US" altLang="zh-CN" sz="2000" dirty="0">
                <a:latin typeface="Times New Roman" panose="02020603050405020304" pitchFamily="18" charset="0"/>
              </a:rPr>
              <a:t> open file");exit(0); </a:t>
            </a:r>
          </a:p>
          <a:p>
            <a:r>
              <a:rPr lang="en-US" altLang="zh-CN" sz="2000" dirty="0">
                <a:latin typeface="Times New Roman" panose="02020603050405020304" pitchFamily="18" charset="0"/>
              </a:rPr>
              <a:t>    }</a:t>
            </a:r>
          </a:p>
          <a:p>
            <a:r>
              <a:rPr lang="en-US" altLang="zh-CN" sz="2000" dirty="0">
                <a:latin typeface="Times New Roman" panose="02020603050405020304" pitchFamily="18" charset="0"/>
              </a:rPr>
              <a:t>    while(</a:t>
            </a:r>
            <a:r>
              <a:rPr lang="en-US" altLang="zh-CN" sz="2000" dirty="0" err="1">
                <a:latin typeface="Times New Roman" panose="02020603050405020304" pitchFamily="18" charset="0"/>
              </a:rPr>
              <a:t>strlen</a:t>
            </a:r>
            <a:r>
              <a:rPr lang="en-US" altLang="zh-CN" sz="2000" dirty="0">
                <a:latin typeface="Times New Roman" panose="02020603050405020304" pitchFamily="18" charset="0"/>
              </a:rPr>
              <a:t>(gets(string))&gt;0){</a:t>
            </a:r>
          </a:p>
          <a:p>
            <a:r>
              <a:rPr lang="en-US" altLang="zh-CN" sz="2000" dirty="0">
                <a:latin typeface="Times New Roman" panose="02020603050405020304" pitchFamily="18" charset="0"/>
              </a:rPr>
              <a:t>         </a:t>
            </a:r>
            <a:r>
              <a:rPr lang="en-US" altLang="zh-CN" sz="2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fputs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string,fp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);</a:t>
            </a:r>
          </a:p>
          <a:p>
            <a:r>
              <a:rPr lang="en-US" altLang="zh-CN" sz="2000" dirty="0">
                <a:latin typeface="Times New Roman" panose="02020603050405020304" pitchFamily="18" charset="0"/>
              </a:rPr>
              <a:t>         </a:t>
            </a:r>
            <a:r>
              <a:rPr lang="en-US" altLang="zh-CN" sz="2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fputs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("\n",</a:t>
            </a:r>
            <a:r>
              <a:rPr lang="en-US" altLang="zh-CN" sz="2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fp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);</a:t>
            </a:r>
          </a:p>
          <a:p>
            <a:r>
              <a:rPr lang="en-US" altLang="zh-CN" sz="2000" dirty="0">
                <a:latin typeface="Times New Roman" panose="02020603050405020304" pitchFamily="18" charset="0"/>
              </a:rPr>
              <a:t>    }</a:t>
            </a:r>
          </a:p>
          <a:p>
            <a:r>
              <a:rPr lang="en-US" altLang="zh-CN" sz="2000" dirty="0">
                <a:latin typeface="Times New Roman" panose="02020603050405020304" pitchFamily="18" charset="0"/>
              </a:rPr>
              <a:t>    </a:t>
            </a:r>
            <a:r>
              <a:rPr lang="en-US" altLang="zh-CN" sz="2000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fclose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000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fp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</a:rPr>
              <a:t>);</a:t>
            </a:r>
          </a:p>
          <a:p>
            <a:r>
              <a:rPr lang="en-US" altLang="zh-CN" sz="2000" dirty="0">
                <a:latin typeface="Times New Roman" panose="02020603050405020304" pitchFamily="18" charset="0"/>
              </a:rPr>
              <a:t>    if((</a:t>
            </a:r>
            <a:r>
              <a:rPr lang="en-US" altLang="zh-CN" sz="2000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fp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sz="2000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fopen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</a:rPr>
              <a:t>("file1.txt","r"))==NULL</a:t>
            </a:r>
            <a:r>
              <a:rPr lang="en-US" altLang="zh-CN" sz="2000" dirty="0">
                <a:latin typeface="Times New Roman" panose="02020603050405020304" pitchFamily="18" charset="0"/>
              </a:rPr>
              <a:t>){</a:t>
            </a:r>
          </a:p>
          <a:p>
            <a:r>
              <a:rPr lang="en-US" altLang="zh-CN" sz="2000" dirty="0">
                <a:latin typeface="Times New Roman" panose="02020603050405020304" pitchFamily="18" charset="0"/>
              </a:rPr>
              <a:t>          </a:t>
            </a:r>
            <a:r>
              <a:rPr lang="en-US" altLang="zh-CN" sz="2000" dirty="0" err="1">
                <a:latin typeface="Times New Roman" panose="02020603050405020304" pitchFamily="18" charset="0"/>
              </a:rPr>
              <a:t>printf</a:t>
            </a:r>
            <a:r>
              <a:rPr lang="en-US" altLang="zh-CN" sz="2000" dirty="0">
                <a:latin typeface="Times New Roman" panose="02020603050405020304" pitchFamily="18" charset="0"/>
              </a:rPr>
              <a:t>("</a:t>
            </a:r>
            <a:r>
              <a:rPr lang="en-US" altLang="zh-CN" sz="2000" dirty="0" err="1">
                <a:latin typeface="Times New Roman" panose="02020603050405020304" pitchFamily="18" charset="0"/>
              </a:rPr>
              <a:t>cann't</a:t>
            </a:r>
            <a:r>
              <a:rPr lang="en-US" altLang="zh-CN" sz="2000" dirty="0">
                <a:latin typeface="Times New Roman" panose="02020603050405020304" pitchFamily="18" charset="0"/>
              </a:rPr>
              <a:t> open file");exit(0); </a:t>
            </a:r>
          </a:p>
          <a:p>
            <a:r>
              <a:rPr lang="en-US" altLang="zh-CN" sz="2000" dirty="0">
                <a:latin typeface="Times New Roman" panose="02020603050405020304" pitchFamily="18" charset="0"/>
              </a:rPr>
              <a:t>    }</a:t>
            </a:r>
          </a:p>
          <a:p>
            <a:r>
              <a:rPr lang="en-US" altLang="zh-CN" sz="2000" dirty="0">
                <a:latin typeface="Times New Roman" panose="02020603050405020304" pitchFamily="18" charset="0"/>
              </a:rPr>
              <a:t>    while(</a:t>
            </a:r>
            <a:r>
              <a:rPr lang="en-US" altLang="zh-CN" sz="2000" dirty="0" err="1">
                <a:solidFill>
                  <a:srgbClr val="CC6600"/>
                </a:solidFill>
                <a:latin typeface="Times New Roman" panose="02020603050405020304" pitchFamily="18" charset="0"/>
              </a:rPr>
              <a:t>fgets</a:t>
            </a:r>
            <a:r>
              <a:rPr lang="en-US" altLang="zh-CN" sz="2000" dirty="0">
                <a:solidFill>
                  <a:srgbClr val="CC6600"/>
                </a:solidFill>
                <a:latin typeface="Times New Roman" panose="02020603050405020304" pitchFamily="18" charset="0"/>
              </a:rPr>
              <a:t>(string,100,fp)!=NULL){</a:t>
            </a:r>
          </a:p>
          <a:p>
            <a:r>
              <a:rPr lang="en-US" altLang="zh-CN" sz="2000" dirty="0">
                <a:solidFill>
                  <a:srgbClr val="CC6600"/>
                </a:solidFill>
                <a:latin typeface="Times New Roman" panose="02020603050405020304" pitchFamily="18" charset="0"/>
              </a:rPr>
              <a:t>           </a:t>
            </a:r>
            <a:r>
              <a:rPr lang="en-US" altLang="zh-CN" sz="2000" dirty="0" err="1">
                <a:solidFill>
                  <a:srgbClr val="CC6600"/>
                </a:solidFill>
                <a:latin typeface="Times New Roman" panose="02020603050405020304" pitchFamily="18" charset="0"/>
              </a:rPr>
              <a:t>fputs</a:t>
            </a:r>
            <a:r>
              <a:rPr lang="en-US" altLang="zh-CN" sz="2000" dirty="0">
                <a:solidFill>
                  <a:srgbClr val="CC66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000" dirty="0" err="1">
                <a:solidFill>
                  <a:srgbClr val="CC6600"/>
                </a:solidFill>
                <a:latin typeface="Times New Roman" panose="02020603050405020304" pitchFamily="18" charset="0"/>
              </a:rPr>
              <a:t>string,stdout</a:t>
            </a:r>
            <a:r>
              <a:rPr lang="en-US" altLang="zh-CN" sz="2000" dirty="0">
                <a:solidFill>
                  <a:srgbClr val="CC6600"/>
                </a:solidFill>
                <a:latin typeface="Times New Roman" panose="02020603050405020304" pitchFamily="18" charset="0"/>
              </a:rPr>
              <a:t>);</a:t>
            </a:r>
          </a:p>
          <a:p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</a:rPr>
              <a:t>    }</a:t>
            </a:r>
          </a:p>
          <a:p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</a:rPr>
              <a:t>    </a:t>
            </a:r>
            <a:r>
              <a:rPr lang="en-US" altLang="zh-CN" sz="2000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fclose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000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fp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</a:rPr>
              <a:t>);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r>
              <a:rPr lang="en-US" altLang="zh-CN" sz="2000" dirty="0">
                <a:latin typeface="Times New Roman" panose="02020603050405020304" pitchFamily="18" charset="0"/>
              </a:rPr>
              <a:t>}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414848" y="5031668"/>
            <a:ext cx="44587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【</a:t>
            </a:r>
            <a:r>
              <a:rPr lang="zh-CN" altLang="en-US" sz="2000" b="1" dirty="0"/>
              <a:t>例 </a:t>
            </a:r>
            <a:r>
              <a:rPr lang="en-US" altLang="zh-CN" sz="2000" b="1" dirty="0"/>
              <a:t>8.2】</a:t>
            </a:r>
            <a:r>
              <a:rPr lang="zh-CN" altLang="en-US" sz="2000" b="1" dirty="0"/>
              <a:t>从键盘读入一个字符串，存入文件中，从文件中读出并显示。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945750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mute="1">
                                        <p:cTn display="0" masterRel="sameClick">
                                          <p:stCondLst>
                                            <p:cond evt="begin" delay="0">
                                              <p:tn val="1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 autoUpdateAnimBg="0"/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4998" y="291449"/>
            <a:ext cx="10058400" cy="1609344"/>
          </a:xfrm>
        </p:spPr>
        <p:txBody>
          <a:bodyPr/>
          <a:lstStyle/>
          <a:p>
            <a:r>
              <a:rPr lang="zh-CN" altLang="en-US" dirty="0"/>
              <a:t>数据块读写函数</a:t>
            </a:r>
            <a:r>
              <a:rPr lang="en-US" altLang="zh-CN" dirty="0" err="1"/>
              <a:t>fread</a:t>
            </a:r>
            <a:r>
              <a:rPr lang="zh-CN" altLang="en-US" dirty="0"/>
              <a:t>和</a:t>
            </a:r>
            <a:r>
              <a:rPr lang="en-US" altLang="zh-CN" dirty="0" err="1"/>
              <a:t>fwrite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781261"/>
            <a:ext cx="10515600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zh-CN" altLang="en-US" sz="2600"/>
              <a:t>函数原型：</a:t>
            </a:r>
            <a:endParaRPr lang="en-US" altLang="zh-CN" sz="2600"/>
          </a:p>
          <a:p>
            <a:pPr marL="0" indent="0">
              <a:buNone/>
            </a:pPr>
            <a:endParaRPr lang="en-US" altLang="zh-CN" sz="2600"/>
          </a:p>
          <a:p>
            <a:pPr marL="0" indent="0">
              <a:buNone/>
            </a:pPr>
            <a:endParaRPr lang="en-US" altLang="zh-CN" sz="2600"/>
          </a:p>
          <a:p>
            <a:pPr marL="0" indent="0">
              <a:buNone/>
            </a:pPr>
            <a:endParaRPr lang="en-US" altLang="zh-CN" sz="2600"/>
          </a:p>
          <a:p>
            <a:pPr marL="0" indent="0">
              <a:buNone/>
            </a:pPr>
            <a:r>
              <a:rPr lang="zh-CN" altLang="en-US" sz="2600"/>
              <a:t>功能：读</a:t>
            </a:r>
            <a:r>
              <a:rPr lang="en-US" altLang="zh-CN" sz="2600"/>
              <a:t>/</a:t>
            </a:r>
            <a:r>
              <a:rPr lang="zh-CN" altLang="en-US" sz="2600"/>
              <a:t>写数据块</a:t>
            </a:r>
            <a:endParaRPr lang="en-US" altLang="zh-CN" sz="2600"/>
          </a:p>
          <a:p>
            <a:pPr marL="0" indent="0">
              <a:buNone/>
            </a:pPr>
            <a:r>
              <a:rPr lang="zh-CN" altLang="en-US" sz="2600"/>
              <a:t>返值：成功，返回读</a:t>
            </a:r>
            <a:r>
              <a:rPr lang="en-US" altLang="zh-CN" sz="2600"/>
              <a:t>/</a:t>
            </a:r>
            <a:r>
              <a:rPr lang="zh-CN" altLang="en-US" sz="2600"/>
              <a:t>写的块数；出错或文件尾，返回</a:t>
            </a:r>
            <a:r>
              <a:rPr lang="en-US" altLang="zh-CN" sz="2600"/>
              <a:t>0</a:t>
            </a:r>
          </a:p>
          <a:p>
            <a:pPr marL="0" indent="0">
              <a:buNone/>
            </a:pPr>
            <a:r>
              <a:rPr lang="zh-CN" altLang="en-US" sz="2600"/>
              <a:t>参数说明：</a:t>
            </a:r>
          </a:p>
          <a:p>
            <a:pPr lvl="3"/>
            <a:r>
              <a:rPr lang="en-US" altLang="zh-CN" sz="2200"/>
              <a:t>typedef   unsigned   size_t;</a:t>
            </a:r>
          </a:p>
          <a:p>
            <a:pPr lvl="3"/>
            <a:r>
              <a:rPr lang="en-US" altLang="zh-CN" sz="2200"/>
              <a:t>buffer:  </a:t>
            </a:r>
            <a:r>
              <a:rPr lang="zh-CN" altLang="zh-CN" sz="2200"/>
              <a:t>指向要输入/输出数据块的首地址的指针</a:t>
            </a:r>
          </a:p>
          <a:p>
            <a:pPr lvl="3"/>
            <a:r>
              <a:rPr lang="en-US" altLang="zh-CN" sz="2200"/>
              <a:t>size:  </a:t>
            </a:r>
            <a:r>
              <a:rPr lang="zh-CN" altLang="zh-CN" sz="2200"/>
              <a:t>每个要读/写的数据块的大小（字节数）</a:t>
            </a:r>
          </a:p>
          <a:p>
            <a:pPr lvl="3"/>
            <a:r>
              <a:rPr lang="en-US" altLang="zh-CN" sz="2200"/>
              <a:t>count:   </a:t>
            </a:r>
            <a:r>
              <a:rPr lang="zh-CN" altLang="zh-CN" sz="2200"/>
              <a:t>要读/写的数据块的个数</a:t>
            </a:r>
          </a:p>
          <a:p>
            <a:pPr lvl="3"/>
            <a:r>
              <a:rPr lang="en-US" altLang="zh-CN" sz="2200"/>
              <a:t>fp:    </a:t>
            </a:r>
            <a:r>
              <a:rPr lang="zh-CN" altLang="zh-CN" sz="2200"/>
              <a:t>要读/写的文件指针</a:t>
            </a:r>
          </a:p>
          <a:p>
            <a:pPr lvl="3"/>
            <a:r>
              <a:rPr lang="en-US" altLang="zh-CN" sz="2200"/>
              <a:t>fread</a:t>
            </a:r>
            <a:r>
              <a:rPr lang="zh-CN" altLang="zh-CN" sz="2200"/>
              <a:t>与</a:t>
            </a:r>
            <a:r>
              <a:rPr lang="en-US" altLang="zh-CN" sz="2200"/>
              <a:t>fwrite </a:t>
            </a:r>
            <a:r>
              <a:rPr lang="zh-CN" altLang="zh-CN" sz="2200"/>
              <a:t>一般用于</a:t>
            </a:r>
            <a:r>
              <a:rPr lang="zh-CN" altLang="zh-CN" sz="2200">
                <a:solidFill>
                  <a:srgbClr val="FF0000"/>
                </a:solidFill>
              </a:rPr>
              <a:t>二进制文件</a:t>
            </a:r>
            <a:r>
              <a:rPr lang="zh-CN" altLang="zh-CN" sz="2200"/>
              <a:t>的</a:t>
            </a:r>
            <a:r>
              <a:rPr lang="zh-CN" altLang="en-US" sz="2200"/>
              <a:t>读</a:t>
            </a:r>
            <a:r>
              <a:rPr lang="zh-CN" altLang="zh-CN" sz="2200"/>
              <a:t>/</a:t>
            </a:r>
            <a:r>
              <a:rPr lang="zh-CN" altLang="en-US" sz="2200"/>
              <a:t>写</a:t>
            </a:r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970005" y="2221041"/>
            <a:ext cx="8040688" cy="831850"/>
          </a:xfrm>
          <a:prstGeom prst="rect">
            <a:avLst/>
          </a:prstGeom>
          <a:noFill/>
          <a:ln w="952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>
                <a:solidFill>
                  <a:schemeClr val="tx2"/>
                </a:solidFill>
                <a:latin typeface="Times New Roman" panose="02020603050405020304" pitchFamily="18" charset="0"/>
              </a:rPr>
              <a:t>size_t  fread(void *buffer, size_t size, size_t count, FILE   *fp);</a:t>
            </a:r>
          </a:p>
          <a:p>
            <a:r>
              <a:rPr lang="en-US" altLang="zh-CN">
                <a:solidFill>
                  <a:schemeClr val="tx2"/>
                </a:solidFill>
                <a:latin typeface="Times New Roman" panose="02020603050405020304" pitchFamily="18" charset="0"/>
              </a:rPr>
              <a:t>size_t  fwrite(void *buffer, size_t size, size_t count, FILE   *fp);</a:t>
            </a:r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1159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16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899592" y="675353"/>
            <a:ext cx="6209662" cy="5942269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 lIns="90000" tIns="46800" rIns="90000" bIns="4680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 dirty="0">
                <a:latin typeface="Times New Roman" panose="02020603050405020304" pitchFamily="18" charset="0"/>
              </a:rPr>
              <a:t>#include &lt;</a:t>
            </a:r>
            <a:r>
              <a:rPr lang="en-US" altLang="zh-CN" sz="2000" dirty="0" err="1">
                <a:latin typeface="Times New Roman" panose="02020603050405020304" pitchFamily="18" charset="0"/>
              </a:rPr>
              <a:t>stdio.h</a:t>
            </a:r>
            <a:r>
              <a:rPr lang="en-US" altLang="zh-CN" sz="2000" dirty="0">
                <a:latin typeface="Times New Roman" panose="02020603050405020304" pitchFamily="18" charset="0"/>
              </a:rPr>
              <a:t>&gt;</a:t>
            </a:r>
          </a:p>
          <a:p>
            <a:r>
              <a:rPr lang="en-US" altLang="zh-CN" sz="2000" dirty="0">
                <a:latin typeface="Times New Roman" panose="02020603050405020304" pitchFamily="18" charset="0"/>
              </a:rPr>
              <a:t>#include&lt;stdlib.h&gt;</a:t>
            </a:r>
          </a:p>
          <a:p>
            <a:r>
              <a:rPr lang="en-US" altLang="zh-CN" sz="2000" dirty="0">
                <a:latin typeface="Times New Roman" panose="02020603050405020304" pitchFamily="18" charset="0"/>
              </a:rPr>
              <a:t>#define N 2</a:t>
            </a:r>
          </a:p>
          <a:p>
            <a:r>
              <a:rPr lang="en-US" altLang="zh-CN" sz="2000" dirty="0">
                <a:solidFill>
                  <a:srgbClr val="990033"/>
                </a:solidFill>
                <a:latin typeface="Times New Roman" panose="02020603050405020304" pitchFamily="18" charset="0"/>
              </a:rPr>
              <a:t>struct </a:t>
            </a:r>
            <a:r>
              <a:rPr lang="en-US" altLang="zh-CN" sz="2000" dirty="0" err="1">
                <a:solidFill>
                  <a:srgbClr val="990033"/>
                </a:solidFill>
                <a:latin typeface="Times New Roman" panose="02020603050405020304" pitchFamily="18" charset="0"/>
              </a:rPr>
              <a:t>student_type</a:t>
            </a:r>
            <a:r>
              <a:rPr lang="en-US" altLang="zh-CN" sz="2000" dirty="0">
                <a:solidFill>
                  <a:srgbClr val="990033"/>
                </a:solidFill>
                <a:latin typeface="Times New Roman" panose="02020603050405020304" pitchFamily="18" charset="0"/>
              </a:rPr>
              <a:t>{    </a:t>
            </a:r>
          </a:p>
          <a:p>
            <a:r>
              <a:rPr lang="en-US" altLang="zh-CN" sz="2000" dirty="0">
                <a:solidFill>
                  <a:srgbClr val="990033"/>
                </a:solidFill>
                <a:latin typeface="Times New Roman" panose="02020603050405020304" pitchFamily="18" charset="0"/>
              </a:rPr>
              <a:t>     char name[10];</a:t>
            </a:r>
          </a:p>
          <a:p>
            <a:r>
              <a:rPr lang="en-US" altLang="zh-CN" sz="2000" dirty="0">
                <a:solidFill>
                  <a:srgbClr val="990033"/>
                </a:solidFill>
                <a:latin typeface="Times New Roman" panose="02020603050405020304" pitchFamily="18" charset="0"/>
              </a:rPr>
              <a:t>     int num;</a:t>
            </a:r>
          </a:p>
          <a:p>
            <a:r>
              <a:rPr lang="en-US" altLang="zh-CN" sz="2000" dirty="0">
                <a:solidFill>
                  <a:srgbClr val="990033"/>
                </a:solidFill>
                <a:latin typeface="Times New Roman" panose="02020603050405020304" pitchFamily="18" charset="0"/>
              </a:rPr>
              <a:t>     int age;</a:t>
            </a:r>
          </a:p>
          <a:p>
            <a:r>
              <a:rPr lang="en-US" altLang="zh-CN" sz="2000" dirty="0">
                <a:solidFill>
                  <a:srgbClr val="990033"/>
                </a:solidFill>
                <a:latin typeface="Times New Roman" panose="02020603050405020304" pitchFamily="18" charset="0"/>
              </a:rPr>
              <a:t>     char </a:t>
            </a:r>
            <a:r>
              <a:rPr lang="en-US" altLang="zh-CN" sz="2000" dirty="0" err="1">
                <a:solidFill>
                  <a:srgbClr val="990033"/>
                </a:solidFill>
                <a:latin typeface="Times New Roman" panose="02020603050405020304" pitchFamily="18" charset="0"/>
              </a:rPr>
              <a:t>addr</a:t>
            </a:r>
            <a:r>
              <a:rPr lang="en-US" altLang="zh-CN" sz="2000" dirty="0">
                <a:solidFill>
                  <a:srgbClr val="990033"/>
                </a:solidFill>
                <a:latin typeface="Times New Roman" panose="02020603050405020304" pitchFamily="18" charset="0"/>
              </a:rPr>
              <a:t>[15];</a:t>
            </a:r>
          </a:p>
          <a:p>
            <a:r>
              <a:rPr lang="en-US" altLang="zh-CN" sz="2000" dirty="0">
                <a:solidFill>
                  <a:srgbClr val="990033"/>
                </a:solidFill>
                <a:latin typeface="Times New Roman" panose="02020603050405020304" pitchFamily="18" charset="0"/>
              </a:rPr>
              <a:t>}stud[N];</a:t>
            </a:r>
          </a:p>
          <a:p>
            <a:endParaRPr lang="en-US" altLang="zh-CN" sz="2000" dirty="0">
              <a:solidFill>
                <a:srgbClr val="990033"/>
              </a:solidFill>
              <a:latin typeface="Times New Roman" panose="02020603050405020304" pitchFamily="18" charset="0"/>
            </a:endParaRPr>
          </a:p>
          <a:p>
            <a:r>
              <a:rPr lang="en-US" altLang="zh-CN" sz="2000" dirty="0">
                <a:latin typeface="Times New Roman" panose="02020603050405020304" pitchFamily="18" charset="0"/>
              </a:rPr>
              <a:t>int main(void){</a:t>
            </a:r>
          </a:p>
          <a:p>
            <a:r>
              <a:rPr lang="en-US" altLang="zh-CN" sz="2000" dirty="0">
                <a:latin typeface="Times New Roman" panose="02020603050405020304" pitchFamily="18" charset="0"/>
              </a:rPr>
              <a:t>     int </a:t>
            </a:r>
            <a:r>
              <a:rPr lang="en-US" altLang="zh-CN" sz="2000" dirty="0" err="1">
                <a:latin typeface="Times New Roman" panose="02020603050405020304" pitchFamily="18" charset="0"/>
              </a:rPr>
              <a:t>i</a:t>
            </a:r>
            <a:r>
              <a:rPr lang="en-US" altLang="zh-CN" sz="2000" dirty="0">
                <a:latin typeface="Times New Roman" panose="02020603050405020304" pitchFamily="18" charset="0"/>
              </a:rPr>
              <a:t>;</a:t>
            </a:r>
          </a:p>
          <a:p>
            <a:r>
              <a:rPr lang="en-US" altLang="zh-CN" sz="2000" dirty="0">
                <a:latin typeface="Times New Roman" panose="02020603050405020304" pitchFamily="18" charset="0"/>
              </a:rPr>
              <a:t>     for(</a:t>
            </a:r>
            <a:r>
              <a:rPr lang="en-US" altLang="zh-CN" sz="2000" dirty="0" err="1">
                <a:latin typeface="Times New Roman" panose="02020603050405020304" pitchFamily="18" charset="0"/>
              </a:rPr>
              <a:t>i</a:t>
            </a:r>
            <a:r>
              <a:rPr lang="en-US" altLang="zh-CN" sz="2000" dirty="0">
                <a:latin typeface="Times New Roman" panose="02020603050405020304" pitchFamily="18" charset="0"/>
              </a:rPr>
              <a:t>=0;i&lt;</a:t>
            </a:r>
            <a:r>
              <a:rPr lang="en-US" altLang="zh-CN" sz="2000" dirty="0" err="1">
                <a:latin typeface="Times New Roman" panose="02020603050405020304" pitchFamily="18" charset="0"/>
              </a:rPr>
              <a:t>N;i</a:t>
            </a:r>
            <a:r>
              <a:rPr lang="en-US" altLang="zh-CN" sz="2000" dirty="0">
                <a:latin typeface="Times New Roman" panose="02020603050405020304" pitchFamily="18" charset="0"/>
              </a:rPr>
              <a:t>++){</a:t>
            </a:r>
          </a:p>
          <a:p>
            <a:r>
              <a:rPr lang="en-US" altLang="zh-CN" sz="2000" dirty="0">
                <a:latin typeface="Times New Roman" panose="02020603050405020304" pitchFamily="18" charset="0"/>
              </a:rPr>
              <a:t>	</a:t>
            </a:r>
            <a:r>
              <a:rPr lang="en-US" altLang="zh-CN" sz="2000" dirty="0" err="1">
                <a:latin typeface="Times New Roman" panose="02020603050405020304" pitchFamily="18" charset="0"/>
              </a:rPr>
              <a:t>scanf</a:t>
            </a:r>
            <a:r>
              <a:rPr lang="en-US" altLang="zh-CN" sz="2000" dirty="0">
                <a:latin typeface="Times New Roman" panose="02020603050405020304" pitchFamily="18" charset="0"/>
              </a:rPr>
              <a:t>("%</a:t>
            </a:r>
            <a:r>
              <a:rPr lang="en-US" altLang="zh-CN" sz="2000" dirty="0" err="1">
                <a:latin typeface="Times New Roman" panose="02020603050405020304" pitchFamily="18" charset="0"/>
              </a:rPr>
              <a:t>s%d%d%s</a:t>
            </a:r>
            <a:r>
              <a:rPr lang="en-US" altLang="zh-CN" sz="2000" dirty="0">
                <a:latin typeface="Times New Roman" panose="02020603050405020304" pitchFamily="18" charset="0"/>
              </a:rPr>
              <a:t>",stud[</a:t>
            </a:r>
            <a:r>
              <a:rPr lang="en-US" altLang="zh-CN" sz="2000" dirty="0" err="1">
                <a:latin typeface="Times New Roman" panose="02020603050405020304" pitchFamily="18" charset="0"/>
              </a:rPr>
              <a:t>i</a:t>
            </a:r>
            <a:r>
              <a:rPr lang="en-US" altLang="zh-CN" sz="2000" dirty="0">
                <a:latin typeface="Times New Roman" panose="02020603050405020304" pitchFamily="18" charset="0"/>
              </a:rPr>
              <a:t>].</a:t>
            </a:r>
            <a:r>
              <a:rPr lang="en-US" altLang="zh-CN" sz="2000" dirty="0" err="1">
                <a:latin typeface="Times New Roman" panose="02020603050405020304" pitchFamily="18" charset="0"/>
              </a:rPr>
              <a:t>name,&amp;stud</a:t>
            </a:r>
            <a:r>
              <a:rPr lang="en-US" altLang="zh-CN" sz="2000" dirty="0">
                <a:latin typeface="Times New Roman" panose="02020603050405020304" pitchFamily="18" charset="0"/>
              </a:rPr>
              <a:t>[</a:t>
            </a:r>
            <a:r>
              <a:rPr lang="en-US" altLang="zh-CN" sz="2000" dirty="0" err="1">
                <a:latin typeface="Times New Roman" panose="02020603050405020304" pitchFamily="18" charset="0"/>
              </a:rPr>
              <a:t>i</a:t>
            </a:r>
            <a:r>
              <a:rPr lang="en-US" altLang="zh-CN" sz="2000" dirty="0">
                <a:latin typeface="Times New Roman" panose="02020603050405020304" pitchFamily="18" charset="0"/>
              </a:rPr>
              <a:t>].num,</a:t>
            </a:r>
          </a:p>
          <a:p>
            <a:r>
              <a:rPr lang="en-US" altLang="zh-CN" sz="2000" dirty="0">
                <a:latin typeface="Times New Roman" panose="02020603050405020304" pitchFamily="18" charset="0"/>
              </a:rPr>
              <a:t>			     &amp;stud[</a:t>
            </a:r>
            <a:r>
              <a:rPr lang="en-US" altLang="zh-CN" sz="2000" dirty="0" err="1">
                <a:latin typeface="Times New Roman" panose="02020603050405020304" pitchFamily="18" charset="0"/>
              </a:rPr>
              <a:t>i</a:t>
            </a:r>
            <a:r>
              <a:rPr lang="en-US" altLang="zh-CN" sz="2000" dirty="0">
                <a:latin typeface="Times New Roman" panose="02020603050405020304" pitchFamily="18" charset="0"/>
              </a:rPr>
              <a:t>].</a:t>
            </a:r>
            <a:r>
              <a:rPr lang="en-US" altLang="zh-CN" sz="2000" dirty="0" err="1">
                <a:latin typeface="Times New Roman" panose="02020603050405020304" pitchFamily="18" charset="0"/>
              </a:rPr>
              <a:t>age,stud</a:t>
            </a:r>
            <a:r>
              <a:rPr lang="en-US" altLang="zh-CN" sz="2000" dirty="0">
                <a:latin typeface="Times New Roman" panose="02020603050405020304" pitchFamily="18" charset="0"/>
              </a:rPr>
              <a:t>[</a:t>
            </a:r>
            <a:r>
              <a:rPr lang="en-US" altLang="zh-CN" sz="2000" dirty="0" err="1">
                <a:latin typeface="Times New Roman" panose="02020603050405020304" pitchFamily="18" charset="0"/>
              </a:rPr>
              <a:t>i</a:t>
            </a:r>
            <a:r>
              <a:rPr lang="en-US" altLang="zh-CN" sz="2000" dirty="0">
                <a:latin typeface="Times New Roman" panose="02020603050405020304" pitchFamily="18" charset="0"/>
              </a:rPr>
              <a:t>].</a:t>
            </a:r>
            <a:r>
              <a:rPr lang="en-US" altLang="zh-CN" sz="2000" dirty="0" err="1">
                <a:latin typeface="Times New Roman" panose="02020603050405020304" pitchFamily="18" charset="0"/>
              </a:rPr>
              <a:t>addr</a:t>
            </a:r>
            <a:r>
              <a:rPr lang="en-US" altLang="zh-CN" sz="2000" dirty="0">
                <a:latin typeface="Times New Roman" panose="02020603050405020304" pitchFamily="18" charset="0"/>
              </a:rPr>
              <a:t>);</a:t>
            </a:r>
          </a:p>
          <a:p>
            <a:r>
              <a:rPr lang="en-US" altLang="zh-CN" sz="2000" dirty="0">
                <a:latin typeface="Times New Roman" panose="02020603050405020304" pitchFamily="18" charset="0"/>
              </a:rPr>
              <a:t>     }</a:t>
            </a:r>
          </a:p>
          <a:p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</a:rPr>
              <a:t>     save();</a:t>
            </a:r>
          </a:p>
          <a:p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</a:rPr>
              <a:t>     display();</a:t>
            </a:r>
          </a:p>
          <a:p>
            <a:r>
              <a:rPr lang="en-US" altLang="zh-CN" sz="2000" dirty="0">
                <a:latin typeface="Times New Roman" panose="02020603050405020304" pitchFamily="18" charset="0"/>
              </a:rPr>
              <a:t>}</a:t>
            </a: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4482266" y="408753"/>
            <a:ext cx="6766440" cy="317228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 lIns="90000" tIns="46800" rIns="90000" bIns="4680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 dirty="0">
                <a:latin typeface="Times New Roman" panose="02020603050405020304" pitchFamily="18" charset="0"/>
              </a:rPr>
              <a:t>void  save(){   </a:t>
            </a:r>
          </a:p>
          <a:p>
            <a:r>
              <a:rPr lang="en-US" altLang="zh-CN" sz="2000" dirty="0">
                <a:latin typeface="Times New Roman" panose="02020603050405020304" pitchFamily="18" charset="0"/>
              </a:rPr>
              <a:t>     FILE *</a:t>
            </a:r>
            <a:r>
              <a:rPr lang="en-US" altLang="zh-CN" sz="2000" dirty="0" err="1">
                <a:latin typeface="Times New Roman" panose="02020603050405020304" pitchFamily="18" charset="0"/>
              </a:rPr>
              <a:t>fp</a:t>
            </a:r>
            <a:r>
              <a:rPr lang="en-US" altLang="zh-CN" sz="2000" dirty="0">
                <a:latin typeface="Times New Roman" panose="02020603050405020304" pitchFamily="18" charset="0"/>
              </a:rPr>
              <a:t>;</a:t>
            </a:r>
          </a:p>
          <a:p>
            <a:r>
              <a:rPr lang="en-US" altLang="zh-CN" sz="2000" dirty="0">
                <a:latin typeface="Times New Roman" panose="02020603050405020304" pitchFamily="18" charset="0"/>
              </a:rPr>
              <a:t>     int  </a:t>
            </a:r>
            <a:r>
              <a:rPr lang="en-US" altLang="zh-CN" sz="2000" dirty="0" err="1">
                <a:latin typeface="Times New Roman" panose="02020603050405020304" pitchFamily="18" charset="0"/>
              </a:rPr>
              <a:t>i</a:t>
            </a:r>
            <a:r>
              <a:rPr lang="en-US" altLang="zh-CN" sz="2000" dirty="0">
                <a:latin typeface="Times New Roman" panose="02020603050405020304" pitchFamily="18" charset="0"/>
              </a:rPr>
              <a:t>;</a:t>
            </a:r>
          </a:p>
          <a:p>
            <a:r>
              <a:rPr lang="en-US" altLang="zh-CN" sz="2000" dirty="0">
                <a:latin typeface="Times New Roman" panose="02020603050405020304" pitchFamily="18" charset="0"/>
              </a:rPr>
              <a:t>     if((</a:t>
            </a:r>
            <a:r>
              <a:rPr lang="en-US" altLang="zh-CN" sz="2000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fp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sz="2000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fopen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</a:rPr>
              <a:t>("d:\\py\\stu_dat","wb"))==NULL</a:t>
            </a:r>
            <a:r>
              <a:rPr lang="en-US" altLang="zh-CN" sz="2000" dirty="0">
                <a:latin typeface="Times New Roman" panose="02020603050405020304" pitchFamily="18" charset="0"/>
              </a:rPr>
              <a:t>){    </a:t>
            </a:r>
          </a:p>
          <a:p>
            <a:r>
              <a:rPr lang="en-US" altLang="zh-CN" sz="2000" dirty="0">
                <a:latin typeface="Times New Roman" panose="02020603050405020304" pitchFamily="18" charset="0"/>
              </a:rPr>
              <a:t>          </a:t>
            </a:r>
            <a:r>
              <a:rPr lang="en-US" altLang="zh-CN" sz="2000" dirty="0" err="1">
                <a:latin typeface="Times New Roman" panose="02020603050405020304" pitchFamily="18" charset="0"/>
              </a:rPr>
              <a:t>printf</a:t>
            </a:r>
            <a:r>
              <a:rPr lang="en-US" altLang="zh-CN" sz="2000" dirty="0">
                <a:latin typeface="Times New Roman" panose="02020603050405020304" pitchFamily="18" charset="0"/>
              </a:rPr>
              <a:t>("cannot open file\n");</a:t>
            </a:r>
          </a:p>
          <a:p>
            <a:r>
              <a:rPr lang="en-US" altLang="zh-CN" sz="2000" dirty="0">
                <a:latin typeface="Times New Roman" panose="02020603050405020304" pitchFamily="18" charset="0"/>
              </a:rPr>
              <a:t>          return;</a:t>
            </a:r>
          </a:p>
          <a:p>
            <a:r>
              <a:rPr lang="en-US" altLang="zh-CN" sz="2000" dirty="0">
                <a:latin typeface="Times New Roman" panose="02020603050405020304" pitchFamily="18" charset="0"/>
              </a:rPr>
              <a:t>     }</a:t>
            </a:r>
          </a:p>
          <a:p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     </a:t>
            </a:r>
            <a:r>
              <a:rPr lang="en-US" altLang="zh-CN" sz="2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fwrite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(stud, </a:t>
            </a:r>
            <a:r>
              <a:rPr lang="en-US" altLang="zh-CN" sz="2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sizeof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(struct </a:t>
            </a:r>
            <a:r>
              <a:rPr lang="en-US" altLang="zh-CN" sz="2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student_type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), N, </a:t>
            </a:r>
            <a:r>
              <a:rPr lang="en-US" altLang="zh-CN" sz="2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fp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);</a:t>
            </a:r>
          </a:p>
          <a:p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</a:rPr>
              <a:t>     </a:t>
            </a:r>
            <a:r>
              <a:rPr lang="en-US" altLang="zh-CN" sz="2000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fclose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000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fp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</a:rPr>
              <a:t>);</a:t>
            </a:r>
          </a:p>
          <a:p>
            <a:r>
              <a:rPr lang="en-US" altLang="zh-CN" sz="2000" dirty="0">
                <a:latin typeface="Times New Roman" panose="02020603050405020304" pitchFamily="18" charset="0"/>
              </a:rPr>
              <a:t>}</a:t>
            </a: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5377310" y="2340751"/>
            <a:ext cx="6209662" cy="4403386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 lIns="90000" tIns="46800" rIns="90000" bIns="4680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 dirty="0">
                <a:latin typeface="Times New Roman" panose="02020603050405020304" pitchFamily="18" charset="0"/>
              </a:rPr>
              <a:t>void display(){   </a:t>
            </a:r>
          </a:p>
          <a:p>
            <a:r>
              <a:rPr lang="en-US" altLang="zh-CN" sz="2000" dirty="0">
                <a:latin typeface="Times New Roman" panose="02020603050405020304" pitchFamily="18" charset="0"/>
              </a:rPr>
              <a:t>     FILE *</a:t>
            </a:r>
            <a:r>
              <a:rPr lang="en-US" altLang="zh-CN" sz="2000" dirty="0" err="1">
                <a:latin typeface="Times New Roman" panose="02020603050405020304" pitchFamily="18" charset="0"/>
              </a:rPr>
              <a:t>fp</a:t>
            </a:r>
            <a:r>
              <a:rPr lang="en-US" altLang="zh-CN" sz="2000" dirty="0">
                <a:latin typeface="Times New Roman" panose="02020603050405020304" pitchFamily="18" charset="0"/>
              </a:rPr>
              <a:t>;</a:t>
            </a:r>
          </a:p>
          <a:p>
            <a:r>
              <a:rPr lang="en-US" altLang="zh-CN" sz="2000" dirty="0">
                <a:latin typeface="Times New Roman" panose="02020603050405020304" pitchFamily="18" charset="0"/>
              </a:rPr>
              <a:t>     int  </a:t>
            </a:r>
            <a:r>
              <a:rPr lang="en-US" altLang="zh-CN" sz="2000" dirty="0" err="1">
                <a:latin typeface="Times New Roman" panose="02020603050405020304" pitchFamily="18" charset="0"/>
              </a:rPr>
              <a:t>i</a:t>
            </a:r>
            <a:r>
              <a:rPr lang="en-US" altLang="zh-CN" sz="2000" dirty="0">
                <a:latin typeface="Times New Roman" panose="02020603050405020304" pitchFamily="18" charset="0"/>
              </a:rPr>
              <a:t>;</a:t>
            </a:r>
          </a:p>
          <a:p>
            <a:r>
              <a:rPr lang="en-US" altLang="zh-CN" sz="2000" dirty="0">
                <a:latin typeface="Times New Roman" panose="02020603050405020304" pitchFamily="18" charset="0"/>
              </a:rPr>
              <a:t>     if((</a:t>
            </a:r>
            <a:r>
              <a:rPr lang="en-US" altLang="zh-CN" sz="2000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fp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sz="2000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fopen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</a:rPr>
              <a:t>("d:\\py\\stu_dat","rb"))==NULL</a:t>
            </a:r>
            <a:r>
              <a:rPr lang="en-US" altLang="zh-CN" sz="2000" dirty="0">
                <a:latin typeface="Times New Roman" panose="02020603050405020304" pitchFamily="18" charset="0"/>
              </a:rPr>
              <a:t>) {    </a:t>
            </a:r>
          </a:p>
          <a:p>
            <a:r>
              <a:rPr lang="en-US" altLang="zh-CN" sz="2000" dirty="0">
                <a:latin typeface="Times New Roman" panose="02020603050405020304" pitchFamily="18" charset="0"/>
              </a:rPr>
              <a:t>              </a:t>
            </a:r>
            <a:r>
              <a:rPr lang="en-US" altLang="zh-CN" sz="2000" dirty="0" err="1">
                <a:latin typeface="Times New Roman" panose="02020603050405020304" pitchFamily="18" charset="0"/>
              </a:rPr>
              <a:t>printf</a:t>
            </a:r>
            <a:r>
              <a:rPr lang="en-US" altLang="zh-CN" sz="2000" dirty="0">
                <a:latin typeface="Times New Roman" panose="02020603050405020304" pitchFamily="18" charset="0"/>
              </a:rPr>
              <a:t>("cannot open file\n");</a:t>
            </a:r>
          </a:p>
          <a:p>
            <a:r>
              <a:rPr lang="en-US" altLang="zh-CN" sz="2000" dirty="0">
                <a:latin typeface="Times New Roman" panose="02020603050405020304" pitchFamily="18" charset="0"/>
              </a:rPr>
              <a:t>	       return;</a:t>
            </a:r>
          </a:p>
          <a:p>
            <a:r>
              <a:rPr lang="en-US" altLang="zh-CN" sz="2000" dirty="0">
                <a:latin typeface="Times New Roman" panose="02020603050405020304" pitchFamily="18" charset="0"/>
              </a:rPr>
              <a:t>     }</a:t>
            </a:r>
          </a:p>
          <a:p>
            <a:r>
              <a:rPr lang="en-US" altLang="zh-CN" sz="2000" dirty="0">
                <a:latin typeface="Times New Roman" panose="02020603050405020304" pitchFamily="18" charset="0"/>
              </a:rPr>
              <a:t>     for(</a:t>
            </a:r>
            <a:r>
              <a:rPr lang="en-US" altLang="zh-CN" sz="2000" dirty="0" err="1">
                <a:latin typeface="Times New Roman" panose="02020603050405020304" pitchFamily="18" charset="0"/>
              </a:rPr>
              <a:t>i</a:t>
            </a:r>
            <a:r>
              <a:rPr lang="en-US" altLang="zh-CN" sz="2000" dirty="0">
                <a:latin typeface="Times New Roman" panose="02020603050405020304" pitchFamily="18" charset="0"/>
              </a:rPr>
              <a:t>=0;i&lt;</a:t>
            </a:r>
            <a:r>
              <a:rPr lang="en-US" altLang="zh-CN" sz="2000" dirty="0" err="1">
                <a:latin typeface="Times New Roman" panose="02020603050405020304" pitchFamily="18" charset="0"/>
              </a:rPr>
              <a:t>N;i</a:t>
            </a:r>
            <a:r>
              <a:rPr lang="en-US" altLang="zh-CN" sz="2000" dirty="0">
                <a:latin typeface="Times New Roman" panose="02020603050405020304" pitchFamily="18" charset="0"/>
              </a:rPr>
              <a:t>++){   </a:t>
            </a:r>
          </a:p>
          <a:p>
            <a:r>
              <a:rPr lang="en-US" altLang="zh-CN" sz="2000" dirty="0">
                <a:latin typeface="Times New Roman" panose="02020603050405020304" pitchFamily="18" charset="0"/>
              </a:rPr>
              <a:t>           </a:t>
            </a:r>
            <a:r>
              <a:rPr lang="en-US" altLang="zh-CN" sz="2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fread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(&amp;stud[</a:t>
            </a:r>
            <a:r>
              <a:rPr lang="en-US" altLang="zh-CN" sz="2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], </a:t>
            </a:r>
            <a:r>
              <a:rPr lang="en-US" altLang="zh-CN" sz="2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sizeof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(struct </a:t>
            </a:r>
            <a:r>
              <a:rPr lang="en-US" altLang="zh-CN" sz="2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student_type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), 1, </a:t>
            </a:r>
            <a:r>
              <a:rPr lang="en-US" altLang="zh-CN" sz="2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fp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);</a:t>
            </a:r>
          </a:p>
          <a:p>
            <a:r>
              <a:rPr lang="en-US" altLang="zh-CN" sz="2000" dirty="0">
                <a:latin typeface="Times New Roman" panose="02020603050405020304" pitchFamily="18" charset="0"/>
              </a:rPr>
              <a:t>           </a:t>
            </a:r>
            <a:r>
              <a:rPr lang="en-US" altLang="zh-CN" sz="2000" dirty="0" err="1">
                <a:latin typeface="Times New Roman" panose="02020603050405020304" pitchFamily="18" charset="0"/>
              </a:rPr>
              <a:t>printf</a:t>
            </a:r>
            <a:r>
              <a:rPr lang="en-US" altLang="zh-CN" sz="2000" dirty="0">
                <a:latin typeface="Times New Roman" panose="02020603050405020304" pitchFamily="18" charset="0"/>
              </a:rPr>
              <a:t>("%-10s %4d %4d %-15s\</a:t>
            </a:r>
            <a:r>
              <a:rPr lang="en-US" altLang="zh-CN" sz="2000" dirty="0" err="1">
                <a:latin typeface="Times New Roman" panose="02020603050405020304" pitchFamily="18" charset="0"/>
              </a:rPr>
              <a:t>n",stud</a:t>
            </a:r>
            <a:r>
              <a:rPr lang="en-US" altLang="zh-CN" sz="2000" dirty="0">
                <a:latin typeface="Times New Roman" panose="02020603050405020304" pitchFamily="18" charset="0"/>
              </a:rPr>
              <a:t>[</a:t>
            </a:r>
            <a:r>
              <a:rPr lang="en-US" altLang="zh-CN" sz="2000" dirty="0" err="1">
                <a:latin typeface="Times New Roman" panose="02020603050405020304" pitchFamily="18" charset="0"/>
              </a:rPr>
              <a:t>i</a:t>
            </a:r>
            <a:r>
              <a:rPr lang="en-US" altLang="zh-CN" sz="2000" dirty="0">
                <a:latin typeface="Times New Roman" panose="02020603050405020304" pitchFamily="18" charset="0"/>
              </a:rPr>
              <a:t>].name,</a:t>
            </a:r>
          </a:p>
          <a:p>
            <a:r>
              <a:rPr lang="en-US" altLang="zh-CN" sz="2000" dirty="0">
                <a:latin typeface="Times New Roman" panose="02020603050405020304" pitchFamily="18" charset="0"/>
              </a:rPr>
              <a:t>                      stud[</a:t>
            </a:r>
            <a:r>
              <a:rPr lang="en-US" altLang="zh-CN" sz="2000" dirty="0" err="1">
                <a:latin typeface="Times New Roman" panose="02020603050405020304" pitchFamily="18" charset="0"/>
              </a:rPr>
              <a:t>i</a:t>
            </a:r>
            <a:r>
              <a:rPr lang="en-US" altLang="zh-CN" sz="2000" dirty="0">
                <a:latin typeface="Times New Roman" panose="02020603050405020304" pitchFamily="18" charset="0"/>
              </a:rPr>
              <a:t>].</a:t>
            </a:r>
            <a:r>
              <a:rPr lang="en-US" altLang="zh-CN" sz="2000" dirty="0" err="1">
                <a:latin typeface="Times New Roman" panose="02020603050405020304" pitchFamily="18" charset="0"/>
              </a:rPr>
              <a:t>num,stud</a:t>
            </a:r>
            <a:r>
              <a:rPr lang="en-US" altLang="zh-CN" sz="2000" dirty="0">
                <a:latin typeface="Times New Roman" panose="02020603050405020304" pitchFamily="18" charset="0"/>
              </a:rPr>
              <a:t>[</a:t>
            </a:r>
            <a:r>
              <a:rPr lang="en-US" altLang="zh-CN" sz="2000" dirty="0" err="1">
                <a:latin typeface="Times New Roman" panose="02020603050405020304" pitchFamily="18" charset="0"/>
              </a:rPr>
              <a:t>i</a:t>
            </a:r>
            <a:r>
              <a:rPr lang="en-US" altLang="zh-CN" sz="2000" dirty="0">
                <a:latin typeface="Times New Roman" panose="02020603050405020304" pitchFamily="18" charset="0"/>
              </a:rPr>
              <a:t>].</a:t>
            </a:r>
            <a:r>
              <a:rPr lang="en-US" altLang="zh-CN" sz="2000" dirty="0" err="1">
                <a:latin typeface="Times New Roman" panose="02020603050405020304" pitchFamily="18" charset="0"/>
              </a:rPr>
              <a:t>age,stud</a:t>
            </a:r>
            <a:r>
              <a:rPr lang="en-US" altLang="zh-CN" sz="2000" dirty="0">
                <a:latin typeface="Times New Roman" panose="02020603050405020304" pitchFamily="18" charset="0"/>
              </a:rPr>
              <a:t>[</a:t>
            </a:r>
            <a:r>
              <a:rPr lang="en-US" altLang="zh-CN" sz="2000" dirty="0" err="1">
                <a:latin typeface="Times New Roman" panose="02020603050405020304" pitchFamily="18" charset="0"/>
              </a:rPr>
              <a:t>i</a:t>
            </a:r>
            <a:r>
              <a:rPr lang="en-US" altLang="zh-CN" sz="2000" dirty="0">
                <a:latin typeface="Times New Roman" panose="02020603050405020304" pitchFamily="18" charset="0"/>
              </a:rPr>
              <a:t>].</a:t>
            </a:r>
            <a:r>
              <a:rPr lang="en-US" altLang="zh-CN" sz="2000" dirty="0" err="1">
                <a:latin typeface="Times New Roman" panose="02020603050405020304" pitchFamily="18" charset="0"/>
              </a:rPr>
              <a:t>addr</a:t>
            </a:r>
            <a:r>
              <a:rPr lang="en-US" altLang="zh-CN" sz="2000" dirty="0">
                <a:latin typeface="Times New Roman" panose="02020603050405020304" pitchFamily="18" charset="0"/>
              </a:rPr>
              <a:t>);</a:t>
            </a:r>
          </a:p>
          <a:p>
            <a:r>
              <a:rPr lang="en-US" altLang="zh-CN" sz="2000" dirty="0">
                <a:latin typeface="Times New Roman" panose="02020603050405020304" pitchFamily="18" charset="0"/>
              </a:rPr>
              <a:t>     }</a:t>
            </a:r>
          </a:p>
          <a:p>
            <a:r>
              <a:rPr lang="en-US" altLang="zh-CN" sz="2000" dirty="0">
                <a:latin typeface="Times New Roman" panose="02020603050405020304" pitchFamily="18" charset="0"/>
              </a:rPr>
              <a:t>     </a:t>
            </a:r>
            <a:r>
              <a:rPr lang="en-US" altLang="zh-CN" sz="2000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fclose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000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fp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</a:rPr>
              <a:t>);</a:t>
            </a:r>
          </a:p>
          <a:p>
            <a:r>
              <a:rPr lang="en-US" altLang="zh-CN" sz="2000" dirty="0">
                <a:latin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70978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mute="1"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mute="1"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 autoUpdateAnimBg="0"/>
      <p:bldP spid="8" grpId="0" animBg="1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-46887"/>
            <a:ext cx="10058400" cy="1609344"/>
          </a:xfrm>
        </p:spPr>
        <p:txBody>
          <a:bodyPr/>
          <a:lstStyle/>
          <a:p>
            <a:r>
              <a:rPr lang="zh-CN" altLang="en-US" dirty="0"/>
              <a:t>格式化读写函数</a:t>
            </a:r>
            <a:r>
              <a:rPr lang="en-US" altLang="zh-CN" dirty="0" err="1"/>
              <a:t>fscanf</a:t>
            </a:r>
            <a:r>
              <a:rPr lang="zh-CN" altLang="en-US" dirty="0"/>
              <a:t>和</a:t>
            </a:r>
            <a:r>
              <a:rPr lang="en-US" altLang="zh-CN" dirty="0" err="1"/>
              <a:t>fprintf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741699"/>
            <a:ext cx="8700616" cy="184021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zh-CN" altLang="en-US" sz="2000"/>
              <a:t>函数原型：</a:t>
            </a:r>
            <a:endParaRPr lang="en-US" altLang="zh-CN" sz="2000"/>
          </a:p>
          <a:p>
            <a:pPr marL="0" indent="0">
              <a:buNone/>
            </a:pPr>
            <a:endParaRPr lang="en-US" altLang="zh-CN" sz="2000"/>
          </a:p>
          <a:p>
            <a:pPr marL="0" indent="0">
              <a:buNone/>
            </a:pPr>
            <a:endParaRPr lang="en-US" altLang="zh-CN" sz="2000"/>
          </a:p>
          <a:p>
            <a:pPr marL="0" indent="0">
              <a:buNone/>
            </a:pPr>
            <a:r>
              <a:rPr lang="zh-CN" altLang="en-US" sz="2000"/>
              <a:t>功能：按格式对文件进行读</a:t>
            </a:r>
            <a:r>
              <a:rPr lang="en-US" altLang="zh-CN" sz="2000"/>
              <a:t>/</a:t>
            </a:r>
            <a:r>
              <a:rPr lang="zh-CN" altLang="en-US" sz="2000"/>
              <a:t>写操作</a:t>
            </a:r>
            <a:endParaRPr lang="en-US" altLang="zh-CN" sz="2000"/>
          </a:p>
          <a:p>
            <a:pPr marL="0" indent="0">
              <a:buNone/>
            </a:pPr>
            <a:r>
              <a:rPr lang="zh-CN" altLang="en-US" sz="2000"/>
              <a:t>返值：成功，返回读</a:t>
            </a:r>
            <a:r>
              <a:rPr lang="en-US" altLang="zh-CN" sz="2000"/>
              <a:t>/</a:t>
            </a:r>
            <a:r>
              <a:rPr lang="zh-CN" altLang="en-US" sz="2000"/>
              <a:t>写的个数；出错或文件尾，返回</a:t>
            </a:r>
            <a:r>
              <a:rPr lang="en-US" altLang="zh-CN" sz="2000"/>
              <a:t>0</a:t>
            </a:r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17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1000898" y="2080998"/>
            <a:ext cx="5986126" cy="707886"/>
          </a:xfrm>
          <a:prstGeom prst="rect">
            <a:avLst/>
          </a:prstGeom>
          <a:noFill/>
          <a:ln w="12700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>
                <a:solidFill>
                  <a:schemeClr val="tx2"/>
                </a:solidFill>
                <a:latin typeface="Times New Roman" panose="02020603050405020304" pitchFamily="18" charset="0"/>
              </a:rPr>
              <a:t>int  fprintf(FILE *fp, const char *format[,argument,…]);</a:t>
            </a:r>
          </a:p>
          <a:p>
            <a:r>
              <a:rPr lang="en-US" altLang="zh-CN" sz="2000">
                <a:solidFill>
                  <a:schemeClr val="tx2"/>
                </a:solidFill>
                <a:latin typeface="Times New Roman" panose="02020603050405020304" pitchFamily="18" charset="0"/>
              </a:rPr>
              <a:t>int  fscanf(FILE *fp, const char *format[,address,…]);</a:t>
            </a: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1000898" y="3632923"/>
            <a:ext cx="7609702" cy="771623"/>
          </a:xfrm>
          <a:prstGeom prst="rect">
            <a:avLst/>
          </a:prstGeom>
          <a:noFill/>
          <a:ln w="19050">
            <a:solidFill>
              <a:srgbClr val="00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>
                <a:latin typeface="Times New Roman" panose="02020603050405020304" pitchFamily="18" charset="0"/>
              </a:rPr>
              <a:t>fprintf(fp, “%d,%6.2f”, i, t);    </a:t>
            </a:r>
            <a:r>
              <a:rPr lang="en-US" altLang="zh-CN" sz="200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</a:rPr>
              <a:t>//</a:t>
            </a:r>
            <a:r>
              <a:rPr lang="zh-CN" altLang="zh-CN" sz="200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</a:rPr>
              <a:t>将</a:t>
            </a:r>
            <a:r>
              <a:rPr lang="en-US" altLang="zh-CN" sz="200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</a:rPr>
              <a:t>i</a:t>
            </a:r>
            <a:r>
              <a:rPr lang="zh-CN" altLang="zh-CN" sz="200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</a:rPr>
              <a:t>和</a:t>
            </a:r>
            <a:r>
              <a:rPr lang="en-US" altLang="zh-CN" sz="200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</a:rPr>
              <a:t>t</a:t>
            </a:r>
            <a:r>
              <a:rPr lang="zh-CN" altLang="zh-CN" sz="200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</a:rPr>
              <a:t>按%</a:t>
            </a:r>
            <a:r>
              <a:rPr lang="en-US" altLang="zh-CN" sz="200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</a:rPr>
              <a:t>d,%6.2f</a:t>
            </a:r>
            <a:r>
              <a:rPr lang="zh-CN" altLang="zh-CN" sz="200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</a:rPr>
              <a:t>格式输出到</a:t>
            </a:r>
            <a:r>
              <a:rPr lang="en-US" altLang="zh-CN" sz="200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</a:rPr>
              <a:t>fp</a:t>
            </a:r>
            <a:r>
              <a:rPr lang="zh-CN" altLang="zh-CN" sz="200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</a:rPr>
              <a:t>文件</a:t>
            </a:r>
            <a:r>
              <a:rPr lang="en-US" altLang="zh-CN" sz="2000">
                <a:solidFill>
                  <a:srgbClr val="0000FF"/>
                </a:solidFill>
                <a:latin typeface="Times New Roman" panose="02020603050405020304" pitchFamily="18" charset="0"/>
              </a:rPr>
              <a:t>                                         </a:t>
            </a:r>
            <a:endParaRPr lang="zh-CN" altLang="zh-CN" sz="200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r>
              <a:rPr lang="en-US" altLang="zh-CN" sz="2000">
                <a:latin typeface="Times New Roman" panose="02020603050405020304" pitchFamily="18" charset="0"/>
              </a:rPr>
              <a:t>fscanf(fp, “%d,%f”, &amp;i, &amp;t);   </a:t>
            </a:r>
            <a:r>
              <a:rPr lang="en-US" altLang="zh-CN" sz="200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</a:rPr>
              <a:t>//</a:t>
            </a:r>
            <a:r>
              <a:rPr lang="zh-CN" altLang="zh-CN" sz="200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</a:rPr>
              <a:t>若文件中有3,4.5,</a:t>
            </a:r>
            <a:r>
              <a:rPr lang="en-US" altLang="zh-CN" sz="200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zh-CN" altLang="zh-CN" sz="200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</a:rPr>
              <a:t>则将3送入</a:t>
            </a:r>
            <a:r>
              <a:rPr lang="en-US" altLang="zh-CN" sz="200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</a:rPr>
              <a:t>i, 4.5</a:t>
            </a:r>
            <a:r>
              <a:rPr lang="zh-CN" altLang="zh-CN" sz="200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</a:rPr>
              <a:t>送入</a:t>
            </a:r>
            <a:r>
              <a:rPr lang="en-US" altLang="zh-CN" sz="200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                                         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8" name="Rectangle 12"/>
          <p:cNvSpPr>
            <a:spLocks noChangeArrowheads="1"/>
          </p:cNvSpPr>
          <p:nvPr/>
        </p:nvSpPr>
        <p:spPr bwMode="auto">
          <a:xfrm>
            <a:off x="7022034" y="1589075"/>
            <a:ext cx="4929173" cy="4711163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 lIns="90000" tIns="46800" rIns="90000" bIns="4680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 dirty="0">
                <a:latin typeface="Times New Roman" panose="02020603050405020304" pitchFamily="18" charset="0"/>
              </a:rPr>
              <a:t>#include &lt;</a:t>
            </a:r>
            <a:r>
              <a:rPr lang="en-US" altLang="zh-CN" sz="2000" dirty="0" err="1">
                <a:latin typeface="Times New Roman" panose="02020603050405020304" pitchFamily="18" charset="0"/>
              </a:rPr>
              <a:t>stdio.h</a:t>
            </a:r>
            <a:r>
              <a:rPr lang="en-US" altLang="zh-CN" sz="2000" dirty="0">
                <a:latin typeface="Times New Roman" panose="02020603050405020304" pitchFamily="18" charset="0"/>
              </a:rPr>
              <a:t>&gt;</a:t>
            </a:r>
          </a:p>
          <a:p>
            <a:r>
              <a:rPr lang="en-US" altLang="zh-CN" sz="2000" dirty="0">
                <a:latin typeface="Times New Roman" panose="02020603050405020304" pitchFamily="18" charset="0"/>
              </a:rPr>
              <a:t>#include&lt;stdlib.h&gt;</a:t>
            </a:r>
          </a:p>
          <a:p>
            <a:r>
              <a:rPr lang="en-US" altLang="zh-CN" sz="2000" dirty="0">
                <a:latin typeface="Times New Roman" panose="02020603050405020304" pitchFamily="18" charset="0"/>
              </a:rPr>
              <a:t>int main(void){  </a:t>
            </a:r>
          </a:p>
          <a:p>
            <a:r>
              <a:rPr lang="en-US" altLang="zh-CN" sz="2000" dirty="0">
                <a:latin typeface="Times New Roman" panose="02020603050405020304" pitchFamily="18" charset="0"/>
              </a:rPr>
              <a:t>    FILE *</a:t>
            </a:r>
            <a:r>
              <a:rPr lang="en-US" altLang="zh-CN" sz="2000" dirty="0" err="1">
                <a:latin typeface="Times New Roman" panose="02020603050405020304" pitchFamily="18" charset="0"/>
              </a:rPr>
              <a:t>fp</a:t>
            </a:r>
            <a:r>
              <a:rPr lang="en-US" altLang="zh-CN" sz="2000" dirty="0">
                <a:latin typeface="Times New Roman" panose="02020603050405020304" pitchFamily="18" charset="0"/>
              </a:rPr>
              <a:t>;</a:t>
            </a:r>
          </a:p>
          <a:p>
            <a:r>
              <a:rPr lang="en-US" altLang="zh-CN" sz="2000" dirty="0">
                <a:latin typeface="Times New Roman" panose="02020603050405020304" pitchFamily="18" charset="0"/>
              </a:rPr>
              <a:t>    int </a:t>
            </a:r>
            <a:r>
              <a:rPr lang="en-US" altLang="zh-CN" sz="2000" dirty="0" err="1">
                <a:latin typeface="Times New Roman" panose="02020603050405020304" pitchFamily="18" charset="0"/>
              </a:rPr>
              <a:t>score,i</a:t>
            </a:r>
            <a:r>
              <a:rPr lang="en-US" altLang="zh-CN" sz="2000" dirty="0">
                <a:latin typeface="Times New Roman" panose="02020603050405020304" pitchFamily="18" charset="0"/>
              </a:rPr>
              <a:t>;</a:t>
            </a:r>
          </a:p>
          <a:p>
            <a:r>
              <a:rPr lang="en-US" altLang="zh-CN" sz="2000" dirty="0">
                <a:latin typeface="Times New Roman" panose="02020603050405020304" pitchFamily="18" charset="0"/>
              </a:rPr>
              <a:t>    if((</a:t>
            </a:r>
            <a:r>
              <a:rPr lang="en-US" altLang="zh-CN" sz="2000" dirty="0" err="1">
                <a:latin typeface="Times New Roman" panose="02020603050405020304" pitchFamily="18" charset="0"/>
              </a:rPr>
              <a:t>fp</a:t>
            </a:r>
            <a:r>
              <a:rPr lang="en-US" altLang="zh-CN" sz="2000" dirty="0">
                <a:latin typeface="Times New Roman" panose="02020603050405020304" pitchFamily="18" charset="0"/>
              </a:rPr>
              <a:t>=</a:t>
            </a:r>
            <a:r>
              <a:rPr lang="en-US" altLang="zh-CN" sz="2000" dirty="0" err="1">
                <a:latin typeface="Times New Roman" panose="02020603050405020304" pitchFamily="18" charset="0"/>
              </a:rPr>
              <a:t>fopen</a:t>
            </a:r>
            <a:r>
              <a:rPr lang="en-US" altLang="zh-CN" sz="2000" dirty="0">
                <a:latin typeface="Times New Roman" panose="02020603050405020304" pitchFamily="18" charset="0"/>
              </a:rPr>
              <a:t>("Cscore.txt"; "w"))==NULL){</a:t>
            </a:r>
          </a:p>
          <a:p>
            <a:r>
              <a:rPr lang="en-US" altLang="zh-CN" sz="2000" dirty="0">
                <a:latin typeface="Times New Roman" panose="02020603050405020304" pitchFamily="18" charset="0"/>
              </a:rPr>
              <a:t>           </a:t>
            </a:r>
            <a:r>
              <a:rPr lang="en-US" altLang="zh-CN" sz="2000" dirty="0" err="1">
                <a:latin typeface="Times New Roman" panose="02020603050405020304" pitchFamily="18" charset="0"/>
              </a:rPr>
              <a:t>printf</a:t>
            </a:r>
            <a:r>
              <a:rPr lang="en-US" altLang="zh-CN" sz="2000" dirty="0">
                <a:latin typeface="Times New Roman" panose="02020603050405020304" pitchFamily="18" charset="0"/>
              </a:rPr>
              <a:t>("cannot open file\n");</a:t>
            </a:r>
          </a:p>
          <a:p>
            <a:r>
              <a:rPr lang="en-US" altLang="zh-CN" sz="2000" dirty="0">
                <a:latin typeface="Times New Roman" panose="02020603050405020304" pitchFamily="18" charset="0"/>
              </a:rPr>
              <a:t>           exit(0);</a:t>
            </a:r>
          </a:p>
          <a:p>
            <a:r>
              <a:rPr lang="en-US" altLang="zh-CN" sz="2000" dirty="0">
                <a:latin typeface="Times New Roman" panose="02020603050405020304" pitchFamily="18" charset="0"/>
              </a:rPr>
              <a:t>     }</a:t>
            </a:r>
          </a:p>
          <a:p>
            <a:r>
              <a:rPr lang="en-US" altLang="zh-CN" sz="2000" dirty="0">
                <a:latin typeface="Times New Roman" panose="02020603050405020304" pitchFamily="18" charset="0"/>
              </a:rPr>
              <a:t>     for(</a:t>
            </a:r>
            <a:r>
              <a:rPr lang="en-US" altLang="zh-CN" sz="2000" dirty="0" err="1">
                <a:latin typeface="Times New Roman" panose="02020603050405020304" pitchFamily="18" charset="0"/>
              </a:rPr>
              <a:t>i</a:t>
            </a:r>
            <a:r>
              <a:rPr lang="en-US" altLang="zh-CN" sz="2000" dirty="0">
                <a:latin typeface="Times New Roman" panose="02020603050405020304" pitchFamily="18" charset="0"/>
              </a:rPr>
              <a:t>=0;i&lt;10;i++){</a:t>
            </a:r>
          </a:p>
          <a:p>
            <a:r>
              <a:rPr lang="en-US" altLang="zh-CN" sz="2000" dirty="0">
                <a:latin typeface="Times New Roman" panose="02020603050405020304" pitchFamily="18" charset="0"/>
              </a:rPr>
              <a:t>           </a:t>
            </a:r>
            <a:r>
              <a:rPr lang="en-US" altLang="zh-CN" sz="2000" dirty="0" err="1">
                <a:latin typeface="Times New Roman" panose="02020603050405020304" pitchFamily="18" charset="0"/>
              </a:rPr>
              <a:t>scanf</a:t>
            </a:r>
            <a:r>
              <a:rPr lang="en-US" altLang="zh-CN" sz="2000" dirty="0">
                <a:latin typeface="Times New Roman" panose="02020603050405020304" pitchFamily="18" charset="0"/>
              </a:rPr>
              <a:t>("%</a:t>
            </a:r>
            <a:r>
              <a:rPr lang="en-US" altLang="zh-CN" sz="2000" dirty="0" err="1">
                <a:latin typeface="Times New Roman" panose="02020603050405020304" pitchFamily="18" charset="0"/>
              </a:rPr>
              <a:t>d",&amp;score</a:t>
            </a:r>
            <a:r>
              <a:rPr lang="en-US" altLang="zh-CN" sz="2000" dirty="0">
                <a:latin typeface="Times New Roman" panose="02020603050405020304" pitchFamily="18" charset="0"/>
              </a:rPr>
              <a:t>);</a:t>
            </a:r>
          </a:p>
          <a:p>
            <a:r>
              <a:rPr lang="en-US" altLang="zh-CN" sz="2000" dirty="0">
                <a:latin typeface="Times New Roman" panose="02020603050405020304" pitchFamily="18" charset="0"/>
              </a:rPr>
              <a:t>           </a:t>
            </a:r>
            <a:r>
              <a:rPr lang="en-US" altLang="zh-CN" sz="2000" dirty="0" err="1">
                <a:latin typeface="Times New Roman" panose="02020603050405020304" pitchFamily="18" charset="0"/>
              </a:rPr>
              <a:t>fprintf</a:t>
            </a:r>
            <a:r>
              <a:rPr lang="en-US" altLang="zh-CN" sz="2000" dirty="0">
                <a:latin typeface="Times New Roman" panose="02020603050405020304" pitchFamily="18" charset="0"/>
              </a:rPr>
              <a:t>(fp,"%5d",score);</a:t>
            </a:r>
          </a:p>
          <a:p>
            <a:r>
              <a:rPr lang="en-US" altLang="zh-CN" sz="2000" dirty="0">
                <a:latin typeface="Times New Roman" panose="02020603050405020304" pitchFamily="18" charset="0"/>
              </a:rPr>
              <a:t>     }</a:t>
            </a:r>
          </a:p>
          <a:p>
            <a:r>
              <a:rPr lang="en-US" altLang="zh-CN" sz="2000" dirty="0">
                <a:latin typeface="Times New Roman" panose="02020603050405020304" pitchFamily="18" charset="0"/>
              </a:rPr>
              <a:t>     </a:t>
            </a:r>
            <a:r>
              <a:rPr lang="en-US" altLang="zh-CN" sz="2000" dirty="0" err="1">
                <a:latin typeface="Times New Roman" panose="02020603050405020304" pitchFamily="18" charset="0"/>
              </a:rPr>
              <a:t>fclose</a:t>
            </a:r>
            <a:r>
              <a:rPr lang="en-US" altLang="zh-CN" sz="2000" dirty="0">
                <a:latin typeface="Times New Roman" panose="02020603050405020304" pitchFamily="18" charset="0"/>
              </a:rPr>
              <a:t>(</a:t>
            </a:r>
            <a:r>
              <a:rPr lang="en-US" altLang="zh-CN" sz="2000" dirty="0" err="1">
                <a:latin typeface="Times New Roman" panose="02020603050405020304" pitchFamily="18" charset="0"/>
              </a:rPr>
              <a:t>fp</a:t>
            </a:r>
            <a:r>
              <a:rPr lang="en-US" altLang="zh-CN" sz="2000" dirty="0">
                <a:latin typeface="Times New Roman" panose="02020603050405020304" pitchFamily="18" charset="0"/>
              </a:rPr>
              <a:t>);</a:t>
            </a:r>
          </a:p>
          <a:p>
            <a:r>
              <a:rPr lang="en-US" altLang="zh-CN" sz="2000" dirty="0">
                <a:latin typeface="Times New Roman" panose="02020603050405020304" pitchFamily="18" charset="0"/>
              </a:rPr>
              <a:t>}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000898" y="4703805"/>
            <a:ext cx="5986126" cy="646331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/>
              <a:t>程序举例：</a:t>
            </a:r>
            <a:endParaRPr lang="en-US" altLang="zh-CN"/>
          </a:p>
          <a:p>
            <a:r>
              <a:rPr lang="zh-CN" altLang="en-US"/>
              <a:t>从键盘输入</a:t>
            </a:r>
            <a:r>
              <a:rPr lang="en-US" altLang="zh-CN"/>
              <a:t>10</a:t>
            </a:r>
            <a:r>
              <a:rPr lang="zh-CN" altLang="en-US"/>
              <a:t>个成绩，以格式</a:t>
            </a:r>
            <a:r>
              <a:rPr lang="en-US" altLang="zh-CN"/>
              <a:t>%5d</a:t>
            </a:r>
            <a:r>
              <a:rPr lang="zh-CN" altLang="en-US"/>
              <a:t>写到文件</a:t>
            </a:r>
            <a:r>
              <a:rPr lang="en-US" altLang="zh-CN"/>
              <a:t>Cscore.txt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9254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mute="1"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 autoUpdateAnimBg="0"/>
      <p:bldP spid="8" grpId="0" animBg="1" autoUpdateAnimBg="0"/>
      <p:bldP spid="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84AE3F-FA25-423F-A3C6-11FF5F1C7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文件定位函数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868445-28E9-4442-9B0B-E11FFAE5A9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zh-CN" b="1" dirty="0"/>
              <a:t> </a:t>
            </a:r>
            <a:r>
              <a:rPr lang="en-US" altLang="zh-CN" sz="2400" b="1" dirty="0"/>
              <a:t>r</a:t>
            </a:r>
            <a:r>
              <a:rPr lang="en-US" sz="2400" b="1" dirty="0"/>
              <a:t>ewind</a:t>
            </a:r>
            <a:r>
              <a:rPr lang="zh-CN" altLang="en-US" sz="2400" b="1" dirty="0"/>
              <a:t>函数</a:t>
            </a:r>
            <a:endParaRPr lang="en-US" altLang="zh-CN" sz="2400" b="1" dirty="0"/>
          </a:p>
          <a:p>
            <a:pPr marL="0" indent="0">
              <a:buNone/>
            </a:pPr>
            <a:r>
              <a:rPr lang="en-US" sz="2400" dirty="0"/>
              <a:t>  </a:t>
            </a:r>
            <a:r>
              <a:rPr lang="zh-CN" altLang="en-US" sz="2400" dirty="0"/>
              <a:t>功能：移动文件指针到文件头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  </a:t>
            </a:r>
            <a:r>
              <a:rPr lang="zh-CN" altLang="en-US" sz="2400" dirty="0"/>
              <a:t>函数原型：</a:t>
            </a:r>
            <a:r>
              <a:rPr lang="en-US" altLang="zh-CN" sz="2400" dirty="0"/>
              <a:t>void rewind(FILE *</a:t>
            </a:r>
            <a:r>
              <a:rPr lang="en-US" altLang="zh-CN" sz="2400" dirty="0" err="1"/>
              <a:t>fp</a:t>
            </a:r>
            <a:r>
              <a:rPr lang="en-US" altLang="zh-CN" sz="2400" dirty="0"/>
              <a:t>)</a:t>
            </a:r>
          </a:p>
          <a:p>
            <a:r>
              <a:rPr lang="en-US" altLang="zh-CN" sz="2400" dirty="0"/>
              <a:t>  </a:t>
            </a:r>
            <a:r>
              <a:rPr lang="en-US" altLang="zh-CN" sz="2400" b="1" dirty="0" err="1"/>
              <a:t>fseek</a:t>
            </a:r>
            <a:r>
              <a:rPr lang="zh-CN" altLang="en-US" sz="2400" b="1" dirty="0"/>
              <a:t>函数</a:t>
            </a:r>
            <a:endParaRPr lang="en-US" altLang="zh-CN" sz="2400" b="1" dirty="0"/>
          </a:p>
          <a:p>
            <a:pPr marL="0" indent="0">
              <a:buNone/>
            </a:pPr>
            <a:r>
              <a:rPr lang="zh-CN" altLang="en-US" sz="2400" dirty="0"/>
              <a:t>  功能：移动文件读写位置指针</a:t>
            </a:r>
            <a:endParaRPr lang="en-US" altLang="zh-CN" sz="2400" dirty="0"/>
          </a:p>
          <a:p>
            <a:pPr marL="0" indent="0">
              <a:buNone/>
            </a:pPr>
            <a:r>
              <a:rPr lang="en-US" sz="2400" dirty="0"/>
              <a:t>  </a:t>
            </a:r>
            <a:r>
              <a:rPr lang="zh-CN" altLang="en-US" sz="2400" dirty="0"/>
              <a:t>函数原型：</a:t>
            </a:r>
            <a:r>
              <a:rPr lang="en-US" altLang="zh-CN" sz="2400" dirty="0"/>
              <a:t>int </a:t>
            </a:r>
            <a:r>
              <a:rPr lang="en-US" altLang="zh-CN" sz="2400" dirty="0" err="1"/>
              <a:t>fseek</a:t>
            </a:r>
            <a:r>
              <a:rPr lang="en-US" altLang="zh-CN" sz="2400" dirty="0"/>
              <a:t>(FILE *</a:t>
            </a:r>
            <a:r>
              <a:rPr lang="en-US" altLang="zh-CN" sz="2400" dirty="0" err="1"/>
              <a:t>fp</a:t>
            </a:r>
            <a:r>
              <a:rPr lang="en-US" altLang="zh-CN" sz="2400" dirty="0"/>
              <a:t>,</a:t>
            </a:r>
            <a:r>
              <a:rPr lang="zh-CN" altLang="en-US" sz="2400" dirty="0"/>
              <a:t> </a:t>
            </a:r>
            <a:r>
              <a:rPr lang="en-US" altLang="zh-CN" sz="2400" dirty="0"/>
              <a:t>int</a:t>
            </a:r>
            <a:r>
              <a:rPr lang="zh-CN" altLang="en-US" sz="2400" dirty="0"/>
              <a:t> </a:t>
            </a:r>
            <a:r>
              <a:rPr lang="en-US" altLang="zh-CN" sz="2400" dirty="0"/>
              <a:t>n,</a:t>
            </a:r>
            <a:r>
              <a:rPr lang="zh-CN" altLang="en-US" sz="2400" dirty="0"/>
              <a:t> </a:t>
            </a:r>
            <a:r>
              <a:rPr lang="en-US" altLang="zh-CN" sz="2400" dirty="0"/>
              <a:t>unsigned</a:t>
            </a:r>
            <a:r>
              <a:rPr lang="zh-CN" altLang="en-US" sz="2400" dirty="0"/>
              <a:t> </a:t>
            </a:r>
            <a:r>
              <a:rPr lang="en-US" altLang="zh-CN" sz="2400" dirty="0"/>
              <a:t>switch)</a:t>
            </a:r>
          </a:p>
          <a:p>
            <a:pPr marL="0" indent="0">
              <a:buNone/>
            </a:pPr>
            <a:r>
              <a:rPr lang="en-US" sz="2400" dirty="0"/>
              <a:t>   n</a:t>
            </a:r>
            <a:r>
              <a:rPr lang="zh-CN" altLang="en-US" sz="2400" dirty="0"/>
              <a:t>为移动的偏移量字节数，为正数，向下移动，为负数，向上移动</a:t>
            </a:r>
            <a:endParaRPr lang="en-US" altLang="zh-CN" sz="2400" dirty="0"/>
          </a:p>
          <a:p>
            <a:pPr marL="0" indent="0">
              <a:buNone/>
            </a:pPr>
            <a:r>
              <a:rPr lang="en-US" sz="2400" dirty="0"/>
              <a:t>   </a:t>
            </a:r>
            <a:r>
              <a:rPr lang="en-US" altLang="zh-CN" sz="2400" dirty="0"/>
              <a:t>switch</a:t>
            </a:r>
            <a:r>
              <a:rPr lang="zh-CN" altLang="en-US" sz="2400" dirty="0"/>
              <a:t>是移动的起点</a:t>
            </a:r>
            <a:r>
              <a:rPr lang="en-US" altLang="zh-CN" sz="2400" dirty="0"/>
              <a:t>:  0</a:t>
            </a:r>
            <a:r>
              <a:rPr lang="zh-CN" altLang="en-US" sz="2400" dirty="0"/>
              <a:t>，文件头；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                                   1</a:t>
            </a:r>
            <a:r>
              <a:rPr lang="zh-CN" altLang="en-US" sz="2400" dirty="0"/>
              <a:t>，当前位置；</a:t>
            </a: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/>
              <a:t>                                   </a:t>
            </a:r>
            <a:r>
              <a:rPr lang="en-US" altLang="zh-CN" sz="2400" dirty="0"/>
              <a:t>2</a:t>
            </a:r>
            <a:r>
              <a:rPr lang="zh-CN" altLang="en-US" sz="2400" dirty="0"/>
              <a:t>，文件尾。</a:t>
            </a:r>
            <a:endParaRPr lang="en-US" altLang="zh-CN" sz="2400" dirty="0"/>
          </a:p>
          <a:p>
            <a:pPr marL="0" indent="0">
              <a:buNone/>
            </a:pPr>
            <a:r>
              <a:rPr lang="en-US" dirty="0"/>
              <a:t>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16268035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谢谢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mU5YWU2YzllNGZmZTViNjUwYjAxYWNhZmY5MDU0M2QifQ=="/>
  <p:tag name="KSO_WPP_MARK_KEY" val="c34bcdfb-13dc-4e7f-b54f-4cde71d08e7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35_3*i*1"/>
  <p:tag name="KSO_WM_TEMPLATE_CATEGORY" val="chip"/>
  <p:tag name="KSO_WM_TEMPLATE_INDEX" val="20215035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52dd0ad14824cac57d3a"/>
  <p:tag name="KSO_WM_CHIP_XID" val="5faa52dd0ad14824cac57d3d"/>
  <p:tag name="KSO_WM_UNIT_DEC_AREA_ID" val="dee9a792411d45f58c6e5b99eb87e923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1c69729ceb794182b0b48671241df94a"/>
  <p:tag name="KSO_WM_SLIDE_BACKGROUND_TYPE" val="belt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35_4*i*1"/>
  <p:tag name="KSO_WM_TEMPLATE_CATEGORY" val="chip"/>
  <p:tag name="KSO_WM_TEMPLATE_INDEX" val="20215035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52dd0ad14824cac57d3a"/>
  <p:tag name="KSO_WM_CHIP_XID" val="5faa52dd0ad14824cac57d3e"/>
  <p:tag name="KSO_WM_UNIT_DEC_AREA_ID" val="b1da29c00c7f45aeb3e2a6197fbd5a6e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698ba860c38645fbbad577258b122222"/>
  <p:tag name="KSO_WM_SLIDE_BACKGROUND_TYPE" val="belt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35_4*i*1"/>
  <p:tag name="KSO_WM_TEMPLATE_CATEGORY" val="chip"/>
  <p:tag name="KSO_WM_TEMPLATE_INDEX" val="20215035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52dd0ad14824cac57d3a"/>
  <p:tag name="KSO_WM_CHIP_XID" val="5faa52dd0ad14824cac57d3e"/>
  <p:tag name="KSO_WM_UNIT_DEC_AREA_ID" val="e54d0f326d7646ff8277c3ae65b9c71b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3fbcbfeee8e4487a97074207f33ce67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35_4*i*1"/>
  <p:tag name="KSO_WM_TEMPLATE_CATEGORY" val="chip"/>
  <p:tag name="KSO_WM_TEMPLATE_INDEX" val="20215035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52dd0ad14824cac57d3a"/>
  <p:tag name="KSO_WM_CHIP_XID" val="5faa52dd0ad14824cac57d3e"/>
  <p:tag name="KSO_WM_UNIT_DEC_AREA_ID" val="e54d0f326d7646ff8277c3ae65b9c71b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3fbcbfeee8e4487a97074207f33ce67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TEMPLATE_CATEGORY" val="custom"/>
  <p:tag name="KSO_WM_TEMPLATE_INDEX" val="20215035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TEMPLATE_CATEGORY" val="custom"/>
  <p:tag name="KSO_WM_TEMPLATE_INDEX" val="20215035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TEMPLATE_CATEGORY" val="custom"/>
  <p:tag name="KSO_WM_TEMPLATE_INDEX" val="2021503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35_4*i*1"/>
  <p:tag name="KSO_WM_TEMPLATE_CATEGORY" val="chip"/>
  <p:tag name="KSO_WM_TEMPLATE_INDEX" val="20215035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52dd0ad14824cac57d3a"/>
  <p:tag name="KSO_WM_CHIP_XID" val="5faa52dd0ad14824cac57d3e"/>
  <p:tag name="KSO_WM_UNIT_DEC_AREA_ID" val="e54d0f326d7646ff8277c3ae65b9c71b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3fbcbfeee8e4487a97074207f33ce67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35_4*i*1"/>
  <p:tag name="KSO_WM_TEMPLATE_CATEGORY" val="chip"/>
  <p:tag name="KSO_WM_TEMPLATE_INDEX" val="20215035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52dd0ad14824cac57d3a"/>
  <p:tag name="KSO_WM_CHIP_XID" val="5faa52dd0ad14824cac57d3e"/>
  <p:tag name="KSO_WM_UNIT_DEC_AREA_ID" val="e54d0f326d7646ff8277c3ae65b9c71b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3fbcbfeee8e4487a97074207f33ce67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35_4*i*1"/>
  <p:tag name="KSO_WM_TEMPLATE_CATEGORY" val="chip"/>
  <p:tag name="KSO_WM_TEMPLATE_INDEX" val="20215035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52dd0ad14824cac57d3a"/>
  <p:tag name="KSO_WM_CHIP_XID" val="5faa52dd0ad14824cac57d3e"/>
  <p:tag name="KSO_WM_UNIT_DEC_AREA_ID" val="e54d0f326d7646ff8277c3ae65b9c71b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3fbcbfeee8e4487a97074207f33ce67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木材纹理">
  <a:themeElements>
    <a:clrScheme name="木材纹理">
      <a:dk1>
        <a:sysClr val="windowText" lastClr="000000"/>
      </a:dk1>
      <a:lt1>
        <a:sysClr val="window" lastClr="FFFFFF"/>
      </a:lt1>
      <a:dk2>
        <a:srgbClr val="84ACB6"/>
      </a:dk2>
      <a:lt2>
        <a:srgbClr val="EBE9DD"/>
      </a:lt2>
      <a:accent1>
        <a:srgbClr val="6F8183"/>
      </a:accent1>
      <a:accent2>
        <a:srgbClr val="967E96"/>
      </a:accent2>
      <a:accent3>
        <a:srgbClr val="CCC893"/>
      </a:accent3>
      <a:accent4>
        <a:srgbClr val="A54D74"/>
      </a:accent4>
      <a:accent5>
        <a:srgbClr val="949C6B"/>
      </a:accent5>
      <a:accent6>
        <a:srgbClr val="766A50"/>
      </a:accent6>
      <a:hlink>
        <a:srgbClr val="CC6600"/>
      </a:hlink>
      <a:folHlink>
        <a:srgbClr val="777777"/>
      </a:folHlink>
    </a:clrScheme>
    <a:fontScheme name="木材纹理">
      <a:majorFont>
        <a:latin typeface="Century Gothic" panose="020B0502020202020204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Bookman Old Style" panose="02050604050505020204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木材纹理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8E89CD47-BF55-4DDE-B823-2283AA7E7695}"/>
    </a:ext>
  </a:extLst>
</a:theme>
</file>

<file path=ppt/theme/theme2.xml><?xml version="1.0" encoding="utf-8"?>
<a:theme xmlns:a="http://schemas.openxmlformats.org/drawingml/2006/main" name="3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noFill/>
        <a:ln w="9525" algn="ctr">
          <a:solidFill>
            <a:srgbClr val="0070C0"/>
          </a:solidFill>
          <a:miter lim="800000"/>
          <a:headEnd/>
          <a:tailEnd/>
        </a:ln>
        <a:effectLst/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lIns="0" tIns="0" rIns="0" bIns="0"/>
      <a:lstStyle>
        <a:defPPr algn="ctr">
          <a:spcBef>
            <a:spcPct val="0"/>
          </a:spcBef>
          <a:buClrTx/>
          <a:buSzTx/>
          <a:buFontTx/>
          <a:buNone/>
          <a:defRPr kumimoji="0" sz="2000">
            <a:solidFill>
              <a:srgbClr val="000000"/>
            </a:solidFill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木材纹理</Template>
  <TotalTime>20027</TotalTime>
  <Words>2227</Words>
  <Application>Microsoft Office PowerPoint</Application>
  <PresentationFormat>宽屏</PresentationFormat>
  <Paragraphs>308</Paragraphs>
  <Slides>19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31" baseType="lpstr">
      <vt:lpstr>锐字潮牌真言简2.0免费 大粗</vt:lpstr>
      <vt:lpstr>宋体</vt:lpstr>
      <vt:lpstr>微软雅黑</vt:lpstr>
      <vt:lpstr>Arial</vt:lpstr>
      <vt:lpstr>Bookman Old Style</vt:lpstr>
      <vt:lpstr>Calibri</vt:lpstr>
      <vt:lpstr>Century Gothic</vt:lpstr>
      <vt:lpstr>Tahoma</vt:lpstr>
      <vt:lpstr>Times New Roman</vt:lpstr>
      <vt:lpstr>Wingdings</vt:lpstr>
      <vt:lpstr>木材纹理</vt:lpstr>
      <vt:lpstr>3_Office 主题​​</vt:lpstr>
      <vt:lpstr>第8章     文    件</vt:lpstr>
      <vt:lpstr>PowerPoint 演示文稿</vt:lpstr>
      <vt:lpstr>PowerPoint 演示文稿</vt:lpstr>
      <vt:lpstr>PowerPoint 演示文稿</vt:lpstr>
      <vt:lpstr>8.1 文件概述</vt:lpstr>
      <vt:lpstr>1. 文本文件和二进制文件</vt:lpstr>
      <vt:lpstr>C语言的文件</vt:lpstr>
      <vt:lpstr>2. 文件缓冲区</vt:lpstr>
      <vt:lpstr>3. 文件结构和文件指针</vt:lpstr>
      <vt:lpstr>C语言文件读写的过程和所用函数</vt:lpstr>
      <vt:lpstr>8.2 文件操作</vt:lpstr>
      <vt:lpstr>文件的打开fopen与关闭fclose</vt:lpstr>
      <vt:lpstr>字符读写函数</vt:lpstr>
      <vt:lpstr>字符串读写函数</vt:lpstr>
      <vt:lpstr>数据块读写函数fread和fwrite</vt:lpstr>
      <vt:lpstr>PowerPoint 演示文稿</vt:lpstr>
      <vt:lpstr>格式化读写函数fscanf和fprintf</vt:lpstr>
      <vt:lpstr>文件定位函数</vt:lpstr>
      <vt:lpstr>谢谢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《C语言程序设计》</dc:title>
  <dc:creator>Administrator</dc:creator>
  <cp:lastModifiedBy>燕敏 陈</cp:lastModifiedBy>
  <cp:revision>171</cp:revision>
  <dcterms:created xsi:type="dcterms:W3CDTF">2022-07-08T03:32:00Z</dcterms:created>
  <dcterms:modified xsi:type="dcterms:W3CDTF">2025-09-03T15:29:20Z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BFD466564B3A47D89E7AF80165FC8B71</vt:lpwstr>
  </property>
  <property fmtid="{D5CDD505-2E9C-101B-9397-08002B2CF9AE}" pid="3" name="KSOProductBuildVer">
    <vt:lpwstr>2052-11.1.0.11875</vt:lpwstr>
  </property>
</Properties>
</file>