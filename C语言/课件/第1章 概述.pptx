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7.xml" ContentType="application/vnd.openxmlformats-officedocument.theme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2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2" r:id="rId2"/>
    <p:sldMasterId id="2147483982" r:id="rId3"/>
    <p:sldMasterId id="2147483995" r:id="rId4"/>
    <p:sldMasterId id="2147484021" r:id="rId5"/>
    <p:sldMasterId id="2147484034" r:id="rId6"/>
    <p:sldMasterId id="2147484047" r:id="rId7"/>
    <p:sldMasterId id="2147484060" r:id="rId8"/>
  </p:sldMasterIdLst>
  <p:notesMasterIdLst>
    <p:notesMasterId r:id="rId36"/>
  </p:notesMasterIdLst>
  <p:sldIdLst>
    <p:sldId id="299" r:id="rId9"/>
    <p:sldId id="301" r:id="rId10"/>
    <p:sldId id="428" r:id="rId11"/>
    <p:sldId id="298" r:id="rId12"/>
    <p:sldId id="427" r:id="rId13"/>
    <p:sldId id="434" r:id="rId14"/>
    <p:sldId id="436" r:id="rId15"/>
    <p:sldId id="437" r:id="rId16"/>
    <p:sldId id="439" r:id="rId17"/>
    <p:sldId id="441" r:id="rId18"/>
    <p:sldId id="447" r:id="rId19"/>
    <p:sldId id="448" r:id="rId20"/>
    <p:sldId id="449" r:id="rId21"/>
    <p:sldId id="450" r:id="rId22"/>
    <p:sldId id="452" r:id="rId23"/>
    <p:sldId id="453" r:id="rId24"/>
    <p:sldId id="454" r:id="rId25"/>
    <p:sldId id="455" r:id="rId26"/>
    <p:sldId id="457" r:id="rId27"/>
    <p:sldId id="458" r:id="rId28"/>
    <p:sldId id="459" r:id="rId29"/>
    <p:sldId id="460" r:id="rId30"/>
    <p:sldId id="461" r:id="rId31"/>
    <p:sldId id="462" r:id="rId32"/>
    <p:sldId id="463" r:id="rId33"/>
    <p:sldId id="464" r:id="rId34"/>
    <p:sldId id="269" r:id="rId35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27C6"/>
    <a:srgbClr val="54A5BF"/>
    <a:srgbClr val="DED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1" autoAdjust="0"/>
    <p:restoredTop sz="94647" autoAdjust="0"/>
  </p:normalViewPr>
  <p:slideViewPr>
    <p:cSldViewPr snapToGrid="0">
      <p:cViewPr varScale="1">
        <p:scale>
          <a:sx n="108" d="100"/>
          <a:sy n="108" d="100"/>
        </p:scale>
        <p:origin x="660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1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3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presProps" Target="presProps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tags" Target="tags/tag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538048-F63A-4A4D-9D00-3E4A08633E5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E95F0-DD99-4637-B6CC-2CB7A5EF2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983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74654F66-AD24-4040-BC02-5634AC55E9E3}" type="slidenum">
              <a:rPr lang="en-US" altLang="zh-CN">
                <a:solidFill>
                  <a:prstClr val="black"/>
                </a:solidFill>
              </a:rPr>
              <a:pPr eaLnBrk="1" hangingPunct="1">
                <a:spcBef>
                  <a:spcPct val="0"/>
                </a:spcBef>
              </a:pPr>
              <a:t>3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8E5A8FC5-3FD8-E955-B41E-AAAB33875A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55E0240-0040-404D-AA27-CB227A9FDA60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2CEDDA4A-CE13-5481-1D15-8C3A2EE55F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6E0A747F-C11B-9B59-290A-40F3045C88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81BEDFC6-9592-4D90-992A-EC6AB94CFB84}" type="slidenum">
              <a:rPr lang="en-US" altLang="zh-CN">
                <a:solidFill>
                  <a:prstClr val="black"/>
                </a:solidFill>
              </a:rPr>
              <a:pPr eaLnBrk="1" hangingPunct="1">
                <a:spcBef>
                  <a:spcPct val="0"/>
                </a:spcBef>
              </a:pPr>
              <a:t>5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CC94C232-89CE-4332-B0E7-77032499BADE}" type="slidenum">
              <a:rPr lang="en-US" altLang="zh-CN">
                <a:solidFill>
                  <a:prstClr val="black"/>
                </a:solidFill>
              </a:rPr>
              <a:pPr eaLnBrk="1" hangingPunct="1">
                <a:spcBef>
                  <a:spcPct val="0"/>
                </a:spcBef>
              </a:pPr>
              <a:t>6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2243664A-CD11-463A-8C9E-46AC3B42406C}" type="slidenum">
              <a:rPr lang="en-US" altLang="zh-CN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FC3D38E-B519-48DA-8F94-5D8812E16D14}" type="slidenum">
              <a:rPr lang="en-US" altLang="zh-CN">
                <a:solidFill>
                  <a:prstClr val="black"/>
                </a:solidFill>
              </a:rPr>
              <a:pPr eaLnBrk="1" hangingPunct="1">
                <a:spcBef>
                  <a:spcPct val="0"/>
                </a:spcBef>
              </a:pPr>
              <a:t>8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B263D6F6-0DA8-4788-8408-A4E5FA71446E}" type="slidenum">
              <a:rPr lang="en-US" altLang="zh-CN">
                <a:solidFill>
                  <a:prstClr val="black"/>
                </a:solidFill>
              </a:rPr>
              <a:pPr eaLnBrk="1" hangingPunct="1">
                <a:spcBef>
                  <a:spcPct val="0"/>
                </a:spcBef>
              </a:pPr>
              <a:t>9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66C073-0E3E-4982-A81F-E6E3025DA910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B673A-D967-4262-AB26-16D66608598B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pPr eaLnBrk="1" hangingPunct="1">
              <a:defRPr/>
            </a:pPr>
            <a:endParaRPr lang="en-US" altLang="zh-CN" sz="1050" baseline="300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614904-1C3E-4FEC-98E9-B8F2EF760835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18 = 2*9+0        19 = 2*9+1      (109.37)10 = (155.275)8 = (6D.5E)16</a:t>
            </a:r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07C938-BF25-4EEE-BC6F-04A3AF9B3ED9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280E81-6054-41D8-BA1A-456830536CA7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320AD-1863-4052-AD67-765C50A38D92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5B4197-524B-4FE8-8788-A75DAD38117B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6D45E3-B0A2-471D-BE8E-84AB0AE7565A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C0FB6E-A568-496A-8196-AF1E00472FBC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endParaRPr lang="zh-CN" altLang="en-US" b="1" dirty="0">
              <a:solidFill>
                <a:srgbClr val="CC3300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D503EF-640D-4FC7-9E67-3B91DD47FBB9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A98E4F-58BF-4D6D-8F03-8543BDC8A335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F3DB6F-AED8-4D8D-8645-7D1011CB0A9E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320AD-1863-4052-AD67-765C50A38D92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201561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320AD-1863-4052-AD67-765C50A38D92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92171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10" Type="http://schemas.openxmlformats.org/officeDocument/2006/relationships/image" Target="../media/image3.png"/><Relationship Id="rId4" Type="http://schemas.openxmlformats.org/officeDocument/2006/relationships/tags" Target="../tags/tag17.xml"/><Relationship Id="rId9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副标题 3"/>
          <p:cNvSpPr>
            <a:spLocks noGrp="1"/>
          </p:cNvSpPr>
          <p:nvPr>
            <p:ph type="subTitle" idx="3" hasCustomPrompt="1"/>
            <p:custDataLst>
              <p:tags r:id="rId1"/>
            </p:custDataLst>
          </p:nvPr>
        </p:nvSpPr>
        <p:spPr>
          <a:xfrm>
            <a:off x="1652271" y="3649345"/>
            <a:ext cx="8890000" cy="669290"/>
          </a:xfrm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3600" b="0" i="0" u="none" strike="noStrike" kern="1200" cap="none" spc="200" normalizeH="0" baseline="0" noProof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  <p:sp>
        <p:nvSpPr>
          <p:cNvPr id="4" name="标题 4"/>
          <p:cNvSpPr>
            <a:spLocks noGrp="1"/>
          </p:cNvSpPr>
          <p:nvPr>
            <p:ph type="ctrTitle" idx="2" hasCustomPrompt="1"/>
            <p:custDataLst>
              <p:tags r:id="rId2"/>
            </p:custDataLst>
          </p:nvPr>
        </p:nvSpPr>
        <p:spPr>
          <a:xfrm>
            <a:off x="1652271" y="2227797"/>
            <a:ext cx="8890064" cy="1112520"/>
          </a:xfrm>
        </p:spPr>
        <p:txBody>
          <a:bodyPr vert="horz" wrap="square" lIns="0" tIns="0" rIns="0" bIns="0" rtlCol="0" anchor="b" anchorCtr="0">
            <a:normAutofit lnSpcReduction="1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7225" b="1" i="0" u="none" strike="noStrike" kern="1200" cap="none" spc="70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1655445" y="3486150"/>
            <a:ext cx="8909051" cy="0"/>
          </a:xfrm>
          <a:prstGeom prst="line">
            <a:avLst/>
          </a:prstGeom>
          <a:ln w="19050">
            <a:solidFill>
              <a:srgbClr val="DEDE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/>
          <p:cNvSpPr/>
          <p:nvPr userDrawn="1"/>
        </p:nvSpPr>
        <p:spPr>
          <a:xfrm>
            <a:off x="6036313" y="3401698"/>
            <a:ext cx="168275" cy="168275"/>
          </a:xfrm>
          <a:prstGeom prst="ellipse">
            <a:avLst/>
          </a:prstGeom>
          <a:solidFill>
            <a:schemeClr val="bg1"/>
          </a:solidFill>
          <a:ln>
            <a:solidFill>
              <a:srgbClr val="DEDE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 userDrawn="1"/>
        </p:nvSpPr>
        <p:spPr>
          <a:xfrm>
            <a:off x="3363033" y="4786103"/>
            <a:ext cx="2502535" cy="387985"/>
          </a:xfrm>
          <a:prstGeom prst="roundRect">
            <a:avLst/>
          </a:prstGeom>
          <a:solidFill>
            <a:schemeClr val="bg1"/>
          </a:solidFill>
          <a:ln>
            <a:solidFill>
              <a:srgbClr val="DEDE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中国计量大学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09" y="6137910"/>
            <a:ext cx="720091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76" y="400793"/>
            <a:ext cx="10852151" cy="553085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76" y="1137920"/>
            <a:ext cx="10852151" cy="5203190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3200" b="1" i="0" u="none" strike="noStrike" kern="1200" cap="none" spc="150" normalizeH="0" baseline="0" noProof="1" dirty="0">
                <a:solidFill>
                  <a:schemeClr val="accent2">
                    <a:lumMod val="50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09" y="6137910"/>
            <a:ext cx="720091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76" y="443338"/>
            <a:ext cx="10852151" cy="475615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7" y="1137920"/>
            <a:ext cx="5377180" cy="5203190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idx="13"/>
          </p:nvPr>
        </p:nvSpPr>
        <p:spPr>
          <a:xfrm>
            <a:off x="6111875" y="1126490"/>
            <a:ext cx="5410200" cy="5203190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09" y="0"/>
            <a:ext cx="720091" cy="7200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09" y="6137910"/>
            <a:ext cx="720091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4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29" y="952512"/>
            <a:ext cx="5283243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12"/>
            <a:ext cx="5283243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片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09" y="6137910"/>
            <a:ext cx="720091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4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9929" y="952616"/>
            <a:ext cx="5283243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49" y="952616"/>
            <a:ext cx="5283243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49" y="1406525"/>
            <a:ext cx="5283243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09" y="6137910"/>
            <a:ext cx="720091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29" y="952512"/>
            <a:ext cx="5283243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12"/>
            <a:ext cx="5283243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  <a:t>2025/9/10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09" y="6137910"/>
            <a:ext cx="720091" cy="72009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2" y="952512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2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436133" y="-10801"/>
            <a:ext cx="1753527" cy="1753527"/>
          </a:xfrm>
          <a:prstGeom prst="rect">
            <a:avLst/>
          </a:prstGeom>
        </p:spPr>
      </p:pic>
      <p:pic>
        <p:nvPicPr>
          <p:cNvPr id="6" name="图片 5" descr="图片2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3" y="5104569"/>
            <a:ext cx="1753527" cy="17535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17889-7F4F-4468-9749-CDB7CA8FB84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2025/9/10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209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B601-5397-4551-A762-7F5F3BCCC0F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0806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846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571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D89D-949D-4764-9E92-6A4C0240D476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442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BE235-6CB3-465C-B79D-2ED7CC3238A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013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19E6E-E8E9-4E10-B381-7A672952EE8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3062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97422-9D7F-4A51-B3C7-4F59D04F0F4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8590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337CD-AE36-4315-98EF-9C53C5C4206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732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533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9B90F-2915-430D-A93A-745C87197AE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1189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53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7C2-A9DF-4F31-AD39-FEB95D02439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2253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4AEEF-2762-45C6-B123-D04A8CE9603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3241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F4548-D02D-4C05-86FF-41D48D9AAF9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0839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-1380067" y="1552602"/>
            <a:ext cx="13572067" cy="5305425"/>
            <a:chOff x="-652" y="978"/>
            <a:chExt cx="6412" cy="3342"/>
          </a:xfrm>
        </p:grpSpPr>
        <p:sp>
          <p:nvSpPr>
            <p:cNvPr id="5" name="Freeform 3"/>
            <p:cNvSpPr>
              <a:spLocks/>
            </p:cNvSpPr>
            <p:nvPr/>
          </p:nvSpPr>
          <p:spPr bwMode="auto">
            <a:xfrm>
              <a:off x="2061" y="1707"/>
              <a:ext cx="3699" cy="2613"/>
            </a:xfrm>
            <a:custGeom>
              <a:avLst/>
              <a:gdLst>
                <a:gd name="T0" fmla="*/ 1523 w 3699"/>
                <a:gd name="T1" fmla="*/ 2611 h 2613"/>
                <a:gd name="T2" fmla="*/ 3698 w 3699"/>
                <a:gd name="T3" fmla="*/ 2612 h 2613"/>
                <a:gd name="T4" fmla="*/ 3698 w 3699"/>
                <a:gd name="T5" fmla="*/ 2228 h 2613"/>
                <a:gd name="T6" fmla="*/ 0 w 3699"/>
                <a:gd name="T7" fmla="*/ 0 h 2613"/>
                <a:gd name="T8" fmla="*/ 160 w 3699"/>
                <a:gd name="T9" fmla="*/ 118 h 2613"/>
                <a:gd name="T10" fmla="*/ 292 w 3699"/>
                <a:gd name="T11" fmla="*/ 219 h 2613"/>
                <a:gd name="T12" fmla="*/ 441 w 3699"/>
                <a:gd name="T13" fmla="*/ 347 h 2613"/>
                <a:gd name="T14" fmla="*/ 585 w 3699"/>
                <a:gd name="T15" fmla="*/ 482 h 2613"/>
                <a:gd name="T16" fmla="*/ 796 w 3699"/>
                <a:gd name="T17" fmla="*/ 711 h 2613"/>
                <a:gd name="T18" fmla="*/ 983 w 3699"/>
                <a:gd name="T19" fmla="*/ 955 h 2613"/>
                <a:gd name="T20" fmla="*/ 1119 w 3699"/>
                <a:gd name="T21" fmla="*/ 1168 h 2613"/>
                <a:gd name="T22" fmla="*/ 1238 w 3699"/>
                <a:gd name="T23" fmla="*/ 1388 h 2613"/>
                <a:gd name="T24" fmla="*/ 1331 w 3699"/>
                <a:gd name="T25" fmla="*/ 1608 h 2613"/>
                <a:gd name="T26" fmla="*/ 1400 w 3699"/>
                <a:gd name="T27" fmla="*/ 1809 h 2613"/>
                <a:gd name="T28" fmla="*/ 1447 w 3699"/>
                <a:gd name="T29" fmla="*/ 1979 h 2613"/>
                <a:gd name="T30" fmla="*/ 1490 w 3699"/>
                <a:gd name="T31" fmla="*/ 2190 h 2613"/>
                <a:gd name="T32" fmla="*/ 1511 w 3699"/>
                <a:gd name="T33" fmla="*/ 2374 h 2613"/>
                <a:gd name="T34" fmla="*/ 1523 w 3699"/>
                <a:gd name="T35" fmla="*/ 2611 h 2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en-US" sz="2400">
                <a:solidFill>
                  <a:srgbClr val="FFFFFF"/>
                </a:solidFill>
              </a:endParaRPr>
            </a:p>
          </p:txBody>
        </p:sp>
        <p:sp>
          <p:nvSpPr>
            <p:cNvPr id="6" name="Arc 4"/>
            <p:cNvSpPr>
              <a:spLocks/>
            </p:cNvSpPr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T0" fmla="*/ 0 w 21600"/>
                <a:gd name="T1" fmla="*/ 0 h 21231"/>
                <a:gd name="T2" fmla="*/ 0 w 21600"/>
                <a:gd name="T3" fmla="*/ 0 h 21231"/>
                <a:gd name="T4" fmla="*/ 0 w 21600"/>
                <a:gd name="T5" fmla="*/ 0 h 212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lnTo>
                    <a:pt x="3976" y="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sz="2400">
                <a:solidFill>
                  <a:srgbClr val="FFFFFF"/>
                </a:solidFill>
              </a:endParaRPr>
            </a:p>
          </p:txBody>
        </p:sp>
      </p:grpSp>
      <p:sp>
        <p:nvSpPr>
          <p:cNvPr id="4101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725084" y="762000"/>
            <a:ext cx="10363200" cy="114300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914400" y="3429000"/>
            <a:ext cx="85344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C6126F-54F1-4713-845D-C031E76628D8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57218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D984F9-78D5-41C6-B61A-A736A005DBC4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5138724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2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BE6F1-A28B-453A-9001-72DA34867DB8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178088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B980BA-9684-4BD3-AAE5-1D4AAC606DB7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386610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85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85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9D950C-463D-46BB-A5F1-E6E3854762F9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082928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7779F8-536B-4402-AF5A-405938C93FAB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7776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C6CEB2-6416-49C7-A1DF-929752D2FA92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234957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7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6BEF9-7B99-44A2-919C-CBC5F4FE87C8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019302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67A7AD-2774-40CB-8F8E-3EADD8F217AA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9164386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480585-0645-4BE2-94A5-90226E56E3ED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3314946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A4D3A3-AEDB-4D72-A1D2-086B964FE91E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046793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19C02D-ABDB-4A92-95E1-45AA69274E82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634547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-1380067" y="1552600"/>
            <a:ext cx="13572067" cy="5305425"/>
            <a:chOff x="-652" y="978"/>
            <a:chExt cx="6412" cy="3342"/>
          </a:xfrm>
        </p:grpSpPr>
        <p:sp>
          <p:nvSpPr>
            <p:cNvPr id="5" name="Freeform 3"/>
            <p:cNvSpPr>
              <a:spLocks/>
            </p:cNvSpPr>
            <p:nvPr/>
          </p:nvSpPr>
          <p:spPr bwMode="auto">
            <a:xfrm>
              <a:off x="2061" y="1707"/>
              <a:ext cx="3699" cy="2613"/>
            </a:xfrm>
            <a:custGeom>
              <a:avLst/>
              <a:gdLst>
                <a:gd name="T0" fmla="*/ 1523 w 3699"/>
                <a:gd name="T1" fmla="*/ 2611 h 2613"/>
                <a:gd name="T2" fmla="*/ 3698 w 3699"/>
                <a:gd name="T3" fmla="*/ 2612 h 2613"/>
                <a:gd name="T4" fmla="*/ 3698 w 3699"/>
                <a:gd name="T5" fmla="*/ 2228 h 2613"/>
                <a:gd name="T6" fmla="*/ 0 w 3699"/>
                <a:gd name="T7" fmla="*/ 0 h 2613"/>
                <a:gd name="T8" fmla="*/ 160 w 3699"/>
                <a:gd name="T9" fmla="*/ 118 h 2613"/>
                <a:gd name="T10" fmla="*/ 292 w 3699"/>
                <a:gd name="T11" fmla="*/ 219 h 2613"/>
                <a:gd name="T12" fmla="*/ 441 w 3699"/>
                <a:gd name="T13" fmla="*/ 347 h 2613"/>
                <a:gd name="T14" fmla="*/ 585 w 3699"/>
                <a:gd name="T15" fmla="*/ 482 h 2613"/>
                <a:gd name="T16" fmla="*/ 796 w 3699"/>
                <a:gd name="T17" fmla="*/ 711 h 2613"/>
                <a:gd name="T18" fmla="*/ 983 w 3699"/>
                <a:gd name="T19" fmla="*/ 955 h 2613"/>
                <a:gd name="T20" fmla="*/ 1119 w 3699"/>
                <a:gd name="T21" fmla="*/ 1168 h 2613"/>
                <a:gd name="T22" fmla="*/ 1238 w 3699"/>
                <a:gd name="T23" fmla="*/ 1388 h 2613"/>
                <a:gd name="T24" fmla="*/ 1331 w 3699"/>
                <a:gd name="T25" fmla="*/ 1608 h 2613"/>
                <a:gd name="T26" fmla="*/ 1400 w 3699"/>
                <a:gd name="T27" fmla="*/ 1809 h 2613"/>
                <a:gd name="T28" fmla="*/ 1447 w 3699"/>
                <a:gd name="T29" fmla="*/ 1979 h 2613"/>
                <a:gd name="T30" fmla="*/ 1490 w 3699"/>
                <a:gd name="T31" fmla="*/ 2190 h 2613"/>
                <a:gd name="T32" fmla="*/ 1511 w 3699"/>
                <a:gd name="T33" fmla="*/ 2374 h 2613"/>
                <a:gd name="T34" fmla="*/ 1523 w 3699"/>
                <a:gd name="T35" fmla="*/ 2611 h 2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en-US" sz="2400">
                <a:solidFill>
                  <a:srgbClr val="FFFFFF"/>
                </a:solidFill>
              </a:endParaRPr>
            </a:p>
          </p:txBody>
        </p:sp>
        <p:sp>
          <p:nvSpPr>
            <p:cNvPr id="6" name="Arc 4"/>
            <p:cNvSpPr>
              <a:spLocks/>
            </p:cNvSpPr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T0" fmla="*/ 0 w 21600"/>
                <a:gd name="T1" fmla="*/ 0 h 21231"/>
                <a:gd name="T2" fmla="*/ 0 w 21600"/>
                <a:gd name="T3" fmla="*/ 0 h 21231"/>
                <a:gd name="T4" fmla="*/ 0 w 21600"/>
                <a:gd name="T5" fmla="*/ 0 h 212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lnTo>
                    <a:pt x="3976" y="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sz="2400">
                <a:solidFill>
                  <a:srgbClr val="FFFFFF"/>
                </a:solidFill>
              </a:endParaRPr>
            </a:p>
          </p:txBody>
        </p:sp>
      </p:grpSp>
      <p:sp>
        <p:nvSpPr>
          <p:cNvPr id="4101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725084" y="762000"/>
            <a:ext cx="10363200" cy="114300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914400" y="3429000"/>
            <a:ext cx="85344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C6126F-54F1-4713-845D-C031E76628D8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779164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D984F9-78D5-41C6-B61A-A736A005DBC4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578986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2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BE6F1-A28B-453A-9001-72DA34867DB8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002890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B980BA-9684-4BD3-AAE5-1D4AAC606DB7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986343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84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84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9D950C-463D-46BB-A5F1-E6E3854762F9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653329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7779F8-536B-4402-AF5A-405938C93FAB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4357842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C6CEB2-6416-49C7-A1DF-929752D2FA92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138370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7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6BEF9-7B99-44A2-919C-CBC5F4FE87C8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841889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67A7AD-2774-40CB-8F8E-3EADD8F217AA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888000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480585-0645-4BE2-94A5-90226E56E3ED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5817325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A4D3A3-AEDB-4D72-A1D2-086B964FE91E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3668018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19C02D-ABDB-4A92-95E1-45AA69274E82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762406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1305117" cy="6173788"/>
            <a:chOff x="0" y="0"/>
            <a:chExt cx="5341" cy="3889"/>
          </a:xfrm>
        </p:grpSpPr>
        <p:sp>
          <p:nvSpPr>
            <p:cNvPr id="5" name="Freeform 3"/>
            <p:cNvSpPr>
              <a:spLocks/>
            </p:cNvSpPr>
            <p:nvPr/>
          </p:nvSpPr>
          <p:spPr bwMode="auto">
            <a:xfrm>
              <a:off x="0" y="0"/>
              <a:ext cx="3863" cy="3889"/>
            </a:xfrm>
            <a:custGeom>
              <a:avLst/>
              <a:gdLst>
                <a:gd name="T0" fmla="*/ 3862 w 3863"/>
                <a:gd name="T1" fmla="*/ 3418 h 3889"/>
                <a:gd name="T2" fmla="*/ 457 w 3863"/>
                <a:gd name="T3" fmla="*/ 0 h 3889"/>
                <a:gd name="T4" fmla="*/ 0 w 3863"/>
                <a:gd name="T5" fmla="*/ 0 h 3889"/>
                <a:gd name="T6" fmla="*/ 0 w 3863"/>
                <a:gd name="T7" fmla="*/ 481 h 3889"/>
                <a:gd name="T8" fmla="*/ 3394 w 3863"/>
                <a:gd name="T9" fmla="*/ 3888 h 3889"/>
                <a:gd name="T10" fmla="*/ 3862 w 3863"/>
                <a:gd name="T11" fmla="*/ 3418 h 38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63" h="3889">
                  <a:moveTo>
                    <a:pt x="3862" y="3418"/>
                  </a:moveTo>
                  <a:lnTo>
                    <a:pt x="457" y="0"/>
                  </a:lnTo>
                  <a:lnTo>
                    <a:pt x="0" y="0"/>
                  </a:lnTo>
                  <a:lnTo>
                    <a:pt x="0" y="481"/>
                  </a:lnTo>
                  <a:lnTo>
                    <a:pt x="3394" y="3888"/>
                  </a:lnTo>
                  <a:lnTo>
                    <a:pt x="3862" y="3418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sz="2400">
                <a:solidFill>
                  <a:srgbClr val="FFFFFF"/>
                </a:solidFill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auto">
            <a:xfrm>
              <a:off x="860" y="0"/>
              <a:ext cx="3394" cy="3223"/>
            </a:xfrm>
            <a:custGeom>
              <a:avLst/>
              <a:gdLst>
                <a:gd name="T0" fmla="*/ 370 w 3394"/>
                <a:gd name="T1" fmla="*/ 0 h 3223"/>
                <a:gd name="T2" fmla="*/ 3393 w 3394"/>
                <a:gd name="T3" fmla="*/ 3036 h 3223"/>
                <a:gd name="T4" fmla="*/ 3208 w 3394"/>
                <a:gd name="T5" fmla="*/ 3222 h 3223"/>
                <a:gd name="T6" fmla="*/ 0 w 3394"/>
                <a:gd name="T7" fmla="*/ 0 h 3223"/>
                <a:gd name="T8" fmla="*/ 370 w 3394"/>
                <a:gd name="T9" fmla="*/ 0 h 3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94" h="3223">
                  <a:moveTo>
                    <a:pt x="370" y="0"/>
                  </a:moveTo>
                  <a:lnTo>
                    <a:pt x="3393" y="3036"/>
                  </a:lnTo>
                  <a:lnTo>
                    <a:pt x="3208" y="3222"/>
                  </a:lnTo>
                  <a:lnTo>
                    <a:pt x="0" y="0"/>
                  </a:lnTo>
                  <a:lnTo>
                    <a:pt x="370" y="0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sz="2400">
                <a:solidFill>
                  <a:srgbClr val="FFFFFF"/>
                </a:solidFill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2187" y="0"/>
              <a:ext cx="2859" cy="2556"/>
            </a:xfrm>
            <a:custGeom>
              <a:avLst/>
              <a:gdLst>
                <a:gd name="T0" fmla="*/ 630 w 2859"/>
                <a:gd name="T1" fmla="*/ 0 h 2556"/>
                <a:gd name="T2" fmla="*/ 2858 w 2859"/>
                <a:gd name="T3" fmla="*/ 2238 h 2556"/>
                <a:gd name="T4" fmla="*/ 2543 w 2859"/>
                <a:gd name="T5" fmla="*/ 2555 h 2556"/>
                <a:gd name="T6" fmla="*/ 0 w 2859"/>
                <a:gd name="T7" fmla="*/ 0 h 2556"/>
                <a:gd name="T8" fmla="*/ 630 w 2859"/>
                <a:gd name="T9" fmla="*/ 0 h 25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59" h="2556">
                  <a:moveTo>
                    <a:pt x="630" y="0"/>
                  </a:moveTo>
                  <a:lnTo>
                    <a:pt x="2858" y="2238"/>
                  </a:lnTo>
                  <a:lnTo>
                    <a:pt x="2543" y="2555"/>
                  </a:lnTo>
                  <a:lnTo>
                    <a:pt x="0" y="0"/>
                  </a:lnTo>
                  <a:lnTo>
                    <a:pt x="630" y="0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sz="2400">
                <a:solidFill>
                  <a:srgbClr val="FFFFFF"/>
                </a:solidFill>
              </a:endParaRPr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3055" y="0"/>
              <a:ext cx="2286" cy="2121"/>
            </a:xfrm>
            <a:custGeom>
              <a:avLst/>
              <a:gdLst>
                <a:gd name="T0" fmla="*/ 0 w 2286"/>
                <a:gd name="T1" fmla="*/ 0 h 2121"/>
                <a:gd name="T2" fmla="*/ 2111 w 2286"/>
                <a:gd name="T3" fmla="*/ 2120 h 2121"/>
                <a:gd name="T4" fmla="*/ 2285 w 2286"/>
                <a:gd name="T5" fmla="*/ 1945 h 2121"/>
                <a:gd name="T6" fmla="*/ 348 w 2286"/>
                <a:gd name="T7" fmla="*/ 0 h 2121"/>
                <a:gd name="T8" fmla="*/ 0 w 2286"/>
                <a:gd name="T9" fmla="*/ 0 h 21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86" h="2121">
                  <a:moveTo>
                    <a:pt x="0" y="0"/>
                  </a:moveTo>
                  <a:lnTo>
                    <a:pt x="2111" y="2120"/>
                  </a:lnTo>
                  <a:lnTo>
                    <a:pt x="2285" y="1945"/>
                  </a:lnTo>
                  <a:lnTo>
                    <a:pt x="348" y="0"/>
                  </a:lnTo>
                  <a:lnTo>
                    <a:pt x="0" y="0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sz="2400">
                <a:solidFill>
                  <a:srgbClr val="FFFFFF"/>
                </a:solidFill>
              </a:endParaRPr>
            </a:p>
          </p:txBody>
        </p:sp>
      </p:grpSp>
      <p:sp>
        <p:nvSpPr>
          <p:cNvPr id="4103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143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2819400"/>
            <a:ext cx="8534400" cy="17526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9" name="Rectangle 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7A69D8D-FB43-4566-A976-1012AD2E86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9568878"/>
      </p:ext>
    </p:extLst>
  </p:cSld>
  <p:clrMapOvr>
    <a:masterClrMapping/>
  </p:clrMapOvr>
  <p:transition>
    <p:zoom dir="in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5251D-F52D-40AE-8987-9F710A016015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259195"/>
      </p:ext>
    </p:extLst>
  </p:cSld>
  <p:clrMapOvr>
    <a:masterClrMapping/>
  </p:clrMapOvr>
  <p:transition>
    <p:zoom dir="in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19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CB575F-B9D7-4838-858D-AEE76F5293AD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855972"/>
      </p:ext>
    </p:extLst>
  </p:cSld>
  <p:clrMapOvr>
    <a:masterClrMapping/>
  </p:clrMapOvr>
  <p:transition>
    <p:zoom dir="in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641475"/>
            <a:ext cx="508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41475"/>
            <a:ext cx="508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D108C9-B08A-40BD-87D2-0E1AC6EF5B57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583240"/>
      </p:ext>
    </p:extLst>
  </p:cSld>
  <p:clrMapOvr>
    <a:masterClrMapping/>
  </p:clrMapOvr>
  <p:transition>
    <p:zoom dir="in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8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8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147368-FCA2-4DBD-9CEF-7A0C1078159D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7086938"/>
      </p:ext>
    </p:extLst>
  </p:cSld>
  <p:clrMapOvr>
    <a:masterClrMapping/>
  </p:clrMapOvr>
  <p:transition>
    <p:zoom dir="in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207BD2-B8DD-42A8-A7F8-1C186E804639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163793"/>
      </p:ext>
    </p:extLst>
  </p:cSld>
  <p:clrMapOvr>
    <a:masterClrMapping/>
  </p:clrMapOvr>
  <p:transition>
    <p:zoom dir="in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6E3172-A60F-4D86-85CE-EB0964C7A184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325694"/>
      </p:ext>
    </p:extLst>
  </p:cSld>
  <p:clrMapOvr>
    <a:masterClrMapping/>
  </p:clrMapOvr>
  <p:transition>
    <p:zoom dir="in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69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57C25E-8E7F-4E55-AE84-B3D2A7D64F6E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850883"/>
      </p:ext>
    </p:extLst>
  </p:cSld>
  <p:clrMapOvr>
    <a:masterClrMapping/>
  </p:clrMapOvr>
  <p:transition>
    <p:zoom dir="in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56D6E9-E173-40B8-9C00-CF892605548A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382594"/>
      </p:ext>
    </p:extLst>
  </p:cSld>
  <p:clrMapOvr>
    <a:masterClrMapping/>
  </p:clrMapOvr>
  <p:transition>
    <p:zoom dir="in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D8662D-CF71-42DF-8318-68C236218B8B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190708"/>
      </p:ext>
    </p:extLst>
  </p:cSld>
  <p:clrMapOvr>
    <a:masterClrMapping/>
  </p:clrMapOvr>
  <p:transition>
    <p:zoom dir="in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228600"/>
            <a:ext cx="2590800" cy="5867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228600"/>
            <a:ext cx="7569200" cy="5867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9D0617-519D-407C-9AD7-D344D5E8CDAE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2631187"/>
      </p:ext>
    </p:extLst>
  </p:cSld>
  <p:clrMapOvr>
    <a:masterClrMapping/>
  </p:clrMapOvr>
  <p:transition>
    <p:zoom dir="in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10363200" cy="1219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641475"/>
            <a:ext cx="508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41494"/>
            <a:ext cx="5080000" cy="21510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44938"/>
            <a:ext cx="5080000" cy="21510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236C61-B7ED-4B37-964F-DBCFE4CF4CD5}" type="slidenum">
              <a:rPr lang="en-US" altLang="zh-CN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595427"/>
      </p:ext>
    </p:extLst>
  </p:cSld>
  <p:clrMapOvr>
    <a:masterClrMapping/>
  </p:clrMapOvr>
  <p:transition>
    <p:zoom dir="in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1305117" cy="6173788"/>
            <a:chOff x="0" y="0"/>
            <a:chExt cx="5341" cy="3889"/>
          </a:xfrm>
        </p:grpSpPr>
        <p:sp>
          <p:nvSpPr>
            <p:cNvPr id="5" name="Freeform 3"/>
            <p:cNvSpPr>
              <a:spLocks/>
            </p:cNvSpPr>
            <p:nvPr/>
          </p:nvSpPr>
          <p:spPr bwMode="auto">
            <a:xfrm>
              <a:off x="0" y="0"/>
              <a:ext cx="3863" cy="3889"/>
            </a:xfrm>
            <a:custGeom>
              <a:avLst/>
              <a:gdLst>
                <a:gd name="T0" fmla="*/ 3862 w 3863"/>
                <a:gd name="T1" fmla="*/ 3418 h 3889"/>
                <a:gd name="T2" fmla="*/ 457 w 3863"/>
                <a:gd name="T3" fmla="*/ 0 h 3889"/>
                <a:gd name="T4" fmla="*/ 0 w 3863"/>
                <a:gd name="T5" fmla="*/ 0 h 3889"/>
                <a:gd name="T6" fmla="*/ 0 w 3863"/>
                <a:gd name="T7" fmla="*/ 481 h 3889"/>
                <a:gd name="T8" fmla="*/ 3394 w 3863"/>
                <a:gd name="T9" fmla="*/ 3888 h 3889"/>
                <a:gd name="T10" fmla="*/ 3862 w 3863"/>
                <a:gd name="T11" fmla="*/ 3418 h 38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63" h="3889">
                  <a:moveTo>
                    <a:pt x="3862" y="3418"/>
                  </a:moveTo>
                  <a:lnTo>
                    <a:pt x="457" y="0"/>
                  </a:lnTo>
                  <a:lnTo>
                    <a:pt x="0" y="0"/>
                  </a:lnTo>
                  <a:lnTo>
                    <a:pt x="0" y="481"/>
                  </a:lnTo>
                  <a:lnTo>
                    <a:pt x="3394" y="3888"/>
                  </a:lnTo>
                  <a:lnTo>
                    <a:pt x="3862" y="3418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sz="2400">
                <a:solidFill>
                  <a:srgbClr val="FFFFFF"/>
                </a:solidFill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auto">
            <a:xfrm>
              <a:off x="860" y="0"/>
              <a:ext cx="3394" cy="3223"/>
            </a:xfrm>
            <a:custGeom>
              <a:avLst/>
              <a:gdLst>
                <a:gd name="T0" fmla="*/ 370 w 3394"/>
                <a:gd name="T1" fmla="*/ 0 h 3223"/>
                <a:gd name="T2" fmla="*/ 3393 w 3394"/>
                <a:gd name="T3" fmla="*/ 3036 h 3223"/>
                <a:gd name="T4" fmla="*/ 3208 w 3394"/>
                <a:gd name="T5" fmla="*/ 3222 h 3223"/>
                <a:gd name="T6" fmla="*/ 0 w 3394"/>
                <a:gd name="T7" fmla="*/ 0 h 3223"/>
                <a:gd name="T8" fmla="*/ 370 w 3394"/>
                <a:gd name="T9" fmla="*/ 0 h 3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94" h="3223">
                  <a:moveTo>
                    <a:pt x="370" y="0"/>
                  </a:moveTo>
                  <a:lnTo>
                    <a:pt x="3393" y="3036"/>
                  </a:lnTo>
                  <a:lnTo>
                    <a:pt x="3208" y="3222"/>
                  </a:lnTo>
                  <a:lnTo>
                    <a:pt x="0" y="0"/>
                  </a:lnTo>
                  <a:lnTo>
                    <a:pt x="370" y="0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sz="2400">
                <a:solidFill>
                  <a:srgbClr val="FFFFFF"/>
                </a:solidFill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2187" y="0"/>
              <a:ext cx="2859" cy="2556"/>
            </a:xfrm>
            <a:custGeom>
              <a:avLst/>
              <a:gdLst>
                <a:gd name="T0" fmla="*/ 630 w 2859"/>
                <a:gd name="T1" fmla="*/ 0 h 2556"/>
                <a:gd name="T2" fmla="*/ 2858 w 2859"/>
                <a:gd name="T3" fmla="*/ 2238 h 2556"/>
                <a:gd name="T4" fmla="*/ 2543 w 2859"/>
                <a:gd name="T5" fmla="*/ 2555 h 2556"/>
                <a:gd name="T6" fmla="*/ 0 w 2859"/>
                <a:gd name="T7" fmla="*/ 0 h 2556"/>
                <a:gd name="T8" fmla="*/ 630 w 2859"/>
                <a:gd name="T9" fmla="*/ 0 h 25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59" h="2556">
                  <a:moveTo>
                    <a:pt x="630" y="0"/>
                  </a:moveTo>
                  <a:lnTo>
                    <a:pt x="2858" y="2238"/>
                  </a:lnTo>
                  <a:lnTo>
                    <a:pt x="2543" y="2555"/>
                  </a:lnTo>
                  <a:lnTo>
                    <a:pt x="0" y="0"/>
                  </a:lnTo>
                  <a:lnTo>
                    <a:pt x="630" y="0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sz="2400">
                <a:solidFill>
                  <a:srgbClr val="FFFFFF"/>
                </a:solidFill>
              </a:endParaRPr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3055" y="0"/>
              <a:ext cx="2286" cy="2121"/>
            </a:xfrm>
            <a:custGeom>
              <a:avLst/>
              <a:gdLst>
                <a:gd name="T0" fmla="*/ 0 w 2286"/>
                <a:gd name="T1" fmla="*/ 0 h 2121"/>
                <a:gd name="T2" fmla="*/ 2111 w 2286"/>
                <a:gd name="T3" fmla="*/ 2120 h 2121"/>
                <a:gd name="T4" fmla="*/ 2285 w 2286"/>
                <a:gd name="T5" fmla="*/ 1945 h 2121"/>
                <a:gd name="T6" fmla="*/ 348 w 2286"/>
                <a:gd name="T7" fmla="*/ 0 h 2121"/>
                <a:gd name="T8" fmla="*/ 0 w 2286"/>
                <a:gd name="T9" fmla="*/ 0 h 21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86" h="2121">
                  <a:moveTo>
                    <a:pt x="0" y="0"/>
                  </a:moveTo>
                  <a:lnTo>
                    <a:pt x="2111" y="2120"/>
                  </a:lnTo>
                  <a:lnTo>
                    <a:pt x="2285" y="1945"/>
                  </a:lnTo>
                  <a:lnTo>
                    <a:pt x="348" y="0"/>
                  </a:lnTo>
                  <a:lnTo>
                    <a:pt x="0" y="0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sz="2400">
                <a:solidFill>
                  <a:srgbClr val="FFFFFF"/>
                </a:solidFill>
              </a:endParaRPr>
            </a:p>
          </p:txBody>
        </p:sp>
      </p:grpSp>
      <p:sp>
        <p:nvSpPr>
          <p:cNvPr id="4103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143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2819400"/>
            <a:ext cx="8534400" cy="17526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9" name="Rectangle 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889F029-750A-4FAB-A68E-F73334DA44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3102372"/>
      </p:ext>
    </p:extLst>
  </p:cSld>
  <p:clrMapOvr>
    <a:masterClrMapping/>
  </p:clrMapOvr>
  <p:transition>
    <p:zoom dir="in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A98B17-EE5B-4C2A-A7D2-E80CB30D5A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26797"/>
      </p:ext>
    </p:extLst>
  </p:cSld>
  <p:clrMapOvr>
    <a:masterClrMapping/>
  </p:clrMapOvr>
  <p:transition>
    <p:zoom dir="in"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1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D972F3-E8F5-4B19-B200-6F9C635D102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2330774"/>
      </p:ext>
    </p:extLst>
  </p:cSld>
  <p:clrMapOvr>
    <a:masterClrMapping/>
  </p:clrMapOvr>
  <p:transition>
    <p:zoom dir="in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641475"/>
            <a:ext cx="508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41475"/>
            <a:ext cx="508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002FE7-204F-461C-ACB3-7999012612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861606"/>
      </p:ext>
    </p:extLst>
  </p:cSld>
  <p:clrMapOvr>
    <a:masterClrMapping/>
  </p:clrMapOvr>
  <p:transition>
    <p:zoom dir="in"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33BC2-AEFA-4401-8840-7DCC7B5986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1784198"/>
      </p:ext>
    </p:extLst>
  </p:cSld>
  <p:clrMapOvr>
    <a:masterClrMapping/>
  </p:clrMapOvr>
  <p:transition>
    <p:zoom dir="in"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46D34-2965-47DE-B6BF-9D53A649CB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551523"/>
      </p:ext>
    </p:extLst>
  </p:cSld>
  <p:clrMapOvr>
    <a:masterClrMapping/>
  </p:clrMapOvr>
  <p:transition>
    <p:zoom dir="in"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84FE5D-4133-49F5-9ED3-28FBB6E1C7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0393222"/>
      </p:ext>
    </p:extLst>
  </p:cSld>
  <p:clrMapOvr>
    <a:masterClrMapping/>
  </p:clrMapOvr>
  <p:transition>
    <p:zoom dir="in"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6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B8CE89-E968-49BA-ABC2-B2D5228839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0845464"/>
      </p:ext>
    </p:extLst>
  </p:cSld>
  <p:clrMapOvr>
    <a:masterClrMapping/>
  </p:clrMapOvr>
  <p:transition>
    <p:zoom dir="in"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1496FE-C4C1-4738-9F1B-35A0B48C93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81244"/>
      </p:ext>
    </p:extLst>
  </p:cSld>
  <p:clrMapOvr>
    <a:masterClrMapping/>
  </p:clrMapOvr>
  <p:transition>
    <p:zoom dir="in"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27ABCA-C3C9-46C2-B289-A9DF30E09B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9818729"/>
      </p:ext>
    </p:extLst>
  </p:cSld>
  <p:clrMapOvr>
    <a:masterClrMapping/>
  </p:clrMapOvr>
  <p:transition>
    <p:zoom dir="in"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228600"/>
            <a:ext cx="2590800" cy="5867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228600"/>
            <a:ext cx="7569200" cy="5867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19B0D5-EA57-4427-B7AE-512FEC7E053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0095782"/>
      </p:ext>
    </p:extLst>
  </p:cSld>
  <p:clrMapOvr>
    <a:masterClrMapping/>
  </p:clrMapOvr>
  <p:transition>
    <p:zoom dir="in"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10363200" cy="1219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641475"/>
            <a:ext cx="508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41492"/>
            <a:ext cx="5080000" cy="21510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44938"/>
            <a:ext cx="5080000" cy="21510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CA0B18-E92B-4E80-8BB9-2E61794D963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9625990"/>
      </p:ext>
    </p:extLst>
  </p:cSld>
  <p:clrMapOvr>
    <a:masterClrMapping/>
  </p:clrMapOvr>
  <p:transition>
    <p:zoom dir="in"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971A198-6A79-679A-CE73-40D044F4BD88}"/>
              </a:ext>
            </a:extLst>
          </p:cNvPr>
          <p:cNvGrpSpPr>
            <a:grpSpLocks/>
          </p:cNvGrpSpPr>
          <p:nvPr/>
        </p:nvGrpSpPr>
        <p:grpSpPr bwMode="auto">
          <a:xfrm>
            <a:off x="-1380067" y="1552576"/>
            <a:ext cx="13572067" cy="5305425"/>
            <a:chOff x="-652" y="978"/>
            <a:chExt cx="6412" cy="334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E84FA55-55FE-77DE-453F-9F9DB4FFD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1" y="1707"/>
              <a:ext cx="3699" cy="2613"/>
            </a:xfrm>
            <a:custGeom>
              <a:avLst/>
              <a:gdLst>
                <a:gd name="T0" fmla="*/ 1523 w 3699"/>
                <a:gd name="T1" fmla="*/ 2611 h 2613"/>
                <a:gd name="T2" fmla="*/ 3698 w 3699"/>
                <a:gd name="T3" fmla="*/ 2612 h 2613"/>
                <a:gd name="T4" fmla="*/ 3698 w 3699"/>
                <a:gd name="T5" fmla="*/ 2228 h 2613"/>
                <a:gd name="T6" fmla="*/ 0 w 3699"/>
                <a:gd name="T7" fmla="*/ 0 h 2613"/>
                <a:gd name="T8" fmla="*/ 160 w 3699"/>
                <a:gd name="T9" fmla="*/ 118 h 2613"/>
                <a:gd name="T10" fmla="*/ 292 w 3699"/>
                <a:gd name="T11" fmla="*/ 219 h 2613"/>
                <a:gd name="T12" fmla="*/ 441 w 3699"/>
                <a:gd name="T13" fmla="*/ 347 h 2613"/>
                <a:gd name="T14" fmla="*/ 585 w 3699"/>
                <a:gd name="T15" fmla="*/ 482 h 2613"/>
                <a:gd name="T16" fmla="*/ 796 w 3699"/>
                <a:gd name="T17" fmla="*/ 711 h 2613"/>
                <a:gd name="T18" fmla="*/ 983 w 3699"/>
                <a:gd name="T19" fmla="*/ 955 h 2613"/>
                <a:gd name="T20" fmla="*/ 1119 w 3699"/>
                <a:gd name="T21" fmla="*/ 1168 h 2613"/>
                <a:gd name="T22" fmla="*/ 1238 w 3699"/>
                <a:gd name="T23" fmla="*/ 1388 h 2613"/>
                <a:gd name="T24" fmla="*/ 1331 w 3699"/>
                <a:gd name="T25" fmla="*/ 1608 h 2613"/>
                <a:gd name="T26" fmla="*/ 1400 w 3699"/>
                <a:gd name="T27" fmla="*/ 1809 h 2613"/>
                <a:gd name="T28" fmla="*/ 1447 w 3699"/>
                <a:gd name="T29" fmla="*/ 1979 h 2613"/>
                <a:gd name="T30" fmla="*/ 1490 w 3699"/>
                <a:gd name="T31" fmla="*/ 2190 h 2613"/>
                <a:gd name="T32" fmla="*/ 1511 w 3699"/>
                <a:gd name="T33" fmla="*/ 2374 h 2613"/>
                <a:gd name="T34" fmla="*/ 1523 w 3699"/>
                <a:gd name="T35" fmla="*/ 2611 h 2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 sz="1800"/>
            </a:p>
          </p:txBody>
        </p:sp>
        <p:sp>
          <p:nvSpPr>
            <p:cNvPr id="4" name="Arc 4">
              <a:extLst>
                <a:ext uri="{FF2B5EF4-FFF2-40B4-BE49-F238E27FC236}">
                  <a16:creationId xmlns:a16="http://schemas.microsoft.com/office/drawing/2014/main" id="{902B53C8-97B4-AC77-216B-C92A6F130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T0" fmla="*/ 0 w 21600"/>
                <a:gd name="T1" fmla="*/ 0 h 21231"/>
                <a:gd name="T2" fmla="*/ 0 w 21600"/>
                <a:gd name="T3" fmla="*/ 0 h 21231"/>
                <a:gd name="T4" fmla="*/ 0 w 21600"/>
                <a:gd name="T5" fmla="*/ 0 h 212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lnTo>
                    <a:pt x="3976" y="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sp>
        <p:nvSpPr>
          <p:cNvPr id="4101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725084" y="762000"/>
            <a:ext cx="10363200" cy="114300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914400" y="3429000"/>
            <a:ext cx="85344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20256ACB-B338-684B-FA82-994B9BCCB68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D058FDD-05D3-1800-5729-5C9A6085B6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99028299-0D7D-02FD-DAE1-DBDF5950F9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9FFD29-741E-4498-83E6-D3A50ACF75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1141518"/>
      </p:ext>
    </p:extLst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40CAF1-6101-F3D1-823E-D61860F22A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7154FC8-4C7F-A42C-48D5-6C3E8D7027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1529877-C93D-B035-8F3F-6982A4BD08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47CF43-5498-4D58-B135-6BC8638C39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6297805"/>
      </p:ext>
    </p:extLst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AF3A8C2-A27C-BB8B-B23D-88841DD2EC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3F014B0-74A5-0CF4-5720-2F8651D0B8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28F5C668-36B6-B434-E6B9-E4CC5FAA9F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5D971A-FB10-4406-B000-85FB706B41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7030178"/>
      </p:ext>
    </p:extLst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965F9E5-B8E6-76B2-F437-3125943C7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38951EE-45D8-C4E8-7B20-A258CD8F57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DB453D48-2E23-03ED-05E4-670D9359AA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E18206-1969-40DA-B57C-154E540BB8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8030663"/>
      </p:ext>
    </p:extLst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A0E175-5BD3-94AF-CEF8-D95DF79D91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972590-F1EC-C224-8E24-78BA265101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DCD241-286E-C095-DCE6-CF47D2D50E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D716FD-B3B5-45EC-BCFF-94E9CF2896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7003965"/>
      </p:ext>
    </p:extLst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FBFFD32-74C3-6B88-D422-E9E9AA1FA2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5325890-1E7C-AEFD-CF29-FDD5E23CD7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42429180-7183-BEFC-855A-E65073B6DA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5C5B76-665E-4467-997A-035DBE9675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9120856"/>
      </p:ext>
    </p:extLst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449992FF-FC73-F129-A03B-F5C54D3A0B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573AD9A-C86A-888D-AD59-26092B7E5F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083A400B-6740-B20B-12AD-D654918D64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0707B4-CF99-42E2-B91D-48C3CD2172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8792351"/>
      </p:ext>
    </p:extLst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73D9910-A7EE-918E-5FC2-E898153644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E42F41B-2BEB-3898-C396-8380F8113A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8BA65983-E592-13B6-F42E-8BBB286761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526BEB-00C5-48A7-AF00-EE1D5F3309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1663820"/>
      </p:ext>
    </p:extLst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2286D54-5EAC-28BC-D94B-D6004EED7C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2226781-6A41-6D15-4C7E-A338CA292A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A9AE6EC-1972-C96E-0156-9B9BB243D1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DD9BC5-A16B-4FB1-B36C-17A1F8DDC3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4856635"/>
      </p:ext>
    </p:extLst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6BDCB69-D344-9D4E-50F2-230FCC7ED0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9C6E42B-DA51-0C27-D5AF-F66BFA27ED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D3A4DDD6-C9F6-3A15-E964-938F0A3924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A64878-83F4-4F94-A20C-CE7BF08C30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3566784"/>
      </p:ext>
    </p:extLst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5D8E08E-ED12-B878-2156-7EF06B7CBB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043FCA3-B4A5-7498-9D35-0ACF4E83B7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CF35D1C-A38E-5BA2-17DC-E5D3BA8D60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073584-9257-4C1C-84ED-085BFA8DD9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0447238"/>
      </p:ext>
    </p:extLst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4650D6E-E1B4-7DA1-403D-3536AE64DD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D7D4BB1-64CA-0479-6184-A56C8CF64B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6F68DF07-2999-A342-1B6A-FFF881221B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AEA58-8AD4-4B9E-AE7A-3977D79638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8599980"/>
      </p:ext>
    </p:extLst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464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46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464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78587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464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46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464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55704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852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577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464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46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464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40209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464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46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464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76733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464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46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464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41696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464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46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464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59217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464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46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464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27082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539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464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46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464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545830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539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464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46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464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30403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464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46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464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93594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464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46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464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5360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4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7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2.xml"/><Relationship Id="rId1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91.xml"/><Relationship Id="rId5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90.xml"/><Relationship Id="rId4" Type="http://schemas.openxmlformats.org/officeDocument/2006/relationships/slideLayout" Target="../slideLayouts/slideLayout84.xml"/><Relationship Id="rId9" Type="http://schemas.openxmlformats.org/officeDocument/2006/relationships/slideLayout" Target="../slideLayouts/slideLayout8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69976" y="443338"/>
            <a:ext cx="10852151" cy="534035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69976" y="1130300"/>
            <a:ext cx="10852151" cy="5219700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3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tabLst>
          <a:tab pos="1609725" algn="l"/>
        </a:tabLst>
        <a:defRPr sz="3200" b="1" u="none" strike="noStrike" kern="1200" cap="none" spc="150" normalizeH="0" baseline="0">
          <a:solidFill>
            <a:schemeClr val="tx1"/>
          </a:solidFill>
          <a:uFillTx/>
          <a:latin typeface="楷体" panose="02010609060101010101" charset="-122"/>
          <a:ea typeface="楷体" panose="0201060906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4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74F86-9ECE-487E-870F-62CFE95345C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45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4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424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1588"/>
            <a:ext cx="12177184" cy="6845300"/>
            <a:chOff x="0" y="1"/>
            <a:chExt cx="5753" cy="4312"/>
          </a:xfrm>
        </p:grpSpPr>
        <p:sp>
          <p:nvSpPr>
            <p:cNvPr id="3075" name="Freeform 3"/>
            <p:cNvSpPr>
              <a:spLocks/>
            </p:cNvSpPr>
            <p:nvPr/>
          </p:nvSpPr>
          <p:spPr bwMode="auto">
            <a:xfrm>
              <a:off x="3394" y="999"/>
              <a:ext cx="2359" cy="3314"/>
            </a:xfrm>
            <a:custGeom>
              <a:avLst/>
              <a:gdLst>
                <a:gd name="T0" fmla="*/ 1905 w 2359"/>
                <a:gd name="T1" fmla="*/ 3312 h 3314"/>
                <a:gd name="T2" fmla="*/ 2358 w 2359"/>
                <a:gd name="T3" fmla="*/ 3313 h 3314"/>
                <a:gd name="T4" fmla="*/ 2358 w 2359"/>
                <a:gd name="T5" fmla="*/ 1437 h 3314"/>
                <a:gd name="T6" fmla="*/ 0 w 2359"/>
                <a:gd name="T7" fmla="*/ 0 h 3314"/>
                <a:gd name="T8" fmla="*/ 201 w 2359"/>
                <a:gd name="T9" fmla="*/ 150 h 3314"/>
                <a:gd name="T10" fmla="*/ 366 w 2359"/>
                <a:gd name="T11" fmla="*/ 279 h 3314"/>
                <a:gd name="T12" fmla="*/ 552 w 2359"/>
                <a:gd name="T13" fmla="*/ 441 h 3314"/>
                <a:gd name="T14" fmla="*/ 732 w 2359"/>
                <a:gd name="T15" fmla="*/ 612 h 3314"/>
                <a:gd name="T16" fmla="*/ 996 w 2359"/>
                <a:gd name="T17" fmla="*/ 903 h 3314"/>
                <a:gd name="T18" fmla="*/ 1230 w 2359"/>
                <a:gd name="T19" fmla="*/ 1212 h 3314"/>
                <a:gd name="T20" fmla="*/ 1400 w 2359"/>
                <a:gd name="T21" fmla="*/ 1482 h 3314"/>
                <a:gd name="T22" fmla="*/ 1548 w 2359"/>
                <a:gd name="T23" fmla="*/ 1761 h 3314"/>
                <a:gd name="T24" fmla="*/ 1665 w 2359"/>
                <a:gd name="T25" fmla="*/ 2040 h 3314"/>
                <a:gd name="T26" fmla="*/ 1751 w 2359"/>
                <a:gd name="T27" fmla="*/ 2295 h 3314"/>
                <a:gd name="T28" fmla="*/ 1809 w 2359"/>
                <a:gd name="T29" fmla="*/ 2511 h 3314"/>
                <a:gd name="T30" fmla="*/ 1863 w 2359"/>
                <a:gd name="T31" fmla="*/ 2778 h 3314"/>
                <a:gd name="T32" fmla="*/ 1890 w 2359"/>
                <a:gd name="T33" fmla="*/ 3012 h 3314"/>
                <a:gd name="T34" fmla="*/ 1905 w 2359"/>
                <a:gd name="T35" fmla="*/ 3312 h 3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en-US" sz="2400">
                <a:solidFill>
                  <a:srgbClr val="FFFFFF"/>
                </a:solidFill>
              </a:endParaRPr>
            </a:p>
          </p:txBody>
        </p:sp>
        <p:sp>
          <p:nvSpPr>
            <p:cNvPr id="1033" name="Arc 4"/>
            <p:cNvSpPr>
              <a:spLocks/>
            </p:cNvSpPr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sz="2400">
                <a:solidFill>
                  <a:srgbClr val="FFFFFF"/>
                </a:solidFill>
              </a:endParaRPr>
            </a:p>
          </p:txBody>
        </p:sp>
      </p:grp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11F2C0F-CFFB-4F59-B5E8-EF2A062B5B7B}" type="slidenum">
              <a:rPr lang="en-US" altLang="zh-CN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31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4534753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983" r:id="rId1"/>
    <p:sldLayoutId id="2147483984" r:id="rId2"/>
    <p:sldLayoutId id="2147483985" r:id="rId3"/>
    <p:sldLayoutId id="2147483986" r:id="rId4"/>
    <p:sldLayoutId id="2147483987" r:id="rId5"/>
    <p:sldLayoutId id="2147483988" r:id="rId6"/>
    <p:sldLayoutId id="2147483989" r:id="rId7"/>
    <p:sldLayoutId id="2147483990" r:id="rId8"/>
    <p:sldLayoutId id="2147483991" r:id="rId9"/>
    <p:sldLayoutId id="2147483992" r:id="rId10"/>
    <p:sldLayoutId id="2147483993" r:id="rId11"/>
    <p:sldLayoutId id="2147483994" r:id="rId12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l"/>
        <a:defRPr kumimoji="1" sz="3200" b="1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SzPct val="90000"/>
        <a:buFont typeface="Times New Roman" pitchFamily="18" charset="0"/>
        <a:buChar char="–"/>
        <a:defRPr kumimoji="1" sz="2800" b="1">
          <a:solidFill>
            <a:schemeClr val="bg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kumimoji="1" sz="2400" b="1">
          <a:solidFill>
            <a:schemeClr val="bg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Times New Roman" pitchFamily="18" charset="0"/>
        <a:buChar char="–"/>
        <a:defRPr kumimoji="1" sz="2000" b="1">
          <a:solidFill>
            <a:schemeClr val="bg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 b="1">
          <a:solidFill>
            <a:schemeClr val="bg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 b="1">
          <a:solidFill>
            <a:schemeClr val="bg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 b="1">
          <a:solidFill>
            <a:schemeClr val="bg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 b="1">
          <a:solidFill>
            <a:schemeClr val="bg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 b="1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1588"/>
            <a:ext cx="12177184" cy="6845300"/>
            <a:chOff x="0" y="1"/>
            <a:chExt cx="5753" cy="4312"/>
          </a:xfrm>
        </p:grpSpPr>
        <p:sp>
          <p:nvSpPr>
            <p:cNvPr id="3075" name="Freeform 3"/>
            <p:cNvSpPr>
              <a:spLocks/>
            </p:cNvSpPr>
            <p:nvPr/>
          </p:nvSpPr>
          <p:spPr bwMode="auto">
            <a:xfrm>
              <a:off x="3394" y="999"/>
              <a:ext cx="2359" cy="3314"/>
            </a:xfrm>
            <a:custGeom>
              <a:avLst/>
              <a:gdLst>
                <a:gd name="T0" fmla="*/ 1905 w 2359"/>
                <a:gd name="T1" fmla="*/ 3312 h 3314"/>
                <a:gd name="T2" fmla="*/ 2358 w 2359"/>
                <a:gd name="T3" fmla="*/ 3313 h 3314"/>
                <a:gd name="T4" fmla="*/ 2358 w 2359"/>
                <a:gd name="T5" fmla="*/ 1437 h 3314"/>
                <a:gd name="T6" fmla="*/ 0 w 2359"/>
                <a:gd name="T7" fmla="*/ 0 h 3314"/>
                <a:gd name="T8" fmla="*/ 201 w 2359"/>
                <a:gd name="T9" fmla="*/ 150 h 3314"/>
                <a:gd name="T10" fmla="*/ 366 w 2359"/>
                <a:gd name="T11" fmla="*/ 279 h 3314"/>
                <a:gd name="T12" fmla="*/ 552 w 2359"/>
                <a:gd name="T13" fmla="*/ 441 h 3314"/>
                <a:gd name="T14" fmla="*/ 732 w 2359"/>
                <a:gd name="T15" fmla="*/ 612 h 3314"/>
                <a:gd name="T16" fmla="*/ 996 w 2359"/>
                <a:gd name="T17" fmla="*/ 903 h 3314"/>
                <a:gd name="T18" fmla="*/ 1230 w 2359"/>
                <a:gd name="T19" fmla="*/ 1212 h 3314"/>
                <a:gd name="T20" fmla="*/ 1400 w 2359"/>
                <a:gd name="T21" fmla="*/ 1482 h 3314"/>
                <a:gd name="T22" fmla="*/ 1548 w 2359"/>
                <a:gd name="T23" fmla="*/ 1761 h 3314"/>
                <a:gd name="T24" fmla="*/ 1665 w 2359"/>
                <a:gd name="T25" fmla="*/ 2040 h 3314"/>
                <a:gd name="T26" fmla="*/ 1751 w 2359"/>
                <a:gd name="T27" fmla="*/ 2295 h 3314"/>
                <a:gd name="T28" fmla="*/ 1809 w 2359"/>
                <a:gd name="T29" fmla="*/ 2511 h 3314"/>
                <a:gd name="T30" fmla="*/ 1863 w 2359"/>
                <a:gd name="T31" fmla="*/ 2778 h 3314"/>
                <a:gd name="T32" fmla="*/ 1890 w 2359"/>
                <a:gd name="T33" fmla="*/ 3012 h 3314"/>
                <a:gd name="T34" fmla="*/ 1905 w 2359"/>
                <a:gd name="T35" fmla="*/ 3312 h 3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en-US" sz="2400">
                <a:solidFill>
                  <a:srgbClr val="FFFFFF"/>
                </a:solidFill>
              </a:endParaRPr>
            </a:p>
          </p:txBody>
        </p:sp>
        <p:sp>
          <p:nvSpPr>
            <p:cNvPr id="1033" name="Arc 4"/>
            <p:cNvSpPr>
              <a:spLocks/>
            </p:cNvSpPr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sz="2400">
                <a:solidFill>
                  <a:srgbClr val="FFFFFF"/>
                </a:solidFill>
              </a:endParaRPr>
            </a:p>
          </p:txBody>
        </p:sp>
      </p:grp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11F2C0F-CFFB-4F59-B5E8-EF2A062B5B7B}" type="slidenum">
              <a:rPr lang="en-US" altLang="zh-CN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31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31222421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  <p:sldLayoutId id="2147484007" r:id="rId12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l"/>
        <a:defRPr kumimoji="1" sz="3200" b="1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SzPct val="90000"/>
        <a:buFont typeface="Times New Roman" pitchFamily="18" charset="0"/>
        <a:buChar char="–"/>
        <a:defRPr kumimoji="1" sz="2800" b="1">
          <a:solidFill>
            <a:schemeClr val="bg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kumimoji="1" sz="2400" b="1">
          <a:solidFill>
            <a:schemeClr val="bg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Times New Roman" pitchFamily="18" charset="0"/>
        <a:buChar char="–"/>
        <a:defRPr kumimoji="1" sz="2000" b="1">
          <a:solidFill>
            <a:schemeClr val="bg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 b="1">
          <a:solidFill>
            <a:schemeClr val="bg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 b="1">
          <a:solidFill>
            <a:schemeClr val="bg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 b="1">
          <a:solidFill>
            <a:schemeClr val="bg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 b="1">
          <a:solidFill>
            <a:schemeClr val="bg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 b="1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11305117" cy="6173788"/>
            <a:chOff x="0" y="0"/>
            <a:chExt cx="5341" cy="3889"/>
          </a:xfrm>
        </p:grpSpPr>
        <p:sp>
          <p:nvSpPr>
            <p:cNvPr id="1032" name="Freeform 3"/>
            <p:cNvSpPr>
              <a:spLocks/>
            </p:cNvSpPr>
            <p:nvPr/>
          </p:nvSpPr>
          <p:spPr bwMode="auto">
            <a:xfrm>
              <a:off x="0" y="0"/>
              <a:ext cx="3863" cy="3889"/>
            </a:xfrm>
            <a:custGeom>
              <a:avLst/>
              <a:gdLst>
                <a:gd name="T0" fmla="*/ 3862 w 3863"/>
                <a:gd name="T1" fmla="*/ 3418 h 3889"/>
                <a:gd name="T2" fmla="*/ 457 w 3863"/>
                <a:gd name="T3" fmla="*/ 0 h 3889"/>
                <a:gd name="T4" fmla="*/ 0 w 3863"/>
                <a:gd name="T5" fmla="*/ 0 h 3889"/>
                <a:gd name="T6" fmla="*/ 0 w 3863"/>
                <a:gd name="T7" fmla="*/ 481 h 3889"/>
                <a:gd name="T8" fmla="*/ 3394 w 3863"/>
                <a:gd name="T9" fmla="*/ 3888 h 3889"/>
                <a:gd name="T10" fmla="*/ 3862 w 3863"/>
                <a:gd name="T11" fmla="*/ 3418 h 38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63" h="3889">
                  <a:moveTo>
                    <a:pt x="3862" y="3418"/>
                  </a:moveTo>
                  <a:lnTo>
                    <a:pt x="457" y="0"/>
                  </a:lnTo>
                  <a:lnTo>
                    <a:pt x="0" y="0"/>
                  </a:lnTo>
                  <a:lnTo>
                    <a:pt x="0" y="481"/>
                  </a:lnTo>
                  <a:lnTo>
                    <a:pt x="3394" y="3888"/>
                  </a:lnTo>
                  <a:lnTo>
                    <a:pt x="3862" y="3418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sz="2400">
                <a:solidFill>
                  <a:srgbClr val="FFFFFF"/>
                </a:solidFill>
              </a:endParaRPr>
            </a:p>
          </p:txBody>
        </p:sp>
        <p:sp>
          <p:nvSpPr>
            <p:cNvPr id="1033" name="Freeform 4"/>
            <p:cNvSpPr>
              <a:spLocks/>
            </p:cNvSpPr>
            <p:nvPr/>
          </p:nvSpPr>
          <p:spPr bwMode="auto">
            <a:xfrm>
              <a:off x="860" y="0"/>
              <a:ext cx="3394" cy="3223"/>
            </a:xfrm>
            <a:custGeom>
              <a:avLst/>
              <a:gdLst>
                <a:gd name="T0" fmla="*/ 370 w 3394"/>
                <a:gd name="T1" fmla="*/ 0 h 3223"/>
                <a:gd name="T2" fmla="*/ 3393 w 3394"/>
                <a:gd name="T3" fmla="*/ 3036 h 3223"/>
                <a:gd name="T4" fmla="*/ 3208 w 3394"/>
                <a:gd name="T5" fmla="*/ 3222 h 3223"/>
                <a:gd name="T6" fmla="*/ 0 w 3394"/>
                <a:gd name="T7" fmla="*/ 0 h 3223"/>
                <a:gd name="T8" fmla="*/ 370 w 3394"/>
                <a:gd name="T9" fmla="*/ 0 h 3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94" h="3223">
                  <a:moveTo>
                    <a:pt x="370" y="0"/>
                  </a:moveTo>
                  <a:lnTo>
                    <a:pt x="3393" y="3036"/>
                  </a:lnTo>
                  <a:lnTo>
                    <a:pt x="3208" y="3222"/>
                  </a:lnTo>
                  <a:lnTo>
                    <a:pt x="0" y="0"/>
                  </a:lnTo>
                  <a:lnTo>
                    <a:pt x="370" y="0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sz="2400">
                <a:solidFill>
                  <a:srgbClr val="FFFFFF"/>
                </a:solidFill>
              </a:endParaRPr>
            </a:p>
          </p:txBody>
        </p:sp>
        <p:sp>
          <p:nvSpPr>
            <p:cNvPr id="1034" name="Freeform 5"/>
            <p:cNvSpPr>
              <a:spLocks/>
            </p:cNvSpPr>
            <p:nvPr/>
          </p:nvSpPr>
          <p:spPr bwMode="auto">
            <a:xfrm>
              <a:off x="2187" y="0"/>
              <a:ext cx="2859" cy="2556"/>
            </a:xfrm>
            <a:custGeom>
              <a:avLst/>
              <a:gdLst>
                <a:gd name="T0" fmla="*/ 630 w 2859"/>
                <a:gd name="T1" fmla="*/ 0 h 2556"/>
                <a:gd name="T2" fmla="*/ 2858 w 2859"/>
                <a:gd name="T3" fmla="*/ 2238 h 2556"/>
                <a:gd name="T4" fmla="*/ 2543 w 2859"/>
                <a:gd name="T5" fmla="*/ 2555 h 2556"/>
                <a:gd name="T6" fmla="*/ 0 w 2859"/>
                <a:gd name="T7" fmla="*/ 0 h 2556"/>
                <a:gd name="T8" fmla="*/ 630 w 2859"/>
                <a:gd name="T9" fmla="*/ 0 h 25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59" h="2556">
                  <a:moveTo>
                    <a:pt x="630" y="0"/>
                  </a:moveTo>
                  <a:lnTo>
                    <a:pt x="2858" y="2238"/>
                  </a:lnTo>
                  <a:lnTo>
                    <a:pt x="2543" y="2555"/>
                  </a:lnTo>
                  <a:lnTo>
                    <a:pt x="0" y="0"/>
                  </a:lnTo>
                  <a:lnTo>
                    <a:pt x="630" y="0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sz="2400">
                <a:solidFill>
                  <a:srgbClr val="FFFFFF"/>
                </a:solidFill>
              </a:endParaRPr>
            </a:p>
          </p:txBody>
        </p:sp>
        <p:sp>
          <p:nvSpPr>
            <p:cNvPr id="1035" name="Freeform 6"/>
            <p:cNvSpPr>
              <a:spLocks/>
            </p:cNvSpPr>
            <p:nvPr/>
          </p:nvSpPr>
          <p:spPr bwMode="auto">
            <a:xfrm>
              <a:off x="3055" y="0"/>
              <a:ext cx="2286" cy="2121"/>
            </a:xfrm>
            <a:custGeom>
              <a:avLst/>
              <a:gdLst>
                <a:gd name="T0" fmla="*/ 0 w 2286"/>
                <a:gd name="T1" fmla="*/ 0 h 2121"/>
                <a:gd name="T2" fmla="*/ 2111 w 2286"/>
                <a:gd name="T3" fmla="*/ 2120 h 2121"/>
                <a:gd name="T4" fmla="*/ 2285 w 2286"/>
                <a:gd name="T5" fmla="*/ 1945 h 2121"/>
                <a:gd name="T6" fmla="*/ 348 w 2286"/>
                <a:gd name="T7" fmla="*/ 0 h 2121"/>
                <a:gd name="T8" fmla="*/ 0 w 2286"/>
                <a:gd name="T9" fmla="*/ 0 h 21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86" h="2121">
                  <a:moveTo>
                    <a:pt x="0" y="0"/>
                  </a:moveTo>
                  <a:lnTo>
                    <a:pt x="2111" y="2120"/>
                  </a:lnTo>
                  <a:lnTo>
                    <a:pt x="2285" y="1945"/>
                  </a:lnTo>
                  <a:lnTo>
                    <a:pt x="348" y="0"/>
                  </a:lnTo>
                  <a:lnTo>
                    <a:pt x="0" y="0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sz="2400">
                <a:solidFill>
                  <a:srgbClr val="FFFFFF"/>
                </a:solidFill>
              </a:endParaRPr>
            </a:p>
          </p:txBody>
        </p:sp>
      </p:grpSp>
      <p:sp>
        <p:nvSpPr>
          <p:cNvPr id="1027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28600"/>
            <a:ext cx="103632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kumimoji="0" sz="1400"/>
            </a:lvl1pPr>
          </a:lstStyle>
          <a:p>
            <a:pPr fontAlgn="base"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kumimoji="0" sz="1400"/>
            </a:lvl1pPr>
          </a:lstStyle>
          <a:p>
            <a:pPr fontAlgn="base"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kumimoji="0" sz="1400"/>
            </a:lvl1pPr>
          </a:lstStyle>
          <a:p>
            <a:pPr fontAlgn="base">
              <a:spcAft>
                <a:spcPct val="0"/>
              </a:spcAft>
              <a:defRPr/>
            </a:pPr>
            <a:fld id="{4E3D64B4-31D0-4B89-AFDD-9B848F6AFC6B}" type="slidenum">
              <a:rPr lang="en-US" altLang="zh-CN">
                <a:solidFill>
                  <a:srgbClr val="FFFFFF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31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41475"/>
            <a:ext cx="10363200" cy="445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85513995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022" r:id="rId1"/>
    <p:sldLayoutId id="2147484023" r:id="rId2"/>
    <p:sldLayoutId id="2147484024" r:id="rId3"/>
    <p:sldLayoutId id="2147484025" r:id="rId4"/>
    <p:sldLayoutId id="2147484026" r:id="rId5"/>
    <p:sldLayoutId id="2147484027" r:id="rId6"/>
    <p:sldLayoutId id="2147484028" r:id="rId7"/>
    <p:sldLayoutId id="2147484029" r:id="rId8"/>
    <p:sldLayoutId id="2147484030" r:id="rId9"/>
    <p:sldLayoutId id="2147484031" r:id="rId10"/>
    <p:sldLayoutId id="2147484032" r:id="rId11"/>
    <p:sldLayoutId id="2147484033" r:id="rId12"/>
  </p:sldLayoutIdLst>
  <p:transition>
    <p:zoom dir="in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kumimoji="1" sz="3200" b="1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3333FF"/>
        </a:buClr>
        <a:buFont typeface="Times New Roman" pitchFamily="18" charset="0"/>
        <a:buChar char="–"/>
        <a:defRPr kumimoji="1" sz="2800" b="1">
          <a:solidFill>
            <a:schemeClr val="bg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Times New Roman" pitchFamily="18" charset="0"/>
        <a:buChar char="»"/>
        <a:defRPr kumimoji="1" sz="2400" b="1">
          <a:solidFill>
            <a:schemeClr val="bg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SzPct val="75000"/>
        <a:buFont typeface="Wingdings" pitchFamily="2" charset="2"/>
        <a:buChar char="n"/>
        <a:defRPr kumimoji="1" sz="2000" b="1">
          <a:solidFill>
            <a:schemeClr val="bg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3333FF"/>
        </a:buClr>
        <a:buFont typeface="Times New Roman" pitchFamily="18" charset="0"/>
        <a:buChar char="–"/>
        <a:defRPr kumimoji="1" sz="2000" b="1">
          <a:solidFill>
            <a:schemeClr val="bg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3333FF"/>
        </a:buClr>
        <a:buFont typeface="Times New Roman" pitchFamily="18" charset="0"/>
        <a:buChar char="–"/>
        <a:defRPr kumimoji="1" sz="2000" b="1">
          <a:solidFill>
            <a:schemeClr val="bg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3333FF"/>
        </a:buClr>
        <a:buFont typeface="Times New Roman" pitchFamily="18" charset="0"/>
        <a:buChar char="–"/>
        <a:defRPr kumimoji="1" sz="2000" b="1">
          <a:solidFill>
            <a:schemeClr val="bg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3333FF"/>
        </a:buClr>
        <a:buFont typeface="Times New Roman" pitchFamily="18" charset="0"/>
        <a:buChar char="–"/>
        <a:defRPr kumimoji="1" sz="2000" b="1">
          <a:solidFill>
            <a:schemeClr val="bg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3333FF"/>
        </a:buClr>
        <a:buFont typeface="Times New Roman" pitchFamily="18" charset="0"/>
        <a:buChar char="–"/>
        <a:defRPr kumimoji="1" sz="2000" b="1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0" y="0"/>
            <a:ext cx="11305117" cy="6173788"/>
            <a:chOff x="0" y="0"/>
            <a:chExt cx="5341" cy="3889"/>
          </a:xfrm>
        </p:grpSpPr>
        <p:sp>
          <p:nvSpPr>
            <p:cNvPr id="2056" name="Freeform 3"/>
            <p:cNvSpPr>
              <a:spLocks/>
            </p:cNvSpPr>
            <p:nvPr/>
          </p:nvSpPr>
          <p:spPr bwMode="auto">
            <a:xfrm>
              <a:off x="0" y="0"/>
              <a:ext cx="3863" cy="3889"/>
            </a:xfrm>
            <a:custGeom>
              <a:avLst/>
              <a:gdLst>
                <a:gd name="T0" fmla="*/ 3862 w 3863"/>
                <a:gd name="T1" fmla="*/ 3418 h 3889"/>
                <a:gd name="T2" fmla="*/ 457 w 3863"/>
                <a:gd name="T3" fmla="*/ 0 h 3889"/>
                <a:gd name="T4" fmla="*/ 0 w 3863"/>
                <a:gd name="T5" fmla="*/ 0 h 3889"/>
                <a:gd name="T6" fmla="*/ 0 w 3863"/>
                <a:gd name="T7" fmla="*/ 481 h 3889"/>
                <a:gd name="T8" fmla="*/ 3394 w 3863"/>
                <a:gd name="T9" fmla="*/ 3888 h 3889"/>
                <a:gd name="T10" fmla="*/ 3862 w 3863"/>
                <a:gd name="T11" fmla="*/ 3418 h 38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63" h="3889">
                  <a:moveTo>
                    <a:pt x="3862" y="3418"/>
                  </a:moveTo>
                  <a:lnTo>
                    <a:pt x="457" y="0"/>
                  </a:lnTo>
                  <a:lnTo>
                    <a:pt x="0" y="0"/>
                  </a:lnTo>
                  <a:lnTo>
                    <a:pt x="0" y="481"/>
                  </a:lnTo>
                  <a:lnTo>
                    <a:pt x="3394" y="3888"/>
                  </a:lnTo>
                  <a:lnTo>
                    <a:pt x="3862" y="3418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sz="2400">
                <a:solidFill>
                  <a:srgbClr val="FFFFFF"/>
                </a:solidFill>
              </a:endParaRPr>
            </a:p>
          </p:txBody>
        </p:sp>
        <p:sp>
          <p:nvSpPr>
            <p:cNvPr id="2057" name="Freeform 4"/>
            <p:cNvSpPr>
              <a:spLocks/>
            </p:cNvSpPr>
            <p:nvPr/>
          </p:nvSpPr>
          <p:spPr bwMode="auto">
            <a:xfrm>
              <a:off x="860" y="0"/>
              <a:ext cx="3394" cy="3223"/>
            </a:xfrm>
            <a:custGeom>
              <a:avLst/>
              <a:gdLst>
                <a:gd name="T0" fmla="*/ 370 w 3394"/>
                <a:gd name="T1" fmla="*/ 0 h 3223"/>
                <a:gd name="T2" fmla="*/ 3393 w 3394"/>
                <a:gd name="T3" fmla="*/ 3036 h 3223"/>
                <a:gd name="T4" fmla="*/ 3208 w 3394"/>
                <a:gd name="T5" fmla="*/ 3222 h 3223"/>
                <a:gd name="T6" fmla="*/ 0 w 3394"/>
                <a:gd name="T7" fmla="*/ 0 h 3223"/>
                <a:gd name="T8" fmla="*/ 370 w 3394"/>
                <a:gd name="T9" fmla="*/ 0 h 3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94" h="3223">
                  <a:moveTo>
                    <a:pt x="370" y="0"/>
                  </a:moveTo>
                  <a:lnTo>
                    <a:pt x="3393" y="3036"/>
                  </a:lnTo>
                  <a:lnTo>
                    <a:pt x="3208" y="3222"/>
                  </a:lnTo>
                  <a:lnTo>
                    <a:pt x="0" y="0"/>
                  </a:lnTo>
                  <a:lnTo>
                    <a:pt x="370" y="0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sz="2400">
                <a:solidFill>
                  <a:srgbClr val="FFFFFF"/>
                </a:solidFill>
              </a:endParaRPr>
            </a:p>
          </p:txBody>
        </p:sp>
        <p:sp>
          <p:nvSpPr>
            <p:cNvPr id="2058" name="Freeform 5"/>
            <p:cNvSpPr>
              <a:spLocks/>
            </p:cNvSpPr>
            <p:nvPr/>
          </p:nvSpPr>
          <p:spPr bwMode="auto">
            <a:xfrm>
              <a:off x="2187" y="0"/>
              <a:ext cx="2859" cy="2556"/>
            </a:xfrm>
            <a:custGeom>
              <a:avLst/>
              <a:gdLst>
                <a:gd name="T0" fmla="*/ 630 w 2859"/>
                <a:gd name="T1" fmla="*/ 0 h 2556"/>
                <a:gd name="T2" fmla="*/ 2858 w 2859"/>
                <a:gd name="T3" fmla="*/ 2238 h 2556"/>
                <a:gd name="T4" fmla="*/ 2543 w 2859"/>
                <a:gd name="T5" fmla="*/ 2555 h 2556"/>
                <a:gd name="T6" fmla="*/ 0 w 2859"/>
                <a:gd name="T7" fmla="*/ 0 h 2556"/>
                <a:gd name="T8" fmla="*/ 630 w 2859"/>
                <a:gd name="T9" fmla="*/ 0 h 25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59" h="2556">
                  <a:moveTo>
                    <a:pt x="630" y="0"/>
                  </a:moveTo>
                  <a:lnTo>
                    <a:pt x="2858" y="2238"/>
                  </a:lnTo>
                  <a:lnTo>
                    <a:pt x="2543" y="2555"/>
                  </a:lnTo>
                  <a:lnTo>
                    <a:pt x="0" y="0"/>
                  </a:lnTo>
                  <a:lnTo>
                    <a:pt x="630" y="0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sz="2400">
                <a:solidFill>
                  <a:srgbClr val="FFFFFF"/>
                </a:solidFill>
              </a:endParaRPr>
            </a:p>
          </p:txBody>
        </p:sp>
        <p:sp>
          <p:nvSpPr>
            <p:cNvPr id="2059" name="Freeform 6"/>
            <p:cNvSpPr>
              <a:spLocks/>
            </p:cNvSpPr>
            <p:nvPr/>
          </p:nvSpPr>
          <p:spPr bwMode="auto">
            <a:xfrm>
              <a:off x="3055" y="0"/>
              <a:ext cx="2286" cy="2121"/>
            </a:xfrm>
            <a:custGeom>
              <a:avLst/>
              <a:gdLst>
                <a:gd name="T0" fmla="*/ 0 w 2286"/>
                <a:gd name="T1" fmla="*/ 0 h 2121"/>
                <a:gd name="T2" fmla="*/ 2111 w 2286"/>
                <a:gd name="T3" fmla="*/ 2120 h 2121"/>
                <a:gd name="T4" fmla="*/ 2285 w 2286"/>
                <a:gd name="T5" fmla="*/ 1945 h 2121"/>
                <a:gd name="T6" fmla="*/ 348 w 2286"/>
                <a:gd name="T7" fmla="*/ 0 h 2121"/>
                <a:gd name="T8" fmla="*/ 0 w 2286"/>
                <a:gd name="T9" fmla="*/ 0 h 21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86" h="2121">
                  <a:moveTo>
                    <a:pt x="0" y="0"/>
                  </a:moveTo>
                  <a:lnTo>
                    <a:pt x="2111" y="2120"/>
                  </a:lnTo>
                  <a:lnTo>
                    <a:pt x="2285" y="1945"/>
                  </a:lnTo>
                  <a:lnTo>
                    <a:pt x="348" y="0"/>
                  </a:lnTo>
                  <a:lnTo>
                    <a:pt x="0" y="0"/>
                  </a:lnTo>
                </a:path>
              </a:pathLst>
            </a:custGeom>
            <a:solidFill>
              <a:schemeClr val="bg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sz="2400">
                <a:solidFill>
                  <a:srgbClr val="FFFFFF"/>
                </a:solidFill>
              </a:endParaRPr>
            </a:p>
          </p:txBody>
        </p:sp>
      </p:grpSp>
      <p:sp>
        <p:nvSpPr>
          <p:cNvPr id="205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28600"/>
            <a:ext cx="103632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kumimoji="0" sz="1400">
                <a:solidFill>
                  <a:srgbClr val="FFFFFF"/>
                </a:solidFill>
              </a:defRPr>
            </a:lvl1pPr>
          </a:lstStyle>
          <a:p>
            <a:pPr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kumimoji="0" sz="1400">
                <a:solidFill>
                  <a:srgbClr val="FFFFFF"/>
                </a:solidFill>
              </a:defRPr>
            </a:lvl1pPr>
          </a:lstStyle>
          <a:p>
            <a:pPr fontAlgn="base"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kumimoji="0" sz="1400">
                <a:solidFill>
                  <a:srgbClr val="FFFFFF"/>
                </a:solidFill>
              </a:defRPr>
            </a:lvl1pPr>
          </a:lstStyle>
          <a:p>
            <a:pPr fontAlgn="base">
              <a:spcAft>
                <a:spcPct val="0"/>
              </a:spcAft>
              <a:defRPr/>
            </a:pPr>
            <a:fld id="{0BCDC244-1E9A-4DBC-A844-90930D404189}" type="slidenum">
              <a:rPr lang="en-US" altLang="zh-CN"/>
              <a:pPr fontAlgn="base">
                <a:spcAft>
                  <a:spcPct val="0"/>
                </a:spcAft>
                <a:defRPr/>
              </a:pPr>
              <a:t>‹#›</a:t>
            </a:fld>
            <a:endParaRPr lang="en-US" altLang="zh-CN"/>
          </a:p>
        </p:txBody>
      </p:sp>
      <p:sp>
        <p:nvSpPr>
          <p:cNvPr id="2055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41475"/>
            <a:ext cx="10363200" cy="445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25286612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035" r:id="rId1"/>
    <p:sldLayoutId id="2147484036" r:id="rId2"/>
    <p:sldLayoutId id="2147484037" r:id="rId3"/>
    <p:sldLayoutId id="2147484038" r:id="rId4"/>
    <p:sldLayoutId id="2147484039" r:id="rId5"/>
    <p:sldLayoutId id="2147484040" r:id="rId6"/>
    <p:sldLayoutId id="2147484041" r:id="rId7"/>
    <p:sldLayoutId id="2147484042" r:id="rId8"/>
    <p:sldLayoutId id="2147484043" r:id="rId9"/>
    <p:sldLayoutId id="2147484044" r:id="rId10"/>
    <p:sldLayoutId id="2147484045" r:id="rId11"/>
    <p:sldLayoutId id="2147484046" r:id="rId12"/>
  </p:sldLayoutIdLst>
  <p:transition>
    <p:zoom dir="in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kumimoji="1" sz="3200" b="1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3333FF"/>
        </a:buClr>
        <a:buFont typeface="Times New Roman" pitchFamily="18" charset="0"/>
        <a:buChar char="–"/>
        <a:defRPr kumimoji="1" sz="2800" b="1">
          <a:solidFill>
            <a:schemeClr val="bg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Times New Roman" pitchFamily="18" charset="0"/>
        <a:buChar char="»"/>
        <a:defRPr kumimoji="1" sz="2400" b="1">
          <a:solidFill>
            <a:schemeClr val="bg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SzPct val="75000"/>
        <a:buFont typeface="Wingdings" pitchFamily="2" charset="2"/>
        <a:buChar char="n"/>
        <a:defRPr kumimoji="1" sz="2000" b="1">
          <a:solidFill>
            <a:schemeClr val="bg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3333FF"/>
        </a:buClr>
        <a:buFont typeface="Times New Roman" pitchFamily="18" charset="0"/>
        <a:buChar char="–"/>
        <a:defRPr kumimoji="1" sz="2000" b="1">
          <a:solidFill>
            <a:schemeClr val="bg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3333FF"/>
        </a:buClr>
        <a:buFont typeface="Times New Roman" pitchFamily="18" charset="0"/>
        <a:buChar char="–"/>
        <a:defRPr kumimoji="1" sz="2000" b="1">
          <a:solidFill>
            <a:schemeClr val="bg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3333FF"/>
        </a:buClr>
        <a:buFont typeface="Times New Roman" pitchFamily="18" charset="0"/>
        <a:buChar char="–"/>
        <a:defRPr kumimoji="1" sz="2000" b="1">
          <a:solidFill>
            <a:schemeClr val="bg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3333FF"/>
        </a:buClr>
        <a:buFont typeface="Times New Roman" pitchFamily="18" charset="0"/>
        <a:buChar char="–"/>
        <a:defRPr kumimoji="1" sz="2000" b="1">
          <a:solidFill>
            <a:schemeClr val="bg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3333FF"/>
        </a:buClr>
        <a:buFont typeface="Times New Roman" pitchFamily="18" charset="0"/>
        <a:buChar char="–"/>
        <a:defRPr kumimoji="1" sz="2000" b="1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566950DC-55C9-94AD-F47F-C78A622FEB0B}"/>
              </a:ext>
            </a:extLst>
          </p:cNvPr>
          <p:cNvGrpSpPr>
            <a:grpSpLocks/>
          </p:cNvGrpSpPr>
          <p:nvPr/>
        </p:nvGrpSpPr>
        <p:grpSpPr bwMode="auto">
          <a:xfrm>
            <a:off x="0" y="1588"/>
            <a:ext cx="12177184" cy="6845300"/>
            <a:chOff x="0" y="1"/>
            <a:chExt cx="5753" cy="4312"/>
          </a:xfrm>
        </p:grpSpPr>
        <p:sp>
          <p:nvSpPr>
            <p:cNvPr id="3075" name="Freeform 3">
              <a:extLst>
                <a:ext uri="{FF2B5EF4-FFF2-40B4-BE49-F238E27FC236}">
                  <a16:creationId xmlns:a16="http://schemas.microsoft.com/office/drawing/2014/main" id="{F7BE78A8-AC27-D06B-DB0D-1B952D27F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4" y="999"/>
              <a:ext cx="2359" cy="3314"/>
            </a:xfrm>
            <a:custGeom>
              <a:avLst/>
              <a:gdLst>
                <a:gd name="T0" fmla="*/ 1905 w 2359"/>
                <a:gd name="T1" fmla="*/ 3312 h 3314"/>
                <a:gd name="T2" fmla="*/ 2358 w 2359"/>
                <a:gd name="T3" fmla="*/ 3313 h 3314"/>
                <a:gd name="T4" fmla="*/ 2358 w 2359"/>
                <a:gd name="T5" fmla="*/ 1437 h 3314"/>
                <a:gd name="T6" fmla="*/ 0 w 2359"/>
                <a:gd name="T7" fmla="*/ 0 h 3314"/>
                <a:gd name="T8" fmla="*/ 201 w 2359"/>
                <a:gd name="T9" fmla="*/ 150 h 3314"/>
                <a:gd name="T10" fmla="*/ 366 w 2359"/>
                <a:gd name="T11" fmla="*/ 279 h 3314"/>
                <a:gd name="T12" fmla="*/ 552 w 2359"/>
                <a:gd name="T13" fmla="*/ 441 h 3314"/>
                <a:gd name="T14" fmla="*/ 732 w 2359"/>
                <a:gd name="T15" fmla="*/ 612 h 3314"/>
                <a:gd name="T16" fmla="*/ 996 w 2359"/>
                <a:gd name="T17" fmla="*/ 903 h 3314"/>
                <a:gd name="T18" fmla="*/ 1230 w 2359"/>
                <a:gd name="T19" fmla="*/ 1212 h 3314"/>
                <a:gd name="T20" fmla="*/ 1400 w 2359"/>
                <a:gd name="T21" fmla="*/ 1482 h 3314"/>
                <a:gd name="T22" fmla="*/ 1548 w 2359"/>
                <a:gd name="T23" fmla="*/ 1761 h 3314"/>
                <a:gd name="T24" fmla="*/ 1665 w 2359"/>
                <a:gd name="T25" fmla="*/ 2040 h 3314"/>
                <a:gd name="T26" fmla="*/ 1751 w 2359"/>
                <a:gd name="T27" fmla="*/ 2295 h 3314"/>
                <a:gd name="T28" fmla="*/ 1809 w 2359"/>
                <a:gd name="T29" fmla="*/ 2511 h 3314"/>
                <a:gd name="T30" fmla="*/ 1863 w 2359"/>
                <a:gd name="T31" fmla="*/ 2778 h 3314"/>
                <a:gd name="T32" fmla="*/ 1890 w 2359"/>
                <a:gd name="T33" fmla="*/ 3012 h 3314"/>
                <a:gd name="T34" fmla="*/ 1905 w 2359"/>
                <a:gd name="T35" fmla="*/ 3312 h 3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 sz="1800"/>
            </a:p>
          </p:txBody>
        </p:sp>
        <p:sp>
          <p:nvSpPr>
            <p:cNvPr id="1033" name="Arc 4">
              <a:extLst>
                <a:ext uri="{FF2B5EF4-FFF2-40B4-BE49-F238E27FC236}">
                  <a16:creationId xmlns:a16="http://schemas.microsoft.com/office/drawing/2014/main" id="{807585E4-D6A9-EA3A-6C1A-969DAA9AF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sp>
        <p:nvSpPr>
          <p:cNvPr id="1027" name="Rectangle 5">
            <a:extLst>
              <a:ext uri="{FF2B5EF4-FFF2-40B4-BE49-F238E27FC236}">
                <a16:creationId xmlns:a16="http://schemas.microsoft.com/office/drawing/2014/main" id="{BE859D63-B589-F520-A916-F648B2C8B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E0F68C89-5939-B817-39D6-92274D8A79A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1" hangingPunct="1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4F85EB84-B7E4-1FDF-2979-05CA6524797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074D5121-C14A-00E6-BD4D-7AE66612E7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/>
            </a:lvl1pPr>
          </a:lstStyle>
          <a:p>
            <a:pPr>
              <a:defRPr/>
            </a:pPr>
            <a:fld id="{6BFFCD36-0A29-489E-876C-C213123894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Rectangle 9">
            <a:extLst>
              <a:ext uri="{FF2B5EF4-FFF2-40B4-BE49-F238E27FC236}">
                <a16:creationId xmlns:a16="http://schemas.microsoft.com/office/drawing/2014/main" id="{8568AB70-D53A-E307-389E-0793D10927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95666429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048" r:id="rId1"/>
    <p:sldLayoutId id="2147484049" r:id="rId2"/>
    <p:sldLayoutId id="2147484050" r:id="rId3"/>
    <p:sldLayoutId id="2147484051" r:id="rId4"/>
    <p:sldLayoutId id="2147484052" r:id="rId5"/>
    <p:sldLayoutId id="2147484053" r:id="rId6"/>
    <p:sldLayoutId id="2147484054" r:id="rId7"/>
    <p:sldLayoutId id="2147484055" r:id="rId8"/>
    <p:sldLayoutId id="2147484056" r:id="rId9"/>
    <p:sldLayoutId id="2147484057" r:id="rId10"/>
    <p:sldLayoutId id="2147484058" r:id="rId11"/>
    <p:sldLayoutId id="2147484059" r:id="rId12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rgbClr val="6600CC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 b="1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SzPct val="90000"/>
        <a:buFont typeface="Times New Roman" panose="02020603050405020304" pitchFamily="18" charset="0"/>
        <a:buChar char="–"/>
        <a:defRPr kumimoji="1" sz="2800" b="1">
          <a:solidFill>
            <a:schemeClr val="bg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 b="1">
          <a:solidFill>
            <a:schemeClr val="bg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Times New Roman" panose="02020603050405020304" pitchFamily="18" charset="0"/>
        <a:buChar char="–"/>
        <a:defRPr kumimoji="1" sz="2000" b="1">
          <a:solidFill>
            <a:schemeClr val="bg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 b="1">
          <a:solidFill>
            <a:schemeClr val="bg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 b="1">
          <a:solidFill>
            <a:schemeClr val="bg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 b="1">
          <a:solidFill>
            <a:schemeClr val="bg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 b="1">
          <a:solidFill>
            <a:schemeClr val="bg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 b="1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017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1" r:id="rId1"/>
    <p:sldLayoutId id="2147484062" r:id="rId2"/>
    <p:sldLayoutId id="2147484063" r:id="rId3"/>
    <p:sldLayoutId id="2147484064" r:id="rId4"/>
    <p:sldLayoutId id="2147484065" r:id="rId5"/>
    <p:sldLayoutId id="2147484066" r:id="rId6"/>
    <p:sldLayoutId id="2147484067" r:id="rId7"/>
    <p:sldLayoutId id="2147484068" r:id="rId8"/>
    <p:sldLayoutId id="2147484069" r:id="rId9"/>
    <p:sldLayoutId id="2147484070" r:id="rId10"/>
    <p:sldLayoutId id="21474840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0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2.png"/><Relationship Id="rId4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18.xml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4.bin"/><Relationship Id="rId9" Type="http://schemas.openxmlformats.org/officeDocument/2006/relationships/oleObject" Target="../embeddings/oleObject8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9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3713019"/>
            <a:ext cx="9144000" cy="2299524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en-US" altLang="zh-CN" sz="6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6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语言程序设计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 概述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6268362"/>
            <a:ext cx="9144000" cy="5413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计量大学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70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9CE9803-5B3D-8127-7000-BA26771395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192" y="1555749"/>
            <a:ext cx="4854859" cy="314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672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752600"/>
            <a:ext cx="103632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>
                <a:latin typeface="宋体" pitchFamily="2" charset="-122"/>
              </a:rPr>
              <a:t>  </a:t>
            </a:r>
            <a:r>
              <a:rPr lang="zh-CN" altLang="en-US" sz="2800" dirty="0">
                <a:solidFill>
                  <a:srgbClr val="3333FF"/>
                </a:solidFill>
                <a:latin typeface="宋体" pitchFamily="2" charset="-122"/>
              </a:rPr>
              <a:t>程序</a:t>
            </a:r>
            <a:r>
              <a:rPr lang="zh-CN" altLang="en-US" sz="2800" dirty="0">
                <a:solidFill>
                  <a:srgbClr val="3333FF"/>
                </a:solidFill>
              </a:rPr>
              <a:t> </a:t>
            </a:r>
            <a:r>
              <a:rPr lang="en-US" altLang="zh-CN" sz="2800" dirty="0">
                <a:solidFill>
                  <a:srgbClr val="3333FF"/>
                </a:solidFill>
              </a:rPr>
              <a:t>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/>
              <a:t>　　　为使计算机解决某一特定问题而制定的一组指令序列。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800" dirty="0">
              <a:solidFill>
                <a:srgbClr val="660033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宋体" pitchFamily="2" charset="-122"/>
              </a:rPr>
              <a:t>      人和计算机交换信息的</a:t>
            </a:r>
            <a:r>
              <a:rPr lang="zh-CN" altLang="en-US" sz="2800" dirty="0">
                <a:solidFill>
                  <a:srgbClr val="000000"/>
                </a:solidFill>
              </a:rPr>
              <a:t> “</a:t>
            </a:r>
            <a:r>
              <a:rPr lang="zh-CN" altLang="en-US" sz="2800" dirty="0">
                <a:solidFill>
                  <a:srgbClr val="000000"/>
                </a:solidFill>
                <a:latin typeface="宋体" pitchFamily="2" charset="-122"/>
              </a:rPr>
              <a:t>语言</a:t>
            </a:r>
            <a:r>
              <a:rPr lang="zh-CN" altLang="en-US" sz="2800" dirty="0">
                <a:solidFill>
                  <a:srgbClr val="000000"/>
                </a:solidFill>
              </a:rPr>
              <a:t>”</a:t>
            </a:r>
            <a:r>
              <a:rPr lang="zh-CN" altLang="en-US" sz="2800" dirty="0">
                <a:solidFill>
                  <a:srgbClr val="000000"/>
                </a:solidFill>
                <a:latin typeface="宋体" pitchFamily="2" charset="-122"/>
              </a:rPr>
              <a:t>问题－－在计算机上所用的语言－－</a:t>
            </a:r>
            <a:r>
              <a:rPr lang="zh-CN" altLang="en-US" sz="2800" dirty="0">
                <a:solidFill>
                  <a:srgbClr val="3333FF"/>
                </a:solidFill>
                <a:latin typeface="宋体" pitchFamily="2" charset="-122"/>
              </a:rPr>
              <a:t>程序设计语言。</a:t>
            </a:r>
            <a:endParaRPr lang="zh-CN" altLang="en-US" sz="2800" dirty="0">
              <a:solidFill>
                <a:srgbClr val="660033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000" dirty="0">
              <a:solidFill>
                <a:schemeClr val="hlink"/>
              </a:solidFill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7990915" y="3581400"/>
            <a:ext cx="4107786" cy="3070412"/>
          </a:xfrm>
          <a:prstGeom prst="rect">
            <a:avLst/>
          </a:prstGeom>
          <a:gradFill>
            <a:gsLst>
              <a:gs pos="0">
                <a:srgbClr val="00CCCC">
                  <a:tint val="66000"/>
                  <a:satMod val="160000"/>
                </a:srgbClr>
              </a:gs>
              <a:gs pos="0">
                <a:srgbClr val="00CCCC">
                  <a:tint val="44500"/>
                  <a:satMod val="160000"/>
                  <a:alpha val="94000"/>
                  <a:lumMod val="47000"/>
                  <a:lumOff val="53000"/>
                </a:srgbClr>
              </a:gs>
              <a:gs pos="73000">
                <a:srgbClr val="00CCCC">
                  <a:tint val="23500"/>
                  <a:satMod val="160000"/>
                  <a:alpha val="12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#include &lt;</a:t>
            </a:r>
            <a:r>
              <a:rPr kumimoji="1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stdio.h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&gt;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int main(void)</a:t>
            </a:r>
            <a:r>
              <a:rPr lang="en-US" altLang="zh-CN" sz="1800" kern="0" dirty="0">
                <a:solidFill>
                  <a:srgbClr val="000000"/>
                </a:solidFill>
              </a:rPr>
              <a:t> {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       int  x, y, sum;         </a:t>
            </a:r>
            <a:endParaRPr kumimoji="1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       </a:t>
            </a:r>
            <a:r>
              <a:rPr kumimoji="1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printf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(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Input data:   \n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);    </a:t>
            </a:r>
            <a:endParaRPr lang="en-US" altLang="zh-CN" sz="1800" kern="0" dirty="0">
              <a:solidFill>
                <a:srgbClr val="3333FF"/>
              </a:solidFill>
            </a:endParaRP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       </a:t>
            </a:r>
            <a:r>
              <a:rPr kumimoji="1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scanf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(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%d, %d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, &amp;x, &amp;y);  </a:t>
            </a:r>
            <a:endParaRPr kumimoji="1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　　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sum = x + y; 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kern="0" dirty="0">
                <a:solidFill>
                  <a:srgbClr val="000000"/>
                </a:solidFill>
              </a:rPr>
              <a:t>    </a:t>
            </a: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　</a:t>
            </a:r>
            <a:r>
              <a:rPr kumimoji="1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printf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(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sum = %d \n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,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sum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);  </a:t>
            </a:r>
            <a:endParaRPr kumimoji="1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       return 0; 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}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en-US" altLang="zh-CN" dirty="0">
                <a:solidFill>
                  <a:srgbClr val="000000"/>
                </a:solidFill>
              </a:rPr>
              <a:t>1.1  C</a:t>
            </a:r>
            <a:r>
              <a:rPr lang="zh-CN" altLang="en-US" dirty="0">
                <a:solidFill>
                  <a:srgbClr val="000000"/>
                </a:solidFill>
              </a:rPr>
              <a:t>语言的发展历史</a:t>
            </a:r>
            <a:r>
              <a:rPr lang="en-US" altLang="zh-CN" dirty="0">
                <a:solidFill>
                  <a:srgbClr val="000000"/>
                </a:solidFill>
              </a:rPr>
              <a:t>-</a:t>
            </a:r>
            <a:r>
              <a:rPr lang="zh-CN" altLang="en-US" dirty="0">
                <a:solidFill>
                  <a:srgbClr val="000000"/>
                </a:solidFill>
              </a:rPr>
              <a:t>程序与计算机语言</a:t>
            </a:r>
            <a:endParaRPr kumimoji="0" lang="zh-CN" altLang="en-US" sz="3600" b="1" i="0" u="none" strike="noStrike" kern="1200" cap="none" spc="20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j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4181280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9659FBEE-91F1-C503-BDD4-074E17A4EB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1288" y="343060"/>
            <a:ext cx="8386762" cy="720725"/>
          </a:xfrm>
        </p:spPr>
        <p:txBody>
          <a:bodyPr/>
          <a:lstStyle/>
          <a:p>
            <a:pPr eaLnBrk="1" hangingPunct="1"/>
            <a:r>
              <a:rPr kumimoji="0" lang="en-US" altLang="zh-CN" sz="3600" kern="1200" spc="200" noProof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1.1  C</a:t>
            </a:r>
            <a:r>
              <a:rPr kumimoji="0" lang="zh-CN" altLang="en-US" sz="3600" kern="1200" spc="200" noProof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语言的发展历史</a:t>
            </a:r>
            <a:r>
              <a:rPr kumimoji="0" lang="en-US" altLang="zh-CN" sz="3600" kern="1200" spc="200" noProof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-</a:t>
            </a:r>
            <a:r>
              <a:rPr kumimoji="0" lang="zh-CN" altLang="en-US" sz="3600" kern="1200" spc="200" noProof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计算机语言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07E767FC-6E44-B75A-8355-899D281CE7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842" y="1268414"/>
            <a:ext cx="8386763" cy="36734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800" dirty="0">
              <a:latin typeface="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latin typeface=""/>
              </a:rPr>
              <a:t> </a:t>
            </a:r>
            <a:r>
              <a:rPr lang="zh-CN" altLang="en-US" sz="2800" dirty="0">
                <a:solidFill>
                  <a:srgbClr val="CC00CC"/>
                </a:solidFill>
                <a:latin typeface=""/>
              </a:rPr>
              <a:t>机器语言</a:t>
            </a:r>
            <a:r>
              <a:rPr lang="zh-CN" altLang="en-US" sz="2800" dirty="0">
                <a:latin typeface=""/>
              </a:rPr>
              <a:t>： </a:t>
            </a:r>
            <a:r>
              <a:rPr lang="en-US" altLang="zh-CN" sz="2400" dirty="0"/>
              <a:t>0</a:t>
            </a:r>
            <a:r>
              <a:rPr lang="zh-CN" altLang="en-US" sz="2400" dirty="0"/>
              <a:t>、</a:t>
            </a:r>
            <a:r>
              <a:rPr lang="en-US" altLang="zh-CN" sz="2400" dirty="0"/>
              <a:t>1</a:t>
            </a:r>
            <a:r>
              <a:rPr lang="zh-CN" altLang="en-US" sz="2400" dirty="0"/>
              <a:t>组成的二进制序列</a:t>
            </a:r>
            <a:endParaRPr lang="en-US" altLang="zh-CN" sz="2400" dirty="0">
              <a:latin typeface="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　</a:t>
            </a:r>
            <a:endParaRPr lang="zh-CN" altLang="en-US" sz="2400" dirty="0">
              <a:latin typeface="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800" dirty="0">
                <a:solidFill>
                  <a:srgbClr val="CC00CC"/>
                </a:solidFill>
                <a:latin typeface=""/>
              </a:rPr>
              <a:t>汇编语言</a:t>
            </a:r>
            <a:r>
              <a:rPr lang="zh-CN" altLang="en-US" sz="2800" dirty="0">
                <a:latin typeface=""/>
              </a:rPr>
              <a:t>：</a:t>
            </a:r>
            <a:r>
              <a:rPr lang="zh-CN" altLang="en-US" sz="2400" dirty="0">
                <a:latin typeface=""/>
              </a:rPr>
              <a:t>引入助记符来表示机器语言的指令代码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"/>
              </a:rPr>
              <a:t>  </a:t>
            </a:r>
            <a:r>
              <a:rPr lang="zh-CN" altLang="en-US" sz="2400" dirty="0">
                <a:latin typeface=""/>
              </a:rPr>
              <a:t>汇编语言源程序用汇编程序翻译成目标程序的过程称作</a:t>
            </a:r>
            <a:r>
              <a:rPr lang="zh-CN" altLang="en-US" sz="2400" dirty="0">
                <a:solidFill>
                  <a:srgbClr val="CC00CC"/>
                </a:solidFill>
                <a:latin typeface=""/>
              </a:rPr>
              <a:t>汇编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80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800" dirty="0">
                <a:solidFill>
                  <a:srgbClr val="CC00CC"/>
                </a:solidFill>
                <a:latin typeface=""/>
              </a:rPr>
              <a:t>高级语言</a:t>
            </a:r>
            <a:r>
              <a:rPr lang="zh-CN" altLang="en-US" sz="2800" dirty="0">
                <a:latin typeface=""/>
              </a:rPr>
              <a:t>：</a:t>
            </a:r>
            <a:r>
              <a:rPr lang="en-US" altLang="zh-CN" sz="2400" dirty="0"/>
              <a:t>C/C++, JAVA, C#, PASCAL, BASIC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zh-CN" altLang="en-US" sz="2400" dirty="0"/>
              <a:t>    参考自然语言、数学语言而设计，克服了低级语言在编程和识别上的不便。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 dirty="0"/>
          </a:p>
        </p:txBody>
      </p:sp>
      <p:sp>
        <p:nvSpPr>
          <p:cNvPr id="51204" name="Rectangle 4">
            <a:extLst>
              <a:ext uri="{FF2B5EF4-FFF2-40B4-BE49-F238E27FC236}">
                <a16:creationId xmlns:a16="http://schemas.microsoft.com/office/drawing/2014/main" id="{E4DB2EAF-0305-E7D7-08FC-28CC37A03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4" y="17268825"/>
            <a:ext cx="56610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CC00CC"/>
              </a:buClr>
              <a:buSzPct val="90000"/>
              <a:buFont typeface="Times New Roman" panose="02020603050405020304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CC00CC"/>
              </a:buClr>
              <a:buFont typeface="Times New Roman" panose="02020603050405020304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400" b="0">
              <a:solidFill>
                <a:srgbClr val="FFFFFF"/>
              </a:solidFill>
            </a:endParaRPr>
          </a:p>
        </p:txBody>
      </p:sp>
      <p:pic>
        <p:nvPicPr>
          <p:cNvPr id="91141" name="Picture 5" descr="image01">
            <a:extLst>
              <a:ext uri="{FF2B5EF4-FFF2-40B4-BE49-F238E27FC236}">
                <a16:creationId xmlns:a16="http://schemas.microsoft.com/office/drawing/2014/main" id="{6E7A3153-0945-C339-CAA5-8DE1E6D70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9575" y="3023675"/>
            <a:ext cx="5026025" cy="810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5" descr="image02">
            <a:extLst>
              <a:ext uri="{FF2B5EF4-FFF2-40B4-BE49-F238E27FC236}">
                <a16:creationId xmlns:a16="http://schemas.microsoft.com/office/drawing/2014/main" id="{30C23264-F9E7-0E30-2266-85B19F504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775" y="4740432"/>
            <a:ext cx="5661025" cy="1698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21435D5E-0675-9C00-070A-183784D3E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6419690"/>
            <a:ext cx="54578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CC00CC"/>
              </a:buClr>
              <a:buSzPct val="90000"/>
              <a:buFont typeface="Times New Roman" panose="02020603050405020304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CC00CC"/>
              </a:buClr>
              <a:buFont typeface="Times New Roman" panose="02020603050405020304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latin typeface="Arial" panose="020B0604020202020204" pitchFamily="34" charset="0"/>
              </a:rPr>
              <a:t> </a:t>
            </a:r>
            <a:r>
              <a:rPr kumimoji="0" lang="zh-CN" altLang="en-US" sz="2000" dirty="0">
                <a:solidFill>
                  <a:schemeClr val="bg1"/>
                </a:solidFill>
                <a:latin typeface=""/>
              </a:rPr>
              <a:t>两种类型的高级语言生成可执行代码的示意图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8953" y="1792941"/>
            <a:ext cx="11042649" cy="4903694"/>
          </a:xfrm>
        </p:spPr>
        <p:txBody>
          <a:bodyPr/>
          <a:lstStyle/>
          <a:p>
            <a:pPr algn="just" eaLnBrk="1" hangingPunct="1">
              <a:buNone/>
            </a:pPr>
            <a:r>
              <a:rPr lang="en-US" altLang="zh-CN" sz="2800" dirty="0">
                <a:latin typeface="宋体" pitchFamily="2" charset="-122"/>
              </a:rPr>
              <a:t>1972-73</a:t>
            </a:r>
            <a:r>
              <a:rPr lang="zh-CN" altLang="en-US" sz="2800" dirty="0">
                <a:latin typeface="宋体" pitchFamily="2" charset="-122"/>
              </a:rPr>
              <a:t>，美国贝尔实验室，</a:t>
            </a:r>
            <a:r>
              <a:rPr lang="en-US" altLang="zh-CN" sz="2800" dirty="0" err="1">
                <a:latin typeface="宋体" pitchFamily="2" charset="-122"/>
              </a:rPr>
              <a:t>Dennis.M</a:t>
            </a:r>
            <a:r>
              <a:rPr lang="en-US" altLang="zh-CN" sz="2800" dirty="0">
                <a:latin typeface="宋体" pitchFamily="2" charset="-122"/>
              </a:rPr>
              <a:t>. </a:t>
            </a:r>
            <a:r>
              <a:rPr lang="en-US" altLang="zh-CN" sz="2800" dirty="0">
                <a:solidFill>
                  <a:srgbClr val="CC00CC"/>
                </a:solidFill>
                <a:latin typeface="宋体" pitchFamily="2" charset="-122"/>
              </a:rPr>
              <a:t>Ritchie</a:t>
            </a:r>
            <a:endParaRPr lang="en-US" altLang="zh-CN" sz="2800" dirty="0">
              <a:solidFill>
                <a:srgbClr val="CC00CC"/>
              </a:solidFill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800" dirty="0" err="1">
                <a:latin typeface="宋体" pitchFamily="2" charset="-122"/>
              </a:rPr>
              <a:t>K</a:t>
            </a:r>
            <a:r>
              <a:rPr lang="en-US" altLang="zh-CN" sz="2800" dirty="0" err="1"/>
              <a:t>·</a:t>
            </a:r>
            <a:r>
              <a:rPr lang="en-US" altLang="zh-CN" sz="2800" dirty="0" err="1">
                <a:latin typeface="宋体" pitchFamily="2" charset="-122"/>
              </a:rPr>
              <a:t>Thompson</a:t>
            </a:r>
            <a:r>
              <a:rPr lang="en-US" altLang="zh-CN" sz="2800" dirty="0">
                <a:latin typeface="宋体" pitchFamily="2" charset="-122"/>
              </a:rPr>
              <a:t> &amp; </a:t>
            </a:r>
            <a:r>
              <a:rPr lang="en-US" altLang="zh-CN" sz="2800" dirty="0" err="1">
                <a:latin typeface="宋体" pitchFamily="2" charset="-122"/>
              </a:rPr>
              <a:t>D</a:t>
            </a:r>
            <a:r>
              <a:rPr lang="en-US" altLang="zh-CN" sz="2800" dirty="0" err="1"/>
              <a:t>·</a:t>
            </a:r>
            <a:r>
              <a:rPr lang="en-US" altLang="zh-CN" sz="2800" dirty="0" err="1">
                <a:latin typeface="宋体" pitchFamily="2" charset="-122"/>
              </a:rPr>
              <a:t>M</a:t>
            </a:r>
            <a:r>
              <a:rPr lang="en-US" altLang="zh-CN" sz="2800" dirty="0" err="1"/>
              <a:t>·</a:t>
            </a:r>
            <a:r>
              <a:rPr lang="en-US" altLang="zh-CN" sz="2800" dirty="0" err="1">
                <a:latin typeface="宋体" pitchFamily="2" charset="-122"/>
              </a:rPr>
              <a:t>Ritchie</a:t>
            </a:r>
            <a:r>
              <a:rPr lang="zh-CN" altLang="en-US" sz="2800" dirty="0">
                <a:latin typeface="宋体" pitchFamily="2" charset="-122"/>
              </a:rPr>
              <a:t>，</a:t>
            </a:r>
            <a:r>
              <a:rPr lang="en-US" altLang="zh-CN" sz="2800" dirty="0">
                <a:latin typeface="宋体" pitchFamily="2" charset="-122"/>
              </a:rPr>
              <a:t>UNIX</a:t>
            </a:r>
          </a:p>
          <a:p>
            <a:pPr algn="just" eaLnBrk="1" hangingPunct="1">
              <a:buFont typeface="Wingdings" pitchFamily="2" charset="2"/>
              <a:buNone/>
            </a:pPr>
            <a:endParaRPr lang="en-US" altLang="zh-CN" sz="2800" dirty="0">
              <a:latin typeface="宋体" pitchFamily="2" charset="-122"/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800" dirty="0">
                <a:latin typeface="宋体" pitchFamily="2" charset="-122"/>
              </a:rPr>
              <a:t>Microsoft C</a:t>
            </a:r>
            <a:r>
              <a:rPr lang="zh-CN" altLang="en-US" sz="2800" dirty="0">
                <a:latin typeface="宋体" pitchFamily="2" charset="-122"/>
              </a:rPr>
              <a:t>、</a:t>
            </a:r>
            <a:r>
              <a:rPr lang="en-US" altLang="zh-CN" sz="2800" dirty="0">
                <a:latin typeface="宋体" pitchFamily="2" charset="-122"/>
              </a:rPr>
              <a:t>Turbo C</a:t>
            </a:r>
            <a:r>
              <a:rPr lang="zh-CN" altLang="en-US" sz="2800" dirty="0">
                <a:latin typeface="宋体" pitchFamily="2" charset="-122"/>
              </a:rPr>
              <a:t>、</a:t>
            </a:r>
            <a:r>
              <a:rPr lang="en-US" altLang="zh-CN" sz="2800" dirty="0" err="1">
                <a:latin typeface="宋体" pitchFamily="2" charset="-122"/>
              </a:rPr>
              <a:t>Queck</a:t>
            </a:r>
            <a:r>
              <a:rPr lang="en-US" altLang="zh-CN" sz="2800" dirty="0">
                <a:latin typeface="宋体" pitchFamily="2" charset="-122"/>
              </a:rPr>
              <a:t> C</a:t>
            </a:r>
            <a:r>
              <a:rPr lang="en-US" altLang="zh-CN" sz="2800" dirty="0"/>
              <a:t> …</a:t>
            </a:r>
            <a:endParaRPr lang="en-US" altLang="zh-CN" sz="2800" dirty="0">
              <a:latin typeface="宋体" pitchFamily="2" charset="-122"/>
            </a:endParaRPr>
          </a:p>
          <a:p>
            <a:pPr algn="just" eaLnBrk="1" hangingPunct="1">
              <a:buNone/>
            </a:pPr>
            <a:r>
              <a:rPr lang="en-US" altLang="zh-CN" sz="2800" dirty="0">
                <a:latin typeface="宋体" pitchFamily="2" charset="-122"/>
              </a:rPr>
              <a:t>1990</a:t>
            </a:r>
            <a:r>
              <a:rPr lang="zh-CN" altLang="en-US" sz="2800" dirty="0">
                <a:latin typeface="宋体" pitchFamily="2" charset="-122"/>
              </a:rPr>
              <a:t>年国际标准化组织</a:t>
            </a:r>
            <a:r>
              <a:rPr lang="en-US" altLang="zh-CN" sz="2800" dirty="0">
                <a:latin typeface="宋体" pitchFamily="2" charset="-122"/>
              </a:rPr>
              <a:t>ISO</a:t>
            </a:r>
            <a:r>
              <a:rPr lang="zh-CN" altLang="en-US" sz="2800" dirty="0">
                <a:latin typeface="宋体" pitchFamily="2" charset="-122"/>
              </a:rPr>
              <a:t>接受美国国家标准化协会</a:t>
            </a:r>
            <a:r>
              <a:rPr lang="en-US" altLang="zh-CN" sz="2800" dirty="0">
                <a:latin typeface="宋体" pitchFamily="2" charset="-122"/>
              </a:rPr>
              <a:t>(ANSI)</a:t>
            </a:r>
            <a:r>
              <a:rPr lang="zh-CN" altLang="en-US" sz="2800" dirty="0">
                <a:latin typeface="宋体" pitchFamily="2" charset="-122"/>
              </a:rPr>
              <a:t>为</a:t>
            </a:r>
            <a:r>
              <a:rPr lang="en-US" altLang="zh-CN" sz="2800" dirty="0">
                <a:latin typeface="宋体" pitchFamily="2" charset="-122"/>
              </a:rPr>
              <a:t>C</a:t>
            </a:r>
            <a:r>
              <a:rPr lang="zh-CN" altLang="en-US" sz="2800" dirty="0">
                <a:latin typeface="宋体" pitchFamily="2" charset="-122"/>
              </a:rPr>
              <a:t>语言制定的</a:t>
            </a:r>
            <a:r>
              <a:rPr lang="en-US" altLang="zh-CN" sz="2800" dirty="0">
                <a:solidFill>
                  <a:srgbClr val="CC00CC"/>
                </a:solidFill>
                <a:latin typeface="宋体" pitchFamily="2" charset="-122"/>
              </a:rPr>
              <a:t>89</a:t>
            </a:r>
            <a:r>
              <a:rPr lang="en-US" altLang="zh-CN" sz="2800" dirty="0">
                <a:latin typeface="宋体" pitchFamily="2" charset="-122"/>
              </a:rPr>
              <a:t> </a:t>
            </a:r>
            <a:r>
              <a:rPr lang="en-US" altLang="zh-CN" sz="2800" dirty="0">
                <a:solidFill>
                  <a:srgbClr val="CC00CC"/>
                </a:solidFill>
                <a:latin typeface="宋体" pitchFamily="2" charset="-122"/>
              </a:rPr>
              <a:t>ANSI C</a:t>
            </a:r>
            <a:r>
              <a:rPr lang="zh-CN" altLang="en-US" sz="2800" dirty="0">
                <a:latin typeface="宋体" pitchFamily="2" charset="-122"/>
              </a:rPr>
              <a:t>为</a:t>
            </a:r>
            <a:r>
              <a:rPr lang="en-US" altLang="zh-CN" sz="2800" dirty="0">
                <a:latin typeface="宋体" pitchFamily="2" charset="-122"/>
              </a:rPr>
              <a:t>ISO</a:t>
            </a:r>
            <a:r>
              <a:rPr lang="zh-CN" altLang="en-US" sz="2800" dirty="0">
                <a:latin typeface="宋体" pitchFamily="2" charset="-122"/>
              </a:rPr>
              <a:t>标准。</a:t>
            </a:r>
            <a:r>
              <a:rPr lang="en-US" altLang="zh-CN" sz="2800" dirty="0">
                <a:latin typeface="宋体" pitchFamily="2" charset="-122"/>
              </a:rPr>
              <a:t>C89/C90</a:t>
            </a:r>
            <a:r>
              <a:rPr lang="zh-CN" altLang="en-US" sz="2800" dirty="0">
                <a:latin typeface="宋体" pitchFamily="2" charset="-122"/>
              </a:rPr>
              <a:t>、</a:t>
            </a:r>
            <a:r>
              <a:rPr lang="en-US" altLang="zh-CN" sz="2800" dirty="0">
                <a:latin typeface="宋体" pitchFamily="2" charset="-122"/>
              </a:rPr>
              <a:t>c99</a:t>
            </a:r>
            <a:r>
              <a:rPr lang="en-US" altLang="zh-CN" sz="2800" dirty="0"/>
              <a:t> …</a:t>
            </a:r>
            <a:endParaRPr lang="zh-CN" altLang="en-US" sz="2800" dirty="0">
              <a:latin typeface="宋体" pitchFamily="2" charset="-122"/>
            </a:endParaRPr>
          </a:p>
          <a:p>
            <a:pPr algn="just" eaLnBrk="1" hangingPunct="1">
              <a:buNone/>
            </a:pPr>
            <a:r>
              <a:rPr lang="zh-CN" altLang="en-US" sz="2800" dirty="0">
                <a:latin typeface="宋体" pitchFamily="2" charset="-122"/>
              </a:rPr>
              <a:t>面向对象程序设计思想</a:t>
            </a:r>
            <a:r>
              <a:rPr lang="en-US" altLang="zh-CN" sz="2800" dirty="0">
                <a:latin typeface="宋体" pitchFamily="2" charset="-122"/>
              </a:rPr>
              <a:t>-- C++</a:t>
            </a:r>
            <a:r>
              <a:rPr lang="zh-CN" altLang="en-US" sz="2800" dirty="0">
                <a:latin typeface="宋体" pitchFamily="2" charset="-122"/>
              </a:rPr>
              <a:t>、</a:t>
            </a:r>
            <a:r>
              <a:rPr lang="en-US" altLang="zh-CN" sz="2800" dirty="0">
                <a:latin typeface="宋体" pitchFamily="2" charset="-122"/>
              </a:rPr>
              <a:t>Java</a:t>
            </a:r>
            <a:endParaRPr lang="en-US" altLang="zh-CN" sz="2800" dirty="0"/>
          </a:p>
          <a:p>
            <a:pPr algn="just" eaLnBrk="1" hangingPunct="1">
              <a:buFont typeface="Wingdings" pitchFamily="2" charset="2"/>
              <a:buNone/>
            </a:pPr>
            <a:endParaRPr lang="en-US" altLang="zh-CN" sz="2800" dirty="0"/>
          </a:p>
          <a:p>
            <a:pPr algn="just" eaLnBrk="1" hangingPunct="1">
              <a:buNone/>
            </a:pPr>
            <a:r>
              <a:rPr lang="zh-CN" altLang="en-US" sz="2800" dirty="0"/>
              <a:t>特点：简洁的表达式、流行的控制流和数据结构、丰富的运算符</a:t>
            </a:r>
            <a:r>
              <a:rPr lang="en-US" altLang="zh-CN" sz="2800" dirty="0"/>
              <a:t>…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4257" y="26"/>
            <a:ext cx="3371851" cy="324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1.1  </a:t>
            </a:r>
            <a:r>
              <a:rPr lang="en-US" altLang="zh-CN" dirty="0">
                <a:solidFill>
                  <a:srgbClr val="000000"/>
                </a:solidFill>
              </a:rPr>
              <a:t>C</a:t>
            </a:r>
            <a:r>
              <a:rPr lang="zh-CN" altLang="en-US" dirty="0">
                <a:solidFill>
                  <a:srgbClr val="000000"/>
                </a:solidFill>
              </a:rPr>
              <a:t>语言的发展历史</a:t>
            </a:r>
            <a:endParaRPr kumimoji="0" lang="zh-CN" altLang="en-US" sz="3600" b="1" i="0" u="none" strike="noStrike" kern="1200" cap="none" spc="20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j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5112358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897E2F5-015D-5728-9DF3-5E974B2B1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733" y="1540508"/>
            <a:ext cx="8114534" cy="2626670"/>
          </a:xfrm>
          <a:prstGeom prst="rect">
            <a:avLst/>
          </a:prstGeom>
        </p:spPr>
      </p:pic>
      <p:sp>
        <p:nvSpPr>
          <p:cNvPr id="155" name="Text Box 3"/>
          <p:cNvSpPr txBox="1">
            <a:spLocks noChangeArrowheads="1"/>
          </p:cNvSpPr>
          <p:nvPr/>
        </p:nvSpPr>
        <p:spPr bwMode="auto">
          <a:xfrm>
            <a:off x="93026" y="3950333"/>
            <a:ext cx="5764850" cy="2907667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0">
                <a:schemeClr val="accent1">
                  <a:tint val="44500"/>
                  <a:satMod val="160000"/>
                  <a:alpha val="94000"/>
                  <a:lumMod val="47000"/>
                  <a:lumOff val="53000"/>
                </a:schemeClr>
              </a:gs>
              <a:gs pos="73000">
                <a:schemeClr val="accent1">
                  <a:tint val="23500"/>
                  <a:satMod val="160000"/>
                  <a:alpha val="12000"/>
                </a:schemeClr>
              </a:gs>
            </a:gsLst>
            <a:lin ang="5400000" scaled="0"/>
          </a:gradFill>
          <a:ln>
            <a:noFill/>
          </a:ln>
          <a:effectLst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Font typeface="Wingdings" pitchFamily="2" charset="2"/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#include &lt;</a:t>
            </a:r>
            <a:r>
              <a:rPr lang="en-US" altLang="zh-CN" sz="1800" dirty="0" err="1">
                <a:solidFill>
                  <a:srgbClr val="000000"/>
                </a:solidFill>
              </a:rPr>
              <a:t>stdio.h</a:t>
            </a:r>
            <a:r>
              <a:rPr lang="en-US" altLang="zh-CN" sz="1800" dirty="0">
                <a:solidFill>
                  <a:srgbClr val="000000"/>
                </a:solidFill>
              </a:rPr>
              <a:t>&gt;</a:t>
            </a: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Font typeface="Wingdings" pitchFamily="2" charset="2"/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int main(void) {   //</a:t>
            </a:r>
            <a:r>
              <a:rPr lang="zh-CN" altLang="en-US" sz="1800" dirty="0">
                <a:solidFill>
                  <a:srgbClr val="000000"/>
                </a:solidFill>
              </a:rPr>
              <a:t>输入两个整数，计算并输出它们的和</a:t>
            </a:r>
            <a:r>
              <a:rPr lang="en-US" altLang="zh-CN" sz="1800" dirty="0">
                <a:solidFill>
                  <a:srgbClr val="000000"/>
                </a:solidFill>
              </a:rPr>
              <a:t>   </a:t>
            </a: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Font typeface="Wingdings" pitchFamily="2" charset="2"/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         int  x, y, sum;  // </a:t>
            </a:r>
            <a:r>
              <a:rPr lang="zh-CN" altLang="en-US" sz="1800" dirty="0">
                <a:solidFill>
                  <a:srgbClr val="000000"/>
                </a:solidFill>
              </a:rPr>
              <a:t>定义三个整型变量 </a:t>
            </a: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Font typeface="Wingdings" pitchFamily="2" charset="2"/>
              <a:buNone/>
            </a:pPr>
            <a:endParaRPr lang="zh-CN" altLang="en-US" sz="1800" dirty="0">
              <a:solidFill>
                <a:srgbClr val="000000"/>
              </a:solidFill>
            </a:endParaRP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Font typeface="Wingdings" pitchFamily="2" charset="2"/>
              <a:buNone/>
            </a:pPr>
            <a:r>
              <a:rPr lang="zh-CN" altLang="en-US" sz="1800" dirty="0">
                <a:solidFill>
                  <a:srgbClr val="000000"/>
                </a:solidFill>
              </a:rPr>
              <a:t>         </a:t>
            </a:r>
            <a:r>
              <a:rPr lang="en-US" altLang="zh-CN" sz="1800" dirty="0" err="1">
                <a:solidFill>
                  <a:srgbClr val="000000"/>
                </a:solidFill>
              </a:rPr>
              <a:t>printf</a:t>
            </a:r>
            <a:r>
              <a:rPr lang="en-US" altLang="zh-CN" sz="1800" dirty="0">
                <a:solidFill>
                  <a:srgbClr val="000000"/>
                </a:solidFill>
              </a:rPr>
              <a:t> ("Enter two integers: \n");   // </a:t>
            </a:r>
            <a:r>
              <a:rPr lang="zh-CN" altLang="en-US" sz="1800" dirty="0">
                <a:solidFill>
                  <a:srgbClr val="000000"/>
                </a:solidFill>
              </a:rPr>
              <a:t>输出提示信息 </a:t>
            </a: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Font typeface="Wingdings" pitchFamily="2" charset="2"/>
              <a:buNone/>
            </a:pPr>
            <a:r>
              <a:rPr lang="zh-CN" altLang="en-US" sz="1800" dirty="0">
                <a:solidFill>
                  <a:srgbClr val="000000"/>
                </a:solidFill>
              </a:rPr>
              <a:t>         </a:t>
            </a:r>
            <a:r>
              <a:rPr lang="en-US" altLang="zh-CN" sz="1800" dirty="0" err="1">
                <a:solidFill>
                  <a:srgbClr val="000000"/>
                </a:solidFill>
              </a:rPr>
              <a:t>scanf</a:t>
            </a:r>
            <a:r>
              <a:rPr lang="en-US" altLang="zh-CN" sz="1800" dirty="0">
                <a:solidFill>
                  <a:srgbClr val="000000"/>
                </a:solidFill>
              </a:rPr>
              <a:t> ("%</a:t>
            </a:r>
            <a:r>
              <a:rPr lang="en-US" altLang="zh-CN" sz="1800" dirty="0" err="1">
                <a:solidFill>
                  <a:srgbClr val="000000"/>
                </a:solidFill>
              </a:rPr>
              <a:t>d%d</a:t>
            </a:r>
            <a:r>
              <a:rPr lang="en-US" altLang="zh-CN" sz="1800" dirty="0">
                <a:solidFill>
                  <a:srgbClr val="000000"/>
                </a:solidFill>
              </a:rPr>
              <a:t>", &amp;x, &amp;y);    // </a:t>
            </a:r>
            <a:r>
              <a:rPr lang="zh-CN" altLang="en-US" sz="1800" dirty="0">
                <a:solidFill>
                  <a:srgbClr val="000000"/>
                </a:solidFill>
              </a:rPr>
              <a:t>输入两个整数 </a:t>
            </a: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Font typeface="Wingdings" pitchFamily="2" charset="2"/>
              <a:buNone/>
            </a:pPr>
            <a:r>
              <a:rPr lang="zh-CN" altLang="en-US" sz="1800" dirty="0">
                <a:solidFill>
                  <a:srgbClr val="000000"/>
                </a:solidFill>
              </a:rPr>
              <a:t>　     </a:t>
            </a:r>
            <a:r>
              <a:rPr lang="en-US" altLang="zh-CN" sz="1800" dirty="0">
                <a:solidFill>
                  <a:srgbClr val="000000"/>
                </a:solidFill>
              </a:rPr>
              <a:t>sum = x + y;               // </a:t>
            </a:r>
            <a:r>
              <a:rPr lang="zh-CN" altLang="en-US" sz="1800" dirty="0">
                <a:solidFill>
                  <a:srgbClr val="000000"/>
                </a:solidFill>
              </a:rPr>
              <a:t>求和 </a:t>
            </a: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Font typeface="Wingdings" pitchFamily="2" charset="2"/>
              <a:buNone/>
            </a:pPr>
            <a:r>
              <a:rPr lang="zh-CN" altLang="en-US" sz="1800" dirty="0">
                <a:solidFill>
                  <a:srgbClr val="000000"/>
                </a:solidFill>
              </a:rPr>
              <a:t>         </a:t>
            </a:r>
            <a:r>
              <a:rPr lang="en-US" altLang="zh-CN" sz="1800" dirty="0" err="1">
                <a:solidFill>
                  <a:srgbClr val="000000"/>
                </a:solidFill>
              </a:rPr>
              <a:t>printf</a:t>
            </a:r>
            <a:r>
              <a:rPr lang="en-US" altLang="zh-CN" sz="1800" dirty="0">
                <a:solidFill>
                  <a:srgbClr val="000000"/>
                </a:solidFill>
              </a:rPr>
              <a:t> ("sum = %d \n", sum);  // </a:t>
            </a:r>
            <a:r>
              <a:rPr lang="zh-CN" altLang="en-US" sz="1800" dirty="0">
                <a:solidFill>
                  <a:srgbClr val="000000"/>
                </a:solidFill>
              </a:rPr>
              <a:t>输出和 </a:t>
            </a: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Font typeface="Wingdings" pitchFamily="2" charset="2"/>
              <a:buNone/>
            </a:pPr>
            <a:r>
              <a:rPr lang="zh-CN" altLang="en-US" sz="1800" dirty="0">
                <a:solidFill>
                  <a:srgbClr val="000000"/>
                </a:solidFill>
              </a:rPr>
              <a:t>         </a:t>
            </a:r>
            <a:r>
              <a:rPr lang="en-US" altLang="zh-CN" sz="1800" dirty="0">
                <a:solidFill>
                  <a:srgbClr val="000000"/>
                </a:solidFill>
              </a:rPr>
              <a:t>return 0; </a:t>
            </a: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Font typeface="Wingdings" pitchFamily="2" charset="2"/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6147" name="Text Box 39"/>
          <p:cNvSpPr txBox="1">
            <a:spLocks noChangeArrowheads="1"/>
          </p:cNvSpPr>
          <p:nvPr/>
        </p:nvSpPr>
        <p:spPr bwMode="auto">
          <a:xfrm>
            <a:off x="341459" y="609600"/>
            <a:ext cx="121920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800" b="0" dirty="0">
              <a:solidFill>
                <a:srgbClr val="FFFF00"/>
              </a:solidFill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3333FF"/>
                </a:solidFill>
              </a:rPr>
              <a:t>函数是</a:t>
            </a:r>
            <a:r>
              <a:rPr lang="en-US" altLang="zh-CN" sz="2800" dirty="0">
                <a:solidFill>
                  <a:srgbClr val="3333FF"/>
                </a:solidFill>
              </a:rPr>
              <a:t>C</a:t>
            </a:r>
            <a:r>
              <a:rPr lang="zh-CN" altLang="en-US" sz="2800" dirty="0">
                <a:solidFill>
                  <a:srgbClr val="3333FF"/>
                </a:solidFill>
              </a:rPr>
              <a:t>语言程序的基本模块</a:t>
            </a:r>
            <a:endParaRPr lang="en-US" altLang="zh-CN" sz="2800" dirty="0">
              <a:solidFill>
                <a:srgbClr val="3333FF"/>
              </a:solidFill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800" dirty="0">
              <a:solidFill>
                <a:srgbClr val="3333FF"/>
              </a:solidFill>
              <a:latin typeface="黑体" pitchFamily="49" charset="-122"/>
              <a:ea typeface="黑体" pitchFamily="49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800" dirty="0">
              <a:solidFill>
                <a:srgbClr val="3333FF"/>
              </a:solidFill>
              <a:latin typeface="黑体" pitchFamily="49" charset="-122"/>
              <a:ea typeface="黑体" pitchFamily="49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800" dirty="0">
              <a:solidFill>
                <a:srgbClr val="3333FF"/>
              </a:solidFill>
              <a:latin typeface="黑体" pitchFamily="49" charset="-122"/>
              <a:ea typeface="黑体" pitchFamily="49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800" dirty="0">
              <a:solidFill>
                <a:srgbClr val="3333FF"/>
              </a:solidFill>
              <a:latin typeface="黑体" pitchFamily="49" charset="-122"/>
              <a:ea typeface="黑体" pitchFamily="49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800" dirty="0">
              <a:solidFill>
                <a:srgbClr val="3333FF"/>
              </a:solidFill>
              <a:latin typeface="黑体" pitchFamily="49" charset="-122"/>
              <a:ea typeface="黑体" pitchFamily="49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800" dirty="0">
              <a:solidFill>
                <a:srgbClr val="3333FF"/>
              </a:solidFill>
              <a:latin typeface="黑体" pitchFamily="49" charset="-122"/>
              <a:ea typeface="黑体" pitchFamily="49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333FF"/>
                </a:solidFill>
                <a:latin typeface="黑体" pitchFamily="49" charset="-122"/>
                <a:ea typeface="黑体" pitchFamily="49" charset="-122"/>
              </a:rPr>
              <a:t>                              </a:t>
            </a:r>
            <a:r>
              <a:rPr lang="en-US" altLang="zh-CN" sz="1800" dirty="0">
                <a:latin typeface="黑体" pitchFamily="49" charset="-122"/>
                <a:ea typeface="黑体" pitchFamily="49" charset="-122"/>
              </a:rPr>
              <a:t>C</a:t>
            </a:r>
            <a:r>
              <a:rPr lang="zh-CN" altLang="en-US" sz="1800" dirty="0">
                <a:latin typeface="黑体" pitchFamily="49" charset="-122"/>
                <a:ea typeface="黑体" pitchFamily="49" charset="-122"/>
              </a:rPr>
              <a:t>语言程序的结构</a:t>
            </a:r>
          </a:p>
        </p:txBody>
      </p:sp>
      <p:sp>
        <p:nvSpPr>
          <p:cNvPr id="156" name="Text Box 4"/>
          <p:cNvSpPr txBox="1">
            <a:spLocks noChangeArrowheads="1"/>
          </p:cNvSpPr>
          <p:nvPr/>
        </p:nvSpPr>
        <p:spPr bwMode="auto">
          <a:xfrm>
            <a:off x="6163474" y="5480774"/>
            <a:ext cx="3723476" cy="1323439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CC00CC"/>
                </a:solidFill>
                <a:latin typeface="宋体" pitchFamily="2" charset="-122"/>
              </a:rPr>
              <a:t>程序执行：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CC00CC"/>
                </a:solidFill>
              </a:rPr>
              <a:t>    </a:t>
            </a:r>
            <a:r>
              <a:rPr lang="en-US" altLang="zh-CN" sz="2000" dirty="0">
                <a:solidFill>
                  <a:srgbClr val="CC00CC"/>
                </a:solidFill>
              </a:rPr>
              <a:t>Enter two integers: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CC00CC"/>
                </a:solidFill>
              </a:rPr>
              <a:t>    </a:t>
            </a:r>
            <a:r>
              <a:rPr lang="en-US" altLang="zh-CN" sz="2000" u="sng" dirty="0">
                <a:solidFill>
                  <a:srgbClr val="CC00CC"/>
                </a:solidFill>
              </a:rPr>
              <a:t>10  6</a:t>
            </a:r>
            <a:r>
              <a:rPr lang="en-US" altLang="zh-CN" sz="2000" u="sng" dirty="0">
                <a:solidFill>
                  <a:srgbClr val="CC00CC"/>
                </a:solidFill>
                <a:latin typeface="宋体" pitchFamily="2" charset="-122"/>
              </a:rPr>
              <a:t>↙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CC00CC"/>
                </a:solidFill>
              </a:rPr>
              <a:t>    sum = 16</a:t>
            </a:r>
          </a:p>
        </p:txBody>
      </p:sp>
      <p:sp>
        <p:nvSpPr>
          <p:cNvPr id="158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1.2  </a:t>
            </a:r>
            <a:r>
              <a:rPr lang="en-US" altLang="zh-CN" dirty="0">
                <a:solidFill>
                  <a:srgbClr val="000000"/>
                </a:solidFill>
              </a:rPr>
              <a:t>C</a:t>
            </a:r>
            <a:r>
              <a:rPr lang="zh-CN" altLang="en-US" dirty="0">
                <a:solidFill>
                  <a:srgbClr val="000000"/>
                </a:solidFill>
              </a:rPr>
              <a:t>语言程序的基本结构</a:t>
            </a:r>
            <a:endParaRPr kumimoji="0" lang="zh-CN" altLang="en-US" sz="3600" b="1" i="0" u="none" strike="noStrike" kern="1200" cap="none" spc="20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j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45961680"/>
      </p:ext>
    </p:extLst>
  </p:cSld>
  <p:clrMapOvr>
    <a:masterClrMapping/>
  </p:clrMapOvr>
  <p:transition>
    <p:zoom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2"/>
          <p:cNvSpPr txBox="1">
            <a:spLocks noChangeArrowheads="1"/>
          </p:cNvSpPr>
          <p:nvPr/>
        </p:nvSpPr>
        <p:spPr bwMode="auto">
          <a:xfrm>
            <a:off x="431800" y="501655"/>
            <a:ext cx="11582400" cy="6660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#include &lt;</a:t>
            </a:r>
            <a:r>
              <a:rPr lang="en-US" altLang="zh-CN" sz="18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stdio.h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&gt;</a:t>
            </a:r>
          </a:p>
          <a:p>
            <a:pPr algn="just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double min (double x, double y) {     //</a:t>
            </a:r>
            <a:r>
              <a:rPr lang="zh-CN" altLang="en-US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定义函数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min</a:t>
            </a:r>
          </a:p>
          <a:p>
            <a:pPr algn="just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double minimum;</a:t>
            </a:r>
          </a:p>
          <a:p>
            <a:pPr algn="just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if (x&lt;y)  {                  //</a:t>
            </a:r>
            <a:r>
              <a:rPr lang="zh-CN" altLang="en-US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比较两个数，把其中小的数赋值给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minimum</a:t>
            </a:r>
          </a:p>
          <a:p>
            <a:pPr algn="just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minimum = x;</a:t>
            </a:r>
          </a:p>
          <a:p>
            <a:pPr algn="just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}</a:t>
            </a:r>
          </a:p>
          <a:p>
            <a:pPr algn="just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else {</a:t>
            </a:r>
          </a:p>
          <a:p>
            <a:pPr algn="just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minimum = y;</a:t>
            </a:r>
          </a:p>
          <a:p>
            <a:pPr algn="just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}</a:t>
            </a:r>
          </a:p>
          <a:p>
            <a:pPr algn="just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return minimum;</a:t>
            </a:r>
          </a:p>
          <a:p>
            <a:pPr algn="just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} </a:t>
            </a:r>
          </a:p>
          <a:p>
            <a:pPr algn="just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int main(void) {                  //</a:t>
            </a:r>
            <a:r>
              <a:rPr lang="zh-CN" altLang="en-US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主函数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main</a:t>
            </a:r>
          </a:p>
          <a:p>
            <a:pPr algn="just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double a, b, </a:t>
            </a:r>
            <a:r>
              <a:rPr lang="en-US" altLang="zh-CN" sz="18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minvalue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;</a:t>
            </a:r>
          </a:p>
          <a:p>
            <a:pPr algn="just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</a:t>
            </a:r>
            <a:r>
              <a:rPr lang="en-US" altLang="zh-CN" sz="18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printf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("Enter two real numbers: \n");</a:t>
            </a:r>
          </a:p>
          <a:p>
            <a:pPr algn="just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</a:t>
            </a:r>
            <a:r>
              <a:rPr lang="en-US" altLang="zh-CN" sz="18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scanf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("%</a:t>
            </a:r>
            <a:r>
              <a:rPr lang="en-US" altLang="zh-CN" sz="18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lf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%</a:t>
            </a:r>
            <a:r>
              <a:rPr lang="en-US" altLang="zh-CN" sz="18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lf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", &amp;a, &amp;b);     </a:t>
            </a:r>
          </a:p>
          <a:p>
            <a:pPr algn="just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　   </a:t>
            </a:r>
            <a:r>
              <a:rPr lang="en-US" altLang="zh-CN" sz="18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minvalue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= min(a, b);         //</a:t>
            </a:r>
            <a:r>
              <a:rPr lang="zh-CN" altLang="en-US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调用函数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min </a:t>
            </a:r>
          </a:p>
          <a:p>
            <a:pPr algn="just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</a:t>
            </a:r>
            <a:r>
              <a:rPr lang="en-US" altLang="zh-CN" sz="18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printf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("</a:t>
            </a:r>
            <a:r>
              <a:rPr lang="en-US" altLang="zh-CN" sz="18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minvalue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= %.2f\n", </a:t>
            </a:r>
            <a:r>
              <a:rPr lang="en-US" altLang="zh-CN" sz="18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minvalue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); //</a:t>
            </a:r>
            <a:r>
              <a:rPr lang="zh-CN" altLang="en-US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输出的最小数的小数点后有两位小数</a:t>
            </a:r>
          </a:p>
          <a:p>
            <a:pPr algn="just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return 0;</a:t>
            </a:r>
          </a:p>
          <a:p>
            <a:pPr algn="just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}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000" b="1" dirty="0">
              <a:solidFill>
                <a:srgbClr val="000000"/>
              </a:solidFill>
            </a:endParaRP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1604446" y="-55563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 b="0">
              <a:solidFill>
                <a:srgbClr val="FFFFFF"/>
              </a:solidFill>
            </a:endParaRP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-48684" y="101600"/>
            <a:ext cx="1127971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>
                <a:solidFill>
                  <a:srgbClr val="6600CC"/>
                </a:solidFill>
              </a:rPr>
              <a:t>【</a:t>
            </a:r>
            <a:r>
              <a:rPr lang="zh-CN" altLang="en-US" dirty="0">
                <a:solidFill>
                  <a:srgbClr val="6600CC"/>
                </a:solidFill>
              </a:rPr>
              <a:t>例</a:t>
            </a:r>
            <a:r>
              <a:rPr lang="en-US" altLang="zh-CN" dirty="0">
                <a:solidFill>
                  <a:srgbClr val="6600CC"/>
                </a:solidFill>
              </a:rPr>
              <a:t>1.2】</a:t>
            </a:r>
            <a:r>
              <a:rPr lang="zh-CN" altLang="en-US" dirty="0">
                <a:solidFill>
                  <a:srgbClr val="6600CC"/>
                </a:solidFill>
              </a:rPr>
              <a:t>输入两个实数，输出其中最小数。</a:t>
            </a:r>
          </a:p>
        </p:txBody>
      </p:sp>
      <p:sp>
        <p:nvSpPr>
          <p:cNvPr id="79880" name="Text Box 8"/>
          <p:cNvSpPr txBox="1">
            <a:spLocks noChangeArrowheads="1"/>
          </p:cNvSpPr>
          <p:nvPr/>
        </p:nvSpPr>
        <p:spPr bwMode="auto">
          <a:xfrm>
            <a:off x="8688917" y="1773238"/>
            <a:ext cx="350308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CC00CC"/>
                </a:solidFill>
              </a:rPr>
              <a:t>程序执行</a:t>
            </a:r>
            <a:r>
              <a:rPr lang="en-US" altLang="zh-CN" sz="2400" dirty="0">
                <a:solidFill>
                  <a:srgbClr val="CC00CC"/>
                </a:solidFill>
              </a:rPr>
              <a:t>: 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CC00CC"/>
                </a:solidFill>
              </a:rPr>
              <a:t>Enter two real numbers: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u="sng" dirty="0">
                <a:solidFill>
                  <a:srgbClr val="CC00CC"/>
                </a:solidFill>
              </a:rPr>
              <a:t>2  -5.1↙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 err="1">
                <a:solidFill>
                  <a:srgbClr val="CC00CC"/>
                </a:solidFill>
              </a:rPr>
              <a:t>minvalue</a:t>
            </a:r>
            <a:r>
              <a:rPr lang="en-US" altLang="zh-CN" sz="2400" dirty="0">
                <a:solidFill>
                  <a:srgbClr val="CC00CC"/>
                </a:solidFill>
              </a:rPr>
              <a:t> = -5.10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400" dirty="0">
              <a:solidFill>
                <a:srgbClr val="CC00CC"/>
              </a:solidFill>
            </a:endParaRPr>
          </a:p>
        </p:txBody>
      </p:sp>
      <p:sp>
        <p:nvSpPr>
          <p:cNvPr id="79881" name="Rectangle 9"/>
          <p:cNvSpPr>
            <a:spLocks noChangeArrowheads="1"/>
          </p:cNvSpPr>
          <p:nvPr/>
        </p:nvSpPr>
        <p:spPr bwMode="auto">
          <a:xfrm>
            <a:off x="334437" y="908069"/>
            <a:ext cx="7952314" cy="3197206"/>
          </a:xfrm>
          <a:prstGeom prst="rect">
            <a:avLst/>
          </a:prstGeom>
          <a:noFill/>
          <a:ln w="3175" cap="sq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 b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2652218"/>
      </p:ext>
    </p:extLst>
  </p:cSld>
  <p:clrMapOvr>
    <a:masterClrMapping/>
  </p:clrMapOvr>
  <p:transition>
    <p:zoom dir="in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818684" y="288925"/>
            <a:ext cx="11170112" cy="4724400"/>
            <a:chOff x="1890" y="5250"/>
            <a:chExt cx="7052" cy="3080"/>
          </a:xfrm>
        </p:grpSpPr>
        <p:grpSp>
          <p:nvGrpSpPr>
            <p:cNvPr id="9222" name="Group 3"/>
            <p:cNvGrpSpPr>
              <a:grpSpLocks/>
            </p:cNvGrpSpPr>
            <p:nvPr/>
          </p:nvGrpSpPr>
          <p:grpSpPr bwMode="auto">
            <a:xfrm>
              <a:off x="3942" y="5558"/>
              <a:ext cx="2071" cy="1688"/>
              <a:chOff x="1118" y="9527"/>
              <a:chExt cx="2071" cy="1688"/>
            </a:xfrm>
          </p:grpSpPr>
          <p:grpSp>
            <p:nvGrpSpPr>
              <p:cNvPr id="9250" name="Group 4"/>
              <p:cNvGrpSpPr>
                <a:grpSpLocks/>
              </p:cNvGrpSpPr>
              <p:nvPr/>
            </p:nvGrpSpPr>
            <p:grpSpPr bwMode="auto">
              <a:xfrm>
                <a:off x="1118" y="9527"/>
                <a:ext cx="2071" cy="1230"/>
                <a:chOff x="1118" y="9527"/>
                <a:chExt cx="2071" cy="1230"/>
              </a:xfrm>
            </p:grpSpPr>
            <p:sp>
              <p:nvSpPr>
                <p:cNvPr id="9255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1118" y="10461"/>
                  <a:ext cx="609" cy="296"/>
                </a:xfrm>
                <a:prstGeom prst="rect">
                  <a:avLst/>
                </a:prstGeom>
                <a:noFill/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8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Times New Roman" pitchFamily="18" charset="0"/>
                    <a:buChar char="»"/>
                    <a:defRPr kumimoji="1" sz="24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75000"/>
                    <a:buFont typeface="Wingdings" pitchFamily="2" charset="2"/>
                    <a:buChar char="n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just"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2200" b="0">
                      <a:solidFill>
                        <a:srgbClr val="000000"/>
                      </a:solidFill>
                    </a:rPr>
                    <a:t>语句</a:t>
                  </a:r>
                  <a:r>
                    <a:rPr kumimoji="0" lang="en-US" altLang="zh-CN" sz="2200" b="0">
                      <a:solidFill>
                        <a:srgbClr val="000000"/>
                      </a:solidFill>
                    </a:rPr>
                    <a:t>1</a:t>
                  </a:r>
                </a:p>
              </p:txBody>
            </p:sp>
            <p:sp>
              <p:nvSpPr>
                <p:cNvPr id="9256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2580" y="10461"/>
                  <a:ext cx="609" cy="296"/>
                </a:xfrm>
                <a:prstGeom prst="rect">
                  <a:avLst/>
                </a:prstGeom>
                <a:noFill/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8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Times New Roman" pitchFamily="18" charset="0"/>
                    <a:buChar char="»"/>
                    <a:defRPr kumimoji="1" sz="24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75000"/>
                    <a:buFont typeface="Wingdings" pitchFamily="2" charset="2"/>
                    <a:buChar char="n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just"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2200" b="0">
                      <a:solidFill>
                        <a:srgbClr val="000000"/>
                      </a:solidFill>
                    </a:rPr>
                    <a:t>语句</a:t>
                  </a:r>
                  <a:r>
                    <a:rPr kumimoji="0" lang="en-US" altLang="zh-CN" sz="2200" b="0">
                      <a:solidFill>
                        <a:srgbClr val="000000"/>
                      </a:solidFill>
                    </a:rPr>
                    <a:t>2</a:t>
                  </a:r>
                </a:p>
              </p:txBody>
            </p:sp>
            <p:sp>
              <p:nvSpPr>
                <p:cNvPr id="9257" name="Line 7"/>
                <p:cNvSpPr>
                  <a:spLocks noChangeShapeType="1"/>
                </p:cNvSpPr>
                <p:nvPr/>
              </p:nvSpPr>
              <p:spPr bwMode="auto">
                <a:xfrm>
                  <a:off x="1427" y="10024"/>
                  <a:ext cx="0" cy="444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US" sz="24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58" name="Line 8"/>
                <p:cNvSpPr>
                  <a:spLocks noChangeShapeType="1"/>
                </p:cNvSpPr>
                <p:nvPr/>
              </p:nvSpPr>
              <p:spPr bwMode="auto">
                <a:xfrm>
                  <a:off x="2848" y="10024"/>
                  <a:ext cx="0" cy="444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US" sz="2400">
                    <a:solidFill>
                      <a:srgbClr val="FFFFFF"/>
                    </a:solidFill>
                  </a:endParaRPr>
                </a:p>
              </p:txBody>
            </p:sp>
            <p:grpSp>
              <p:nvGrpSpPr>
                <p:cNvPr id="9259" name="Group 9"/>
                <p:cNvGrpSpPr>
                  <a:grpSpLocks/>
                </p:cNvGrpSpPr>
                <p:nvPr/>
              </p:nvGrpSpPr>
              <p:grpSpPr bwMode="auto">
                <a:xfrm>
                  <a:off x="1427" y="9527"/>
                  <a:ext cx="1438" cy="720"/>
                  <a:chOff x="1427" y="9527"/>
                  <a:chExt cx="1438" cy="720"/>
                </a:xfrm>
              </p:grpSpPr>
              <p:grpSp>
                <p:nvGrpSpPr>
                  <p:cNvPr id="9261" name="Group 10"/>
                  <p:cNvGrpSpPr>
                    <a:grpSpLocks/>
                  </p:cNvGrpSpPr>
                  <p:nvPr/>
                </p:nvGrpSpPr>
                <p:grpSpPr bwMode="auto">
                  <a:xfrm>
                    <a:off x="1427" y="9803"/>
                    <a:ext cx="1438" cy="444"/>
                    <a:chOff x="1427" y="9803"/>
                    <a:chExt cx="1438" cy="444"/>
                  </a:xfrm>
                </p:grpSpPr>
                <p:sp>
                  <p:nvSpPr>
                    <p:cNvPr id="9263" name="AutoShape 1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636" y="9803"/>
                      <a:ext cx="1015" cy="444"/>
                    </a:xfrm>
                    <a:prstGeom prst="flowChartDecision">
                      <a:avLst/>
                    </a:prstGeom>
                    <a:noFill/>
                    <a:ln w="9525">
                      <a:solidFill>
                        <a:schemeClr val="bg2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lIns="0" tIns="0" rIns="0" bIns="0"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Char char="n"/>
                        <a:defRPr kumimoji="1"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Times New Roman" pitchFamily="18" charset="0"/>
                        <a:buChar char="»"/>
                        <a:defRPr kumimoji="1" sz="24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75000"/>
                        <a:buFont typeface="Wingdings" pitchFamily="2" charset="2"/>
                        <a:buChar char="n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eaLnBrk="1" fontAlgn="base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en-US" sz="2400" b="0">
                        <a:solidFill>
                          <a:srgbClr val="FFFFFF"/>
                        </a:solidFill>
                      </a:endParaRPr>
                    </a:p>
                  </p:txBody>
                </p:sp>
                <p:sp>
                  <p:nvSpPr>
                    <p:cNvPr id="9264" name="Text Box 1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873" y="9878"/>
                      <a:ext cx="812" cy="29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bg2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Char char="n"/>
                        <a:defRPr kumimoji="1"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Times New Roman" pitchFamily="18" charset="0"/>
                        <a:buChar char="»"/>
                        <a:defRPr kumimoji="1" sz="24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75000"/>
                        <a:buFont typeface="Wingdings" pitchFamily="2" charset="2"/>
                        <a:buChar char="n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>
                          <a:solidFill>
                            <a:srgbClr val="000000"/>
                          </a:solidFill>
                        </a:rPr>
                        <a:t>条件？</a:t>
                      </a:r>
                    </a:p>
                  </p:txBody>
                </p:sp>
                <p:sp>
                  <p:nvSpPr>
                    <p:cNvPr id="9265" name="Line 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62" y="10020"/>
                      <a:ext cx="203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0" tIns="0" rIns="0" bIns="0"/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2400">
                        <a:solidFill>
                          <a:srgbClr val="FFFFFF"/>
                        </a:solidFill>
                      </a:endParaRPr>
                    </a:p>
                  </p:txBody>
                </p:sp>
                <p:sp>
                  <p:nvSpPr>
                    <p:cNvPr id="9266" name="Line 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27" y="10024"/>
                      <a:ext cx="203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0" tIns="0" rIns="0" bIns="0"/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sz="2400">
                        <a:solidFill>
                          <a:srgbClr val="FFFFFF"/>
                        </a:solidFill>
                      </a:endParaRPr>
                    </a:p>
                  </p:txBody>
                </p:sp>
              </p:grpSp>
              <p:sp>
                <p:nvSpPr>
                  <p:cNvPr id="9262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2145" y="9527"/>
                    <a:ext cx="0" cy="296"/>
                  </a:xfrm>
                  <a:prstGeom prst="line">
                    <a:avLst/>
                  </a:prstGeom>
                  <a:noFill/>
                  <a:ln w="9525">
                    <a:solidFill>
                      <a:schemeClr val="bg2"/>
                    </a:solidFill>
                    <a:round/>
                    <a:headEnd/>
                    <a:tailEnd type="triangle" w="sm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0" tIns="0" rIns="0" bIns="0"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en-US" sz="2400">
                      <a:solidFill>
                        <a:srgbClr val="FFFFFF"/>
                      </a:solidFill>
                    </a:endParaRPr>
                  </a:p>
                </p:txBody>
              </p:sp>
            </p:grpSp>
            <p:sp>
              <p:nvSpPr>
                <p:cNvPr id="9260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1427" y="9728"/>
                  <a:ext cx="1624" cy="2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bg2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8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Times New Roman" pitchFamily="18" charset="0"/>
                    <a:buChar char="»"/>
                    <a:defRPr kumimoji="1" sz="24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75000"/>
                    <a:buFont typeface="Wingdings" pitchFamily="2" charset="2"/>
                    <a:buChar char="n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just"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en-US" altLang="zh-CN" sz="2400" b="0">
                      <a:solidFill>
                        <a:srgbClr val="000000"/>
                      </a:solidFill>
                    </a:rPr>
                    <a:t>   y               n</a:t>
                  </a:r>
                </a:p>
              </p:txBody>
            </p:sp>
          </p:grpSp>
          <p:sp>
            <p:nvSpPr>
              <p:cNvPr id="9251" name="Line 17"/>
              <p:cNvSpPr>
                <a:spLocks noChangeShapeType="1"/>
              </p:cNvSpPr>
              <p:nvPr/>
            </p:nvSpPr>
            <p:spPr bwMode="auto">
              <a:xfrm>
                <a:off x="1427" y="10764"/>
                <a:ext cx="0" cy="14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9252" name="Line 18"/>
              <p:cNvSpPr>
                <a:spLocks noChangeShapeType="1"/>
              </p:cNvSpPr>
              <p:nvPr/>
            </p:nvSpPr>
            <p:spPr bwMode="auto">
              <a:xfrm>
                <a:off x="2848" y="10764"/>
                <a:ext cx="0" cy="148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9253" name="Line 19"/>
              <p:cNvSpPr>
                <a:spLocks noChangeShapeType="1"/>
              </p:cNvSpPr>
              <p:nvPr/>
            </p:nvSpPr>
            <p:spPr bwMode="auto">
              <a:xfrm>
                <a:off x="1427" y="10912"/>
                <a:ext cx="1421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9254" name="Line 20"/>
              <p:cNvSpPr>
                <a:spLocks noChangeShapeType="1"/>
              </p:cNvSpPr>
              <p:nvPr/>
            </p:nvSpPr>
            <p:spPr bwMode="auto">
              <a:xfrm>
                <a:off x="2134" y="10919"/>
                <a:ext cx="0" cy="29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24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9223" name="Text Box 21"/>
            <p:cNvSpPr txBox="1">
              <a:spLocks noChangeArrowheads="1"/>
            </p:cNvSpPr>
            <p:nvPr/>
          </p:nvSpPr>
          <p:spPr bwMode="auto">
            <a:xfrm>
              <a:off x="1890" y="7934"/>
              <a:ext cx="6608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kumimoji="1" sz="32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3333FF"/>
                </a:buClr>
                <a:buFont typeface="Times New Roman" pitchFamily="18" charset="0"/>
                <a:buChar char="–"/>
                <a:defRPr kumimoji="1" sz="28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bg2"/>
                </a:buClr>
                <a:buFont typeface="Times New Roman" pitchFamily="18" charset="0"/>
                <a:buChar char="»"/>
                <a:defRPr kumimoji="1" sz="24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CC00CC"/>
                </a:buClr>
                <a:buSzPct val="75000"/>
                <a:buFont typeface="Wingdings" pitchFamily="2" charset="2"/>
                <a:buChar char="n"/>
                <a:defRPr kumimoji="1" sz="20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3333FF"/>
                </a:buClr>
                <a:buFont typeface="Times New Roman" pitchFamily="18" charset="0"/>
                <a:buChar char="–"/>
                <a:defRPr kumimoji="1" sz="20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Times New Roman" pitchFamily="18" charset="0"/>
                <a:buChar char="–"/>
                <a:defRPr kumimoji="1" sz="20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Times New Roman" pitchFamily="18" charset="0"/>
                <a:buChar char="–"/>
                <a:defRPr kumimoji="1" sz="20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Times New Roman" pitchFamily="18" charset="0"/>
                <a:buChar char="–"/>
                <a:defRPr kumimoji="1" sz="20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Times New Roman" pitchFamily="18" charset="0"/>
                <a:buChar char="–"/>
                <a:defRPr kumimoji="1" sz="20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just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2400" dirty="0">
                  <a:solidFill>
                    <a:srgbClr val="3333FF"/>
                  </a:solidFill>
                </a:rPr>
                <a:t>    顺序</a:t>
              </a:r>
              <a:r>
                <a:rPr kumimoji="0" lang="zh-CN" altLang="en-US" sz="2400" dirty="0">
                  <a:solidFill>
                    <a:srgbClr val="3333FF"/>
                  </a:solidFill>
                  <a:ea typeface="黑体" pitchFamily="49" charset="-122"/>
                </a:rPr>
                <a:t>结构   　　　　　           分支结构         　　                            循环结构</a:t>
              </a:r>
            </a:p>
            <a:p>
              <a:pPr algn="just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dirty="0">
                <a:solidFill>
                  <a:srgbClr val="000000"/>
                </a:solidFill>
                <a:ea typeface="黑体" pitchFamily="49" charset="-122"/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2400" dirty="0">
                  <a:solidFill>
                    <a:srgbClr val="6600CC"/>
                  </a:solidFill>
                  <a:ea typeface="黑体" pitchFamily="49" charset="-122"/>
                </a:rPr>
                <a:t>三种基本结构的流程图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2400" dirty="0">
                  <a:solidFill>
                    <a:srgbClr val="000000"/>
                  </a:solidFill>
                  <a:ea typeface="黑体" pitchFamily="49" charset="-122"/>
                </a:rPr>
                <a:t>语句组、条件判断 </a:t>
              </a:r>
              <a:r>
                <a:rPr kumimoji="0" lang="en-US" altLang="zh-CN" sz="2400" dirty="0">
                  <a:solidFill>
                    <a:srgbClr val="000000"/>
                  </a:solidFill>
                  <a:ea typeface="黑体" pitchFamily="49" charset="-122"/>
                </a:rPr>
                <a:t>if-else</a:t>
              </a:r>
              <a:r>
                <a:rPr kumimoji="0" lang="zh-CN" altLang="en-US" sz="2400" dirty="0">
                  <a:solidFill>
                    <a:srgbClr val="000000"/>
                  </a:solidFill>
                  <a:ea typeface="黑体" pitchFamily="49" charset="-122"/>
                </a:rPr>
                <a:t>、多路选择 </a:t>
              </a:r>
              <a:r>
                <a:rPr kumimoji="0" lang="en-US" altLang="zh-CN" sz="2400" dirty="0">
                  <a:solidFill>
                    <a:srgbClr val="000000"/>
                  </a:solidFill>
                  <a:ea typeface="黑体" pitchFamily="49" charset="-122"/>
                </a:rPr>
                <a:t>switch</a:t>
              </a:r>
              <a:r>
                <a:rPr kumimoji="0" lang="zh-CN" altLang="en-US" sz="2400" dirty="0">
                  <a:solidFill>
                    <a:srgbClr val="000000"/>
                  </a:solidFill>
                  <a:ea typeface="黑体" pitchFamily="49" charset="-122"/>
                </a:rPr>
                <a:t>、循环</a:t>
              </a:r>
              <a:r>
                <a:rPr kumimoji="0" lang="en-US" altLang="zh-CN" sz="2400" dirty="0">
                  <a:solidFill>
                    <a:srgbClr val="000000"/>
                  </a:solidFill>
                  <a:ea typeface="黑体" pitchFamily="49" charset="-122"/>
                </a:rPr>
                <a:t>while/for/do</a:t>
              </a:r>
              <a:r>
                <a:rPr kumimoji="0" lang="zh-CN" altLang="en-US" sz="2400" dirty="0">
                  <a:solidFill>
                    <a:srgbClr val="000000"/>
                  </a:solidFill>
                  <a:ea typeface="黑体" pitchFamily="49" charset="-122"/>
                </a:rPr>
                <a:t>、提前跳出循环 </a:t>
              </a:r>
              <a:r>
                <a:rPr kumimoji="0" lang="en-US" altLang="zh-CN" sz="2400" dirty="0">
                  <a:solidFill>
                    <a:srgbClr val="000000"/>
                  </a:solidFill>
                  <a:ea typeface="黑体" pitchFamily="49" charset="-122"/>
                </a:rPr>
                <a:t>break…</a:t>
              </a:r>
            </a:p>
          </p:txBody>
        </p:sp>
        <p:grpSp>
          <p:nvGrpSpPr>
            <p:cNvPr id="9224" name="Group 22"/>
            <p:cNvGrpSpPr>
              <a:grpSpLocks/>
            </p:cNvGrpSpPr>
            <p:nvPr/>
          </p:nvGrpSpPr>
          <p:grpSpPr bwMode="auto">
            <a:xfrm>
              <a:off x="1900" y="5502"/>
              <a:ext cx="1218" cy="2072"/>
              <a:chOff x="5284" y="8544"/>
              <a:chExt cx="1218" cy="2072"/>
            </a:xfrm>
          </p:grpSpPr>
          <p:sp>
            <p:nvSpPr>
              <p:cNvPr id="9243" name="Text Box 23"/>
              <p:cNvSpPr txBox="1">
                <a:spLocks noChangeArrowheads="1"/>
              </p:cNvSpPr>
              <p:nvPr/>
            </p:nvSpPr>
            <p:spPr bwMode="auto">
              <a:xfrm>
                <a:off x="5284" y="8840"/>
                <a:ext cx="1218" cy="296"/>
              </a:xfrm>
              <a:prstGeom prst="rect">
                <a:avLst/>
              </a:prstGeom>
              <a:noFill/>
              <a:ln w="9525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3333FF"/>
                  </a:buClr>
                  <a:buFont typeface="Times New Roman" pitchFamily="18" charset="0"/>
                  <a:buChar char="–"/>
                  <a:defRPr kumimoji="1" sz="28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bg2"/>
                  </a:buClr>
                  <a:buFont typeface="Times New Roman" pitchFamily="18" charset="0"/>
                  <a:buChar char="»"/>
                  <a:defRPr kumimoji="1" sz="24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CC00CC"/>
                  </a:buClr>
                  <a:buSzPct val="75000"/>
                  <a:buFont typeface="Wingdings" pitchFamily="2" charset="2"/>
                  <a:buChar char="n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2400" b="0">
                    <a:solidFill>
                      <a:srgbClr val="000000"/>
                    </a:solidFill>
                  </a:rPr>
                  <a:t>语句</a:t>
                </a:r>
                <a:r>
                  <a:rPr kumimoji="0" lang="en-US" altLang="zh-CN" sz="2400" b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9244" name="Text Box 24"/>
              <p:cNvSpPr txBox="1">
                <a:spLocks noChangeArrowheads="1"/>
              </p:cNvSpPr>
              <p:nvPr/>
            </p:nvSpPr>
            <p:spPr bwMode="auto">
              <a:xfrm>
                <a:off x="5284" y="10024"/>
                <a:ext cx="1218" cy="296"/>
              </a:xfrm>
              <a:prstGeom prst="rect">
                <a:avLst/>
              </a:prstGeom>
              <a:noFill/>
              <a:ln w="9525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3333FF"/>
                  </a:buClr>
                  <a:buFont typeface="Times New Roman" pitchFamily="18" charset="0"/>
                  <a:buChar char="–"/>
                  <a:defRPr kumimoji="1" sz="28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bg2"/>
                  </a:buClr>
                  <a:buFont typeface="Times New Roman" pitchFamily="18" charset="0"/>
                  <a:buChar char="»"/>
                  <a:defRPr kumimoji="1" sz="24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CC00CC"/>
                  </a:buClr>
                  <a:buSzPct val="75000"/>
                  <a:buFont typeface="Wingdings" pitchFamily="2" charset="2"/>
                  <a:buChar char="n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2400" b="0">
                    <a:solidFill>
                      <a:srgbClr val="000000"/>
                    </a:solidFill>
                  </a:rPr>
                  <a:t>语句</a:t>
                </a:r>
                <a:r>
                  <a:rPr kumimoji="0" lang="en-US" altLang="zh-CN" sz="2400" b="0">
                    <a:solidFill>
                      <a:srgbClr val="000000"/>
                    </a:solidFill>
                  </a:rPr>
                  <a:t>n</a:t>
                </a:r>
              </a:p>
            </p:txBody>
          </p:sp>
          <p:sp>
            <p:nvSpPr>
              <p:cNvPr id="9245" name="Text Box 25"/>
              <p:cNvSpPr txBox="1">
                <a:spLocks noChangeArrowheads="1"/>
              </p:cNvSpPr>
              <p:nvPr/>
            </p:nvSpPr>
            <p:spPr bwMode="auto">
              <a:xfrm>
                <a:off x="5284" y="9432"/>
                <a:ext cx="1218" cy="296"/>
              </a:xfrm>
              <a:prstGeom prst="rect">
                <a:avLst/>
              </a:prstGeom>
              <a:noFill/>
              <a:ln w="9525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3333FF"/>
                  </a:buClr>
                  <a:buFont typeface="Times New Roman" pitchFamily="18" charset="0"/>
                  <a:buChar char="–"/>
                  <a:defRPr kumimoji="1" sz="28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bg2"/>
                  </a:buClr>
                  <a:buFont typeface="Times New Roman" pitchFamily="18" charset="0"/>
                  <a:buChar char="»"/>
                  <a:defRPr kumimoji="1" sz="24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CC00CC"/>
                  </a:buClr>
                  <a:buSzPct val="75000"/>
                  <a:buFont typeface="Wingdings" pitchFamily="2" charset="2"/>
                  <a:buChar char="n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400" b="0">
                    <a:solidFill>
                      <a:srgbClr val="000000"/>
                    </a:solidFill>
                  </a:rPr>
                  <a:t>┇</a:t>
                </a:r>
              </a:p>
            </p:txBody>
          </p:sp>
          <p:sp>
            <p:nvSpPr>
              <p:cNvPr id="9246" name="Line 26"/>
              <p:cNvSpPr>
                <a:spLocks noChangeShapeType="1"/>
              </p:cNvSpPr>
              <p:nvPr/>
            </p:nvSpPr>
            <p:spPr bwMode="auto">
              <a:xfrm>
                <a:off x="5893" y="8544"/>
                <a:ext cx="0" cy="29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9247" name="Line 27"/>
              <p:cNvSpPr>
                <a:spLocks noChangeShapeType="1"/>
              </p:cNvSpPr>
              <p:nvPr/>
            </p:nvSpPr>
            <p:spPr bwMode="auto">
              <a:xfrm>
                <a:off x="5893" y="9136"/>
                <a:ext cx="0" cy="29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9248" name="Line 28"/>
              <p:cNvSpPr>
                <a:spLocks noChangeShapeType="1"/>
              </p:cNvSpPr>
              <p:nvPr/>
            </p:nvSpPr>
            <p:spPr bwMode="auto">
              <a:xfrm>
                <a:off x="5893" y="9728"/>
                <a:ext cx="0" cy="29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9249" name="Line 29"/>
              <p:cNvSpPr>
                <a:spLocks noChangeShapeType="1"/>
              </p:cNvSpPr>
              <p:nvPr/>
            </p:nvSpPr>
            <p:spPr bwMode="auto">
              <a:xfrm>
                <a:off x="5893" y="10320"/>
                <a:ext cx="0" cy="29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9225" name="Group 30"/>
            <p:cNvGrpSpPr>
              <a:grpSpLocks/>
            </p:cNvGrpSpPr>
            <p:nvPr/>
          </p:nvGrpSpPr>
          <p:grpSpPr bwMode="auto">
            <a:xfrm>
              <a:off x="6750" y="5250"/>
              <a:ext cx="2192" cy="2251"/>
              <a:chOff x="1953" y="10650"/>
              <a:chExt cx="2192" cy="2251"/>
            </a:xfrm>
          </p:grpSpPr>
          <p:sp>
            <p:nvSpPr>
              <p:cNvPr id="9226" name="Line 31"/>
              <p:cNvSpPr>
                <a:spLocks noChangeShapeType="1"/>
              </p:cNvSpPr>
              <p:nvPr/>
            </p:nvSpPr>
            <p:spPr bwMode="auto">
              <a:xfrm flipH="1">
                <a:off x="1953" y="12896"/>
                <a:ext cx="1015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9227" name="Text Box 32"/>
              <p:cNvSpPr txBox="1">
                <a:spLocks noChangeArrowheads="1"/>
              </p:cNvSpPr>
              <p:nvPr/>
            </p:nvSpPr>
            <p:spPr bwMode="auto">
              <a:xfrm>
                <a:off x="2390" y="12302"/>
                <a:ext cx="1218" cy="296"/>
              </a:xfrm>
              <a:prstGeom prst="rect">
                <a:avLst/>
              </a:prstGeom>
              <a:noFill/>
              <a:ln w="9525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3333FF"/>
                  </a:buClr>
                  <a:buFont typeface="Times New Roman" pitchFamily="18" charset="0"/>
                  <a:buChar char="–"/>
                  <a:defRPr kumimoji="1" sz="28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bg2"/>
                  </a:buClr>
                  <a:buFont typeface="Times New Roman" pitchFamily="18" charset="0"/>
                  <a:buChar char="»"/>
                  <a:defRPr kumimoji="1" sz="24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CC00CC"/>
                  </a:buClr>
                  <a:buSzPct val="75000"/>
                  <a:buFont typeface="Wingdings" pitchFamily="2" charset="2"/>
                  <a:buChar char="n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2400" b="0">
                    <a:solidFill>
                      <a:srgbClr val="000000"/>
                    </a:solidFill>
                  </a:rPr>
                  <a:t>语句序列</a:t>
                </a:r>
              </a:p>
            </p:txBody>
          </p:sp>
          <p:sp>
            <p:nvSpPr>
              <p:cNvPr id="9228" name="Text Box 33"/>
              <p:cNvSpPr txBox="1">
                <a:spLocks noChangeArrowheads="1"/>
              </p:cNvSpPr>
              <p:nvPr/>
            </p:nvSpPr>
            <p:spPr bwMode="auto">
              <a:xfrm>
                <a:off x="2435" y="10946"/>
                <a:ext cx="1134" cy="328"/>
              </a:xfrm>
              <a:prstGeom prst="rect">
                <a:avLst/>
              </a:prstGeom>
              <a:noFill/>
              <a:ln w="9525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3333FF"/>
                  </a:buClr>
                  <a:buFont typeface="Times New Roman" pitchFamily="18" charset="0"/>
                  <a:buChar char="–"/>
                  <a:defRPr kumimoji="1" sz="28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bg2"/>
                  </a:buClr>
                  <a:buFont typeface="Times New Roman" pitchFamily="18" charset="0"/>
                  <a:buChar char="»"/>
                  <a:defRPr kumimoji="1" sz="24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CC00CC"/>
                  </a:buClr>
                  <a:buSzPct val="75000"/>
                  <a:buFont typeface="Wingdings" pitchFamily="2" charset="2"/>
                  <a:buChar char="n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2400" b="0">
                    <a:solidFill>
                      <a:srgbClr val="000000"/>
                    </a:solidFill>
                  </a:rPr>
                  <a:t>初始化</a:t>
                </a:r>
              </a:p>
            </p:txBody>
          </p:sp>
          <p:grpSp>
            <p:nvGrpSpPr>
              <p:cNvPr id="9229" name="Group 34"/>
              <p:cNvGrpSpPr>
                <a:grpSpLocks/>
              </p:cNvGrpSpPr>
              <p:nvPr/>
            </p:nvGrpSpPr>
            <p:grpSpPr bwMode="auto">
              <a:xfrm>
                <a:off x="2070" y="11682"/>
                <a:ext cx="1827" cy="350"/>
                <a:chOff x="2433" y="4400"/>
                <a:chExt cx="1827" cy="350"/>
              </a:xfrm>
            </p:grpSpPr>
            <p:sp>
              <p:nvSpPr>
                <p:cNvPr id="9241" name="AutoShape 35"/>
                <p:cNvSpPr>
                  <a:spLocks noChangeArrowheads="1"/>
                </p:cNvSpPr>
                <p:nvPr/>
              </p:nvSpPr>
              <p:spPr bwMode="auto">
                <a:xfrm>
                  <a:off x="2433" y="4400"/>
                  <a:ext cx="1827" cy="296"/>
                </a:xfrm>
                <a:prstGeom prst="flowChartDecision">
                  <a:avLst/>
                </a:prstGeom>
                <a:noFill/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8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Times New Roman" pitchFamily="18" charset="0"/>
                    <a:buChar char="»"/>
                    <a:defRPr kumimoji="1" sz="24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75000"/>
                    <a:buFont typeface="Wingdings" pitchFamily="2" charset="2"/>
                    <a:buChar char="n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fontAlgn="base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2400" b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42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2887" y="4454"/>
                  <a:ext cx="1218" cy="2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bg2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8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Times New Roman" pitchFamily="18" charset="0"/>
                    <a:buChar char="»"/>
                    <a:defRPr kumimoji="1" sz="24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75000"/>
                    <a:buFont typeface="Wingdings" pitchFamily="2" charset="2"/>
                    <a:buChar char="n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just" fontAlgn="base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dirty="0">
                      <a:solidFill>
                        <a:srgbClr val="000000"/>
                      </a:solidFill>
                    </a:rPr>
                    <a:t>循环控制条件</a:t>
                  </a:r>
                </a:p>
              </p:txBody>
            </p:sp>
          </p:grpSp>
          <p:sp>
            <p:nvSpPr>
              <p:cNvPr id="9230" name="Line 37"/>
              <p:cNvSpPr>
                <a:spLocks noChangeShapeType="1"/>
              </p:cNvSpPr>
              <p:nvPr/>
            </p:nvSpPr>
            <p:spPr bwMode="auto">
              <a:xfrm>
                <a:off x="3004" y="11261"/>
                <a:ext cx="0" cy="4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9231" name="Line 38"/>
              <p:cNvSpPr>
                <a:spLocks noChangeShapeType="1"/>
              </p:cNvSpPr>
              <p:nvPr/>
            </p:nvSpPr>
            <p:spPr bwMode="auto">
              <a:xfrm>
                <a:off x="2994" y="11986"/>
                <a:ext cx="0" cy="29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9232" name="Line 39"/>
              <p:cNvSpPr>
                <a:spLocks noChangeShapeType="1"/>
              </p:cNvSpPr>
              <p:nvPr/>
            </p:nvSpPr>
            <p:spPr bwMode="auto">
              <a:xfrm>
                <a:off x="2981" y="12600"/>
                <a:ext cx="0" cy="29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9233" name="Line 40"/>
              <p:cNvSpPr>
                <a:spLocks noChangeShapeType="1"/>
              </p:cNvSpPr>
              <p:nvPr/>
            </p:nvSpPr>
            <p:spPr bwMode="auto">
              <a:xfrm flipV="1">
                <a:off x="1954" y="11421"/>
                <a:ext cx="0" cy="148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9234" name="Line 41"/>
              <p:cNvSpPr>
                <a:spLocks noChangeShapeType="1"/>
              </p:cNvSpPr>
              <p:nvPr/>
            </p:nvSpPr>
            <p:spPr bwMode="auto">
              <a:xfrm>
                <a:off x="1954" y="11436"/>
                <a:ext cx="1015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9235" name="Text Box 42"/>
              <p:cNvSpPr txBox="1">
                <a:spLocks noChangeArrowheads="1"/>
              </p:cNvSpPr>
              <p:nvPr/>
            </p:nvSpPr>
            <p:spPr bwMode="auto">
              <a:xfrm>
                <a:off x="3942" y="115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bg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3333FF"/>
                  </a:buClr>
                  <a:buFont typeface="Times New Roman" pitchFamily="18" charset="0"/>
                  <a:buChar char="–"/>
                  <a:defRPr kumimoji="1" sz="28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bg2"/>
                  </a:buClr>
                  <a:buFont typeface="Times New Roman" pitchFamily="18" charset="0"/>
                  <a:buChar char="»"/>
                  <a:defRPr kumimoji="1" sz="24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CC00CC"/>
                  </a:buClr>
                  <a:buSzPct val="75000"/>
                  <a:buFont typeface="Wingdings" pitchFamily="2" charset="2"/>
                  <a:buChar char="n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400" b="0">
                    <a:solidFill>
                      <a:srgbClr val="000000"/>
                    </a:solidFill>
                  </a:rPr>
                  <a:t>n</a:t>
                </a:r>
              </a:p>
            </p:txBody>
          </p:sp>
          <p:sp>
            <p:nvSpPr>
              <p:cNvPr id="9236" name="Text Box 43"/>
              <p:cNvSpPr txBox="1">
                <a:spLocks noChangeArrowheads="1"/>
              </p:cNvSpPr>
              <p:nvPr/>
            </p:nvSpPr>
            <p:spPr bwMode="auto">
              <a:xfrm>
                <a:off x="3115" y="1193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bg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kumimoji="1" sz="32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rgbClr val="3333FF"/>
                  </a:buClr>
                  <a:buFont typeface="Times New Roman" pitchFamily="18" charset="0"/>
                  <a:buChar char="–"/>
                  <a:defRPr kumimoji="1" sz="28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bg2"/>
                  </a:buClr>
                  <a:buFont typeface="Times New Roman" pitchFamily="18" charset="0"/>
                  <a:buChar char="»"/>
                  <a:defRPr kumimoji="1" sz="24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CC00CC"/>
                  </a:buClr>
                  <a:buSzPct val="75000"/>
                  <a:buFont typeface="Wingdings" pitchFamily="2" charset="2"/>
                  <a:buChar char="n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Times New Roman" pitchFamily="18" charset="0"/>
                  <a:buChar char="–"/>
                  <a:defRPr kumimoji="1" sz="2000" b="1">
                    <a:solidFill>
                      <a:schemeClr val="bg2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just" fontAlgn="base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400" b="0">
                    <a:solidFill>
                      <a:srgbClr val="000000"/>
                    </a:solidFill>
                  </a:rPr>
                  <a:t>y</a:t>
                </a:r>
              </a:p>
            </p:txBody>
          </p:sp>
          <p:sp>
            <p:nvSpPr>
              <p:cNvPr id="9237" name="Line 44"/>
              <p:cNvSpPr>
                <a:spLocks noChangeShapeType="1"/>
              </p:cNvSpPr>
              <p:nvPr/>
            </p:nvSpPr>
            <p:spPr bwMode="auto">
              <a:xfrm>
                <a:off x="3006" y="10650"/>
                <a:ext cx="0" cy="312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sz="2400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9238" name="Group 45"/>
              <p:cNvGrpSpPr>
                <a:grpSpLocks/>
              </p:cNvGrpSpPr>
              <p:nvPr/>
            </p:nvGrpSpPr>
            <p:grpSpPr bwMode="auto">
              <a:xfrm>
                <a:off x="3870" y="11832"/>
                <a:ext cx="204" cy="740"/>
                <a:chOff x="3870" y="11802"/>
                <a:chExt cx="204" cy="740"/>
              </a:xfrm>
            </p:grpSpPr>
            <p:sp>
              <p:nvSpPr>
                <p:cNvPr id="9239" name="Line 46"/>
                <p:cNvSpPr>
                  <a:spLocks noChangeShapeType="1"/>
                </p:cNvSpPr>
                <p:nvPr/>
              </p:nvSpPr>
              <p:spPr bwMode="auto">
                <a:xfrm>
                  <a:off x="3870" y="11802"/>
                  <a:ext cx="203" cy="0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US" sz="24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40" name="Line 47"/>
                <p:cNvSpPr>
                  <a:spLocks noChangeShapeType="1"/>
                </p:cNvSpPr>
                <p:nvPr/>
              </p:nvSpPr>
              <p:spPr bwMode="auto">
                <a:xfrm>
                  <a:off x="4074" y="11802"/>
                  <a:ext cx="0" cy="740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US" sz="2400">
                    <a:solidFill>
                      <a:srgbClr val="FFFFFF"/>
                    </a:solidFill>
                  </a:endParaRPr>
                </a:p>
              </p:txBody>
            </p:sp>
          </p:grpSp>
        </p:grpSp>
      </p:grpSp>
      <p:sp>
        <p:nvSpPr>
          <p:cNvPr id="51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程序的控制结构</a:t>
            </a:r>
          </a:p>
        </p:txBody>
      </p:sp>
    </p:spTree>
    <p:extLst>
      <p:ext uri="{BB962C8B-B14F-4D97-AF65-F5344CB8AC3E}">
        <p14:creationId xmlns:p14="http://schemas.microsoft.com/office/powerpoint/2010/main" val="3448053725"/>
      </p:ext>
    </p:extLst>
  </p:cSld>
  <p:clrMapOvr>
    <a:masterClrMapping/>
  </p:clrMapOvr>
  <p:transition>
    <p:zoom dir="in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2"/>
          <p:cNvSpPr>
            <a:spLocks/>
          </p:cNvSpPr>
          <p:nvPr/>
        </p:nvSpPr>
        <p:spPr bwMode="auto">
          <a:xfrm>
            <a:off x="3024717" y="2849749"/>
            <a:ext cx="287867" cy="2447925"/>
          </a:xfrm>
          <a:prstGeom prst="leftBrace">
            <a:avLst>
              <a:gd name="adj1" fmla="val 94485"/>
              <a:gd name="adj2" fmla="val 50000"/>
            </a:avLst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 b="0">
              <a:solidFill>
                <a:srgbClr val="FFFFFF"/>
              </a:solidFill>
            </a:endParaRPr>
          </a:p>
        </p:txBody>
      </p:sp>
      <p:sp>
        <p:nvSpPr>
          <p:cNvPr id="11267" name="AutoShape 3"/>
          <p:cNvSpPr>
            <a:spLocks/>
          </p:cNvSpPr>
          <p:nvPr/>
        </p:nvSpPr>
        <p:spPr bwMode="auto">
          <a:xfrm>
            <a:off x="4950887" y="4002255"/>
            <a:ext cx="281516" cy="677862"/>
          </a:xfrm>
          <a:prstGeom prst="leftBrace">
            <a:avLst>
              <a:gd name="adj1" fmla="val 26754"/>
              <a:gd name="adj2" fmla="val 50000"/>
            </a:avLst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 b="0">
              <a:solidFill>
                <a:srgbClr val="FFFFFF"/>
              </a:solidFill>
            </a:endParaRPr>
          </a:p>
        </p:txBody>
      </p:sp>
      <p:sp>
        <p:nvSpPr>
          <p:cNvPr id="11268" name="AutoShape 4"/>
          <p:cNvSpPr>
            <a:spLocks/>
          </p:cNvSpPr>
          <p:nvPr/>
        </p:nvSpPr>
        <p:spPr bwMode="auto">
          <a:xfrm>
            <a:off x="5039784" y="2344924"/>
            <a:ext cx="192616" cy="1296987"/>
          </a:xfrm>
          <a:prstGeom prst="leftBrace">
            <a:avLst>
              <a:gd name="adj1" fmla="val 74817"/>
              <a:gd name="adj2" fmla="val 50000"/>
            </a:avLst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 b="0">
              <a:solidFill>
                <a:srgbClr val="FFFFFF"/>
              </a:solidFill>
            </a:endParaRPr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5422900" y="2202049"/>
            <a:ext cx="2067984" cy="217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CC00CC"/>
                </a:solidFill>
              </a:rPr>
              <a:t>整型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>
              <a:solidFill>
                <a:srgbClr val="000000"/>
              </a:solidFill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CC00CC"/>
                </a:solidFill>
              </a:rPr>
              <a:t>实型</a:t>
            </a:r>
            <a:r>
              <a:rPr kumimoji="0" lang="en-US" altLang="zh-CN" sz="2000">
                <a:solidFill>
                  <a:srgbClr val="000000"/>
                </a:solidFill>
              </a:rPr>
              <a:t>(</a:t>
            </a:r>
            <a:r>
              <a:rPr kumimoji="0" lang="zh-CN" altLang="en-US" sz="2000">
                <a:solidFill>
                  <a:srgbClr val="000000"/>
                </a:solidFill>
              </a:rPr>
              <a:t>浮点型</a:t>
            </a:r>
            <a:r>
              <a:rPr kumimoji="0" lang="en-US" altLang="zh-CN" sz="2000">
                <a:solidFill>
                  <a:srgbClr val="000000"/>
                </a:solidFill>
              </a:rPr>
              <a:t>)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CC00CC"/>
                </a:solidFill>
              </a:rPr>
              <a:t>字符</a:t>
            </a:r>
            <a:r>
              <a:rPr kumimoji="0" lang="zh-CN" altLang="en-US" sz="2000">
                <a:solidFill>
                  <a:srgbClr val="000000"/>
                </a:solidFill>
              </a:rPr>
              <a:t>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</a:rPr>
              <a:t>枚举类型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900">
              <a:solidFill>
                <a:srgbClr val="000000"/>
              </a:solidFill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</a:rPr>
              <a:t>数组类型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</a:rPr>
              <a:t>结构体类型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</a:rPr>
              <a:t>共用体类型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>
              <a:solidFill>
                <a:srgbClr val="000000"/>
              </a:solidFill>
            </a:endParaRPr>
          </a:p>
        </p:txBody>
      </p:sp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7727951" y="2633849"/>
            <a:ext cx="1778000" cy="77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</a:rPr>
              <a:t>单精度型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</a:rPr>
              <a:t>双精度型</a:t>
            </a:r>
          </a:p>
        </p:txBody>
      </p:sp>
      <p:sp>
        <p:nvSpPr>
          <p:cNvPr id="11271" name="AutoShape 7"/>
          <p:cNvSpPr>
            <a:spLocks/>
          </p:cNvSpPr>
          <p:nvPr/>
        </p:nvSpPr>
        <p:spPr bwMode="auto">
          <a:xfrm>
            <a:off x="7440085" y="2789424"/>
            <a:ext cx="353483" cy="465137"/>
          </a:xfrm>
          <a:prstGeom prst="leftBrace">
            <a:avLst>
              <a:gd name="adj1" fmla="val 14621"/>
              <a:gd name="adj2" fmla="val 50000"/>
            </a:avLst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 b="0">
              <a:solidFill>
                <a:srgbClr val="FFFFFF"/>
              </a:solidFill>
            </a:endParaRPr>
          </a:p>
        </p:txBody>
      </p:sp>
      <p:sp>
        <p:nvSpPr>
          <p:cNvPr id="11272" name="Rectangle 8"/>
          <p:cNvSpPr>
            <a:spLocks noChangeArrowheads="1"/>
          </p:cNvSpPr>
          <p:nvPr/>
        </p:nvSpPr>
        <p:spPr bwMode="auto">
          <a:xfrm flipH="1">
            <a:off x="3407833" y="2633830"/>
            <a:ext cx="1466851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</a:rPr>
              <a:t>基本类型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>
              <a:solidFill>
                <a:srgbClr val="000000"/>
              </a:solidFill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>
              <a:solidFill>
                <a:srgbClr val="000000"/>
              </a:solidFill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>
              <a:solidFill>
                <a:srgbClr val="000000"/>
              </a:solidFill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>
              <a:solidFill>
                <a:srgbClr val="000000"/>
              </a:solidFill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</a:rPr>
              <a:t>构造类型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>
              <a:solidFill>
                <a:srgbClr val="000000"/>
              </a:solidFill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</a:rPr>
              <a:t>指针类型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</a:rPr>
              <a:t>空类型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>
              <a:solidFill>
                <a:srgbClr val="000000"/>
              </a:solidFill>
            </a:endParaRPr>
          </a:p>
        </p:txBody>
      </p:sp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1678530" y="3641892"/>
            <a:ext cx="1697567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600">
              <a:solidFill>
                <a:srgbClr val="000000"/>
              </a:solidFill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</a:rPr>
              <a:t>数据类型</a:t>
            </a:r>
          </a:p>
        </p:txBody>
      </p:sp>
      <p:sp>
        <p:nvSpPr>
          <p:cNvPr id="11274" name="Rectangle 10"/>
          <p:cNvSpPr>
            <a:spLocks noChangeArrowheads="1"/>
          </p:cNvSpPr>
          <p:nvPr/>
        </p:nvSpPr>
        <p:spPr bwMode="auto">
          <a:xfrm>
            <a:off x="719680" y="4915067"/>
            <a:ext cx="122343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>
              <a:solidFill>
                <a:srgbClr val="0000FF"/>
              </a:solidFill>
            </a:endParaRPr>
          </a:p>
        </p:txBody>
      </p:sp>
      <p:sp>
        <p:nvSpPr>
          <p:cNvPr id="11275" name="Rectangle 11"/>
          <p:cNvSpPr>
            <a:spLocks noGrp="1" noChangeArrowheads="1"/>
          </p:cNvSpPr>
          <p:nvPr>
            <p:ph type="title"/>
          </p:nvPr>
        </p:nvSpPr>
        <p:spPr>
          <a:xfrm>
            <a:off x="508000" y="977134"/>
            <a:ext cx="9855200" cy="609600"/>
          </a:xfrm>
        </p:spPr>
        <p:txBody>
          <a:bodyPr/>
          <a:lstStyle/>
          <a:p>
            <a:pPr algn="l" eaLnBrk="1" hangingPunct="1"/>
            <a:r>
              <a:rPr lang="zh-CN" altLang="en-US" sz="3600" dirty="0">
                <a:ea typeface="黑体" pitchFamily="49" charset="-122"/>
              </a:rPr>
              <a:t>数据类型</a:t>
            </a:r>
            <a:endParaRPr lang="zh-CN" altLang="en-US" dirty="0"/>
          </a:p>
        </p:txBody>
      </p:sp>
      <p:sp>
        <p:nvSpPr>
          <p:cNvPr id="88076" name="Rectangle 12"/>
          <p:cNvSpPr>
            <a:spLocks noChangeArrowheads="1"/>
          </p:cNvSpPr>
          <p:nvPr/>
        </p:nvSpPr>
        <p:spPr bwMode="auto">
          <a:xfrm>
            <a:off x="6859059" y="5038117"/>
            <a:ext cx="516149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CC00CC"/>
                </a:solidFill>
              </a:rPr>
              <a:t>Wirth    </a:t>
            </a:r>
            <a:r>
              <a:rPr lang="zh-CN" altLang="en-US" sz="2800" dirty="0">
                <a:solidFill>
                  <a:srgbClr val="CC00CC"/>
                </a:solidFill>
              </a:rPr>
              <a:t>程序＝数据结构＋算法</a:t>
            </a:r>
          </a:p>
        </p:txBody>
      </p:sp>
      <p:sp>
        <p:nvSpPr>
          <p:cNvPr id="11279" name="AutoShape 15"/>
          <p:cNvSpPr>
            <a:spLocks/>
          </p:cNvSpPr>
          <p:nvPr/>
        </p:nvSpPr>
        <p:spPr bwMode="auto">
          <a:xfrm>
            <a:off x="6671733" y="1265405"/>
            <a:ext cx="287867" cy="1008062"/>
          </a:xfrm>
          <a:prstGeom prst="leftBrace">
            <a:avLst>
              <a:gd name="adj1" fmla="val 38909"/>
              <a:gd name="adj2" fmla="val 50000"/>
            </a:avLst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 b="0">
              <a:solidFill>
                <a:srgbClr val="FFFFFF"/>
              </a:solidFill>
            </a:endParaRPr>
          </a:p>
        </p:txBody>
      </p:sp>
      <p:sp>
        <p:nvSpPr>
          <p:cNvPr id="11280" name="Text Box 16"/>
          <p:cNvSpPr txBox="1">
            <a:spLocks noChangeArrowheads="1"/>
          </p:cNvSpPr>
          <p:nvPr/>
        </p:nvSpPr>
        <p:spPr bwMode="auto">
          <a:xfrm>
            <a:off x="7013387" y="1103292"/>
            <a:ext cx="3361267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短整型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基本整型　　　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长整型　　　  基本型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3333FF"/>
                </a:solidFill>
              </a:rPr>
              <a:t>无符号型</a:t>
            </a:r>
            <a:r>
              <a:rPr lang="zh-CN" altLang="en-US" sz="2000" dirty="0">
                <a:solidFill>
                  <a:srgbClr val="000000"/>
                </a:solidFill>
              </a:rPr>
              <a:t>　　  短整型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　　　　　　  长整型</a:t>
            </a:r>
          </a:p>
        </p:txBody>
      </p:sp>
      <p:sp>
        <p:nvSpPr>
          <p:cNvPr id="11281" name="AutoShape 17"/>
          <p:cNvSpPr>
            <a:spLocks/>
          </p:cNvSpPr>
          <p:nvPr/>
        </p:nvSpPr>
        <p:spPr bwMode="auto">
          <a:xfrm>
            <a:off x="8591551" y="1841667"/>
            <a:ext cx="192616" cy="719138"/>
          </a:xfrm>
          <a:prstGeom prst="leftBrace">
            <a:avLst>
              <a:gd name="adj1" fmla="val 41484"/>
              <a:gd name="adj2" fmla="val 50000"/>
            </a:avLst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 b="0">
              <a:solidFill>
                <a:srgbClr val="FFFFFF"/>
              </a:solidFill>
            </a:endParaRP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程序的控制结构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2B088F7-17E9-983D-9B4B-46B932BD1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189" y="5897343"/>
            <a:ext cx="55668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FF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语句－</a:t>
            </a:r>
            <a:r>
              <a:rPr lang="en-US" altLang="zh-CN" sz="2400" dirty="0">
                <a:solidFill>
                  <a:srgbClr val="000000"/>
                </a:solidFill>
              </a:rPr>
              <a:t>&gt;   </a:t>
            </a:r>
            <a:r>
              <a:rPr lang="zh-CN" altLang="en-US" sz="2400" dirty="0">
                <a:solidFill>
                  <a:srgbClr val="000000"/>
                </a:solidFill>
              </a:rPr>
              <a:t>表达式</a:t>
            </a:r>
            <a:r>
              <a:rPr lang="zh-CN" altLang="en-US" sz="2400" dirty="0">
                <a:solidFill>
                  <a:srgbClr val="CC00CC"/>
                </a:solidFill>
              </a:rPr>
              <a:t> </a:t>
            </a:r>
            <a:r>
              <a:rPr lang="en-US" altLang="zh-CN" sz="2400" dirty="0">
                <a:solidFill>
                  <a:srgbClr val="CC00CC"/>
                </a:solidFill>
              </a:rPr>
              <a:t>;</a:t>
            </a:r>
            <a:r>
              <a:rPr lang="zh-CN" altLang="en-US" sz="2400" dirty="0">
                <a:solidFill>
                  <a:srgbClr val="CC00CC"/>
                </a:solidFill>
              </a:rPr>
              <a:t> </a:t>
            </a:r>
            <a:r>
              <a:rPr lang="zh-CN" altLang="en-US" sz="2400" dirty="0">
                <a:solidFill>
                  <a:srgbClr val="000000"/>
                </a:solidFill>
              </a:rPr>
              <a:t>－</a:t>
            </a:r>
            <a:r>
              <a:rPr lang="en-US" altLang="zh-CN" sz="2400" dirty="0">
                <a:solidFill>
                  <a:srgbClr val="000000"/>
                </a:solidFill>
              </a:rPr>
              <a:t>&gt;  </a:t>
            </a:r>
            <a:r>
              <a:rPr lang="zh-CN" altLang="en-US" sz="2400" dirty="0">
                <a:solidFill>
                  <a:srgbClr val="000000"/>
                </a:solidFill>
              </a:rPr>
              <a:t>运算符、</a:t>
            </a:r>
            <a:r>
              <a:rPr lang="zh-CN" altLang="en-US" sz="2400" dirty="0">
                <a:solidFill>
                  <a:srgbClr val="0066FF"/>
                </a:solidFill>
              </a:rPr>
              <a:t>操作数</a:t>
            </a:r>
            <a:endParaRPr lang="zh-CN" altLang="en-US" sz="2400" dirty="0">
              <a:solidFill>
                <a:srgbClr val="000000"/>
              </a:solidFill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                </a:t>
            </a:r>
            <a:r>
              <a:rPr lang="en-US" altLang="zh-CN" sz="2400" dirty="0">
                <a:solidFill>
                  <a:srgbClr val="000000"/>
                </a:solidFill>
              </a:rPr>
              <a:t>(</a:t>
            </a:r>
            <a:r>
              <a:rPr lang="zh-CN" altLang="en-US" sz="2400" dirty="0">
                <a:solidFill>
                  <a:srgbClr val="000000"/>
                </a:solidFill>
              </a:rPr>
              <a:t>赋值</a:t>
            </a:r>
            <a:r>
              <a:rPr lang="en-US" altLang="zh-CN" sz="2400" dirty="0">
                <a:solidFill>
                  <a:srgbClr val="000000"/>
                </a:solidFill>
              </a:rPr>
              <a:t>/</a:t>
            </a:r>
            <a:r>
              <a:rPr lang="zh-CN" altLang="en-US" sz="2400" dirty="0">
                <a:solidFill>
                  <a:srgbClr val="000000"/>
                </a:solidFill>
              </a:rPr>
              <a:t>函数</a:t>
            </a:r>
            <a:r>
              <a:rPr lang="en-US" altLang="zh-CN" sz="2400" dirty="0">
                <a:solidFill>
                  <a:srgbClr val="000000"/>
                </a:solidFill>
              </a:rPr>
              <a:t>…)</a:t>
            </a:r>
            <a:endParaRPr lang="en-US" altLang="zh-CN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233157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86A48D-B8D4-430A-AE1C-E921A6F75A1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4D3F219-2847-76EF-B840-4CB1654D3772}"/>
              </a:ext>
            </a:extLst>
          </p:cNvPr>
          <p:cNvSpPr txBox="1">
            <a:spLocks/>
          </p:cNvSpPr>
          <p:nvPr/>
        </p:nvSpPr>
        <p:spPr>
          <a:xfrm>
            <a:off x="370115" y="278747"/>
            <a:ext cx="4801959" cy="5524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3600" b="1" spc="200" noProof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1.3 </a:t>
            </a:r>
            <a:r>
              <a:rPr lang="zh-CN" altLang="en-US" sz="3600" b="1" spc="200" noProof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计算机基础知识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89AB562-E2DF-EB3A-4DAF-4D6D8BF6CE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173" y="2673349"/>
            <a:ext cx="6100662" cy="287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353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9667" y="1700213"/>
            <a:ext cx="10972800" cy="486251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进位计数制：</a:t>
            </a:r>
          </a:p>
          <a:p>
            <a:pPr eaLnBrk="1" hangingPunct="1">
              <a:buNone/>
            </a:pPr>
            <a:r>
              <a:rPr lang="zh-CN" altLang="en-US" sz="2400" dirty="0"/>
              <a:t>	</a:t>
            </a:r>
            <a:r>
              <a:rPr lang="zh-CN" altLang="en-US" sz="2400" dirty="0">
                <a:solidFill>
                  <a:srgbClr val="0000FF"/>
                </a:solidFill>
              </a:rPr>
              <a:t>数码</a:t>
            </a:r>
            <a:r>
              <a:rPr lang="zh-CN" altLang="en-US" sz="2400" dirty="0"/>
              <a:t> 用来表示某种数制的符号。    十进制　 </a:t>
            </a:r>
            <a:r>
              <a:rPr lang="en-US" altLang="zh-CN" sz="2400" dirty="0"/>
              <a:t>0,1,2,3,4,5,6,7,8,9 </a:t>
            </a:r>
            <a:endParaRPr lang="zh-CN" altLang="en-US" sz="2400" dirty="0"/>
          </a:p>
          <a:p>
            <a:pPr eaLnBrk="1" hangingPunct="1">
              <a:buNone/>
            </a:pPr>
            <a:r>
              <a:rPr lang="zh-CN" altLang="en-US" sz="2400" dirty="0"/>
              <a:t>	</a:t>
            </a:r>
            <a:r>
              <a:rPr lang="zh-CN" altLang="en-US" sz="2400" dirty="0">
                <a:solidFill>
                  <a:srgbClr val="0000FF"/>
                </a:solidFill>
              </a:rPr>
              <a:t>基数</a:t>
            </a:r>
            <a:r>
              <a:rPr lang="zh-CN" altLang="en-US" sz="2400" dirty="0"/>
              <a:t> 数制所用数码的个数。                             </a:t>
            </a:r>
            <a:r>
              <a:rPr lang="en-US" altLang="zh-CN" sz="2400" dirty="0">
                <a:solidFill>
                  <a:srgbClr val="000000"/>
                </a:solidFill>
              </a:rPr>
              <a:t>10</a:t>
            </a:r>
            <a:endParaRPr lang="zh-CN" altLang="en-US" sz="2400" dirty="0"/>
          </a:p>
          <a:p>
            <a:pPr eaLnBrk="1" hangingPunct="1">
              <a:buNone/>
            </a:pPr>
            <a:r>
              <a:rPr lang="zh-CN" altLang="en-US" sz="2400" dirty="0"/>
              <a:t>	</a:t>
            </a:r>
            <a:r>
              <a:rPr lang="zh-CN" altLang="en-US" sz="2400" dirty="0">
                <a:solidFill>
                  <a:srgbClr val="0000FF"/>
                </a:solidFill>
              </a:rPr>
              <a:t>位权</a:t>
            </a:r>
            <a:r>
              <a:rPr lang="zh-CN" altLang="en-US" sz="2400" dirty="0"/>
              <a:t> 数码在不同位置上的权值。</a:t>
            </a:r>
            <a:r>
              <a:rPr lang="en-US" altLang="zh-CN" sz="2400" dirty="0">
                <a:solidFill>
                  <a:srgbClr val="000000"/>
                </a:solidFill>
              </a:rPr>
              <a:t>                     10</a:t>
            </a:r>
            <a:r>
              <a:rPr lang="en-US" altLang="zh-CN" sz="2400" baseline="30000" dirty="0">
                <a:solidFill>
                  <a:srgbClr val="000000"/>
                </a:solidFill>
              </a:rPr>
              <a:t>n </a:t>
            </a:r>
            <a:endParaRPr lang="zh-CN" altLang="en-US" sz="2400" dirty="0"/>
          </a:p>
          <a:p>
            <a:pPr eaLnBrk="1" hangingPunct="1">
              <a:buFont typeface="Wingdings" pitchFamily="2" charset="2"/>
              <a:buNone/>
            </a:pPr>
            <a:endParaRPr lang="zh-CN" altLang="en-US" sz="2400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2400" dirty="0"/>
              <a:t>十进制、二进制、八进制和十六进制  </a:t>
            </a:r>
          </a:p>
        </p:txBody>
      </p:sp>
      <p:sp>
        <p:nvSpPr>
          <p:cNvPr id="7172" name="AutoShape 4"/>
          <p:cNvSpPr>
            <a:spLocks/>
          </p:cNvSpPr>
          <p:nvPr/>
        </p:nvSpPr>
        <p:spPr bwMode="auto">
          <a:xfrm>
            <a:off x="1007533" y="2205038"/>
            <a:ext cx="287867" cy="1223962"/>
          </a:xfrm>
          <a:prstGeom prst="leftBrace">
            <a:avLst>
              <a:gd name="adj1" fmla="val 47243"/>
              <a:gd name="adj2" fmla="val 50000"/>
            </a:avLst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1.3.1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进位计数制</a:t>
            </a:r>
          </a:p>
        </p:txBody>
      </p:sp>
    </p:spTree>
    <p:extLst>
      <p:ext uri="{BB962C8B-B14F-4D97-AF65-F5344CB8AC3E}">
        <p14:creationId xmlns:p14="http://schemas.microsoft.com/office/powerpoint/2010/main" val="321731829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9194" y="1052513"/>
            <a:ext cx="11425767" cy="532923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　　　　        数码　            基数   位权        运算规则</a:t>
            </a:r>
          </a:p>
          <a:p>
            <a:pPr eaLnBrk="1" hangingPunct="1"/>
            <a:r>
              <a:rPr lang="zh-CN" altLang="en-US" sz="2400" dirty="0"/>
              <a:t>十进制　 </a:t>
            </a:r>
            <a:r>
              <a:rPr lang="en-US" altLang="zh-CN" sz="2400" dirty="0"/>
              <a:t>0,1,2,3,4,5,6,7,8,9     10</a:t>
            </a:r>
            <a:r>
              <a:rPr lang="en-US" altLang="zh-CN" sz="2400" baseline="30000" dirty="0"/>
              <a:t>      </a:t>
            </a:r>
            <a:r>
              <a:rPr lang="en-US" altLang="zh-CN" sz="2400" dirty="0"/>
              <a:t>10</a:t>
            </a:r>
            <a:r>
              <a:rPr lang="en-US" altLang="zh-CN" sz="2400" baseline="30000" dirty="0"/>
              <a:t>n     </a:t>
            </a:r>
            <a:r>
              <a:rPr lang="zh-CN" altLang="en-US" sz="2000" dirty="0">
                <a:solidFill>
                  <a:srgbClr val="0000FF"/>
                </a:solidFill>
              </a:rPr>
              <a:t>逢十进一</a:t>
            </a:r>
            <a:r>
              <a:rPr lang="en-US" altLang="zh-CN" sz="2000" dirty="0">
                <a:solidFill>
                  <a:srgbClr val="0000FF"/>
                </a:solidFill>
              </a:rPr>
              <a:t>,</a:t>
            </a:r>
            <a:r>
              <a:rPr lang="zh-CN" altLang="en-US" sz="2000" dirty="0">
                <a:solidFill>
                  <a:srgbClr val="0000FF"/>
                </a:solidFill>
              </a:rPr>
              <a:t>借一当十</a:t>
            </a:r>
          </a:p>
          <a:p>
            <a:pPr eaLnBrk="1" hangingPunct="1"/>
            <a:r>
              <a:rPr lang="zh-CN" altLang="en-US" sz="2400" dirty="0"/>
              <a:t>二进制     </a:t>
            </a:r>
            <a:r>
              <a:rPr lang="en-US" altLang="zh-CN" sz="2400" dirty="0"/>
              <a:t>0,1                              2      2</a:t>
            </a:r>
            <a:r>
              <a:rPr lang="en-US" altLang="zh-CN" sz="2400" baseline="30000" dirty="0"/>
              <a:t>n       </a:t>
            </a:r>
            <a:r>
              <a:rPr lang="zh-CN" altLang="en-US" sz="2000" dirty="0">
                <a:solidFill>
                  <a:srgbClr val="0000FF"/>
                </a:solidFill>
              </a:rPr>
              <a:t>逢二进一</a:t>
            </a:r>
            <a:r>
              <a:rPr lang="en-US" altLang="zh-CN" sz="2000" dirty="0">
                <a:solidFill>
                  <a:srgbClr val="0000FF"/>
                </a:solidFill>
              </a:rPr>
              <a:t>,</a:t>
            </a:r>
            <a:r>
              <a:rPr lang="zh-CN" altLang="en-US" sz="2000" dirty="0">
                <a:solidFill>
                  <a:srgbClr val="0000FF"/>
                </a:solidFill>
              </a:rPr>
              <a:t>借一当二</a:t>
            </a:r>
            <a:endParaRPr lang="zh-CN" altLang="en-US" sz="2000" dirty="0"/>
          </a:p>
          <a:p>
            <a:pPr eaLnBrk="1" hangingPunct="1"/>
            <a:r>
              <a:rPr lang="zh-CN" altLang="en-US" sz="2400" dirty="0"/>
              <a:t>八进制     </a:t>
            </a:r>
            <a:r>
              <a:rPr lang="en-US" altLang="zh-CN" sz="2400" dirty="0"/>
              <a:t>0,1,2,3,4,5,6,7            8      8</a:t>
            </a:r>
            <a:r>
              <a:rPr lang="en-US" altLang="zh-CN" sz="2400" baseline="30000" dirty="0"/>
              <a:t>n       </a:t>
            </a:r>
            <a:r>
              <a:rPr lang="zh-CN" altLang="en-US" sz="2000" dirty="0">
                <a:solidFill>
                  <a:srgbClr val="0000FF"/>
                </a:solidFill>
              </a:rPr>
              <a:t>逢八进一</a:t>
            </a:r>
            <a:r>
              <a:rPr lang="en-US" altLang="zh-CN" sz="2000" dirty="0">
                <a:solidFill>
                  <a:srgbClr val="0000FF"/>
                </a:solidFill>
              </a:rPr>
              <a:t>,</a:t>
            </a:r>
            <a:r>
              <a:rPr lang="zh-CN" altLang="en-US" sz="2000" dirty="0">
                <a:solidFill>
                  <a:srgbClr val="0000FF"/>
                </a:solidFill>
              </a:rPr>
              <a:t>借一当八</a:t>
            </a:r>
            <a:endParaRPr lang="zh-CN" altLang="en-US" sz="2000" dirty="0"/>
          </a:p>
          <a:p>
            <a:pPr eaLnBrk="1" hangingPunct="1"/>
            <a:r>
              <a:rPr lang="zh-CN" altLang="en-US" sz="2400" dirty="0"/>
              <a:t>十六进制 </a:t>
            </a:r>
            <a:r>
              <a:rPr lang="en-US" altLang="zh-CN" sz="2400" dirty="0"/>
              <a:t>0,1,2,3,4,5,6,7,8,9,A,B,C,D,E,F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　　　　　　　　　　　　       </a:t>
            </a:r>
            <a:r>
              <a:rPr lang="en-US" altLang="zh-CN" sz="2400" dirty="0"/>
              <a:t>16    16</a:t>
            </a:r>
            <a:r>
              <a:rPr lang="en-US" altLang="zh-CN" sz="2400" baseline="30000" dirty="0"/>
              <a:t>n </a:t>
            </a:r>
            <a:r>
              <a:rPr lang="zh-CN" altLang="en-US" sz="2000" dirty="0">
                <a:solidFill>
                  <a:srgbClr val="0000FF"/>
                </a:solidFill>
              </a:rPr>
              <a:t>逢十六进一</a:t>
            </a:r>
            <a:r>
              <a:rPr lang="en-US" altLang="zh-CN" sz="2000" dirty="0">
                <a:solidFill>
                  <a:srgbClr val="0000FF"/>
                </a:solidFill>
              </a:rPr>
              <a:t>,</a:t>
            </a:r>
            <a:r>
              <a:rPr lang="zh-CN" altLang="en-US" sz="2000" dirty="0">
                <a:solidFill>
                  <a:srgbClr val="0000FF"/>
                </a:solidFill>
              </a:rPr>
              <a:t>借一当十六</a:t>
            </a:r>
            <a:endParaRPr lang="zh-CN" altLang="en-US" sz="20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例：</a:t>
            </a:r>
            <a:r>
              <a:rPr lang="en-US" altLang="zh-CN" sz="2400" dirty="0">
                <a:solidFill>
                  <a:srgbClr val="0000FF"/>
                </a:solidFill>
              </a:rPr>
              <a:t>(246.5)</a:t>
            </a:r>
            <a:r>
              <a:rPr lang="en-US" altLang="zh-CN" sz="2400" baseline="-25000" dirty="0">
                <a:solidFill>
                  <a:srgbClr val="0000FF"/>
                </a:solidFill>
              </a:rPr>
              <a:t>10</a:t>
            </a:r>
            <a:r>
              <a:rPr lang="zh-CN" altLang="en-US" sz="2400" dirty="0">
                <a:solidFill>
                  <a:srgbClr val="0000FF"/>
                </a:solidFill>
              </a:rPr>
              <a:t>中，</a:t>
            </a:r>
            <a:r>
              <a:rPr lang="en-US" altLang="zh-CN" sz="2400" dirty="0">
                <a:solidFill>
                  <a:srgbClr val="0000FF"/>
                </a:solidFill>
              </a:rPr>
              <a:t>2</a:t>
            </a:r>
            <a:r>
              <a:rPr lang="zh-CN" altLang="en-US" sz="2400" dirty="0">
                <a:solidFill>
                  <a:srgbClr val="0000FF"/>
                </a:solidFill>
              </a:rPr>
              <a:t>、</a:t>
            </a:r>
            <a:r>
              <a:rPr lang="en-US" altLang="zh-CN" sz="2400" dirty="0">
                <a:solidFill>
                  <a:srgbClr val="0000FF"/>
                </a:solidFill>
              </a:rPr>
              <a:t>4</a:t>
            </a:r>
            <a:r>
              <a:rPr lang="zh-CN" altLang="en-US" sz="2400" dirty="0">
                <a:solidFill>
                  <a:srgbClr val="0000FF"/>
                </a:solidFill>
              </a:rPr>
              <a:t>、</a:t>
            </a:r>
            <a:r>
              <a:rPr lang="en-US" altLang="zh-CN" sz="2400" dirty="0">
                <a:solidFill>
                  <a:srgbClr val="0000FF"/>
                </a:solidFill>
              </a:rPr>
              <a:t>6</a:t>
            </a:r>
            <a:r>
              <a:rPr lang="zh-CN" altLang="en-US" sz="2400" dirty="0">
                <a:solidFill>
                  <a:srgbClr val="0000FF"/>
                </a:solidFill>
              </a:rPr>
              <a:t>、</a:t>
            </a:r>
            <a:r>
              <a:rPr lang="en-US" altLang="zh-CN" sz="2400" dirty="0">
                <a:solidFill>
                  <a:srgbClr val="0000FF"/>
                </a:solidFill>
              </a:rPr>
              <a:t>5</a:t>
            </a:r>
            <a:r>
              <a:rPr lang="zh-CN" altLang="en-US" sz="2400" dirty="0">
                <a:solidFill>
                  <a:srgbClr val="0000FF"/>
                </a:solidFill>
              </a:rPr>
              <a:t>的位权分别是</a:t>
            </a:r>
            <a:endParaRPr lang="en-US" altLang="zh-CN" sz="2400" baseline="30000" dirty="0">
              <a:solidFill>
                <a:srgbClr val="0000FF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        (246.5)</a:t>
            </a:r>
            <a:r>
              <a:rPr lang="en-US" altLang="zh-CN" sz="2400" baseline="-25000" dirty="0">
                <a:solidFill>
                  <a:srgbClr val="0000FF"/>
                </a:solidFill>
              </a:rPr>
              <a:t>8</a:t>
            </a:r>
            <a:r>
              <a:rPr lang="zh-CN" altLang="en-US" sz="2400" dirty="0">
                <a:solidFill>
                  <a:srgbClr val="0000FF"/>
                </a:solidFill>
              </a:rPr>
              <a:t>中，</a:t>
            </a:r>
            <a:r>
              <a:rPr lang="en-US" altLang="zh-CN" sz="2400" dirty="0">
                <a:solidFill>
                  <a:srgbClr val="0000FF"/>
                </a:solidFill>
              </a:rPr>
              <a:t>2</a:t>
            </a:r>
            <a:r>
              <a:rPr lang="zh-CN" altLang="en-US" sz="2400" dirty="0">
                <a:solidFill>
                  <a:srgbClr val="0000FF"/>
                </a:solidFill>
              </a:rPr>
              <a:t>、</a:t>
            </a:r>
            <a:r>
              <a:rPr lang="en-US" altLang="zh-CN" sz="2400" dirty="0">
                <a:solidFill>
                  <a:srgbClr val="0000FF"/>
                </a:solidFill>
              </a:rPr>
              <a:t>4</a:t>
            </a:r>
            <a:r>
              <a:rPr lang="zh-CN" altLang="en-US" sz="2400" dirty="0">
                <a:solidFill>
                  <a:srgbClr val="0000FF"/>
                </a:solidFill>
              </a:rPr>
              <a:t>、</a:t>
            </a:r>
            <a:r>
              <a:rPr lang="en-US" altLang="zh-CN" sz="2400" dirty="0">
                <a:solidFill>
                  <a:srgbClr val="0000FF"/>
                </a:solidFill>
              </a:rPr>
              <a:t>6</a:t>
            </a:r>
            <a:r>
              <a:rPr lang="zh-CN" altLang="en-US" sz="2400" dirty="0">
                <a:solidFill>
                  <a:srgbClr val="0000FF"/>
                </a:solidFill>
              </a:rPr>
              <a:t>、</a:t>
            </a:r>
            <a:r>
              <a:rPr lang="en-US" altLang="zh-CN" sz="2400" dirty="0">
                <a:solidFill>
                  <a:srgbClr val="0000FF"/>
                </a:solidFill>
              </a:rPr>
              <a:t>5</a:t>
            </a:r>
            <a:r>
              <a:rPr lang="zh-CN" altLang="en-US" sz="2400" dirty="0">
                <a:solidFill>
                  <a:srgbClr val="0000FF"/>
                </a:solidFill>
              </a:rPr>
              <a:t>的位权分别是</a:t>
            </a:r>
            <a:endParaRPr lang="en-US" altLang="zh-CN" sz="2400" baseline="30000" dirty="0">
              <a:solidFill>
                <a:srgbClr val="0000FF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400" dirty="0">
              <a:solidFill>
                <a:srgbClr val="0000FF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　　   </a:t>
            </a:r>
            <a:r>
              <a:rPr lang="en-US" altLang="zh-CN" sz="2400" dirty="0">
                <a:solidFill>
                  <a:srgbClr val="0000FF"/>
                </a:solidFill>
              </a:rPr>
              <a:t>(246.5)</a:t>
            </a:r>
            <a:r>
              <a:rPr lang="en-US" altLang="zh-CN" sz="2400" baseline="-25000" dirty="0">
                <a:solidFill>
                  <a:srgbClr val="0000FF"/>
                </a:solidFill>
              </a:rPr>
              <a:t>10</a:t>
            </a:r>
            <a:r>
              <a:rPr lang="en-US" altLang="zh-CN" sz="2400" dirty="0">
                <a:solidFill>
                  <a:srgbClr val="0000FF"/>
                </a:solidFill>
              </a:rPr>
              <a:t> = 2 </a:t>
            </a:r>
            <a:r>
              <a:rPr lang="en-US" altLang="zh-CN" sz="2400" dirty="0">
                <a:solidFill>
                  <a:srgbClr val="0000FF"/>
                </a:solidFill>
                <a:cs typeface="Times New Roman" pitchFamily="18" charset="0"/>
              </a:rPr>
              <a:t>×</a:t>
            </a:r>
            <a:r>
              <a:rPr lang="en-US" altLang="zh-CN" sz="2400" dirty="0">
                <a:solidFill>
                  <a:srgbClr val="0000FF"/>
                </a:solidFill>
              </a:rPr>
              <a:t>10</a:t>
            </a:r>
            <a:r>
              <a:rPr lang="en-US" altLang="zh-CN" sz="2400" baseline="30000" dirty="0">
                <a:solidFill>
                  <a:srgbClr val="0000FF"/>
                </a:solidFill>
              </a:rPr>
              <a:t>2</a:t>
            </a:r>
            <a:r>
              <a:rPr lang="en-US" altLang="zh-CN" sz="2400" dirty="0">
                <a:solidFill>
                  <a:srgbClr val="0000FF"/>
                </a:solidFill>
              </a:rPr>
              <a:t> +4 </a:t>
            </a:r>
            <a:r>
              <a:rPr lang="en-US" altLang="zh-CN" sz="2400" dirty="0">
                <a:solidFill>
                  <a:srgbClr val="0000FF"/>
                </a:solidFill>
                <a:cs typeface="Times New Roman" pitchFamily="18" charset="0"/>
              </a:rPr>
              <a:t>×</a:t>
            </a:r>
            <a:r>
              <a:rPr lang="en-US" altLang="zh-CN" sz="2400" dirty="0">
                <a:solidFill>
                  <a:srgbClr val="0000FF"/>
                </a:solidFill>
              </a:rPr>
              <a:t>10</a:t>
            </a:r>
            <a:r>
              <a:rPr lang="en-US" altLang="zh-CN" sz="2400" baseline="30000" dirty="0">
                <a:solidFill>
                  <a:srgbClr val="0000FF"/>
                </a:solidFill>
              </a:rPr>
              <a:t>1</a:t>
            </a:r>
            <a:r>
              <a:rPr lang="en-US" altLang="zh-CN" sz="2400" dirty="0">
                <a:solidFill>
                  <a:srgbClr val="0000FF"/>
                </a:solidFill>
              </a:rPr>
              <a:t>+ 6</a:t>
            </a:r>
            <a:r>
              <a:rPr lang="en-US" altLang="zh-CN" sz="2400" dirty="0">
                <a:solidFill>
                  <a:srgbClr val="0000FF"/>
                </a:solidFill>
                <a:cs typeface="Times New Roman" pitchFamily="18" charset="0"/>
              </a:rPr>
              <a:t>×</a:t>
            </a:r>
            <a:r>
              <a:rPr lang="en-US" altLang="zh-CN" sz="2400" dirty="0">
                <a:solidFill>
                  <a:srgbClr val="0000FF"/>
                </a:solidFill>
              </a:rPr>
              <a:t> 10</a:t>
            </a:r>
            <a:r>
              <a:rPr lang="en-US" altLang="zh-CN" sz="2400" baseline="30000" dirty="0">
                <a:solidFill>
                  <a:srgbClr val="0000FF"/>
                </a:solidFill>
              </a:rPr>
              <a:t>0</a:t>
            </a:r>
            <a:r>
              <a:rPr lang="en-US" altLang="zh-CN" sz="2400" dirty="0">
                <a:solidFill>
                  <a:srgbClr val="0000FF"/>
                </a:solidFill>
              </a:rPr>
              <a:t> +5 </a:t>
            </a:r>
            <a:r>
              <a:rPr lang="en-US" altLang="zh-CN" sz="2400" dirty="0">
                <a:solidFill>
                  <a:srgbClr val="0000FF"/>
                </a:solidFill>
                <a:cs typeface="Times New Roman" pitchFamily="18" charset="0"/>
              </a:rPr>
              <a:t>×</a:t>
            </a:r>
            <a:r>
              <a:rPr lang="en-US" altLang="zh-CN" sz="2400" dirty="0">
                <a:solidFill>
                  <a:srgbClr val="0000FF"/>
                </a:solidFill>
              </a:rPr>
              <a:t> 10</a:t>
            </a:r>
            <a:r>
              <a:rPr lang="en-US" altLang="zh-CN" sz="2400" baseline="30000" dirty="0">
                <a:solidFill>
                  <a:srgbClr val="0000FF"/>
                </a:solidFill>
              </a:rPr>
              <a:t>-1</a:t>
            </a:r>
          </a:p>
          <a:p>
            <a:pPr eaLnBrk="1" hangingPunct="1"/>
            <a:r>
              <a:rPr lang="zh-CN" altLang="en-US" sz="2400" dirty="0"/>
              <a:t>其它进制－</a:t>
            </a:r>
            <a:r>
              <a:rPr lang="en-US" altLang="zh-CN" sz="2400" dirty="0"/>
              <a:t>&gt;</a:t>
            </a:r>
            <a:r>
              <a:rPr lang="zh-CN" altLang="en-US" sz="2400" dirty="0"/>
              <a:t>十进制：</a:t>
            </a:r>
          </a:p>
        </p:txBody>
      </p:sp>
      <p:sp>
        <p:nvSpPr>
          <p:cNvPr id="98308" name="Text Box 4"/>
          <p:cNvSpPr txBox="1">
            <a:spLocks noChangeArrowheads="1"/>
          </p:cNvSpPr>
          <p:nvPr/>
        </p:nvSpPr>
        <p:spPr bwMode="auto">
          <a:xfrm>
            <a:off x="4464061" y="5949950"/>
            <a:ext cx="768138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(101.1)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=  1*2</a:t>
            </a:r>
            <a:r>
              <a:rPr kumimoji="1" lang="en-US" altLang="zh-CN" sz="2400" b="1" i="0" u="none" strike="noStrike" kern="1200" cap="none" spc="0" normalizeH="0" baseline="5000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+ 0*2</a:t>
            </a:r>
            <a:r>
              <a:rPr kumimoji="1" lang="en-US" altLang="zh-CN" sz="2400" b="1" i="0" u="none" strike="noStrike" kern="1200" cap="none" spc="0" normalizeH="0" baseline="5000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+ 1*2</a:t>
            </a:r>
            <a:r>
              <a:rPr kumimoji="1" lang="en-US" altLang="zh-CN" sz="2400" b="1" i="0" u="none" strike="noStrike" kern="1200" cap="none" spc="0" normalizeH="0" baseline="5000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0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+ 1*2</a:t>
            </a:r>
            <a:r>
              <a:rPr kumimoji="1" lang="en-US" altLang="zh-CN" sz="2400" b="1" i="0" u="none" strike="noStrike" kern="1200" cap="none" spc="0" normalizeH="0" baseline="5000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-1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= (5.5)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920567" y="4119563"/>
            <a:ext cx="3744384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</a:t>
            </a:r>
            <a:r>
              <a:rPr kumimoji="1" lang="en-US" altLang="zh-CN" sz="2400" b="1" i="0" u="none" strike="noStrike" kern="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、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</a:t>
            </a:r>
            <a:r>
              <a:rPr kumimoji="1" lang="en-US" altLang="zh-CN" sz="2400" b="1" i="0" u="none" strike="noStrike" kern="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、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</a:t>
            </a:r>
            <a:r>
              <a:rPr kumimoji="1" lang="en-US" altLang="zh-CN" sz="2400" b="1" i="0" u="none" strike="noStrike" kern="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、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</a:t>
            </a:r>
            <a:r>
              <a:rPr kumimoji="1" lang="en-US" altLang="zh-CN" sz="2400" b="1" i="0" u="none" strike="noStrike" kern="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-1</a:t>
            </a:r>
            <a:endParaRPr kumimoji="1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20567" y="4551363"/>
            <a:ext cx="3744384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8</a:t>
            </a:r>
            <a:r>
              <a:rPr kumimoji="1" lang="en-US" altLang="zh-CN" sz="2400" b="1" i="0" u="none" strike="noStrike" kern="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、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8</a:t>
            </a:r>
            <a:r>
              <a:rPr kumimoji="1" lang="en-US" altLang="zh-CN" sz="2400" b="1" i="0" u="none" strike="noStrike" kern="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、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8</a:t>
            </a:r>
            <a:r>
              <a:rPr kumimoji="1" lang="en-US" altLang="zh-CN" sz="2400" b="1" i="0" u="none" strike="noStrike" kern="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、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8</a:t>
            </a:r>
            <a:r>
              <a:rPr kumimoji="1" lang="en-US" altLang="zh-CN" sz="2400" b="1" i="0" u="none" strike="noStrike" kern="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-1</a:t>
            </a:r>
            <a:endParaRPr kumimoji="1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7B6263-8653-4F9B-9D5D-BA10FB14AD98}"/>
              </a:ext>
            </a:extLst>
          </p:cNvPr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1.3.1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进位计数制</a:t>
            </a:r>
          </a:p>
        </p:txBody>
      </p:sp>
    </p:spTree>
    <p:extLst>
      <p:ext uri="{BB962C8B-B14F-4D97-AF65-F5344CB8AC3E}">
        <p14:creationId xmlns:p14="http://schemas.microsoft.com/office/powerpoint/2010/main" val="17853295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8" grpId="0"/>
      <p:bldP spid="2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914400"/>
            <a:ext cx="10363200" cy="11430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40" tIns="45720" rIns="91440" bIns="45720" anchor="b"/>
          <a:lstStyle/>
          <a:p>
            <a:pPr eaLnBrk="1" hangingPunct="1"/>
            <a:r>
              <a:rPr lang="en-US" altLang="zh-CN" sz="3600" dirty="0"/>
              <a:t>0 - 16</a:t>
            </a:r>
            <a:r>
              <a:rPr lang="zh-CN" altLang="en-US" sz="3600" dirty="0"/>
              <a:t>之间整数的常用进制数对应关系</a:t>
            </a:r>
          </a:p>
        </p:txBody>
      </p:sp>
      <p:graphicFrame>
        <p:nvGraphicFramePr>
          <p:cNvPr id="100355" name="Object 3"/>
          <p:cNvGraphicFramePr>
            <a:graphicFrameLocks noGrp="1" noChangeAspect="1"/>
          </p:cNvGraphicFramePr>
          <p:nvPr>
            <p:ph type="body" idx="1"/>
          </p:nvPr>
        </p:nvGraphicFramePr>
        <p:xfrm>
          <a:off x="1314451" y="2201868"/>
          <a:ext cx="9514416" cy="363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文档" r:id="rId4" imgW="9348895" imgH="4762200" progId="Word.Document.8">
                  <p:embed/>
                </p:oleObj>
              </mc:Choice>
              <mc:Fallback>
                <p:oleObj name="文档" r:id="rId4" imgW="9348895" imgH="4762200" progId="Word.Document.8">
                  <p:embed/>
                  <p:pic>
                    <p:nvPicPr>
                      <p:cNvPr id="10035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8211"/>
                      <a:stretch>
                        <a:fillRect/>
                      </a:stretch>
                    </p:blipFill>
                    <p:spPr bwMode="auto">
                      <a:xfrm>
                        <a:off x="1314451" y="2201868"/>
                        <a:ext cx="9514416" cy="363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9DF4C73F-AA70-4767-1150-F05A6BE60736}"/>
              </a:ext>
            </a:extLst>
          </p:cNvPr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1.3.1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进位计数制</a:t>
            </a:r>
          </a:p>
        </p:txBody>
      </p:sp>
    </p:spTree>
    <p:extLst>
      <p:ext uri="{BB962C8B-B14F-4D97-AF65-F5344CB8AC3E}">
        <p14:creationId xmlns:p14="http://schemas.microsoft.com/office/powerpoint/2010/main" val="68896805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ext Box 2"/>
          <p:cNvSpPr txBox="1">
            <a:spLocks noChangeArrowheads="1"/>
          </p:cNvSpPr>
          <p:nvPr/>
        </p:nvSpPr>
        <p:spPr bwMode="auto">
          <a:xfrm>
            <a:off x="431800" y="1015166"/>
            <a:ext cx="10769600" cy="532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进位记数制之间的转换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十进制数与二进制数之间的转换：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整数部分－除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取余，先得低位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小数部分－乘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取整，先得高位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(109.37)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10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=  (1101101.010)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精确到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3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位小数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十进制数与各进制数之间的转换：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整数部分－除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基数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取余，先得低位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小数部分－乘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基数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取整，先得高位</a:t>
            </a:r>
          </a:p>
        </p:txBody>
      </p:sp>
      <p:sp>
        <p:nvSpPr>
          <p:cNvPr id="102403" name="Text Box 3"/>
          <p:cNvSpPr txBox="1">
            <a:spLocks noChangeArrowheads="1"/>
          </p:cNvSpPr>
          <p:nvPr/>
        </p:nvSpPr>
        <p:spPr bwMode="auto">
          <a:xfrm>
            <a:off x="6671735" y="3175753"/>
            <a:ext cx="1344084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109.37</a:t>
            </a:r>
          </a:p>
        </p:txBody>
      </p:sp>
      <p:sp>
        <p:nvSpPr>
          <p:cNvPr id="102404" name="Text Box 4"/>
          <p:cNvSpPr txBox="1">
            <a:spLocks noChangeArrowheads="1"/>
          </p:cNvSpPr>
          <p:nvPr/>
        </p:nvSpPr>
        <p:spPr bwMode="auto">
          <a:xfrm>
            <a:off x="5712884" y="3175753"/>
            <a:ext cx="143933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54 &lt;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－</a:t>
            </a:r>
          </a:p>
        </p:txBody>
      </p:sp>
      <p:sp>
        <p:nvSpPr>
          <p:cNvPr id="102405" name="Line 5"/>
          <p:cNvSpPr>
            <a:spLocks noChangeShapeType="1"/>
          </p:cNvSpPr>
          <p:nvPr/>
        </p:nvSpPr>
        <p:spPr bwMode="auto">
          <a:xfrm>
            <a:off x="7054851" y="3607538"/>
            <a:ext cx="0" cy="2873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02406" name="Text Box 6"/>
          <p:cNvSpPr txBox="1">
            <a:spLocks noChangeArrowheads="1"/>
          </p:cNvSpPr>
          <p:nvPr/>
        </p:nvSpPr>
        <p:spPr bwMode="auto">
          <a:xfrm>
            <a:off x="6864361" y="3894879"/>
            <a:ext cx="958849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</a:t>
            </a:r>
          </a:p>
        </p:txBody>
      </p:sp>
      <p:sp>
        <p:nvSpPr>
          <p:cNvPr id="102407" name="Text Box 7"/>
          <p:cNvSpPr txBox="1">
            <a:spLocks noChangeArrowheads="1"/>
          </p:cNvSpPr>
          <p:nvPr/>
        </p:nvSpPr>
        <p:spPr bwMode="auto">
          <a:xfrm>
            <a:off x="4751917" y="3175753"/>
            <a:ext cx="134408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27 &lt;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－</a:t>
            </a:r>
          </a:p>
        </p:txBody>
      </p:sp>
      <p:sp>
        <p:nvSpPr>
          <p:cNvPr id="102408" name="Line 8"/>
          <p:cNvSpPr>
            <a:spLocks noChangeShapeType="1"/>
          </p:cNvSpPr>
          <p:nvPr/>
        </p:nvSpPr>
        <p:spPr bwMode="auto">
          <a:xfrm>
            <a:off x="5998633" y="3607538"/>
            <a:ext cx="0" cy="2873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02409" name="Text Box 9"/>
          <p:cNvSpPr txBox="1">
            <a:spLocks noChangeArrowheads="1"/>
          </p:cNvSpPr>
          <p:nvPr/>
        </p:nvSpPr>
        <p:spPr bwMode="auto">
          <a:xfrm>
            <a:off x="5808133" y="3894879"/>
            <a:ext cx="958851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0</a:t>
            </a:r>
          </a:p>
        </p:txBody>
      </p:sp>
      <p:sp>
        <p:nvSpPr>
          <p:cNvPr id="102410" name="Text Box 10"/>
          <p:cNvSpPr txBox="1">
            <a:spLocks noChangeArrowheads="1"/>
          </p:cNvSpPr>
          <p:nvPr/>
        </p:nvSpPr>
        <p:spPr bwMode="auto">
          <a:xfrm>
            <a:off x="3695703" y="3175753"/>
            <a:ext cx="1344084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13 &lt;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－</a:t>
            </a:r>
          </a:p>
        </p:txBody>
      </p:sp>
      <p:sp>
        <p:nvSpPr>
          <p:cNvPr id="102411" name="Line 11"/>
          <p:cNvSpPr>
            <a:spLocks noChangeShapeType="1"/>
          </p:cNvSpPr>
          <p:nvPr/>
        </p:nvSpPr>
        <p:spPr bwMode="auto">
          <a:xfrm>
            <a:off x="5037667" y="3607538"/>
            <a:ext cx="0" cy="2873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02412" name="Text Box 12"/>
          <p:cNvSpPr txBox="1">
            <a:spLocks noChangeArrowheads="1"/>
          </p:cNvSpPr>
          <p:nvPr/>
        </p:nvSpPr>
        <p:spPr bwMode="auto">
          <a:xfrm>
            <a:off x="4847169" y="3894879"/>
            <a:ext cx="958851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</a:t>
            </a:r>
          </a:p>
        </p:txBody>
      </p:sp>
      <p:sp>
        <p:nvSpPr>
          <p:cNvPr id="102413" name="Text Box 13"/>
          <p:cNvSpPr txBox="1">
            <a:spLocks noChangeArrowheads="1"/>
          </p:cNvSpPr>
          <p:nvPr/>
        </p:nvSpPr>
        <p:spPr bwMode="auto">
          <a:xfrm>
            <a:off x="2832103" y="3175753"/>
            <a:ext cx="1344084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6 &lt;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－</a:t>
            </a:r>
          </a:p>
        </p:txBody>
      </p:sp>
      <p:sp>
        <p:nvSpPr>
          <p:cNvPr id="102414" name="Line 14"/>
          <p:cNvSpPr>
            <a:spLocks noChangeShapeType="1"/>
          </p:cNvSpPr>
          <p:nvPr/>
        </p:nvSpPr>
        <p:spPr bwMode="auto">
          <a:xfrm>
            <a:off x="3981451" y="3607538"/>
            <a:ext cx="0" cy="2873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02415" name="Text Box 15"/>
          <p:cNvSpPr txBox="1">
            <a:spLocks noChangeArrowheads="1"/>
          </p:cNvSpPr>
          <p:nvPr/>
        </p:nvSpPr>
        <p:spPr bwMode="auto">
          <a:xfrm>
            <a:off x="3790961" y="3894879"/>
            <a:ext cx="958849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</a:t>
            </a:r>
          </a:p>
        </p:txBody>
      </p:sp>
      <p:sp>
        <p:nvSpPr>
          <p:cNvPr id="102416" name="Text Box 16"/>
          <p:cNvSpPr txBox="1">
            <a:spLocks noChangeArrowheads="1"/>
          </p:cNvSpPr>
          <p:nvPr/>
        </p:nvSpPr>
        <p:spPr bwMode="auto">
          <a:xfrm>
            <a:off x="1968503" y="3175753"/>
            <a:ext cx="1344084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3 &lt;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－</a:t>
            </a:r>
          </a:p>
        </p:txBody>
      </p:sp>
      <p:sp>
        <p:nvSpPr>
          <p:cNvPr id="102417" name="Line 17"/>
          <p:cNvSpPr>
            <a:spLocks noChangeShapeType="1"/>
          </p:cNvSpPr>
          <p:nvPr/>
        </p:nvSpPr>
        <p:spPr bwMode="auto">
          <a:xfrm>
            <a:off x="3022600" y="3607538"/>
            <a:ext cx="0" cy="2873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02418" name="Text Box 18"/>
          <p:cNvSpPr txBox="1">
            <a:spLocks noChangeArrowheads="1"/>
          </p:cNvSpPr>
          <p:nvPr/>
        </p:nvSpPr>
        <p:spPr bwMode="auto">
          <a:xfrm>
            <a:off x="2832101" y="3894879"/>
            <a:ext cx="958851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0</a:t>
            </a:r>
          </a:p>
        </p:txBody>
      </p:sp>
      <p:sp>
        <p:nvSpPr>
          <p:cNvPr id="102419" name="Text Box 19"/>
          <p:cNvSpPr txBox="1">
            <a:spLocks noChangeArrowheads="1"/>
          </p:cNvSpPr>
          <p:nvPr/>
        </p:nvSpPr>
        <p:spPr bwMode="auto">
          <a:xfrm>
            <a:off x="1107017" y="3175753"/>
            <a:ext cx="134408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 &lt;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－</a:t>
            </a:r>
          </a:p>
        </p:txBody>
      </p:sp>
      <p:sp>
        <p:nvSpPr>
          <p:cNvPr id="102420" name="Line 20"/>
          <p:cNvSpPr>
            <a:spLocks noChangeShapeType="1"/>
          </p:cNvSpPr>
          <p:nvPr/>
        </p:nvSpPr>
        <p:spPr bwMode="auto">
          <a:xfrm>
            <a:off x="2161117" y="3607538"/>
            <a:ext cx="0" cy="2873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02421" name="Text Box 21"/>
          <p:cNvSpPr txBox="1">
            <a:spLocks noChangeArrowheads="1"/>
          </p:cNvSpPr>
          <p:nvPr/>
        </p:nvSpPr>
        <p:spPr bwMode="auto">
          <a:xfrm>
            <a:off x="1970628" y="3894879"/>
            <a:ext cx="958849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</a:t>
            </a:r>
          </a:p>
        </p:txBody>
      </p:sp>
      <p:sp>
        <p:nvSpPr>
          <p:cNvPr id="102422" name="Line 22"/>
          <p:cNvSpPr>
            <a:spLocks noChangeShapeType="1"/>
          </p:cNvSpPr>
          <p:nvPr/>
        </p:nvSpPr>
        <p:spPr bwMode="auto">
          <a:xfrm>
            <a:off x="7394019" y="3609141"/>
            <a:ext cx="0" cy="28733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02423" name="Text Box 23"/>
          <p:cNvSpPr txBox="1">
            <a:spLocks noChangeArrowheads="1"/>
          </p:cNvSpPr>
          <p:nvPr/>
        </p:nvSpPr>
        <p:spPr bwMode="auto">
          <a:xfrm>
            <a:off x="7152228" y="3896463"/>
            <a:ext cx="958849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. 0</a:t>
            </a:r>
          </a:p>
        </p:txBody>
      </p:sp>
      <p:sp>
        <p:nvSpPr>
          <p:cNvPr id="102424" name="Text Box 24"/>
          <p:cNvSpPr txBox="1">
            <a:spLocks noChangeArrowheads="1"/>
          </p:cNvSpPr>
          <p:nvPr/>
        </p:nvSpPr>
        <p:spPr bwMode="auto">
          <a:xfrm>
            <a:off x="7632710" y="3175753"/>
            <a:ext cx="191981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－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&gt; 0.74</a:t>
            </a:r>
          </a:p>
        </p:txBody>
      </p:sp>
      <p:sp>
        <p:nvSpPr>
          <p:cNvPr id="102425" name="Line 25"/>
          <p:cNvSpPr>
            <a:spLocks noChangeShapeType="1"/>
          </p:cNvSpPr>
          <p:nvPr/>
        </p:nvSpPr>
        <p:spPr bwMode="auto">
          <a:xfrm>
            <a:off x="8566903" y="3609141"/>
            <a:ext cx="0" cy="28733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02426" name="Text Box 26"/>
          <p:cNvSpPr txBox="1">
            <a:spLocks noChangeArrowheads="1"/>
          </p:cNvSpPr>
          <p:nvPr/>
        </p:nvSpPr>
        <p:spPr bwMode="auto">
          <a:xfrm>
            <a:off x="8412271" y="3896463"/>
            <a:ext cx="958849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</a:t>
            </a:r>
          </a:p>
        </p:txBody>
      </p:sp>
      <p:sp>
        <p:nvSpPr>
          <p:cNvPr id="102427" name="Text Box 27"/>
          <p:cNvSpPr txBox="1">
            <a:spLocks noChangeArrowheads="1"/>
          </p:cNvSpPr>
          <p:nvPr/>
        </p:nvSpPr>
        <p:spPr bwMode="auto">
          <a:xfrm>
            <a:off x="8879417" y="3175753"/>
            <a:ext cx="1919816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－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&gt; 0.48</a:t>
            </a:r>
          </a:p>
        </p:txBody>
      </p:sp>
      <p:sp>
        <p:nvSpPr>
          <p:cNvPr id="102428" name="Line 28"/>
          <p:cNvSpPr>
            <a:spLocks noChangeShapeType="1"/>
          </p:cNvSpPr>
          <p:nvPr/>
        </p:nvSpPr>
        <p:spPr bwMode="auto">
          <a:xfrm>
            <a:off x="9792201" y="3609141"/>
            <a:ext cx="0" cy="28733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02429" name="Text Box 29"/>
          <p:cNvSpPr txBox="1">
            <a:spLocks noChangeArrowheads="1"/>
          </p:cNvSpPr>
          <p:nvPr/>
        </p:nvSpPr>
        <p:spPr bwMode="auto">
          <a:xfrm>
            <a:off x="9637559" y="3896463"/>
            <a:ext cx="958851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0</a:t>
            </a:r>
          </a:p>
        </p:txBody>
      </p:sp>
      <p:sp>
        <p:nvSpPr>
          <p:cNvPr id="102430" name="Text Box 30"/>
          <p:cNvSpPr txBox="1">
            <a:spLocks noChangeArrowheads="1"/>
          </p:cNvSpPr>
          <p:nvPr/>
        </p:nvSpPr>
        <p:spPr bwMode="auto">
          <a:xfrm>
            <a:off x="10128251" y="3175753"/>
            <a:ext cx="1729316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－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&gt; 0. 96</a:t>
            </a:r>
          </a:p>
        </p:txBody>
      </p:sp>
      <p:sp>
        <p:nvSpPr>
          <p:cNvPr id="102431" name="Text Box 31"/>
          <p:cNvSpPr txBox="1">
            <a:spLocks noChangeArrowheads="1"/>
          </p:cNvSpPr>
          <p:nvPr/>
        </p:nvSpPr>
        <p:spPr bwMode="auto">
          <a:xfrm>
            <a:off x="241303" y="3175753"/>
            <a:ext cx="1344084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0 &lt;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－</a:t>
            </a:r>
          </a:p>
        </p:txBody>
      </p:sp>
      <p:sp>
        <p:nvSpPr>
          <p:cNvPr id="102432" name="Line 32"/>
          <p:cNvSpPr>
            <a:spLocks noChangeShapeType="1"/>
          </p:cNvSpPr>
          <p:nvPr/>
        </p:nvSpPr>
        <p:spPr bwMode="auto">
          <a:xfrm>
            <a:off x="1295400" y="3607538"/>
            <a:ext cx="0" cy="2873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02433" name="Text Box 33"/>
          <p:cNvSpPr txBox="1">
            <a:spLocks noChangeArrowheads="1"/>
          </p:cNvSpPr>
          <p:nvPr/>
        </p:nvSpPr>
        <p:spPr bwMode="auto">
          <a:xfrm>
            <a:off x="1104901" y="3894879"/>
            <a:ext cx="958851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</a:t>
            </a:r>
          </a:p>
        </p:txBody>
      </p:sp>
      <p:sp>
        <p:nvSpPr>
          <p:cNvPr id="102434" name="Rectangle 34"/>
          <p:cNvSpPr>
            <a:spLocks noChangeArrowheads="1"/>
          </p:cNvSpPr>
          <p:nvPr/>
        </p:nvSpPr>
        <p:spPr bwMode="auto">
          <a:xfrm>
            <a:off x="8111067" y="1231066"/>
            <a:ext cx="3073400" cy="719137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(109.37)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10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= (?)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8F55423-E6E3-4A39-ED40-CF59F1334CE0}"/>
              </a:ext>
            </a:extLst>
          </p:cNvPr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1.3.1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进位计数制</a:t>
            </a:r>
          </a:p>
        </p:txBody>
      </p:sp>
    </p:spTree>
    <p:extLst>
      <p:ext uri="{BB962C8B-B14F-4D97-AF65-F5344CB8AC3E}">
        <p14:creationId xmlns:p14="http://schemas.microsoft.com/office/powerpoint/2010/main" val="11739711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4" grpId="0"/>
      <p:bldP spid="102405" grpId="0" animBg="1"/>
      <p:bldP spid="102406" grpId="0"/>
      <p:bldP spid="102407" grpId="0"/>
      <p:bldP spid="102408" grpId="0" animBg="1"/>
      <p:bldP spid="102409" grpId="0"/>
      <p:bldP spid="102410" grpId="0"/>
      <p:bldP spid="102411" grpId="0" animBg="1"/>
      <p:bldP spid="102412" grpId="0"/>
      <p:bldP spid="102413" grpId="0"/>
      <p:bldP spid="102414" grpId="0" animBg="1"/>
      <p:bldP spid="102415" grpId="0"/>
      <p:bldP spid="102416" grpId="0"/>
      <p:bldP spid="102417" grpId="0" animBg="1"/>
      <p:bldP spid="102418" grpId="0"/>
      <p:bldP spid="102419" grpId="0"/>
      <p:bldP spid="102420" grpId="0" animBg="1"/>
      <p:bldP spid="102421" grpId="0"/>
      <p:bldP spid="102422" grpId="0" animBg="1"/>
      <p:bldP spid="102423" grpId="0"/>
      <p:bldP spid="102424" grpId="0"/>
      <p:bldP spid="102425" grpId="0" animBg="1"/>
      <p:bldP spid="102426" grpId="0"/>
      <p:bldP spid="102427" grpId="0"/>
      <p:bldP spid="102428" grpId="0" animBg="1"/>
      <p:bldP spid="102429" grpId="0"/>
      <p:bldP spid="102430" grpId="0"/>
      <p:bldP spid="102431" grpId="0"/>
      <p:bldP spid="102432" grpId="0" animBg="1"/>
      <p:bldP spid="1024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ext Box 2"/>
          <p:cNvSpPr txBox="1">
            <a:spLocks noChangeArrowheads="1"/>
          </p:cNvSpPr>
          <p:nvPr/>
        </p:nvSpPr>
        <p:spPr bwMode="auto">
          <a:xfrm>
            <a:off x="609600" y="228605"/>
            <a:ext cx="9999133" cy="612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二进制数与十六进制数之间的转换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   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(1 0101 1101)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( 110.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101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)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     12.8     )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16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二进制数与八进制数之间的转换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(10 101.101)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  11.1  )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8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八进制数与十六进制数之间的转换：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二进制作为中介</a:t>
            </a:r>
          </a:p>
        </p:txBody>
      </p:sp>
      <p:sp>
        <p:nvSpPr>
          <p:cNvPr id="12291" name="AutoShape 3"/>
          <p:cNvSpPr>
            <a:spLocks noChangeArrowheads="1"/>
          </p:cNvSpPr>
          <p:nvPr/>
        </p:nvSpPr>
        <p:spPr bwMode="auto">
          <a:xfrm>
            <a:off x="1117600" y="762000"/>
            <a:ext cx="2540000" cy="609600"/>
          </a:xfrm>
          <a:prstGeom prst="leftRightArrowCallout">
            <a:avLst>
              <a:gd name="adj1" fmla="val 25000"/>
              <a:gd name="adj2" fmla="val 25000"/>
              <a:gd name="adj3" fmla="val 39063"/>
              <a:gd name="adj4" fmla="val 50000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kumimoji="1" lang="en-US" altLang="zh-CN" sz="2400" b="1" i="0" u="none" strike="noStrike" kern="1200" cap="none" spc="0" normalizeH="0" baseline="5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4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=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16</a:t>
            </a:r>
          </a:p>
        </p:txBody>
      </p:sp>
      <p:sp>
        <p:nvSpPr>
          <p:cNvPr id="12292" name="AutoShape 4"/>
          <p:cNvSpPr>
            <a:spLocks noChangeArrowheads="1"/>
          </p:cNvSpPr>
          <p:nvPr/>
        </p:nvSpPr>
        <p:spPr bwMode="auto">
          <a:xfrm>
            <a:off x="1320800" y="3962400"/>
            <a:ext cx="2336800" cy="762000"/>
          </a:xfrm>
          <a:prstGeom prst="leftRightArrow">
            <a:avLst>
              <a:gd name="adj1" fmla="val 50000"/>
              <a:gd name="adj2" fmla="val 46000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kumimoji="1" lang="en-US" altLang="zh-CN" sz="2400" b="1" i="0" u="none" strike="noStrike" kern="1200" cap="none" spc="0" normalizeH="0" baseline="5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3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=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8</a:t>
            </a:r>
          </a:p>
        </p:txBody>
      </p:sp>
      <p:sp>
        <p:nvSpPr>
          <p:cNvPr id="103429" name="Text Box 5"/>
          <p:cNvSpPr txBox="1">
            <a:spLocks noChangeArrowheads="1"/>
          </p:cNvSpPr>
          <p:nvPr/>
        </p:nvSpPr>
        <p:spPr bwMode="auto">
          <a:xfrm>
            <a:off x="6000752" y="620713"/>
            <a:ext cx="6239933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将二进制数从小数点开始分别向左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整数部分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和向右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小数部分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每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4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位分成一组，转换成十六进制数码中的一个数字，连接起来，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不足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4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位时，对原数值用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0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补足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4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位。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               十六－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&gt;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二，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位对应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4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位。</a:t>
            </a:r>
          </a:p>
        </p:txBody>
      </p:sp>
      <p:sp>
        <p:nvSpPr>
          <p:cNvPr id="103430" name="Rectangle 6"/>
          <p:cNvSpPr>
            <a:spLocks noChangeArrowheads="1"/>
          </p:cNvSpPr>
          <p:nvPr/>
        </p:nvSpPr>
        <p:spPr bwMode="auto">
          <a:xfrm>
            <a:off x="6191251" y="4149725"/>
            <a:ext cx="566631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1</a:t>
            </a:r>
            <a:r>
              <a:rPr lang="zh-CN" altLang="en-US" sz="2400" dirty="0">
                <a:solidFill>
                  <a:srgbClr val="000000"/>
                </a:solidFill>
              </a:rPr>
              <a:t>位八进制数对应</a:t>
            </a:r>
            <a:r>
              <a:rPr lang="en-US" altLang="zh-CN" sz="2400" dirty="0">
                <a:solidFill>
                  <a:srgbClr val="000000"/>
                </a:solidFill>
              </a:rPr>
              <a:t>3</a:t>
            </a:r>
            <a:r>
              <a:rPr lang="zh-CN" altLang="en-US" sz="2400" dirty="0">
                <a:solidFill>
                  <a:srgbClr val="000000"/>
                </a:solidFill>
              </a:rPr>
              <a:t>位二进制数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。</a:t>
            </a:r>
          </a:p>
        </p:txBody>
      </p:sp>
      <p:sp>
        <p:nvSpPr>
          <p:cNvPr id="103431" name="Text Box 7"/>
          <p:cNvSpPr txBox="1">
            <a:spLocks noChangeArrowheads="1"/>
          </p:cNvSpPr>
          <p:nvPr/>
        </p:nvSpPr>
        <p:spPr bwMode="auto">
          <a:xfrm>
            <a:off x="3200404" y="1341442"/>
            <a:ext cx="4815417" cy="4601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&lt; = &gt; (15D)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16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&lt; = &gt; (6.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)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16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&lt; = &gt; (00010010.1000)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(10010.1)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endParaRPr kumimoji="1" lang="en-US" altLang="zh-CN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9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&lt; = &gt; (25.5)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8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&lt; = &gt; (3.4)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8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8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12296" name="Line 8"/>
          <p:cNvSpPr>
            <a:spLocks noChangeShapeType="1"/>
          </p:cNvSpPr>
          <p:nvPr/>
        </p:nvSpPr>
        <p:spPr bwMode="auto">
          <a:xfrm>
            <a:off x="0" y="3500438"/>
            <a:ext cx="12192000" cy="0"/>
          </a:xfrm>
          <a:prstGeom prst="line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03433" name="Line 9"/>
          <p:cNvSpPr>
            <a:spLocks noChangeShapeType="1"/>
          </p:cNvSpPr>
          <p:nvPr/>
        </p:nvSpPr>
        <p:spPr bwMode="auto">
          <a:xfrm>
            <a:off x="-48681" y="5805488"/>
            <a:ext cx="12192001" cy="0"/>
          </a:xfrm>
          <a:prstGeom prst="line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9779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2800" y="1153819"/>
            <a:ext cx="11233149" cy="53292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6600CC"/>
                </a:solidFill>
              </a:rPr>
              <a:t>1.</a:t>
            </a:r>
            <a:r>
              <a:rPr lang="zh-CN" altLang="en-US" sz="2800" dirty="0">
                <a:solidFill>
                  <a:srgbClr val="6600CC"/>
                </a:solidFill>
              </a:rPr>
              <a:t>原码、反码、补码的表示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   无符号数、有符号数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/>
              <a:t>    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用</a:t>
            </a:r>
            <a:r>
              <a:rPr lang="en-US" altLang="zh-CN" sz="2800" dirty="0"/>
              <a:t>32</a:t>
            </a:r>
            <a:r>
              <a:rPr lang="zh-CN" altLang="en-US" sz="2800" dirty="0"/>
              <a:t>位二进制数  表示  有符号整数</a:t>
            </a:r>
            <a:r>
              <a:rPr lang="en-US" altLang="zh-CN" sz="2800" dirty="0">
                <a:solidFill>
                  <a:schemeClr val="bg1"/>
                </a:solidFill>
              </a:rPr>
              <a:t>+19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/>
              <a:t>  </a:t>
            </a:r>
            <a:r>
              <a:rPr lang="zh-CN" altLang="en-US" sz="2800" dirty="0"/>
              <a:t>　　 </a:t>
            </a:r>
            <a:r>
              <a:rPr lang="en-US" altLang="zh-CN" sz="2800" dirty="0">
                <a:solidFill>
                  <a:srgbClr val="CC00CC"/>
                </a:solidFill>
              </a:rPr>
              <a:t>0</a:t>
            </a:r>
            <a:r>
              <a:rPr lang="en-US" altLang="zh-CN" sz="2800" dirty="0"/>
              <a:t>0000000 00000000 00000000 00010011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solidFill>
                  <a:schemeClr val="bg1"/>
                </a:solidFill>
              </a:rPr>
              <a:t>-19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原码   </a:t>
            </a:r>
            <a:r>
              <a:rPr lang="en-US" altLang="zh-CN" sz="2800" dirty="0">
                <a:solidFill>
                  <a:srgbClr val="CC00CC"/>
                </a:solidFill>
              </a:rPr>
              <a:t>1</a:t>
            </a:r>
            <a:r>
              <a:rPr lang="en-US" altLang="zh-CN" sz="2800" dirty="0"/>
              <a:t>0000000 00000000 00000000 00010011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反码   </a:t>
            </a:r>
            <a:r>
              <a:rPr lang="en-US" altLang="zh-CN" sz="2800" dirty="0">
                <a:solidFill>
                  <a:srgbClr val="CC00CC"/>
                </a:solidFill>
              </a:rPr>
              <a:t>1</a:t>
            </a:r>
            <a:r>
              <a:rPr lang="en-US" altLang="zh-CN" sz="2800" dirty="0"/>
              <a:t>1111111 11111111 11111111 11101100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补码   </a:t>
            </a:r>
            <a:r>
              <a:rPr lang="en-US" altLang="zh-CN" sz="2800" dirty="0">
                <a:solidFill>
                  <a:srgbClr val="CC00CC"/>
                </a:solidFill>
              </a:rPr>
              <a:t>1</a:t>
            </a:r>
            <a:r>
              <a:rPr lang="en-US" altLang="zh-CN" sz="2800" dirty="0"/>
              <a:t>1111111 11111111 11111111 1110110</a:t>
            </a:r>
            <a:r>
              <a:rPr lang="en-US" altLang="zh-CN" sz="28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1.3.2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数值与非数值的表示</a:t>
            </a:r>
          </a:p>
        </p:txBody>
      </p:sp>
    </p:spTree>
    <p:extLst>
      <p:ext uri="{BB962C8B-B14F-4D97-AF65-F5344CB8AC3E}">
        <p14:creationId xmlns:p14="http://schemas.microsoft.com/office/powerpoint/2010/main" val="398635093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812800" y="824749"/>
            <a:ext cx="10871200" cy="4447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2.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定点数和浮点数的表示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数的定点表示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——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定点整数、定点小数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浮点表示法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－允许小数点浮动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graphicFrame>
        <p:nvGraphicFramePr>
          <p:cNvPr id="14339" name="Object 3"/>
          <p:cNvGraphicFramePr>
            <a:graphicFrameLocks noChangeAspect="1"/>
          </p:cNvGraphicFramePr>
          <p:nvPr/>
        </p:nvGraphicFramePr>
        <p:xfrm>
          <a:off x="914400" y="2501148"/>
          <a:ext cx="5486400" cy="154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位图图像" r:id="rId4" imgW="3330229" imgH="1249524" progId="Paint.Picture">
                  <p:embed/>
                </p:oleObj>
              </mc:Choice>
              <mc:Fallback>
                <p:oleObj name="位图图像" r:id="rId4" imgW="3330229" imgH="1249524" progId="Paint.Picture">
                  <p:embed/>
                  <p:pic>
                    <p:nvPicPr>
                      <p:cNvPr id="143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501148"/>
                        <a:ext cx="5486400" cy="154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6959600" y="2348753"/>
          <a:ext cx="4775200" cy="240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位图图像" r:id="rId6" imgW="2911092" imgH="1958510" progId="Paint.Picture">
                  <p:embed/>
                </p:oleObj>
              </mc:Choice>
              <mc:Fallback>
                <p:oleObj name="位图图像" r:id="rId6" imgW="2911092" imgH="1958510" progId="Paint.Picture">
                  <p:embed/>
                  <p:pic>
                    <p:nvPicPr>
                      <p:cNvPr id="143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9600" y="2348753"/>
                        <a:ext cx="4775200" cy="240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01" name="Rectangle 5"/>
          <p:cNvSpPr>
            <a:spLocks noChangeArrowheads="1"/>
          </p:cNvSpPr>
          <p:nvPr/>
        </p:nvSpPr>
        <p:spPr bwMode="auto">
          <a:xfrm>
            <a:off x="1968504" y="5731716"/>
            <a:ext cx="1056217" cy="35877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符号</a:t>
            </a:r>
          </a:p>
        </p:txBody>
      </p:sp>
      <p:sp>
        <p:nvSpPr>
          <p:cNvPr id="106502" name="Rectangle 6"/>
          <p:cNvSpPr>
            <a:spLocks noChangeArrowheads="1"/>
          </p:cNvSpPr>
          <p:nvPr/>
        </p:nvSpPr>
        <p:spPr bwMode="auto">
          <a:xfrm>
            <a:off x="3312585" y="5731716"/>
            <a:ext cx="1344083" cy="35877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位移量</a:t>
            </a:r>
          </a:p>
        </p:txBody>
      </p:sp>
      <p:sp>
        <p:nvSpPr>
          <p:cNvPr id="106503" name="Rectangle 7"/>
          <p:cNvSpPr>
            <a:spLocks noChangeArrowheads="1"/>
          </p:cNvSpPr>
          <p:nvPr/>
        </p:nvSpPr>
        <p:spPr bwMode="auto">
          <a:xfrm>
            <a:off x="4944537" y="5731716"/>
            <a:ext cx="3647017" cy="35877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定点数</a:t>
            </a:r>
          </a:p>
        </p:txBody>
      </p:sp>
      <p:sp>
        <p:nvSpPr>
          <p:cNvPr id="106504" name="Rectangle 8"/>
          <p:cNvSpPr>
            <a:spLocks noChangeArrowheads="1"/>
          </p:cNvSpPr>
          <p:nvPr/>
        </p:nvSpPr>
        <p:spPr bwMode="auto">
          <a:xfrm>
            <a:off x="2639484" y="6307978"/>
            <a:ext cx="39065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(-110.01)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= (-0.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1001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) 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×2</a:t>
            </a:r>
            <a:r>
              <a:rPr kumimoji="1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+3</a:t>
            </a: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4574120" y="4838668"/>
            <a:ext cx="230293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阶符   阶码</a:t>
            </a:r>
            <a:endParaRPr kumimoji="1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C00CC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cxnSp>
        <p:nvCxnSpPr>
          <p:cNvPr id="4" name="直接箭头连接符 3"/>
          <p:cNvCxnSpPr>
            <a:cxnSpLocks noChangeShapeType="1"/>
          </p:cNvCxnSpPr>
          <p:nvPr/>
        </p:nvCxnSpPr>
        <p:spPr bwMode="auto">
          <a:xfrm flipV="1">
            <a:off x="4176184" y="5190836"/>
            <a:ext cx="768353" cy="540875"/>
          </a:xfrm>
          <a:prstGeom prst="straightConnector1">
            <a:avLst/>
          </a:prstGeom>
          <a:noFill/>
          <a:ln w="9525" algn="ctr">
            <a:solidFill>
              <a:srgbClr val="CC00CC"/>
            </a:solidFill>
            <a:miter lim="800000"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7562231" y="6353390"/>
          <a:ext cx="247823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5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110010000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1.3.2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数值与非数值的表示</a:t>
            </a:r>
          </a:p>
        </p:txBody>
      </p:sp>
    </p:spTree>
    <p:extLst>
      <p:ext uri="{BB962C8B-B14F-4D97-AF65-F5344CB8AC3E}">
        <p14:creationId xmlns:p14="http://schemas.microsoft.com/office/powerpoint/2010/main" val="3520421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ext Box 2"/>
          <p:cNvSpPr txBox="1">
            <a:spLocks noChangeArrowheads="1"/>
          </p:cNvSpPr>
          <p:nvPr/>
        </p:nvSpPr>
        <p:spPr bwMode="auto">
          <a:xfrm>
            <a:off x="143936" y="1121247"/>
            <a:ext cx="11521017" cy="550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3.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非数值的表示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代码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－设计用于表示文本符号的一个集合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　　 表示符号的过程称为编码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　　　　　　　　　　　　　　　　　　　　　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ASCII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－美国信息交换标准码，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7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位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字节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，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kumimoji="1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7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= 128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种符号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　　扩展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ASCII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码，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8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位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汉字编码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－国标码，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个字节　　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机内码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、输入码、字形码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                                                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中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D6D0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H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Unicode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－统一字符编码，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32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位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(4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字节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)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　　　　存储各种语言、图形、特殊的符号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en-US" altLang="zh-CN" dirty="0">
                <a:solidFill>
                  <a:srgbClr val="000000"/>
                </a:solidFill>
              </a:rPr>
              <a:t>1.3.2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数值与非数值的表示</a:t>
            </a:r>
          </a:p>
        </p:txBody>
      </p:sp>
    </p:spTree>
    <p:extLst>
      <p:ext uri="{BB962C8B-B14F-4D97-AF65-F5344CB8AC3E}">
        <p14:creationId xmlns:p14="http://schemas.microsoft.com/office/powerpoint/2010/main" val="467186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4917" y="1700217"/>
            <a:ext cx="10972800" cy="438308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6600CC"/>
                </a:solidFill>
              </a:rPr>
              <a:t>1. </a:t>
            </a:r>
            <a:r>
              <a:rPr lang="zh-CN" altLang="en-US" dirty="0">
                <a:solidFill>
                  <a:srgbClr val="6600CC"/>
                </a:solidFill>
              </a:rPr>
              <a:t>算术运算－二进制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	加法：</a:t>
            </a:r>
            <a:r>
              <a:rPr lang="en-US" altLang="zh-CN" sz="2800" dirty="0"/>
              <a:t>0+0</a:t>
            </a:r>
            <a:r>
              <a:rPr lang="zh-CN" altLang="en-US" sz="2800" dirty="0"/>
              <a:t> </a:t>
            </a:r>
            <a:r>
              <a:rPr lang="en-US" altLang="zh-CN" sz="2800" dirty="0"/>
              <a:t>= 0     1+0</a:t>
            </a:r>
            <a:r>
              <a:rPr lang="zh-CN" altLang="en-US" sz="2800" dirty="0"/>
              <a:t> </a:t>
            </a:r>
            <a:r>
              <a:rPr lang="en-US" altLang="zh-CN" sz="2800" dirty="0"/>
              <a:t>= 1       0+1</a:t>
            </a:r>
            <a:r>
              <a:rPr lang="zh-CN" altLang="en-US" sz="2800" dirty="0"/>
              <a:t> </a:t>
            </a:r>
            <a:r>
              <a:rPr lang="en-US" altLang="zh-CN" sz="2800" dirty="0"/>
              <a:t>= 1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             1+1</a:t>
            </a:r>
            <a:r>
              <a:rPr lang="zh-CN" altLang="en-US" sz="2800" dirty="0"/>
              <a:t> </a:t>
            </a:r>
            <a:r>
              <a:rPr lang="en-US" altLang="zh-CN" sz="2800" dirty="0"/>
              <a:t>= 10 (</a:t>
            </a:r>
            <a:r>
              <a:rPr lang="zh-CN" altLang="en-US" sz="2800" dirty="0"/>
              <a:t>向高位进位</a:t>
            </a:r>
            <a:r>
              <a:rPr lang="en-US" altLang="zh-CN" sz="2800" dirty="0"/>
              <a:t>1)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减法： </a:t>
            </a:r>
            <a:r>
              <a:rPr lang="en-US" altLang="zh-CN" sz="2800" dirty="0"/>
              <a:t>0-0</a:t>
            </a:r>
            <a:r>
              <a:rPr lang="zh-CN" altLang="en-US" sz="2800" dirty="0"/>
              <a:t> </a:t>
            </a:r>
            <a:r>
              <a:rPr lang="en-US" altLang="zh-CN" sz="2800" dirty="0"/>
              <a:t>= 0     1-0</a:t>
            </a:r>
            <a:r>
              <a:rPr lang="zh-CN" altLang="en-US" sz="2800" dirty="0"/>
              <a:t> </a:t>
            </a:r>
            <a:r>
              <a:rPr lang="en-US" altLang="zh-CN" sz="2800" dirty="0"/>
              <a:t>= 1        1-1</a:t>
            </a:r>
            <a:r>
              <a:rPr lang="zh-CN" altLang="en-US" sz="2800" dirty="0"/>
              <a:t> </a:t>
            </a:r>
            <a:r>
              <a:rPr lang="en-US" altLang="zh-CN" sz="2800" dirty="0"/>
              <a:t>= 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             0-1 </a:t>
            </a:r>
            <a:r>
              <a:rPr lang="zh-CN" altLang="en-US" sz="2800" dirty="0"/>
              <a:t> </a:t>
            </a:r>
            <a:r>
              <a:rPr lang="en-US" altLang="zh-CN" sz="2800" dirty="0"/>
              <a:t>= 1 (</a:t>
            </a:r>
            <a:r>
              <a:rPr lang="zh-CN" altLang="en-US" sz="2800" dirty="0"/>
              <a:t>向高位借位</a:t>
            </a:r>
            <a:r>
              <a:rPr lang="en-US" altLang="zh-CN" sz="2800" dirty="0"/>
              <a:t>1</a:t>
            </a:r>
            <a:r>
              <a:rPr lang="zh-CN" altLang="en-US" sz="2800" dirty="0"/>
              <a:t>，如</a:t>
            </a:r>
            <a:r>
              <a:rPr lang="en-US" altLang="zh-CN" sz="2800" dirty="0"/>
              <a:t>10-1 = 1)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乘法、除法：重复的加、减法</a:t>
            </a:r>
            <a:endParaRPr lang="zh-CN" altLang="en-US" sz="2800" baseline="30000" dirty="0"/>
          </a:p>
        </p:txBody>
      </p:sp>
      <p:sp>
        <p:nvSpPr>
          <p:cNvPr id="114692" name="Line 4"/>
          <p:cNvSpPr>
            <a:spLocks noChangeShapeType="1"/>
          </p:cNvSpPr>
          <p:nvPr/>
        </p:nvSpPr>
        <p:spPr bwMode="auto">
          <a:xfrm>
            <a:off x="4847170" y="3213100"/>
            <a:ext cx="19261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1.3.3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计算机运算基础</a:t>
            </a:r>
          </a:p>
        </p:txBody>
      </p:sp>
    </p:spTree>
    <p:extLst>
      <p:ext uri="{BB962C8B-B14F-4D97-AF65-F5344CB8AC3E}">
        <p14:creationId xmlns:p14="http://schemas.microsoft.com/office/powerpoint/2010/main" val="26945339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4437" y="1484313"/>
            <a:ext cx="11425767" cy="482771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6600CC"/>
                </a:solidFill>
              </a:rPr>
              <a:t>2. </a:t>
            </a:r>
            <a:r>
              <a:rPr lang="zh-CN" altLang="en-US" dirty="0">
                <a:solidFill>
                  <a:srgbClr val="6600CC"/>
                </a:solidFill>
              </a:rPr>
              <a:t>逻辑运算</a:t>
            </a:r>
            <a:r>
              <a:rPr lang="zh-CN" altLang="en-US" dirty="0">
                <a:solidFill>
                  <a:srgbClr val="CC3300"/>
                </a:solidFill>
              </a:rPr>
              <a:t>                                  </a:t>
            </a:r>
            <a:r>
              <a:rPr lang="en-US" altLang="zh-CN" dirty="0">
                <a:solidFill>
                  <a:schemeClr val="accent2"/>
                </a:solidFill>
              </a:rPr>
              <a:t>0</a:t>
            </a:r>
            <a:r>
              <a:rPr lang="zh-CN" altLang="en-US" dirty="0">
                <a:solidFill>
                  <a:schemeClr val="accent2"/>
                </a:solidFill>
              </a:rPr>
              <a:t>－假　</a:t>
            </a:r>
            <a:r>
              <a:rPr lang="en-US" altLang="zh-CN" dirty="0">
                <a:solidFill>
                  <a:schemeClr val="accent2"/>
                </a:solidFill>
              </a:rPr>
              <a:t>1</a:t>
            </a:r>
            <a:r>
              <a:rPr lang="zh-CN" altLang="en-US" dirty="0">
                <a:solidFill>
                  <a:schemeClr val="accent2"/>
                </a:solidFill>
              </a:rPr>
              <a:t>－真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accent2"/>
                </a:solidFill>
              </a:rPr>
              <a:t>与</a:t>
            </a:r>
            <a:r>
              <a:rPr lang="zh-CN" altLang="en-US" sz="2800" dirty="0"/>
              <a:t>∧ </a:t>
            </a:r>
            <a:r>
              <a:rPr lang="en-US" altLang="zh-CN" sz="2800" dirty="0"/>
              <a:t>:      0 ∧ 0 = 0</a:t>
            </a:r>
            <a:r>
              <a:rPr lang="zh-CN" altLang="en-US" sz="2800" dirty="0"/>
              <a:t>；</a:t>
            </a:r>
            <a:r>
              <a:rPr lang="en-US" altLang="zh-CN" sz="2800" dirty="0"/>
              <a:t>0 ∧ 1 = 0;   1 ∧ 0 = 0</a:t>
            </a:r>
            <a:r>
              <a:rPr lang="zh-CN" altLang="en-US" sz="2800" dirty="0"/>
              <a:t>；</a:t>
            </a:r>
            <a:r>
              <a:rPr lang="en-US" altLang="zh-CN" sz="2800" dirty="0">
                <a:solidFill>
                  <a:srgbClr val="CC00CC"/>
                </a:solidFill>
              </a:rPr>
              <a:t>1 ∧ 1 = 1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accent2"/>
                </a:solidFill>
              </a:rPr>
              <a:t>或</a:t>
            </a:r>
            <a:r>
              <a:rPr lang="zh-CN" altLang="en-US" sz="2800" dirty="0"/>
              <a:t>∨ </a:t>
            </a:r>
            <a:r>
              <a:rPr lang="en-US" altLang="zh-CN" sz="2800" dirty="0"/>
              <a:t>:      </a:t>
            </a:r>
            <a:r>
              <a:rPr lang="en-US" altLang="zh-CN" sz="2800" dirty="0">
                <a:solidFill>
                  <a:srgbClr val="CC00CC"/>
                </a:solidFill>
              </a:rPr>
              <a:t>0 ∨ 0 = 0</a:t>
            </a:r>
            <a:r>
              <a:rPr lang="zh-CN" altLang="en-US" sz="2800" dirty="0">
                <a:solidFill>
                  <a:srgbClr val="CC00CC"/>
                </a:solidFill>
              </a:rPr>
              <a:t>；</a:t>
            </a:r>
            <a:r>
              <a:rPr lang="en-US" altLang="zh-CN" sz="2800" dirty="0"/>
              <a:t>0 ∨ 1 = 1;   1 ∨ 0 = 1</a:t>
            </a:r>
            <a:r>
              <a:rPr lang="zh-CN" altLang="en-US" sz="2800" dirty="0"/>
              <a:t>；</a:t>
            </a:r>
            <a:r>
              <a:rPr lang="en-US" altLang="zh-CN" sz="2800" dirty="0"/>
              <a:t>1 ∨ 1 = 1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accent2"/>
                </a:solidFill>
              </a:rPr>
              <a:t>非</a:t>
            </a:r>
            <a:r>
              <a:rPr lang="zh-CN" altLang="en-US" sz="2800" dirty="0"/>
              <a:t>ˉ </a:t>
            </a:r>
            <a:r>
              <a:rPr lang="en-US" altLang="zh-CN" sz="2800" dirty="0"/>
              <a:t>:	    </a:t>
            </a:r>
            <a:r>
              <a:rPr lang="en-US" altLang="zh-CN" sz="2800" baseline="-25000" dirty="0">
                <a:latin typeface="Verdana" pitchFamily="34" charset="0"/>
              </a:rPr>
              <a:t>—</a:t>
            </a:r>
            <a:r>
              <a:rPr lang="en-US" altLang="zh-CN" sz="2800" baseline="-25000" dirty="0"/>
              <a:t>              </a:t>
            </a:r>
            <a:r>
              <a:rPr lang="en-US" altLang="zh-CN" sz="2800" baseline="-25000" dirty="0">
                <a:latin typeface="Verdana" pitchFamily="34" charset="0"/>
              </a:rPr>
              <a:t>—</a:t>
            </a:r>
            <a:r>
              <a:rPr lang="en-US" altLang="zh-CN" sz="2800" baseline="-25000" dirty="0"/>
              <a:t>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          0  =  1</a:t>
            </a:r>
            <a:r>
              <a:rPr lang="zh-CN" altLang="en-US" sz="2800" dirty="0"/>
              <a:t>；</a:t>
            </a:r>
            <a:r>
              <a:rPr lang="en-US" altLang="zh-CN" sz="2800" dirty="0"/>
              <a:t>1  =  0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accent2"/>
                </a:solidFill>
              </a:rPr>
              <a:t>异或</a:t>
            </a:r>
            <a:r>
              <a:rPr lang="zh-CN" altLang="en-US" sz="2800" dirty="0"/>
              <a:t>     </a:t>
            </a:r>
            <a:r>
              <a:rPr lang="en-US" altLang="zh-CN" sz="2800" dirty="0"/>
              <a:t>:   0    0 = 0</a:t>
            </a:r>
            <a:r>
              <a:rPr lang="zh-CN" altLang="en-US" sz="2800" dirty="0"/>
              <a:t>； </a:t>
            </a:r>
            <a:r>
              <a:rPr lang="en-US" altLang="zh-CN" sz="2800" dirty="0"/>
              <a:t>1    0 = 1;    0    1 = 1</a:t>
            </a:r>
            <a:r>
              <a:rPr lang="zh-CN" altLang="en-US" sz="2800" dirty="0"/>
              <a:t>；</a:t>
            </a:r>
            <a:r>
              <a:rPr lang="en-US" altLang="zh-CN" sz="2800" dirty="0"/>
              <a:t>1    1 = 0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（只有在两个操作数不相同时，运算结果才为</a:t>
            </a:r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r>
              <a:rPr lang="zh-CN" altLang="en-US" sz="2800" dirty="0">
                <a:solidFill>
                  <a:srgbClr val="FF0000"/>
                </a:solidFill>
              </a:rPr>
              <a:t>，否则为</a:t>
            </a:r>
            <a:r>
              <a:rPr lang="en-US" altLang="zh-CN" sz="2800" dirty="0">
                <a:solidFill>
                  <a:srgbClr val="FF0000"/>
                </a:solidFill>
              </a:rPr>
              <a:t>0</a:t>
            </a:r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algn="r" eaLnBrk="1" hangingPunct="1">
              <a:buFont typeface="Wingdings" pitchFamily="2" charset="2"/>
              <a:buNone/>
            </a:pPr>
            <a:endParaRPr lang="en-US" altLang="zh-CN" sz="2400" dirty="0"/>
          </a:p>
        </p:txBody>
      </p:sp>
      <p:graphicFrame>
        <p:nvGraphicFramePr>
          <p:cNvPr id="116740" name="Object 4"/>
          <p:cNvGraphicFramePr>
            <a:graphicFrameLocks noChangeAspect="1"/>
          </p:cNvGraphicFramePr>
          <p:nvPr/>
        </p:nvGraphicFramePr>
        <p:xfrm>
          <a:off x="3823176" y="4652963"/>
          <a:ext cx="508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Equation" r:id="rId4" imgW="164814" imgH="177492" progId="Equation.3">
                  <p:embed/>
                </p:oleObj>
              </mc:Choice>
              <mc:Fallback>
                <p:oleObj name="Equation" r:id="rId4" imgW="164814" imgH="177492" progId="Equation.3">
                  <p:embed/>
                  <p:pic>
                    <p:nvPicPr>
                      <p:cNvPr id="1167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3176" y="4652963"/>
                        <a:ext cx="508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1" name="Object 5"/>
          <p:cNvGraphicFramePr>
            <a:graphicFrameLocks noChangeAspect="1"/>
          </p:cNvGraphicFramePr>
          <p:nvPr/>
        </p:nvGraphicFramePr>
        <p:xfrm>
          <a:off x="2133461" y="4652963"/>
          <a:ext cx="508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Equation" r:id="rId6" imgW="164814" imgH="177492" progId="Equation.3">
                  <p:embed/>
                </p:oleObj>
              </mc:Choice>
              <mc:Fallback>
                <p:oleObj name="Equation" r:id="rId6" imgW="164814" imgH="177492" progId="Equation.3">
                  <p:embed/>
                  <p:pic>
                    <p:nvPicPr>
                      <p:cNvPr id="1167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461" y="4652963"/>
                        <a:ext cx="508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2" name="Object 6"/>
          <p:cNvGraphicFramePr>
            <a:graphicFrameLocks noChangeAspect="1"/>
          </p:cNvGraphicFramePr>
          <p:nvPr/>
        </p:nvGraphicFramePr>
        <p:xfrm>
          <a:off x="5611903" y="4670892"/>
          <a:ext cx="508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Equation" r:id="rId7" imgW="164814" imgH="177492" progId="Equation.3">
                  <p:embed/>
                </p:oleObj>
              </mc:Choice>
              <mc:Fallback>
                <p:oleObj name="Equation" r:id="rId7" imgW="164814" imgH="177492" progId="Equation.3">
                  <p:embed/>
                  <p:pic>
                    <p:nvPicPr>
                      <p:cNvPr id="1167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1903" y="4670892"/>
                        <a:ext cx="508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3" name="Object 7"/>
          <p:cNvGraphicFramePr>
            <a:graphicFrameLocks noChangeAspect="1"/>
          </p:cNvGraphicFramePr>
          <p:nvPr/>
        </p:nvGraphicFramePr>
        <p:xfrm>
          <a:off x="7236890" y="4652963"/>
          <a:ext cx="508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Equation" r:id="rId8" imgW="164814" imgH="177492" progId="Equation.3">
                  <p:embed/>
                </p:oleObj>
              </mc:Choice>
              <mc:Fallback>
                <p:oleObj name="Equation" r:id="rId8" imgW="164814" imgH="177492" progId="Equation.3">
                  <p:embed/>
                  <p:pic>
                    <p:nvPicPr>
                      <p:cNvPr id="11674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6890" y="4652963"/>
                        <a:ext cx="508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4" name="Object 8"/>
          <p:cNvGraphicFramePr>
            <a:graphicFrameLocks noChangeAspect="1"/>
          </p:cNvGraphicFramePr>
          <p:nvPr/>
        </p:nvGraphicFramePr>
        <p:xfrm>
          <a:off x="1142237" y="4652964"/>
          <a:ext cx="508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Equation" r:id="rId9" imgW="164814" imgH="177492" progId="Equation.3">
                  <p:embed/>
                </p:oleObj>
              </mc:Choice>
              <mc:Fallback>
                <p:oleObj name="Equation" r:id="rId9" imgW="164814" imgH="177492" progId="Equation.3">
                  <p:embed/>
                  <p:pic>
                    <p:nvPicPr>
                      <p:cNvPr id="11674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2237" y="4652964"/>
                        <a:ext cx="508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1.3.3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计算机运算基础</a:t>
            </a:r>
          </a:p>
        </p:txBody>
      </p:sp>
    </p:spTree>
    <p:extLst>
      <p:ext uri="{BB962C8B-B14F-4D97-AF65-F5344CB8AC3E}">
        <p14:creationId xmlns:p14="http://schemas.microsoft.com/office/powerpoint/2010/main" val="1051181135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3600" dirty="0"/>
              <a:t>逻辑运算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19670" y="2482850"/>
            <a:ext cx="10240433" cy="4114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      </a:t>
            </a:r>
            <a:r>
              <a:rPr lang="en-US" altLang="zh-CN" dirty="0"/>
              <a:t>1 1 0 1 1 1 0 1                1 1 0 1 1 1 0 1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∧  </a:t>
            </a:r>
            <a:r>
              <a:rPr lang="en-US" altLang="zh-CN" u="sng" dirty="0"/>
              <a:t> 1 0 1 1 0 1 0 0</a:t>
            </a:r>
            <a:r>
              <a:rPr lang="en-US" altLang="zh-CN" dirty="0"/>
              <a:t>           </a:t>
            </a:r>
            <a:r>
              <a:rPr lang="en-US" altLang="zh-CN" sz="2800" dirty="0"/>
              <a:t>∨ </a:t>
            </a:r>
            <a:r>
              <a:rPr lang="en-US" altLang="zh-CN" u="sng" dirty="0"/>
              <a:t>1 0 1 1 0 1 0 0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     </a:t>
            </a:r>
            <a:r>
              <a:rPr lang="en-US" altLang="zh-CN" sz="1600" dirty="0"/>
              <a:t> </a:t>
            </a:r>
            <a:r>
              <a:rPr lang="en-US" altLang="zh-CN" dirty="0"/>
              <a:t>1 0 0 1 0 1 0 0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                                     </a:t>
            </a:r>
            <a:r>
              <a:rPr lang="en-US" altLang="zh-CN" u="sng" dirty="0"/>
              <a:t>             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     1 1 0 1 1 1 0 1                  1 1 0 1 1 1 0 1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     </a:t>
            </a:r>
            <a:r>
              <a:rPr lang="en-US" altLang="zh-CN" u="sng" dirty="0"/>
              <a:t>1 0 1 1 0 1 0 0</a:t>
            </a: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     0 1 1 0 1 0 0 1</a:t>
            </a:r>
          </a:p>
        </p:txBody>
      </p:sp>
      <p:sp>
        <p:nvSpPr>
          <p:cNvPr id="19460" name="Line 4"/>
          <p:cNvSpPr>
            <a:spLocks noChangeShapeType="1"/>
          </p:cNvSpPr>
          <p:nvPr/>
        </p:nvSpPr>
        <p:spPr bwMode="auto">
          <a:xfrm>
            <a:off x="5446849" y="4938713"/>
            <a:ext cx="2976033" cy="0"/>
          </a:xfrm>
          <a:prstGeom prst="line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18789" name="Text Box 5"/>
          <p:cNvSpPr txBox="1">
            <a:spLocks noChangeArrowheads="1"/>
          </p:cNvSpPr>
          <p:nvPr/>
        </p:nvSpPr>
        <p:spPr bwMode="auto">
          <a:xfrm>
            <a:off x="5474984" y="3643318"/>
            <a:ext cx="451273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1 1 1 1 1 1 0 1</a:t>
            </a:r>
          </a:p>
        </p:txBody>
      </p:sp>
      <p:sp>
        <p:nvSpPr>
          <p:cNvPr id="118790" name="Text Box 6"/>
          <p:cNvSpPr txBox="1">
            <a:spLocks noChangeArrowheads="1"/>
          </p:cNvSpPr>
          <p:nvPr/>
        </p:nvSpPr>
        <p:spPr bwMode="auto">
          <a:xfrm>
            <a:off x="5050402" y="5370518"/>
            <a:ext cx="451273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SzPct val="90000"/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=  0 0 1 0 0 0 1 0</a:t>
            </a:r>
          </a:p>
        </p:txBody>
      </p:sp>
      <p:graphicFrame>
        <p:nvGraphicFramePr>
          <p:cNvPr id="19463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1174751" y="5464175"/>
          <a:ext cx="599016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4" imgW="164814" imgH="177492" progId="Equation.3">
                  <p:embed/>
                </p:oleObj>
              </mc:Choice>
              <mc:Fallback>
                <p:oleObj name="Equation" r:id="rId4" imgW="164814" imgH="177492" progId="Equation.3">
                  <p:embed/>
                  <p:pic>
                    <p:nvPicPr>
                      <p:cNvPr id="1946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751" y="5464175"/>
                        <a:ext cx="599016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1.3.3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计算机运算基础</a:t>
            </a:r>
          </a:p>
        </p:txBody>
      </p:sp>
    </p:spTree>
    <p:extLst>
      <p:ext uri="{BB962C8B-B14F-4D97-AF65-F5344CB8AC3E}">
        <p14:creationId xmlns:p14="http://schemas.microsoft.com/office/powerpoint/2010/main" val="28498611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8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9" grpId="0"/>
      <p:bldP spid="11879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86A48D-B8D4-430A-AE1C-E921A6F75A1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9C1D28A-3CCB-BDE1-1352-58ED9C29E6C3}"/>
              </a:ext>
            </a:extLst>
          </p:cNvPr>
          <p:cNvSpPr txBox="1">
            <a:spLocks/>
          </p:cNvSpPr>
          <p:nvPr/>
        </p:nvSpPr>
        <p:spPr>
          <a:xfrm>
            <a:off x="370115" y="278747"/>
            <a:ext cx="4801959" cy="5524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3600" b="1" spc="200" noProof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1.4  </a:t>
            </a:r>
            <a:r>
              <a:rPr lang="zh-CN" altLang="en-US" sz="3600" b="1" spc="200" noProof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上机环境简介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6FEC142-89C5-5518-65E1-3A5C8A913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709609"/>
            <a:ext cx="5196960" cy="269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903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2"/>
          <p:cNvGrpSpPr>
            <a:grpSpLocks/>
          </p:cNvGrpSpPr>
          <p:nvPr/>
        </p:nvGrpSpPr>
        <p:grpSpPr bwMode="auto">
          <a:xfrm>
            <a:off x="0" y="2022461"/>
            <a:ext cx="12192000" cy="3505200"/>
            <a:chOff x="1103" y="7691"/>
            <a:chExt cx="8011" cy="2743"/>
          </a:xfrm>
        </p:grpSpPr>
        <p:sp>
          <p:nvSpPr>
            <p:cNvPr id="24582" name="Rectangle 3"/>
            <p:cNvSpPr>
              <a:spLocks noChangeArrowheads="1"/>
            </p:cNvSpPr>
            <p:nvPr/>
          </p:nvSpPr>
          <p:spPr bwMode="auto">
            <a:xfrm>
              <a:off x="4078" y="7746"/>
              <a:ext cx="1975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n"/>
                <a:defRPr kumimoji="1" sz="32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3333FF"/>
                </a:buClr>
                <a:buFont typeface="Times New Roman" pitchFamily="18" charset="0"/>
                <a:buChar char="–"/>
                <a:defRPr kumimoji="1" sz="28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bg2"/>
                </a:buClr>
                <a:buFont typeface="Times New Roman" pitchFamily="18" charset="0"/>
                <a:buChar char="»"/>
                <a:defRPr kumimoji="1" sz="24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CC00CC"/>
                </a:buClr>
                <a:buSzPct val="75000"/>
                <a:buFont typeface="Wingdings" pitchFamily="2" charset="2"/>
                <a:buChar char="n"/>
                <a:defRPr kumimoji="1" sz="20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3333FF"/>
                </a:buClr>
                <a:buFont typeface="Times New Roman" pitchFamily="18" charset="0"/>
                <a:buChar char="–"/>
                <a:defRPr kumimoji="1" sz="20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Times New Roman" pitchFamily="18" charset="0"/>
                <a:buChar char="–"/>
                <a:defRPr kumimoji="1" sz="20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Times New Roman" pitchFamily="18" charset="0"/>
                <a:buChar char="–"/>
                <a:defRPr kumimoji="1" sz="20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Times New Roman" pitchFamily="18" charset="0"/>
                <a:buChar char="–"/>
                <a:defRPr kumimoji="1" sz="20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Times New Roman" pitchFamily="18" charset="0"/>
                <a:buChar char="–"/>
                <a:defRPr kumimoji="1" sz="2000" b="1">
                  <a:solidFill>
                    <a:schemeClr val="bg2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endParaRPr>
            </a:p>
          </p:txBody>
        </p:sp>
        <p:grpSp>
          <p:nvGrpSpPr>
            <p:cNvPr id="24583" name="Group 4"/>
            <p:cNvGrpSpPr>
              <a:grpSpLocks/>
            </p:cNvGrpSpPr>
            <p:nvPr/>
          </p:nvGrpSpPr>
          <p:grpSpPr bwMode="auto">
            <a:xfrm>
              <a:off x="1103" y="7691"/>
              <a:ext cx="8011" cy="2743"/>
              <a:chOff x="1103" y="7686"/>
              <a:chExt cx="8011" cy="2743"/>
            </a:xfrm>
          </p:grpSpPr>
          <p:grpSp>
            <p:nvGrpSpPr>
              <p:cNvPr id="24584" name="Group 5"/>
              <p:cNvGrpSpPr>
                <a:grpSpLocks/>
              </p:cNvGrpSpPr>
              <p:nvPr/>
            </p:nvGrpSpPr>
            <p:grpSpPr bwMode="auto">
              <a:xfrm>
                <a:off x="4789" y="9198"/>
                <a:ext cx="583" cy="624"/>
                <a:chOff x="5580" y="3468"/>
                <a:chExt cx="624" cy="624"/>
              </a:xfrm>
            </p:grpSpPr>
            <p:sp>
              <p:nvSpPr>
                <p:cNvPr id="24672" name="Oval 6"/>
                <p:cNvSpPr>
                  <a:spLocks noChangeArrowheads="1"/>
                </p:cNvSpPr>
                <p:nvPr/>
              </p:nvSpPr>
              <p:spPr bwMode="auto">
                <a:xfrm>
                  <a:off x="5580" y="3468"/>
                  <a:ext cx="624" cy="624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8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Times New Roman" pitchFamily="18" charset="0"/>
                    <a:buChar char="»"/>
                    <a:defRPr kumimoji="1" sz="24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75000"/>
                    <a:buFont typeface="Wingdings" pitchFamily="2" charset="2"/>
                    <a:buChar char="n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4673" name="Rectangle 7"/>
                <p:cNvSpPr>
                  <a:spLocks noChangeArrowheads="1"/>
                </p:cNvSpPr>
                <p:nvPr/>
              </p:nvSpPr>
              <p:spPr bwMode="auto">
                <a:xfrm>
                  <a:off x="5640" y="3624"/>
                  <a:ext cx="510" cy="2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8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Times New Roman" pitchFamily="18" charset="0"/>
                    <a:buChar char="»"/>
                    <a:defRPr kumimoji="1" sz="24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75000"/>
                    <a:buFont typeface="Wingdings" pitchFamily="2" charset="2"/>
                    <a:buChar char="n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itchFamily="18" charset="0"/>
                      <a:ea typeface="宋体" pitchFamily="2" charset="-122"/>
                      <a:cs typeface="+mn-cs"/>
                    </a:rPr>
                    <a:t>f.obj</a:t>
                  </a:r>
                </a:p>
              </p:txBody>
            </p:sp>
          </p:grpSp>
          <p:grpSp>
            <p:nvGrpSpPr>
              <p:cNvPr id="24585" name="Group 8"/>
              <p:cNvGrpSpPr>
                <a:grpSpLocks/>
              </p:cNvGrpSpPr>
              <p:nvPr/>
            </p:nvGrpSpPr>
            <p:grpSpPr bwMode="auto">
              <a:xfrm>
                <a:off x="6484" y="9177"/>
                <a:ext cx="583" cy="624"/>
                <a:chOff x="5580" y="3468"/>
                <a:chExt cx="624" cy="624"/>
              </a:xfrm>
            </p:grpSpPr>
            <p:sp>
              <p:nvSpPr>
                <p:cNvPr id="24670" name="Oval 9"/>
                <p:cNvSpPr>
                  <a:spLocks noChangeArrowheads="1"/>
                </p:cNvSpPr>
                <p:nvPr/>
              </p:nvSpPr>
              <p:spPr bwMode="auto">
                <a:xfrm>
                  <a:off x="5580" y="3468"/>
                  <a:ext cx="624" cy="624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8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Times New Roman" pitchFamily="18" charset="0"/>
                    <a:buChar char="»"/>
                    <a:defRPr kumimoji="1" sz="24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75000"/>
                    <a:buFont typeface="Wingdings" pitchFamily="2" charset="2"/>
                    <a:buChar char="n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4671" name="Rectangle 10"/>
                <p:cNvSpPr>
                  <a:spLocks noChangeArrowheads="1"/>
                </p:cNvSpPr>
                <p:nvPr/>
              </p:nvSpPr>
              <p:spPr bwMode="auto">
                <a:xfrm>
                  <a:off x="5640" y="3624"/>
                  <a:ext cx="510" cy="2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8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Times New Roman" pitchFamily="18" charset="0"/>
                    <a:buChar char="»"/>
                    <a:defRPr kumimoji="1" sz="24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75000"/>
                    <a:buFont typeface="Wingdings" pitchFamily="2" charset="2"/>
                    <a:buChar char="n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itchFamily="18" charset="0"/>
                      <a:ea typeface="宋体" pitchFamily="2" charset="-122"/>
                      <a:cs typeface="+mn-cs"/>
                    </a:rPr>
                    <a:t>f.exe</a:t>
                  </a:r>
                </a:p>
              </p:txBody>
            </p:sp>
          </p:grpSp>
          <p:grpSp>
            <p:nvGrpSpPr>
              <p:cNvPr id="24586" name="Group 11"/>
              <p:cNvGrpSpPr>
                <a:grpSpLocks/>
              </p:cNvGrpSpPr>
              <p:nvPr/>
            </p:nvGrpSpPr>
            <p:grpSpPr bwMode="auto">
              <a:xfrm>
                <a:off x="3137" y="9195"/>
                <a:ext cx="582" cy="624"/>
                <a:chOff x="5580" y="3468"/>
                <a:chExt cx="624" cy="624"/>
              </a:xfrm>
            </p:grpSpPr>
            <p:sp>
              <p:nvSpPr>
                <p:cNvPr id="24668" name="Oval 12"/>
                <p:cNvSpPr>
                  <a:spLocks noChangeArrowheads="1"/>
                </p:cNvSpPr>
                <p:nvPr/>
              </p:nvSpPr>
              <p:spPr bwMode="auto">
                <a:xfrm>
                  <a:off x="5580" y="3468"/>
                  <a:ext cx="624" cy="624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8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Times New Roman" pitchFamily="18" charset="0"/>
                    <a:buChar char="»"/>
                    <a:defRPr kumimoji="1" sz="24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75000"/>
                    <a:buFont typeface="Wingdings" pitchFamily="2" charset="2"/>
                    <a:buChar char="n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4669" name="Rectangle 13"/>
                <p:cNvSpPr>
                  <a:spLocks noChangeArrowheads="1"/>
                </p:cNvSpPr>
                <p:nvPr/>
              </p:nvSpPr>
              <p:spPr bwMode="auto">
                <a:xfrm>
                  <a:off x="5640" y="3624"/>
                  <a:ext cx="510" cy="2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8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Times New Roman" pitchFamily="18" charset="0"/>
                    <a:buChar char="»"/>
                    <a:defRPr kumimoji="1" sz="24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75000"/>
                    <a:buFont typeface="Wingdings" pitchFamily="2" charset="2"/>
                    <a:buChar char="n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itchFamily="18" charset="0"/>
                      <a:ea typeface="宋体" pitchFamily="2" charset="-122"/>
                      <a:cs typeface="+mn-cs"/>
                    </a:rPr>
                    <a:t>f.c</a:t>
                  </a:r>
                </a:p>
              </p:txBody>
            </p:sp>
          </p:grpSp>
          <p:grpSp>
            <p:nvGrpSpPr>
              <p:cNvPr id="24587" name="Group 14"/>
              <p:cNvGrpSpPr>
                <a:grpSpLocks/>
              </p:cNvGrpSpPr>
              <p:nvPr/>
            </p:nvGrpSpPr>
            <p:grpSpPr bwMode="auto">
              <a:xfrm>
                <a:off x="1103" y="7686"/>
                <a:ext cx="8011" cy="2743"/>
                <a:chOff x="1038" y="7686"/>
                <a:chExt cx="8011" cy="2743"/>
              </a:xfrm>
            </p:grpSpPr>
            <p:sp>
              <p:nvSpPr>
                <p:cNvPr id="24588" name="Rectangle 15"/>
                <p:cNvSpPr>
                  <a:spLocks noChangeArrowheads="1"/>
                </p:cNvSpPr>
                <p:nvPr/>
              </p:nvSpPr>
              <p:spPr bwMode="auto">
                <a:xfrm>
                  <a:off x="3151" y="10120"/>
                  <a:ext cx="4201" cy="3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8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Times New Roman" pitchFamily="18" charset="0"/>
                    <a:buChar char="»"/>
                    <a:defRPr kumimoji="1" sz="24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75000"/>
                    <a:buFont typeface="Wingdings" pitchFamily="2" charset="2"/>
                    <a:buChar char="n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黑体" pitchFamily="49" charset="-122"/>
                      <a:ea typeface="黑体" pitchFamily="49" charset="-122"/>
                      <a:cs typeface="+mn-cs"/>
                    </a:rPr>
                    <a:t>      </a:t>
                  </a:r>
                  <a:r>
                    <a:rPr kumimoji="0" lang="en-US" altLang="zh-CN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黑体" pitchFamily="49" charset="-122"/>
                      <a:ea typeface="黑体" pitchFamily="49" charset="-122"/>
                      <a:cs typeface="+mn-cs"/>
                    </a:rPr>
                    <a:t>   </a:t>
                  </a:r>
                  <a:r>
                    <a:rPr kumimoji="0" lang="zh-CN" altLang="en-US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黑体" pitchFamily="49" charset="-122"/>
                      <a:ea typeface="黑体" pitchFamily="49" charset="-122"/>
                      <a:cs typeface="+mn-cs"/>
                    </a:rPr>
                    <a:t>上机操作</a:t>
                  </a:r>
                  <a:r>
                    <a:rPr kumimoji="0" lang="zh-CN" altLang="en-US" sz="2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itchFamily="18" charset="0"/>
                      <a:ea typeface="黑体" pitchFamily="49" charset="-122"/>
                      <a:cs typeface="+mn-cs"/>
                    </a:rPr>
                    <a:t>流程</a:t>
                  </a:r>
                </a:p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itchFamily="18" charset="0"/>
                    <a:ea typeface="黑体" pitchFamily="49" charset="-122"/>
                    <a:cs typeface="+mn-cs"/>
                  </a:endParaRPr>
                </a:p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黑体" pitchFamily="49" charset="-122"/>
                    <a:cs typeface="+mn-cs"/>
                  </a:endParaRPr>
                </a:p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itchFamily="18" charset="0"/>
                      <a:ea typeface="宋体" pitchFamily="2" charset="-122"/>
                      <a:cs typeface="+mn-cs"/>
                    </a:rPr>
                    <a:t>　　　　　　　　</a:t>
                  </a:r>
                </a:p>
              </p:txBody>
            </p:sp>
            <p:sp>
              <p:nvSpPr>
                <p:cNvPr id="24589" name="Rectangle 16"/>
                <p:cNvSpPr>
                  <a:spLocks noChangeArrowheads="1"/>
                </p:cNvSpPr>
                <p:nvPr/>
              </p:nvSpPr>
              <p:spPr bwMode="auto">
                <a:xfrm>
                  <a:off x="7434" y="9090"/>
                  <a:ext cx="224" cy="5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itchFamily="2" charset="2"/>
                    <a:buChar char="n"/>
                    <a:defRPr kumimoji="1" sz="32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8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Times New Roman" pitchFamily="18" charset="0"/>
                    <a:buChar char="»"/>
                    <a:defRPr kumimoji="1" sz="24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75000"/>
                    <a:buFont typeface="Wingdings" pitchFamily="2" charset="2"/>
                    <a:buChar char="n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FF"/>
                    </a:buClr>
                    <a:buFont typeface="Times New Roman" pitchFamily="18" charset="0"/>
                    <a:buChar char="–"/>
                    <a:defRPr kumimoji="1" sz="2000" b="1">
                      <a:solidFill>
                        <a:schemeClr val="bg2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6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CC00CC"/>
                      </a:solidFill>
                      <a:effectLst/>
                      <a:uLnTx/>
                      <a:uFillTx/>
                      <a:latin typeface="Times New Roman" pitchFamily="18" charset="0"/>
                      <a:ea typeface="黑体" pitchFamily="49" charset="-122"/>
                      <a:cs typeface="+mn-cs"/>
                    </a:rPr>
                    <a:t>运</a:t>
                  </a:r>
                </a:p>
                <a:p>
                  <a:pPr marL="0" marR="0" lvl="0" indent="0" algn="just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6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CC00CC"/>
                      </a:solidFill>
                      <a:effectLst/>
                      <a:uLnTx/>
                      <a:uFillTx/>
                      <a:latin typeface="Times New Roman" pitchFamily="18" charset="0"/>
                      <a:ea typeface="黑体" pitchFamily="49" charset="-122"/>
                      <a:cs typeface="+mn-cs"/>
                    </a:rPr>
                    <a:t>行</a:t>
                  </a:r>
                </a:p>
              </p:txBody>
            </p:sp>
            <p:grpSp>
              <p:nvGrpSpPr>
                <p:cNvPr id="24590" name="Group 17"/>
                <p:cNvGrpSpPr>
                  <a:grpSpLocks/>
                </p:cNvGrpSpPr>
                <p:nvPr/>
              </p:nvGrpSpPr>
              <p:grpSpPr bwMode="auto">
                <a:xfrm>
                  <a:off x="1038" y="7686"/>
                  <a:ext cx="8011" cy="2145"/>
                  <a:chOff x="1038" y="7686"/>
                  <a:chExt cx="8011" cy="2145"/>
                </a:xfrm>
              </p:grpSpPr>
              <p:grpSp>
                <p:nvGrpSpPr>
                  <p:cNvPr id="24591" name="Group 18"/>
                  <p:cNvGrpSpPr>
                    <a:grpSpLocks/>
                  </p:cNvGrpSpPr>
                  <p:nvPr/>
                </p:nvGrpSpPr>
                <p:grpSpPr bwMode="auto">
                  <a:xfrm>
                    <a:off x="2688" y="8778"/>
                    <a:ext cx="5955" cy="723"/>
                    <a:chOff x="3924" y="2064"/>
                    <a:chExt cx="6378" cy="723"/>
                  </a:xfrm>
                </p:grpSpPr>
                <p:sp>
                  <p:nvSpPr>
                    <p:cNvPr id="24658" name="Rectangle 1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27" y="2091"/>
                      <a:ext cx="975" cy="28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Char char="n"/>
                        <a:defRPr kumimoji="1"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Times New Roman" pitchFamily="18" charset="0"/>
                        <a:buChar char="»"/>
                        <a:defRPr kumimoji="1" sz="24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75000"/>
                        <a:buFont typeface="Wingdings" pitchFamily="2" charset="2"/>
                        <a:buChar char="n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黑体" pitchFamily="49" charset="-122"/>
                          <a:ea typeface="黑体" pitchFamily="49" charset="-122"/>
                          <a:cs typeface="+mn-cs"/>
                        </a:rPr>
                        <a:t>  </a:t>
                      </a:r>
                      <a:r>
                        <a:rPr kumimoji="0" lang="zh-CN" alt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黑体" pitchFamily="49" charset="-122"/>
                          <a:ea typeface="黑体" pitchFamily="49" charset="-122"/>
                          <a:cs typeface="+mn-cs"/>
                        </a:rPr>
                        <a:t>运行出错</a:t>
                      </a:r>
                    </a:p>
                  </p:txBody>
                </p:sp>
                <p:sp>
                  <p:nvSpPr>
                    <p:cNvPr id="24659" name="Rectangle 2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542" y="2064"/>
                      <a:ext cx="975" cy="28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Char char="n"/>
                        <a:defRPr kumimoji="1"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Times New Roman" pitchFamily="18" charset="0"/>
                        <a:buChar char="»"/>
                        <a:defRPr kumimoji="1" sz="24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75000"/>
                        <a:buFont typeface="Wingdings" pitchFamily="2" charset="2"/>
                        <a:buChar char="n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黑体" pitchFamily="49" charset="-122"/>
                          <a:ea typeface="黑体" pitchFamily="49" charset="-122"/>
                          <a:cs typeface="+mn-cs"/>
                        </a:rPr>
                        <a:t>  </a:t>
                      </a:r>
                      <a:r>
                        <a:rPr kumimoji="0" lang="zh-CN" alt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黑体" pitchFamily="49" charset="-122"/>
                          <a:ea typeface="黑体" pitchFamily="49" charset="-122"/>
                          <a:cs typeface="+mn-cs"/>
                        </a:rPr>
                        <a:t>连接出错</a:t>
                      </a:r>
                    </a:p>
                  </p:txBody>
                </p:sp>
                <p:sp>
                  <p:nvSpPr>
                    <p:cNvPr id="24660" name="Rectangle 2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77" y="2064"/>
                      <a:ext cx="975" cy="28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Char char="n"/>
                        <a:defRPr kumimoji="1"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Times New Roman" pitchFamily="18" charset="0"/>
                        <a:buChar char="»"/>
                        <a:defRPr kumimoji="1" sz="24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75000"/>
                        <a:buFont typeface="Wingdings" pitchFamily="2" charset="2"/>
                        <a:buChar char="n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黑体" pitchFamily="49" charset="-122"/>
                          <a:ea typeface="黑体" pitchFamily="49" charset="-122"/>
                          <a:cs typeface="+mn-cs"/>
                        </a:rPr>
                        <a:t>  </a:t>
                      </a:r>
                      <a:r>
                        <a:rPr kumimoji="0" lang="zh-CN" alt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黑体" pitchFamily="49" charset="-122"/>
                          <a:ea typeface="黑体" pitchFamily="49" charset="-122"/>
                          <a:cs typeface="+mn-cs"/>
                        </a:rPr>
                        <a:t>编译出错</a:t>
                      </a:r>
                    </a:p>
                  </p:txBody>
                </p:sp>
                <p:sp>
                  <p:nvSpPr>
                    <p:cNvPr id="24661" name="Line 22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4559" y="1736"/>
                      <a:ext cx="0" cy="127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 type="triangle" w="sm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p:txBody>
                </p:sp>
                <p:sp>
                  <p:nvSpPr>
                    <p:cNvPr id="24662" name="Line 2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757" y="2349"/>
                      <a:ext cx="126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p:txBody>
                </p:sp>
                <p:sp>
                  <p:nvSpPr>
                    <p:cNvPr id="24663" name="Line 2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542" y="2358"/>
                      <a:ext cx="126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p:txBody>
                </p:sp>
                <p:sp>
                  <p:nvSpPr>
                    <p:cNvPr id="24664" name="Line 2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330" y="2364"/>
                      <a:ext cx="227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p:txBody>
                </p:sp>
                <p:sp>
                  <p:nvSpPr>
                    <p:cNvPr id="24665" name="Line 26"/>
                    <p:cNvSpPr>
                      <a:spLocks noChangeShapeType="1"/>
                    </p:cNvSpPr>
                    <p:nvPr/>
                  </p:nvSpPr>
                  <p:spPr bwMode="auto">
                    <a:xfrm rot="10800000">
                      <a:off x="9537" y="2319"/>
                      <a:ext cx="0" cy="46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 type="triangle" w="sm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p:txBody>
                </p:sp>
                <p:sp>
                  <p:nvSpPr>
                    <p:cNvPr id="24666" name="Line 27"/>
                    <p:cNvSpPr>
                      <a:spLocks noChangeShapeType="1"/>
                    </p:cNvSpPr>
                    <p:nvPr/>
                  </p:nvSpPr>
                  <p:spPr bwMode="auto">
                    <a:xfrm rot="10800000">
                      <a:off x="5937" y="2319"/>
                      <a:ext cx="0" cy="46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 type="triangle" w="sm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p:txBody>
                </p:sp>
                <p:sp>
                  <p:nvSpPr>
                    <p:cNvPr id="24667" name="Line 28"/>
                    <p:cNvSpPr>
                      <a:spLocks noChangeShapeType="1"/>
                    </p:cNvSpPr>
                    <p:nvPr/>
                  </p:nvSpPr>
                  <p:spPr bwMode="auto">
                    <a:xfrm rot="10800000">
                      <a:off x="7722" y="2319"/>
                      <a:ext cx="0" cy="46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 type="triangle" w="sm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24592" name="Group 29"/>
                  <p:cNvGrpSpPr>
                    <a:grpSpLocks/>
                  </p:cNvGrpSpPr>
                  <p:nvPr/>
                </p:nvGrpSpPr>
                <p:grpSpPr bwMode="auto">
                  <a:xfrm>
                    <a:off x="2214" y="7686"/>
                    <a:ext cx="5533" cy="2119"/>
                    <a:chOff x="3420" y="1276"/>
                    <a:chExt cx="5925" cy="2119"/>
                  </a:xfrm>
                </p:grpSpPr>
                <p:grpSp>
                  <p:nvGrpSpPr>
                    <p:cNvPr id="24614" name="Group 3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600" y="1284"/>
                      <a:ext cx="5584" cy="413"/>
                      <a:chOff x="3600" y="1441"/>
                      <a:chExt cx="4786" cy="396"/>
                    </a:xfrm>
                  </p:grpSpPr>
                  <p:sp>
                    <p:nvSpPr>
                      <p:cNvPr id="24656" name="Line 31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600" y="1441"/>
                        <a:ext cx="0" cy="39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1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endParaRPr>
                      </a:p>
                    </p:txBody>
                  </p:sp>
                  <p:sp>
                    <p:nvSpPr>
                      <p:cNvPr id="24657" name="Line 32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600" y="1445"/>
                        <a:ext cx="4786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1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24615" name="Group 3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420" y="1276"/>
                      <a:ext cx="5925" cy="2119"/>
                      <a:chOff x="3420" y="1276"/>
                      <a:chExt cx="5925" cy="2119"/>
                    </a:xfrm>
                  </p:grpSpPr>
                  <p:grpSp>
                    <p:nvGrpSpPr>
                      <p:cNvPr id="24616" name="Group 34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420" y="1687"/>
                        <a:ext cx="540" cy="1708"/>
                        <a:chOff x="4860" y="2145"/>
                        <a:chExt cx="540" cy="1708"/>
                      </a:xfrm>
                    </p:grpSpPr>
                    <p:sp>
                      <p:nvSpPr>
                        <p:cNvPr id="24648" name="Line 3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5040" y="2160"/>
                          <a:ext cx="0" cy="85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en-US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24649" name="Line 3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5220" y="2145"/>
                          <a:ext cx="0" cy="85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en-US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endParaRPr>
                        </a:p>
                      </p:txBody>
                    </p:sp>
                    <p:grpSp>
                      <p:nvGrpSpPr>
                        <p:cNvPr id="24650" name="Group 37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860" y="3000"/>
                          <a:ext cx="540" cy="853"/>
                          <a:chOff x="7575" y="1719"/>
                          <a:chExt cx="540" cy="853"/>
                        </a:xfrm>
                      </p:grpSpPr>
                      <p:sp>
                        <p:nvSpPr>
                          <p:cNvPr id="24653" name="Line 3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7575" y="1719"/>
                            <a:ext cx="0" cy="850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pPr marL="0" marR="0" lvl="0" indent="0" algn="l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1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/>
                              <a:ea typeface="宋体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24654" name="Line 39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8100" y="1722"/>
                            <a:ext cx="0" cy="850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pPr marL="0" marR="0" lvl="0" indent="0" algn="l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1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/>
                              <a:ea typeface="宋体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24655" name="Line 40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7575" y="2562"/>
                            <a:ext cx="540" cy="0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pPr marL="0" marR="0" lvl="0" indent="0" algn="l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1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/>
                              <a:ea typeface="宋体"/>
                              <a:cs typeface="+mn-cs"/>
                            </a:endParaRPr>
                          </a:p>
                        </p:txBody>
                      </p:sp>
                    </p:grpSp>
                    <p:sp>
                      <p:nvSpPr>
                        <p:cNvPr id="24651" name="Line 4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860" y="3000"/>
                          <a:ext cx="180" cy="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en-US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24652" name="Line 4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5220" y="3000"/>
                          <a:ext cx="180" cy="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en-US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24617" name="Group 4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5220" y="1679"/>
                        <a:ext cx="540" cy="1708"/>
                        <a:chOff x="4860" y="2145"/>
                        <a:chExt cx="540" cy="1708"/>
                      </a:xfrm>
                    </p:grpSpPr>
                    <p:sp>
                      <p:nvSpPr>
                        <p:cNvPr id="24640" name="Line 4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5040" y="2160"/>
                          <a:ext cx="0" cy="85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en-US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24641" name="Line 4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5220" y="2145"/>
                          <a:ext cx="0" cy="85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en-US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endParaRPr>
                        </a:p>
                      </p:txBody>
                    </p:sp>
                    <p:grpSp>
                      <p:nvGrpSpPr>
                        <p:cNvPr id="24642" name="Group 46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860" y="3000"/>
                          <a:ext cx="540" cy="853"/>
                          <a:chOff x="7575" y="1719"/>
                          <a:chExt cx="540" cy="853"/>
                        </a:xfrm>
                      </p:grpSpPr>
                      <p:sp>
                        <p:nvSpPr>
                          <p:cNvPr id="24645" name="Line 4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7575" y="1719"/>
                            <a:ext cx="0" cy="850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pPr marL="0" marR="0" lvl="0" indent="0" algn="l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1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/>
                              <a:ea typeface="宋体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24646" name="Line 4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8100" y="1722"/>
                            <a:ext cx="0" cy="850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pPr marL="0" marR="0" lvl="0" indent="0" algn="l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1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/>
                              <a:ea typeface="宋体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24647" name="Line 49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7575" y="2562"/>
                            <a:ext cx="540" cy="0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pPr marL="0" marR="0" lvl="0" indent="0" algn="l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1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/>
                              <a:ea typeface="宋体"/>
                              <a:cs typeface="+mn-cs"/>
                            </a:endParaRPr>
                          </a:p>
                        </p:txBody>
                      </p:sp>
                    </p:grpSp>
                    <p:sp>
                      <p:nvSpPr>
                        <p:cNvPr id="24643" name="Line 5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860" y="3000"/>
                          <a:ext cx="180" cy="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en-US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24644" name="Line 5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5220" y="3000"/>
                          <a:ext cx="180" cy="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en-US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24618" name="Group 52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7020" y="1658"/>
                        <a:ext cx="540" cy="1708"/>
                        <a:chOff x="4860" y="2145"/>
                        <a:chExt cx="540" cy="1708"/>
                      </a:xfrm>
                    </p:grpSpPr>
                    <p:sp>
                      <p:nvSpPr>
                        <p:cNvPr id="24632" name="Line 5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5040" y="2160"/>
                          <a:ext cx="0" cy="85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en-US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24633" name="Line 5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5220" y="2145"/>
                          <a:ext cx="0" cy="85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en-US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endParaRPr>
                        </a:p>
                      </p:txBody>
                    </p:sp>
                    <p:grpSp>
                      <p:nvGrpSpPr>
                        <p:cNvPr id="24634" name="Group 55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860" y="3000"/>
                          <a:ext cx="540" cy="853"/>
                          <a:chOff x="7575" y="1719"/>
                          <a:chExt cx="540" cy="853"/>
                        </a:xfrm>
                      </p:grpSpPr>
                      <p:sp>
                        <p:nvSpPr>
                          <p:cNvPr id="24637" name="Line 5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7575" y="1719"/>
                            <a:ext cx="0" cy="850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pPr marL="0" marR="0" lvl="0" indent="0" algn="l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1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/>
                              <a:ea typeface="宋体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24638" name="Line 5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8100" y="1722"/>
                            <a:ext cx="0" cy="850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pPr marL="0" marR="0" lvl="0" indent="0" algn="l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1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/>
                              <a:ea typeface="宋体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24639" name="Line 5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7575" y="2562"/>
                            <a:ext cx="540" cy="0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pPr marL="0" marR="0" lvl="0" indent="0" algn="l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1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/>
                              <a:ea typeface="宋体"/>
                              <a:cs typeface="+mn-cs"/>
                            </a:endParaRPr>
                          </a:p>
                        </p:txBody>
                      </p:sp>
                    </p:grpSp>
                    <p:sp>
                      <p:nvSpPr>
                        <p:cNvPr id="24635" name="Line 5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860" y="3000"/>
                          <a:ext cx="180" cy="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en-US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24636" name="Line 6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5220" y="3000"/>
                          <a:ext cx="180" cy="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en-US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endParaRPr>
                        </a:p>
                      </p:txBody>
                    </p:sp>
                  </p:grpSp>
                  <p:grpSp>
                    <p:nvGrpSpPr>
                      <p:cNvPr id="24619" name="Group 61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780" y="1276"/>
                        <a:ext cx="5565" cy="2116"/>
                        <a:chOff x="3780" y="1201"/>
                        <a:chExt cx="5565" cy="2116"/>
                      </a:xfrm>
                    </p:grpSpPr>
                    <p:grpSp>
                      <p:nvGrpSpPr>
                        <p:cNvPr id="24620" name="Group 62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8805" y="2464"/>
                          <a:ext cx="540" cy="853"/>
                          <a:chOff x="7575" y="1719"/>
                          <a:chExt cx="540" cy="853"/>
                        </a:xfrm>
                      </p:grpSpPr>
                      <p:sp>
                        <p:nvSpPr>
                          <p:cNvPr id="24629" name="Line 6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7575" y="1719"/>
                            <a:ext cx="0" cy="850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pPr marL="0" marR="0" lvl="0" indent="0" algn="l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1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/>
                              <a:ea typeface="宋体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24630" name="Line 6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8100" y="1722"/>
                            <a:ext cx="0" cy="850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pPr marL="0" marR="0" lvl="0" indent="0" algn="l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1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/>
                              <a:ea typeface="宋体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24631" name="Line 65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7575" y="2562"/>
                            <a:ext cx="540" cy="0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pPr marL="0" marR="0" lvl="0" indent="0" algn="l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1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/>
                              <a:ea typeface="宋体"/>
                              <a:cs typeface="+mn-cs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4621" name="Group 66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8820" y="1201"/>
                          <a:ext cx="510" cy="1258"/>
                          <a:chOff x="8820" y="1440"/>
                          <a:chExt cx="510" cy="1258"/>
                        </a:xfrm>
                      </p:grpSpPr>
                      <p:sp>
                        <p:nvSpPr>
                          <p:cNvPr id="24625" name="Line 6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8985" y="1836"/>
                            <a:ext cx="0" cy="862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pPr marL="0" marR="0" lvl="0" indent="0" algn="l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1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/>
                              <a:ea typeface="宋体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24626" name="Line 6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9165" y="1440"/>
                            <a:ext cx="0" cy="1247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pPr marL="0" marR="0" lvl="0" indent="0" algn="l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1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/>
                              <a:ea typeface="宋体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24627" name="Line 69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8820" y="2691"/>
                            <a:ext cx="180" cy="0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pPr marL="0" marR="0" lvl="0" indent="0" algn="l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1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/>
                              <a:ea typeface="宋体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24628" name="Line 70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9150" y="2694"/>
                            <a:ext cx="180" cy="0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pPr marL="0" marR="0" lvl="0" indent="0" algn="l" defTabSz="914400" rtl="0" eaLnBrk="1" fontAlgn="base" latinLnBrk="0" hangingPunct="1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1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Times New Roman"/>
                              <a:ea typeface="宋体"/>
                              <a:cs typeface="+mn-cs"/>
                            </a:endParaRPr>
                          </a:p>
                        </p:txBody>
                      </p:sp>
                    </p:grpSp>
                    <p:sp>
                      <p:nvSpPr>
                        <p:cNvPr id="24622" name="Line 7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80" y="1596"/>
                          <a:ext cx="1620" cy="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en-US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24623" name="Line 7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5580" y="1596"/>
                          <a:ext cx="1620" cy="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en-US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24624" name="Line 7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7380" y="1596"/>
                          <a:ext cx="1620" cy="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1" lang="en-US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Times New Roman"/>
                            <a:ea typeface="宋体"/>
                            <a:cs typeface="+mn-cs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24593" name="Line 74"/>
                  <p:cNvSpPr>
                    <a:spLocks noChangeShapeType="1"/>
                  </p:cNvSpPr>
                  <p:nvPr/>
                </p:nvSpPr>
                <p:spPr bwMode="auto">
                  <a:xfrm>
                    <a:off x="1906" y="9538"/>
                    <a:ext cx="1177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dash"/>
                    <a:round/>
                    <a:headEnd/>
                    <a:tailEnd type="triangle" w="sm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/>
                      <a:ea typeface="宋体"/>
                      <a:cs typeface="+mn-cs"/>
                    </a:endParaRPr>
                  </a:p>
                </p:txBody>
              </p:sp>
              <p:sp>
                <p:nvSpPr>
                  <p:cNvPr id="24594" name="Line 75"/>
                  <p:cNvSpPr>
                    <a:spLocks noChangeShapeType="1"/>
                  </p:cNvSpPr>
                  <p:nvPr/>
                </p:nvSpPr>
                <p:spPr bwMode="auto">
                  <a:xfrm>
                    <a:off x="3559" y="9496"/>
                    <a:ext cx="1176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dash"/>
                    <a:round/>
                    <a:headEnd/>
                    <a:tailEnd type="triangle" w="sm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/>
                      <a:ea typeface="宋体"/>
                      <a:cs typeface="+mn-cs"/>
                    </a:endParaRPr>
                  </a:p>
                </p:txBody>
              </p:sp>
              <p:sp>
                <p:nvSpPr>
                  <p:cNvPr id="24595" name="Line 76"/>
                  <p:cNvSpPr>
                    <a:spLocks noChangeShapeType="1"/>
                  </p:cNvSpPr>
                  <p:nvPr/>
                </p:nvSpPr>
                <p:spPr bwMode="auto">
                  <a:xfrm>
                    <a:off x="5240" y="9496"/>
                    <a:ext cx="1176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dash"/>
                    <a:round/>
                    <a:headEnd/>
                    <a:tailEnd type="triangle" w="sm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/>
                      <a:ea typeface="宋体"/>
                      <a:cs typeface="+mn-cs"/>
                    </a:endParaRPr>
                  </a:p>
                </p:txBody>
              </p:sp>
              <p:sp>
                <p:nvSpPr>
                  <p:cNvPr id="24596" name="Line 77"/>
                  <p:cNvSpPr>
                    <a:spLocks noChangeShapeType="1"/>
                  </p:cNvSpPr>
                  <p:nvPr/>
                </p:nvSpPr>
                <p:spPr bwMode="auto">
                  <a:xfrm>
                    <a:off x="6920" y="9496"/>
                    <a:ext cx="134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dash"/>
                    <a:round/>
                    <a:headEnd/>
                    <a:tailEnd type="triangle" w="sm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/>
                      <a:ea typeface="宋体"/>
                      <a:cs typeface="+mn-cs"/>
                    </a:endParaRPr>
                  </a:p>
                </p:txBody>
              </p:sp>
              <p:grpSp>
                <p:nvGrpSpPr>
                  <p:cNvPr id="24597" name="Group 78"/>
                  <p:cNvGrpSpPr>
                    <a:grpSpLocks/>
                  </p:cNvGrpSpPr>
                  <p:nvPr/>
                </p:nvGrpSpPr>
                <p:grpSpPr bwMode="auto">
                  <a:xfrm>
                    <a:off x="8209" y="9219"/>
                    <a:ext cx="840" cy="585"/>
                    <a:chOff x="8640" y="3468"/>
                    <a:chExt cx="900" cy="585"/>
                  </a:xfrm>
                </p:grpSpPr>
                <p:grpSp>
                  <p:nvGrpSpPr>
                    <p:cNvPr id="24608" name="Group 7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640" y="3468"/>
                      <a:ext cx="900" cy="585"/>
                      <a:chOff x="7740" y="4554"/>
                      <a:chExt cx="900" cy="585"/>
                    </a:xfrm>
                  </p:grpSpPr>
                  <p:sp>
                    <p:nvSpPr>
                      <p:cNvPr id="24610" name="Line 8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640" y="4680"/>
                        <a:ext cx="0" cy="459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1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endParaRPr>
                      </a:p>
                    </p:txBody>
                  </p:sp>
                  <p:sp>
                    <p:nvSpPr>
                      <p:cNvPr id="24611" name="Line 8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740" y="4554"/>
                        <a:ext cx="0" cy="567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1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endParaRPr>
                      </a:p>
                    </p:txBody>
                  </p:sp>
                  <p:sp>
                    <p:nvSpPr>
                      <p:cNvPr id="24612" name="Line 8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740" y="5124"/>
                        <a:ext cx="900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1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endParaRPr>
                      </a:p>
                    </p:txBody>
                  </p:sp>
                  <p:sp>
                    <p:nvSpPr>
                      <p:cNvPr id="24613" name="Line 8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740" y="4560"/>
                        <a:ext cx="885" cy="105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1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endParaRPr>
                      </a:p>
                    </p:txBody>
                  </p:sp>
                </p:grpSp>
                <p:sp>
                  <p:nvSpPr>
                    <p:cNvPr id="24609" name="Rectangle 8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20" y="3624"/>
                      <a:ext cx="567" cy="3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Char char="n"/>
                        <a:defRPr kumimoji="1"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Times New Roman" pitchFamily="18" charset="0"/>
                        <a:buChar char="»"/>
                        <a:defRPr kumimoji="1" sz="24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75000"/>
                        <a:buFont typeface="Wingdings" pitchFamily="2" charset="2"/>
                        <a:buChar char="n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黑体" pitchFamily="49" charset="-122"/>
                          <a:cs typeface="+mn-cs"/>
                        </a:rPr>
                        <a:t>结 果</a:t>
                      </a:r>
                    </a:p>
                  </p:txBody>
                </p:sp>
              </p:grpSp>
              <p:grpSp>
                <p:nvGrpSpPr>
                  <p:cNvPr id="24598" name="Group 85"/>
                  <p:cNvGrpSpPr>
                    <a:grpSpLocks/>
                  </p:cNvGrpSpPr>
                  <p:nvPr/>
                </p:nvGrpSpPr>
                <p:grpSpPr bwMode="auto">
                  <a:xfrm>
                    <a:off x="1038" y="9246"/>
                    <a:ext cx="840" cy="585"/>
                    <a:chOff x="1134" y="9246"/>
                    <a:chExt cx="840" cy="585"/>
                  </a:xfrm>
                </p:grpSpPr>
                <p:grpSp>
                  <p:nvGrpSpPr>
                    <p:cNvPr id="24602" name="Group 86"/>
                    <p:cNvGrpSpPr>
                      <a:grpSpLocks/>
                    </p:cNvGrpSpPr>
                    <p:nvPr/>
                  </p:nvGrpSpPr>
                  <p:grpSpPr bwMode="auto">
                    <a:xfrm flipH="1">
                      <a:off x="1134" y="9246"/>
                      <a:ext cx="840" cy="585"/>
                      <a:chOff x="7740" y="4554"/>
                      <a:chExt cx="900" cy="585"/>
                    </a:xfrm>
                  </p:grpSpPr>
                  <p:sp>
                    <p:nvSpPr>
                      <p:cNvPr id="24604" name="Line 8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640" y="4680"/>
                        <a:ext cx="0" cy="459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1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endParaRPr>
                      </a:p>
                    </p:txBody>
                  </p:sp>
                  <p:sp>
                    <p:nvSpPr>
                      <p:cNvPr id="24605" name="Line 8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740" y="4554"/>
                        <a:ext cx="0" cy="567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1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endParaRPr>
                      </a:p>
                    </p:txBody>
                  </p:sp>
                  <p:sp>
                    <p:nvSpPr>
                      <p:cNvPr id="24606" name="Line 8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740" y="5124"/>
                        <a:ext cx="900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1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endParaRPr>
                      </a:p>
                    </p:txBody>
                  </p:sp>
                  <p:sp>
                    <p:nvSpPr>
                      <p:cNvPr id="24607" name="Line 9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740" y="4560"/>
                        <a:ext cx="885" cy="105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1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endParaRPr>
                      </a:p>
                    </p:txBody>
                  </p:sp>
                </p:grpSp>
                <p:sp>
                  <p:nvSpPr>
                    <p:cNvPr id="24603" name="Rectangle 9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06" y="9417"/>
                      <a:ext cx="567" cy="3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tIns="0" rIns="0" bIns="0"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Char char="n"/>
                        <a:defRPr kumimoji="1"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Times New Roman" pitchFamily="18" charset="0"/>
                        <a:buChar char="»"/>
                        <a:defRPr kumimoji="1" sz="24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CC00CC"/>
                        </a:buClr>
                        <a:buSzPct val="75000"/>
                        <a:buFont typeface="Wingdings" pitchFamily="2" charset="2"/>
                        <a:buChar char="n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Font typeface="Times New Roman" pitchFamily="18" charset="0"/>
                        <a:buChar char="–"/>
                        <a:defRPr kumimoji="1" sz="20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黑体" pitchFamily="49" charset="-122"/>
                          <a:cs typeface="+mn-cs"/>
                        </a:rPr>
                        <a:t>源程序</a:t>
                      </a:r>
                    </a:p>
                  </p:txBody>
                </p:sp>
              </p:grpSp>
              <p:sp>
                <p:nvSpPr>
                  <p:cNvPr id="24599" name="Rectangle 92"/>
                  <p:cNvSpPr>
                    <a:spLocks noChangeArrowheads="1"/>
                  </p:cNvSpPr>
                  <p:nvPr/>
                </p:nvSpPr>
                <p:spPr bwMode="auto">
                  <a:xfrm>
                    <a:off x="5732" y="9009"/>
                    <a:ext cx="227" cy="70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>
                    <a:lvl1pPr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SzPct val="75000"/>
                      <a:buFont typeface="Wingdings" pitchFamily="2" charset="2"/>
                      <a:buChar char="n"/>
                      <a:defRPr kumimoji="1" sz="3200" b="1">
                        <a:solidFill>
                          <a:schemeClr val="bg2"/>
                        </a:solidFill>
                        <a:latin typeface="Times New Roman" pitchFamily="18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lr>
                        <a:srgbClr val="3333FF"/>
                      </a:buClr>
                      <a:buFont typeface="Times New Roman" pitchFamily="18" charset="0"/>
                      <a:buChar char="–"/>
                      <a:defRPr kumimoji="1" sz="2800" b="1">
                        <a:solidFill>
                          <a:schemeClr val="bg2"/>
                        </a:solidFill>
                        <a:latin typeface="Times New Roman" pitchFamily="18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Font typeface="Times New Roman" pitchFamily="18" charset="0"/>
                      <a:buChar char="»"/>
                      <a:defRPr kumimoji="1" sz="2400" b="1">
                        <a:solidFill>
                          <a:schemeClr val="bg2"/>
                        </a:solidFill>
                        <a:latin typeface="Times New Roman" pitchFamily="18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lr>
                        <a:srgbClr val="CC00CC"/>
                      </a:buClr>
                      <a:buSzPct val="75000"/>
                      <a:buFont typeface="Wingdings" pitchFamily="2" charset="2"/>
                      <a:buChar char="n"/>
                      <a:defRPr kumimoji="1" sz="2000" b="1">
                        <a:solidFill>
                          <a:schemeClr val="bg2"/>
                        </a:solidFill>
                        <a:latin typeface="Times New Roman" pitchFamily="18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rgbClr val="3333FF"/>
                      </a:buClr>
                      <a:buFont typeface="Times New Roman" pitchFamily="18" charset="0"/>
                      <a:buChar char="–"/>
                      <a:defRPr kumimoji="1" sz="2000" b="1">
                        <a:solidFill>
                          <a:schemeClr val="bg2"/>
                        </a:solidFill>
                        <a:latin typeface="Times New Roman" pitchFamily="18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FF"/>
                      </a:buClr>
                      <a:buFont typeface="Times New Roman" pitchFamily="18" charset="0"/>
                      <a:buChar char="–"/>
                      <a:defRPr kumimoji="1" sz="2000" b="1">
                        <a:solidFill>
                          <a:schemeClr val="bg2"/>
                        </a:solidFill>
                        <a:latin typeface="Times New Roman" pitchFamily="18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FF"/>
                      </a:buClr>
                      <a:buFont typeface="Times New Roman" pitchFamily="18" charset="0"/>
                      <a:buChar char="–"/>
                      <a:defRPr kumimoji="1" sz="2000" b="1">
                        <a:solidFill>
                          <a:schemeClr val="bg2"/>
                        </a:solidFill>
                        <a:latin typeface="Times New Roman" pitchFamily="18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FF"/>
                      </a:buClr>
                      <a:buFont typeface="Times New Roman" pitchFamily="18" charset="0"/>
                      <a:buChar char="–"/>
                      <a:defRPr kumimoji="1" sz="2000" b="1">
                        <a:solidFill>
                          <a:schemeClr val="bg2"/>
                        </a:solidFill>
                        <a:latin typeface="Times New Roman" pitchFamily="18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FF"/>
                      </a:buClr>
                      <a:buFont typeface="Times New Roman" pitchFamily="18" charset="0"/>
                      <a:buChar char="–"/>
                      <a:defRPr kumimoji="1" sz="2000" b="1">
                        <a:solidFill>
                          <a:schemeClr val="bg2"/>
                        </a:solidFill>
                        <a:latin typeface="Times New Roman" pitchFamily="18" charset="0"/>
                        <a:ea typeface="宋体" pitchFamily="2" charset="-122"/>
                      </a:defRPr>
                    </a:lvl9pPr>
                  </a:lstStyle>
                  <a:p>
                    <a:pPr marL="0" marR="0" lvl="0" indent="0" algn="just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C00CC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黑体" pitchFamily="49" charset="-122"/>
                        <a:cs typeface="+mn-cs"/>
                      </a:rPr>
                      <a:t>连</a:t>
                    </a:r>
                  </a:p>
                  <a:p>
                    <a:pPr marL="0" marR="0" lvl="0" indent="0" algn="just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C00CC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黑体" pitchFamily="49" charset="-122"/>
                        <a:cs typeface="+mn-cs"/>
                      </a:rPr>
                      <a:t>接器</a:t>
                    </a:r>
                  </a:p>
                </p:txBody>
              </p:sp>
              <p:sp>
                <p:nvSpPr>
                  <p:cNvPr id="24600" name="Rectangle 93"/>
                  <p:cNvSpPr>
                    <a:spLocks noChangeArrowheads="1"/>
                  </p:cNvSpPr>
                  <p:nvPr/>
                </p:nvSpPr>
                <p:spPr bwMode="auto">
                  <a:xfrm>
                    <a:off x="4066" y="9018"/>
                    <a:ext cx="252" cy="68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>
                    <a:lvl1pPr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SzPct val="75000"/>
                      <a:buFont typeface="Wingdings" pitchFamily="2" charset="2"/>
                      <a:buChar char="n"/>
                      <a:defRPr kumimoji="1" sz="3200" b="1">
                        <a:solidFill>
                          <a:schemeClr val="bg2"/>
                        </a:solidFill>
                        <a:latin typeface="Times New Roman" pitchFamily="18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lr>
                        <a:srgbClr val="3333FF"/>
                      </a:buClr>
                      <a:buFont typeface="Times New Roman" pitchFamily="18" charset="0"/>
                      <a:buChar char="–"/>
                      <a:defRPr kumimoji="1" sz="2800" b="1">
                        <a:solidFill>
                          <a:schemeClr val="bg2"/>
                        </a:solidFill>
                        <a:latin typeface="Times New Roman" pitchFamily="18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Font typeface="Times New Roman" pitchFamily="18" charset="0"/>
                      <a:buChar char="»"/>
                      <a:defRPr kumimoji="1" sz="2400" b="1">
                        <a:solidFill>
                          <a:schemeClr val="bg2"/>
                        </a:solidFill>
                        <a:latin typeface="Times New Roman" pitchFamily="18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lr>
                        <a:srgbClr val="CC00CC"/>
                      </a:buClr>
                      <a:buSzPct val="75000"/>
                      <a:buFont typeface="Wingdings" pitchFamily="2" charset="2"/>
                      <a:buChar char="n"/>
                      <a:defRPr kumimoji="1" sz="2000" b="1">
                        <a:solidFill>
                          <a:schemeClr val="bg2"/>
                        </a:solidFill>
                        <a:latin typeface="Times New Roman" pitchFamily="18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rgbClr val="3333FF"/>
                      </a:buClr>
                      <a:buFont typeface="Times New Roman" pitchFamily="18" charset="0"/>
                      <a:buChar char="–"/>
                      <a:defRPr kumimoji="1" sz="2000" b="1">
                        <a:solidFill>
                          <a:schemeClr val="bg2"/>
                        </a:solidFill>
                        <a:latin typeface="Times New Roman" pitchFamily="18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FF"/>
                      </a:buClr>
                      <a:buFont typeface="Times New Roman" pitchFamily="18" charset="0"/>
                      <a:buChar char="–"/>
                      <a:defRPr kumimoji="1" sz="2000" b="1">
                        <a:solidFill>
                          <a:schemeClr val="bg2"/>
                        </a:solidFill>
                        <a:latin typeface="Times New Roman" pitchFamily="18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FF"/>
                      </a:buClr>
                      <a:buFont typeface="Times New Roman" pitchFamily="18" charset="0"/>
                      <a:buChar char="–"/>
                      <a:defRPr kumimoji="1" sz="2000" b="1">
                        <a:solidFill>
                          <a:schemeClr val="bg2"/>
                        </a:solidFill>
                        <a:latin typeface="Times New Roman" pitchFamily="18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FF"/>
                      </a:buClr>
                      <a:buFont typeface="Times New Roman" pitchFamily="18" charset="0"/>
                      <a:buChar char="–"/>
                      <a:defRPr kumimoji="1" sz="2000" b="1">
                        <a:solidFill>
                          <a:schemeClr val="bg2"/>
                        </a:solidFill>
                        <a:latin typeface="Times New Roman" pitchFamily="18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FF"/>
                      </a:buClr>
                      <a:buFont typeface="Times New Roman" pitchFamily="18" charset="0"/>
                      <a:buChar char="–"/>
                      <a:defRPr kumimoji="1" sz="2000" b="1">
                        <a:solidFill>
                          <a:schemeClr val="bg2"/>
                        </a:solidFill>
                        <a:latin typeface="Times New Roman" pitchFamily="18" charset="0"/>
                        <a:ea typeface="宋体" pitchFamily="2" charset="-122"/>
                      </a:defRPr>
                    </a:lvl9pPr>
                  </a:lstStyle>
                  <a:p>
                    <a:pPr marL="0" marR="0" lvl="0" indent="0" algn="just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C00CC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黑体" pitchFamily="49" charset="-122"/>
                        <a:cs typeface="+mn-cs"/>
                      </a:rPr>
                      <a:t>编</a:t>
                    </a:r>
                  </a:p>
                  <a:p>
                    <a:pPr marL="0" marR="0" lvl="0" indent="0" algn="just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C00CC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黑体" pitchFamily="49" charset="-122"/>
                        <a:cs typeface="+mn-cs"/>
                      </a:rPr>
                      <a:t>译</a:t>
                    </a:r>
                  </a:p>
                  <a:p>
                    <a:pPr marL="0" marR="0" lvl="0" indent="0" algn="just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C00CC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黑体" pitchFamily="49" charset="-122"/>
                        <a:cs typeface="+mn-cs"/>
                      </a:rPr>
                      <a:t>器</a:t>
                    </a:r>
                  </a:p>
                </p:txBody>
              </p:sp>
              <p:sp>
                <p:nvSpPr>
                  <p:cNvPr id="24601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2385" y="8997"/>
                    <a:ext cx="238" cy="72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/>
                  <a:lstStyle>
                    <a:lvl1pPr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SzPct val="75000"/>
                      <a:buFont typeface="Wingdings" pitchFamily="2" charset="2"/>
                      <a:buChar char="n"/>
                      <a:defRPr kumimoji="1" sz="3200" b="1">
                        <a:solidFill>
                          <a:schemeClr val="bg2"/>
                        </a:solidFill>
                        <a:latin typeface="Times New Roman" pitchFamily="18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lr>
                        <a:srgbClr val="3333FF"/>
                      </a:buClr>
                      <a:buFont typeface="Times New Roman" pitchFamily="18" charset="0"/>
                      <a:buChar char="–"/>
                      <a:defRPr kumimoji="1" sz="2800" b="1">
                        <a:solidFill>
                          <a:schemeClr val="bg2"/>
                        </a:solidFill>
                        <a:latin typeface="Times New Roman" pitchFamily="18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  <a:buFont typeface="Times New Roman" pitchFamily="18" charset="0"/>
                      <a:buChar char="»"/>
                      <a:defRPr kumimoji="1" sz="2400" b="1">
                        <a:solidFill>
                          <a:schemeClr val="bg2"/>
                        </a:solidFill>
                        <a:latin typeface="Times New Roman" pitchFamily="18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lr>
                        <a:srgbClr val="CC00CC"/>
                      </a:buClr>
                      <a:buSzPct val="75000"/>
                      <a:buFont typeface="Wingdings" pitchFamily="2" charset="2"/>
                      <a:buChar char="n"/>
                      <a:defRPr kumimoji="1" sz="2000" b="1">
                        <a:solidFill>
                          <a:schemeClr val="bg2"/>
                        </a:solidFill>
                        <a:latin typeface="Times New Roman" pitchFamily="18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lr>
                        <a:srgbClr val="3333FF"/>
                      </a:buClr>
                      <a:buFont typeface="Times New Roman" pitchFamily="18" charset="0"/>
                      <a:buChar char="–"/>
                      <a:defRPr kumimoji="1" sz="2000" b="1">
                        <a:solidFill>
                          <a:schemeClr val="bg2"/>
                        </a:solidFill>
                        <a:latin typeface="Times New Roman" pitchFamily="18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FF"/>
                      </a:buClr>
                      <a:buFont typeface="Times New Roman" pitchFamily="18" charset="0"/>
                      <a:buChar char="–"/>
                      <a:defRPr kumimoji="1" sz="2000" b="1">
                        <a:solidFill>
                          <a:schemeClr val="bg2"/>
                        </a:solidFill>
                        <a:latin typeface="Times New Roman" pitchFamily="18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FF"/>
                      </a:buClr>
                      <a:buFont typeface="Times New Roman" pitchFamily="18" charset="0"/>
                      <a:buChar char="–"/>
                      <a:defRPr kumimoji="1" sz="2000" b="1">
                        <a:solidFill>
                          <a:schemeClr val="bg2"/>
                        </a:solidFill>
                        <a:latin typeface="Times New Roman" pitchFamily="18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FF"/>
                      </a:buClr>
                      <a:buFont typeface="Times New Roman" pitchFamily="18" charset="0"/>
                      <a:buChar char="–"/>
                      <a:defRPr kumimoji="1" sz="2000" b="1">
                        <a:solidFill>
                          <a:schemeClr val="bg2"/>
                        </a:solidFill>
                        <a:latin typeface="Times New Roman" pitchFamily="18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FF"/>
                      </a:buClr>
                      <a:buFont typeface="Times New Roman" pitchFamily="18" charset="0"/>
                      <a:buChar char="–"/>
                      <a:defRPr kumimoji="1" sz="2000" b="1">
                        <a:solidFill>
                          <a:schemeClr val="bg2"/>
                        </a:solidFill>
                        <a:latin typeface="Times New Roman" pitchFamily="18" charset="0"/>
                        <a:ea typeface="宋体" pitchFamily="2" charset="-122"/>
                      </a:defRPr>
                    </a:lvl9pPr>
                  </a:lstStyle>
                  <a:p>
                    <a:pPr marL="0" marR="0" lvl="0" indent="0" algn="just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C00CC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黑体" pitchFamily="49" charset="-122"/>
                        <a:cs typeface="+mn-cs"/>
                      </a:rPr>
                      <a:t>编</a:t>
                    </a:r>
                  </a:p>
                  <a:p>
                    <a:pPr marL="0" marR="0" lvl="0" indent="0" algn="just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C00CC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黑体" pitchFamily="49" charset="-122"/>
                        <a:cs typeface="+mn-cs"/>
                      </a:rPr>
                      <a:t>辑</a:t>
                    </a:r>
                  </a:p>
                  <a:p>
                    <a:pPr marL="0" marR="0" lvl="0" indent="0" algn="just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C00CC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黑体" pitchFamily="49" charset="-122"/>
                        <a:cs typeface="+mn-cs"/>
                      </a:rPr>
                      <a:t>器</a:t>
                    </a:r>
                  </a:p>
                </p:txBody>
              </p:sp>
            </p:grpSp>
          </p:grpSp>
        </p:grpSp>
      </p:grpSp>
      <p:sp>
        <p:nvSpPr>
          <p:cNvPr id="53345" name="Text Box 97"/>
          <p:cNvSpPr txBox="1">
            <a:spLocks noChangeArrowheads="1"/>
          </p:cNvSpPr>
          <p:nvPr/>
        </p:nvSpPr>
        <p:spPr bwMode="auto">
          <a:xfrm>
            <a:off x="3695702" y="2022461"/>
            <a:ext cx="470535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宋体"/>
                <a:cs typeface="+mn-cs"/>
              </a:rPr>
              <a:t>                     DEV C++</a:t>
            </a:r>
          </a:p>
        </p:txBody>
      </p:sp>
      <p:sp>
        <p:nvSpPr>
          <p:cNvPr id="4" name="矩形 3"/>
          <p:cNvSpPr/>
          <p:nvPr/>
        </p:nvSpPr>
        <p:spPr>
          <a:xfrm>
            <a:off x="1239058" y="6182507"/>
            <a:ext cx="87748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/>
                <a:ea typeface="宋体"/>
                <a:cs typeface="仿宋"/>
              </a:rPr>
              <a:t>DEV C++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/>
                <a:ea typeface="宋体"/>
                <a:cs typeface="仿宋"/>
              </a:rPr>
              <a:t>、</a:t>
            </a:r>
            <a:r>
              <a:rPr kumimoji="0" 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/>
                <a:ea typeface="宋体"/>
                <a:cs typeface="仿宋"/>
              </a:rPr>
              <a:t>Microsoft Visual C++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/>
                <a:ea typeface="宋体"/>
                <a:cs typeface="仿宋"/>
              </a:rPr>
              <a:t>、</a:t>
            </a:r>
            <a:r>
              <a:rPr kumimoji="0" lang="en-US" sz="2400" b="1" i="0" u="none" strike="noStrike" kern="1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/>
                <a:ea typeface="宋体"/>
                <a:cs typeface="仿宋"/>
              </a:rPr>
              <a:t>CodeBlocks</a:t>
            </a:r>
            <a:r>
              <a:rPr kumimoji="0" 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/>
                <a:ea typeface="宋体"/>
                <a:cs typeface="仿宋"/>
              </a:rPr>
              <a:t>...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01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rgbClr val="000000"/>
                </a:solidFill>
              </a:rPr>
              <a:t>1.4.1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上机步骤 </a:t>
            </a:r>
          </a:p>
        </p:txBody>
      </p:sp>
    </p:spTree>
    <p:extLst>
      <p:ext uri="{BB962C8B-B14F-4D97-AF65-F5344CB8AC3E}">
        <p14:creationId xmlns:p14="http://schemas.microsoft.com/office/powerpoint/2010/main" val="3468222207"/>
      </p:ext>
    </p:extLst>
  </p:cSld>
  <p:clrMapOvr>
    <a:masterClrMapping/>
  </p:clrMapOvr>
  <p:transition>
    <p:zoom dir="in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语言程序设计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 descr="未标题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772" y="600710"/>
            <a:ext cx="5625465" cy="12090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168652" y="803276"/>
            <a:ext cx="6310631" cy="464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锐字潮牌真言简2.0免费 大粗" panose="02020300000000000000" charset="-122"/>
                <a:ea typeface="锐字潮牌真言简2.0免费 大粗" panose="02020300000000000000" charset="-122"/>
                <a:cs typeface="锐字潮牌真言简2.0免费 大粗" panose="02020300000000000000" charset="-122"/>
              </a:rPr>
              <a:t>上机实例</a:t>
            </a:r>
          </a:p>
        </p:txBody>
      </p:sp>
      <p:pic>
        <p:nvPicPr>
          <p:cNvPr id="7" name="图片 6" descr="未标1题-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45" y="1618617"/>
            <a:ext cx="802640" cy="600075"/>
          </a:xfrm>
          <a:prstGeom prst="rect">
            <a:avLst/>
          </a:prstGeom>
        </p:spPr>
      </p:pic>
      <p:sp>
        <p:nvSpPr>
          <p:cNvPr id="8" name="内容占位符 2"/>
          <p:cNvSpPr txBox="1">
            <a:spLocks/>
          </p:cNvSpPr>
          <p:nvPr/>
        </p:nvSpPr>
        <p:spPr>
          <a:xfrm>
            <a:off x="1243584" y="1618615"/>
            <a:ext cx="10643616" cy="4722494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3200" b="1" i="0" u="none" strike="noStrike" kern="1200" cap="none" spc="150" normalizeH="0" baseline="0" noProof="1" dirty="0">
                <a:solidFill>
                  <a:schemeClr val="accent2">
                    <a:lumMod val="50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【</a:t>
            </a:r>
            <a:r>
              <a:rPr kumimoji="0" lang="zh-CN" altLang="en-US" sz="24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上机实例</a:t>
            </a:r>
            <a:r>
              <a:rPr kumimoji="0" lang="en-US" altLang="zh-CN" sz="24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】</a:t>
            </a:r>
            <a:r>
              <a:rPr kumimoji="0" lang="zh-CN" altLang="en-US" sz="2400" b="0" i="0" u="none" strike="noStrike" kern="1200" cap="none" spc="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输入两个整数，计算它们的和并输出。</a:t>
            </a:r>
            <a:endParaRPr kumimoji="0" lang="zh-CN" altLang="en-US" sz="2400" b="0" i="0" u="none" strike="noStrike" kern="1200" cap="none" spc="15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D8627B8-700F-DE9B-DE64-3A6BF2DF3E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3986" y="2096772"/>
            <a:ext cx="7363562" cy="452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3111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2800" y="1153819"/>
            <a:ext cx="11233149" cy="532923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错误提示：</a:t>
            </a:r>
            <a:endParaRPr lang="en-US" altLang="zh-CN" sz="28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400" dirty="0"/>
              <a:t>当编译或运行出错时，程序错误处，有底色指示；下方有错误提示。出错行可能在当前提示行、上一行或前面某行。有多个错误时，一定要从前往后修改错误，改完每个错误，先重新编译，再修改后面的错误。</a:t>
            </a:r>
            <a:endParaRPr lang="en-US" altLang="zh-CN" sz="2400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zh-CN" altLang="en-US" sz="24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程序调试的基本步骤：</a:t>
            </a:r>
            <a:endParaRPr lang="en-US" altLang="zh-CN" sz="28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400" dirty="0"/>
              <a:t>发现程序错误，对错误点进行定位，确定错误产生的原因，找到解决错误的方法，修改错误代码，重新测试。</a:t>
            </a:r>
            <a:endParaRPr lang="en-US" altLang="zh-CN" sz="2400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zh-CN" altLang="en-US" sz="24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常用的程序调试方法：</a:t>
            </a:r>
            <a:endParaRPr lang="en-US" altLang="zh-CN" sz="28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400" dirty="0"/>
              <a:t>使用</a:t>
            </a:r>
            <a:r>
              <a:rPr lang="en-US" altLang="zh-CN" sz="2400" dirty="0" err="1"/>
              <a:t>printf</a:t>
            </a:r>
            <a:r>
              <a:rPr lang="zh-CN" altLang="en-US" sz="2400" dirty="0"/>
              <a:t>语句，输出中间结果。设置断点，逐行执行代码，观察变量的变化。使用</a:t>
            </a:r>
            <a:r>
              <a:rPr lang="en-US" altLang="zh-CN" sz="2400" dirty="0"/>
              <a:t>debug</a:t>
            </a:r>
            <a:r>
              <a:rPr lang="zh-CN" altLang="en-US" sz="2400" dirty="0"/>
              <a:t>调试工具帮助找到隐藏错误等。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1.4.2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程序调试方法</a:t>
            </a:r>
          </a:p>
        </p:txBody>
      </p:sp>
    </p:spTree>
    <p:extLst>
      <p:ext uri="{BB962C8B-B14F-4D97-AF65-F5344CB8AC3E}">
        <p14:creationId xmlns:p14="http://schemas.microsoft.com/office/powerpoint/2010/main" val="2539691228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2800" y="1153819"/>
            <a:ext cx="11233149" cy="532923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200" dirty="0"/>
              <a:t>字母拼写错误，例如</a:t>
            </a:r>
            <a:r>
              <a:rPr lang="en-US" altLang="zh-CN" sz="2200" dirty="0"/>
              <a:t>main</a:t>
            </a:r>
            <a:r>
              <a:rPr lang="zh-CN" altLang="en-US" sz="2200" dirty="0"/>
              <a:t>错写为</a:t>
            </a:r>
            <a:r>
              <a:rPr lang="en-US" altLang="zh-CN" sz="2200" dirty="0" err="1"/>
              <a:t>mian</a:t>
            </a:r>
            <a:r>
              <a:rPr lang="en-US" altLang="zh-CN" sz="2200" dirty="0"/>
              <a:t> </a:t>
            </a:r>
            <a:r>
              <a:rPr lang="zh-CN" altLang="en-US" sz="2200" dirty="0"/>
              <a:t>，提示</a:t>
            </a:r>
            <a:r>
              <a:rPr lang="en-US" altLang="zh-CN" sz="2200" dirty="0"/>
              <a:t>undefined reference to `</a:t>
            </a:r>
            <a:r>
              <a:rPr lang="en-US" altLang="zh-CN" sz="2200" dirty="0" err="1"/>
              <a:t>WinMain</a:t>
            </a:r>
            <a:endParaRPr lang="zh-CN" altLang="en-US" sz="22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200" dirty="0"/>
              <a:t>字母大写和小写不区分或相似符号混淆，例如变量</a:t>
            </a:r>
            <a:r>
              <a:rPr lang="en-US" altLang="zh-CN" sz="2200" dirty="0"/>
              <a:t>x</a:t>
            </a:r>
            <a:r>
              <a:rPr lang="zh-CN" altLang="en-US" sz="2200" dirty="0"/>
              <a:t>未定义类型。提示</a:t>
            </a:r>
            <a:r>
              <a:rPr lang="en-US" altLang="zh-CN" sz="2200" dirty="0"/>
              <a:t>'x' undeclared (first use in this function) </a:t>
            </a:r>
            <a:endParaRPr lang="zh-CN" altLang="en-US" sz="22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200" dirty="0"/>
              <a:t>中文和英文字符混淆。程序应在输入法软件的英文状态下输入，字符串、注释等除外。例如把英文的逗号输成中文的逗号，会提示</a:t>
            </a:r>
            <a:r>
              <a:rPr lang="en-US" altLang="zh-CN" sz="2200" dirty="0"/>
              <a:t>stray '\243' in program</a:t>
            </a:r>
            <a:endParaRPr lang="zh-CN" altLang="en-US" sz="22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200" dirty="0"/>
              <a:t>遗漏或多加</a:t>
            </a:r>
            <a:r>
              <a:rPr lang="en-US" altLang="zh-CN" sz="2200" dirty="0"/>
              <a:t>;</a:t>
            </a:r>
            <a:r>
              <a:rPr lang="zh-CN" altLang="en-US" sz="2200" dirty="0"/>
              <a:t>花括号</a:t>
            </a:r>
            <a:r>
              <a:rPr lang="en-US" altLang="zh-CN" sz="2200" dirty="0"/>
              <a:t>{ }</a:t>
            </a:r>
            <a:r>
              <a:rPr lang="zh-CN" altLang="en-US" sz="2200" dirty="0"/>
              <a:t>、括号</a:t>
            </a:r>
            <a:r>
              <a:rPr lang="en-US" altLang="zh-CN" sz="2200" dirty="0"/>
              <a:t>( )</a:t>
            </a:r>
            <a:r>
              <a:rPr lang="zh-CN" altLang="en-US" sz="2200" dirty="0"/>
              <a:t>、引号“等。例如缺了括号，提示</a:t>
            </a:r>
            <a:r>
              <a:rPr lang="en-US" altLang="zh-CN" sz="2200" dirty="0"/>
              <a:t>expected ')' before …</a:t>
            </a:r>
            <a:r>
              <a:rPr lang="zh-CN" altLang="en-US" sz="2200" dirty="0"/>
              <a:t>。</a:t>
            </a:r>
            <a:r>
              <a:rPr lang="en-US" altLang="zh-CN" sz="2200" dirty="0" err="1"/>
              <a:t>printf</a:t>
            </a:r>
            <a:r>
              <a:rPr lang="zh-CN" altLang="en-US" sz="2200" dirty="0"/>
              <a:t>中漏掉了后面的双引号，提示</a:t>
            </a:r>
            <a:r>
              <a:rPr lang="en-US" altLang="zh-CN" sz="2200" dirty="0"/>
              <a:t>missing terminating " character</a:t>
            </a:r>
            <a:r>
              <a:rPr lang="zh-CN" altLang="en-US" sz="2200" dirty="0"/>
              <a:t>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200" dirty="0" err="1"/>
              <a:t>scanf</a:t>
            </a:r>
            <a:r>
              <a:rPr lang="zh-CN" altLang="en-US" sz="2200" dirty="0"/>
              <a:t>里漏掉地址符</a:t>
            </a:r>
            <a:r>
              <a:rPr lang="en-US" altLang="zh-CN" sz="2200" dirty="0"/>
              <a:t>&amp;</a:t>
            </a:r>
            <a:r>
              <a:rPr lang="zh-CN" altLang="en-US" sz="2200" dirty="0"/>
              <a:t>，编译发现不了错误，在运行时会导致不可预测的结果。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200" dirty="0"/>
              <a:t>语句末尾遗漏分号，提示</a:t>
            </a:r>
            <a:r>
              <a:rPr lang="en-US" altLang="zh-CN" sz="2200" dirty="0"/>
              <a:t>expected ';' before …</a:t>
            </a:r>
            <a:r>
              <a:rPr lang="zh-CN" altLang="en-US" sz="2200" dirty="0"/>
              <a:t>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200" dirty="0"/>
              <a:t>变量</a:t>
            </a:r>
            <a:r>
              <a:rPr lang="en-US" altLang="zh-CN" sz="2200" dirty="0"/>
              <a:t>x</a:t>
            </a:r>
            <a:r>
              <a:rPr lang="zh-CN" altLang="en-US" sz="2200" dirty="0"/>
              <a:t>未赋值就使用，可能导致运行结果错误。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200" dirty="0"/>
              <a:t>源程序文件的扩展名应为“</a:t>
            </a:r>
            <a:r>
              <a:rPr lang="en-US" altLang="zh-CN" sz="2200" dirty="0"/>
              <a:t>.c”</a:t>
            </a:r>
            <a:r>
              <a:rPr lang="zh-CN" altLang="en-US" sz="2200" dirty="0"/>
              <a:t>，若错误，则不能编译运行。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200" dirty="0"/>
              <a:t>使用全面的“测试数据”，来判断程序是否正确。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812800" y="304800"/>
            <a:ext cx="10363200" cy="60960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1.4.3 </a:t>
            </a:r>
            <a:r>
              <a:rPr kumimoji="0" lang="zh-CN" altLang="en-US" sz="36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rPr>
              <a:t>常见错误和提示</a:t>
            </a:r>
          </a:p>
        </p:txBody>
      </p:sp>
    </p:spTree>
    <p:extLst>
      <p:ext uri="{BB962C8B-B14F-4D97-AF65-F5344CB8AC3E}">
        <p14:creationId xmlns:p14="http://schemas.microsoft.com/office/powerpoint/2010/main" val="1706228474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谢谢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mU5YWU2YzllNGZmZTViNjUwYjAxYWNhZmY5MDU0M2QifQ=="/>
  <p:tag name="KSO_WPP_MARK_KEY" val="c34bcdfb-13dc-4e7f-b54f-4cde71d08e7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1503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1503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1503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18;28;2"/>
  <p:tag name="KSO_WM_UNIT_BLOCK" val="0"/>
  <p:tag name="KSO_WM_UNIT_ISCONTENTSTITLE" val="0"/>
  <p:tag name="KSO_WM_UNIT_ISNUMDGMTITLE" val="0"/>
  <p:tag name="KSO_WM_UNIT_PRESET_TEXT" val="单/击/此/处/添/加/副/标/题/内/容"/>
  <p:tag name="KSO_WM_UNIT_NOCLEAR" val="0"/>
  <p:tag name="KSO_WM_UNIT_VALUE" val="5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15035_1*b*1"/>
  <p:tag name="KSO_WM_TEMPLATE_CATEGORY" val="custom"/>
  <p:tag name="KSO_WM_TEMPLATE_INDEX" val="20215035"/>
  <p:tag name="KSO_WM_UNIT_LAYERLEVEL" val="1"/>
  <p:tag name="KSO_WM_TAG_VERSION" val="1.0"/>
  <p:tag name="KSO_WM_BEAUTIFY_FLAG" val="#wm#"/>
  <p:tag name="KSO_WM_CHIP_GROUPID" val="5ebd04330ac41c4a0a525403"/>
  <p:tag name="KSO_WM_CHIP_XID" val="5ebd04330ac41c4a0a525404"/>
  <p:tag name="KSO_WM_UNIT_DEC_AREA_ID" val="a7eab4dc5908499b838b73a1fa3b2bb1"/>
  <p:tag name="KSO_WM_CHIP_FILLAREA_FILL_RULE" val="{&quot;fill_align&quot;:&quot;cm&quot;,&quot;fill_mode&quot;:&quot;adaptive&quot;,&quot;sacle_strategy&quot;:&quot;smart&quot;}"/>
  <p:tag name="KSO_WM_ASSEMBLE_CHIP_INDEX" val="ffbcb33553e5437999be5be7b3e28129"/>
  <p:tag name="KSO_WM_UNIT_TEXT_FILL_FORE_SCHEMECOLOR_INDEX_BRIGHTNESS" val="0.35"/>
  <p:tag name="KSO_WM_UNIT_TEXT_FILL_FORE_SCHEMECOLOR_INDEX" val="13"/>
  <p:tag name="KSO_WM_UNIT_TEXT_FILL_TYPE" val="1"/>
  <p:tag name="KSO_WM_TEMPLATE_ASSEMBLE_XID" val="5fab4958b46e6ebd9907b66b"/>
  <p:tag name="KSO_WM_TEMPLATE_ASSEMBLE_GROUPID" val="5faa52dd0ad14824cac57d3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60;74;4"/>
  <p:tag name="KSO_WM_UNIT_BLOCK" val="0"/>
  <p:tag name="KSO_WM_UNIT_ISCONTENTSTITLE" val="0"/>
  <p:tag name="KSO_WM_UNIT_ISNUMDGMTITLE" val="0"/>
  <p:tag name="KSO_WM_UNIT_PRESET_TEXT" val="大数据产品发布会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5035_1*a*1"/>
  <p:tag name="KSO_WM_TEMPLATE_CATEGORY" val="custom"/>
  <p:tag name="KSO_WM_TEMPLATE_INDEX" val="20215035"/>
  <p:tag name="KSO_WM_UNIT_LAYERLEVEL" val="1"/>
  <p:tag name="KSO_WM_TAG_VERSION" val="1.0"/>
  <p:tag name="KSO_WM_BEAUTIFY_FLAG" val="#wm#"/>
  <p:tag name="KSO_WM_CHIP_GROUPID" val="5ebd04330ac41c4a0a525403"/>
  <p:tag name="KSO_WM_CHIP_XID" val="5ebd04330ac41c4a0a525404"/>
  <p:tag name="KSO_WM_UNIT_DEC_AREA_ID" val="74e0bb5f67554d5ba3310756f96c4957"/>
  <p:tag name="KSO_WM_CHIP_FILLAREA_FILL_RULE" val="{&quot;fill_align&quot;:&quot;cm&quot;,&quot;fill_mode&quot;:&quot;adaptive&quot;,&quot;sacle_strategy&quot;:&quot;smart&quot;}"/>
  <p:tag name="KSO_WM_ASSEMBLE_CHIP_INDEX" val="ffbcb33553e5437999be5be7b3e28129"/>
  <p:tag name="KSO_WM_UNIT_TEXT_FILL_FORE_SCHEMECOLOR_INDEX_BRIGHTNESS" val="0.15"/>
  <p:tag name="KSO_WM_UNIT_TEXT_FILL_FORE_SCHEMECOLOR_INDEX" val="13"/>
  <p:tag name="KSO_WM_UNIT_TEXT_FILL_TYPE" val="1"/>
  <p:tag name="KSO_WM_TEMPLATE_ASSEMBLE_XID" val="5fab4958b46e6ebd9907b66b"/>
  <p:tag name="KSO_WM_TEMPLATE_ASSEMBLE_GROUPID" val="5faa52dd0ad14824cac57d3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0bfbdce0d6494e6fa218892f3a20235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521845bfda0c4d7f9e81721b313fda6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3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d"/>
  <p:tag name="KSO_WM_UNIT_DEC_AREA_ID" val="dee9a792411d45f58c6e5b99eb87e923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c69729ceb794182b0b48671241df94a"/>
  <p:tag name="KSO_WM_SLIDE_BACKGROUND_TYPE" val="belt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b1da29c00c7f45aeb3e2a6197fbd5a6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698ba860c38645fbbad577258b122222"/>
  <p:tag name="KSO_WM_SLIDE_BACKGROUND_TYPE" val="belt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heme/theme1.xml><?xml version="1.0" encoding="utf-8"?>
<a:theme xmlns:a="http://schemas.openxmlformats.org/drawingml/2006/main" name="1_Office 主题​​">
  <a:themeElements>
    <a:clrScheme name="Adjacency">
      <a:dk1>
        <a:srgbClr val="000000"/>
      </a:dk1>
      <a:lt1>
        <a:srgbClr val="FFFFFF"/>
      </a:lt1>
      <a:dk2>
        <a:srgbClr val="F0F0F0"/>
      </a:dk2>
      <a:lt2>
        <a:srgbClr val="FFFFFF"/>
      </a:lt2>
      <a:accent1>
        <a:srgbClr val="54A5BF"/>
      </a:accent1>
      <a:accent2>
        <a:srgbClr val="5596CD"/>
      </a:accent2>
      <a:accent3>
        <a:srgbClr val="6784CF"/>
      </a:accent3>
      <a:accent4>
        <a:srgbClr val="8571BD"/>
      </a:accent4>
      <a:accent5>
        <a:srgbClr val="A7609B"/>
      </a:accent5>
      <a:accent6>
        <a:srgbClr val="BE5370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9525" algn="ctr">
          <a:solidFill>
            <a:srgbClr val="0070C0"/>
          </a:solidFill>
          <a:miter lim="800000"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lIns="0" tIns="0" rIns="0" bIns="0"/>
      <a:lstStyle>
        <a:defPPr algn="ctr">
          <a:spcBef>
            <a:spcPct val="0"/>
          </a:spcBef>
          <a:buClrTx/>
          <a:buSzTx/>
          <a:buFontTx/>
          <a:buNone/>
          <a:defRPr kumimoji="0" sz="2000">
            <a:solidFill>
              <a:srgbClr val="000000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Blue Diagonal">
  <a:themeElements>
    <a:clrScheme name="Blue Diagonal 1">
      <a:dk1>
        <a:srgbClr val="000000"/>
      </a:dk1>
      <a:lt1>
        <a:srgbClr val="FFFFFF"/>
      </a:lt1>
      <a:dk2>
        <a:srgbClr val="0066FF"/>
      </a:dk2>
      <a:lt2>
        <a:srgbClr val="FFFF00"/>
      </a:lt2>
      <a:accent1>
        <a:srgbClr val="00CCCC"/>
      </a:accent1>
      <a:accent2>
        <a:srgbClr val="FF33CC"/>
      </a:accent2>
      <a:accent3>
        <a:srgbClr val="AAB8FF"/>
      </a:accent3>
      <a:accent4>
        <a:srgbClr val="DADADA"/>
      </a:accent4>
      <a:accent5>
        <a:srgbClr val="AAE2E2"/>
      </a:accent5>
      <a:accent6>
        <a:srgbClr val="E72DB9"/>
      </a:accent6>
      <a:hlink>
        <a:srgbClr val="FF4568"/>
      </a:hlink>
      <a:folHlink>
        <a:srgbClr val="CCECFF"/>
      </a:folHlink>
    </a:clrScheme>
    <a:fontScheme name="Blue Diagonal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Blue Diagonal 1">
        <a:dk1>
          <a:srgbClr val="000000"/>
        </a:dk1>
        <a:lt1>
          <a:srgbClr val="FFFFFF"/>
        </a:lt1>
        <a:dk2>
          <a:srgbClr val="0066FF"/>
        </a:dk2>
        <a:lt2>
          <a:srgbClr val="FFFF00"/>
        </a:lt2>
        <a:accent1>
          <a:srgbClr val="00CCCC"/>
        </a:accent1>
        <a:accent2>
          <a:srgbClr val="FF33CC"/>
        </a:accent2>
        <a:accent3>
          <a:srgbClr val="AAB8FF"/>
        </a:accent3>
        <a:accent4>
          <a:srgbClr val="DADADA"/>
        </a:accent4>
        <a:accent5>
          <a:srgbClr val="AAE2E2"/>
        </a:accent5>
        <a:accent6>
          <a:srgbClr val="E72DB9"/>
        </a:accent6>
        <a:hlink>
          <a:srgbClr val="FF4568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Diagonal 2">
        <a:dk1>
          <a:srgbClr val="000000"/>
        </a:dk1>
        <a:lt1>
          <a:srgbClr val="9999FF"/>
        </a:lt1>
        <a:dk2>
          <a:srgbClr val="6600FF"/>
        </a:dk2>
        <a:lt2>
          <a:srgbClr val="FFFFFF"/>
        </a:lt2>
        <a:accent1>
          <a:srgbClr val="CCCCFF"/>
        </a:accent1>
        <a:accent2>
          <a:srgbClr val="FF99FF"/>
        </a:accent2>
        <a:accent3>
          <a:srgbClr val="CACAFF"/>
        </a:accent3>
        <a:accent4>
          <a:srgbClr val="000000"/>
        </a:accent4>
        <a:accent5>
          <a:srgbClr val="E2E2FF"/>
        </a:accent5>
        <a:accent6>
          <a:srgbClr val="E78AE7"/>
        </a:accent6>
        <a:hlink>
          <a:srgbClr val="00CC66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Diagonal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Diagonal 4">
        <a:dk1>
          <a:srgbClr val="000000"/>
        </a:dk1>
        <a:lt1>
          <a:srgbClr val="FFFFFF"/>
        </a:lt1>
        <a:dk2>
          <a:srgbClr val="990066"/>
        </a:dk2>
        <a:lt2>
          <a:srgbClr val="FFFF00"/>
        </a:lt2>
        <a:accent1>
          <a:srgbClr val="996633"/>
        </a:accent1>
        <a:accent2>
          <a:srgbClr val="CC6600"/>
        </a:accent2>
        <a:accent3>
          <a:srgbClr val="CAAAB8"/>
        </a:accent3>
        <a:accent4>
          <a:srgbClr val="DADADA"/>
        </a:accent4>
        <a:accent5>
          <a:srgbClr val="CAB8AD"/>
        </a:accent5>
        <a:accent6>
          <a:srgbClr val="B95C00"/>
        </a:accent6>
        <a:hlink>
          <a:srgbClr val="999933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Blue Diagonal">
  <a:themeElements>
    <a:clrScheme name="Blue Diagonal 1">
      <a:dk1>
        <a:srgbClr val="000000"/>
      </a:dk1>
      <a:lt1>
        <a:srgbClr val="FFFFFF"/>
      </a:lt1>
      <a:dk2>
        <a:srgbClr val="0066FF"/>
      </a:dk2>
      <a:lt2>
        <a:srgbClr val="FFFF00"/>
      </a:lt2>
      <a:accent1>
        <a:srgbClr val="00CCCC"/>
      </a:accent1>
      <a:accent2>
        <a:srgbClr val="FF33CC"/>
      </a:accent2>
      <a:accent3>
        <a:srgbClr val="AAB8FF"/>
      </a:accent3>
      <a:accent4>
        <a:srgbClr val="DADADA"/>
      </a:accent4>
      <a:accent5>
        <a:srgbClr val="AAE2E2"/>
      </a:accent5>
      <a:accent6>
        <a:srgbClr val="E72DB9"/>
      </a:accent6>
      <a:hlink>
        <a:srgbClr val="FF4568"/>
      </a:hlink>
      <a:folHlink>
        <a:srgbClr val="CCECFF"/>
      </a:folHlink>
    </a:clrScheme>
    <a:fontScheme name="Blue Diagonal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Blue Diagonal 1">
        <a:dk1>
          <a:srgbClr val="000000"/>
        </a:dk1>
        <a:lt1>
          <a:srgbClr val="FFFFFF"/>
        </a:lt1>
        <a:dk2>
          <a:srgbClr val="0066FF"/>
        </a:dk2>
        <a:lt2>
          <a:srgbClr val="FFFF00"/>
        </a:lt2>
        <a:accent1>
          <a:srgbClr val="00CCCC"/>
        </a:accent1>
        <a:accent2>
          <a:srgbClr val="FF33CC"/>
        </a:accent2>
        <a:accent3>
          <a:srgbClr val="AAB8FF"/>
        </a:accent3>
        <a:accent4>
          <a:srgbClr val="DADADA"/>
        </a:accent4>
        <a:accent5>
          <a:srgbClr val="AAE2E2"/>
        </a:accent5>
        <a:accent6>
          <a:srgbClr val="E72DB9"/>
        </a:accent6>
        <a:hlink>
          <a:srgbClr val="FF4568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Diagonal 2">
        <a:dk1>
          <a:srgbClr val="000000"/>
        </a:dk1>
        <a:lt1>
          <a:srgbClr val="9999FF"/>
        </a:lt1>
        <a:dk2>
          <a:srgbClr val="6600FF"/>
        </a:dk2>
        <a:lt2>
          <a:srgbClr val="FFFFFF"/>
        </a:lt2>
        <a:accent1>
          <a:srgbClr val="CCCCFF"/>
        </a:accent1>
        <a:accent2>
          <a:srgbClr val="FF99FF"/>
        </a:accent2>
        <a:accent3>
          <a:srgbClr val="CACAFF"/>
        </a:accent3>
        <a:accent4>
          <a:srgbClr val="000000"/>
        </a:accent4>
        <a:accent5>
          <a:srgbClr val="E2E2FF"/>
        </a:accent5>
        <a:accent6>
          <a:srgbClr val="E78AE7"/>
        </a:accent6>
        <a:hlink>
          <a:srgbClr val="00CC66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Diagonal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Diagonal 4">
        <a:dk1>
          <a:srgbClr val="000000"/>
        </a:dk1>
        <a:lt1>
          <a:srgbClr val="FFFFFF"/>
        </a:lt1>
        <a:dk2>
          <a:srgbClr val="990066"/>
        </a:dk2>
        <a:lt2>
          <a:srgbClr val="FFFF00"/>
        </a:lt2>
        <a:accent1>
          <a:srgbClr val="996633"/>
        </a:accent1>
        <a:accent2>
          <a:srgbClr val="CC6600"/>
        </a:accent2>
        <a:accent3>
          <a:srgbClr val="CAAAB8"/>
        </a:accent3>
        <a:accent4>
          <a:srgbClr val="DADADA"/>
        </a:accent4>
        <a:accent5>
          <a:srgbClr val="CAB8AD"/>
        </a:accent5>
        <a:accent6>
          <a:srgbClr val="B95C00"/>
        </a:accent6>
        <a:hlink>
          <a:srgbClr val="999933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2_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5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29676</TotalTime>
  <Words>2331</Words>
  <Application>Microsoft Office PowerPoint</Application>
  <PresentationFormat>宽屏</PresentationFormat>
  <Paragraphs>371</Paragraphs>
  <Slides>27</Slides>
  <Notes>22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8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27</vt:i4>
      </vt:variant>
    </vt:vector>
  </HeadingPairs>
  <TitlesOfParts>
    <vt:vector size="51" baseType="lpstr">
      <vt:lpstr>等线</vt:lpstr>
      <vt:lpstr>等线 Light</vt:lpstr>
      <vt:lpstr>仿宋</vt:lpstr>
      <vt:lpstr>黑体</vt:lpstr>
      <vt:lpstr>楷体</vt:lpstr>
      <vt:lpstr>锐字潮牌真言简2.0免费 大粗</vt:lpstr>
      <vt:lpstr>宋体</vt:lpstr>
      <vt:lpstr>微软雅黑</vt:lpstr>
      <vt:lpstr>Arial</vt:lpstr>
      <vt:lpstr>Calibri</vt:lpstr>
      <vt:lpstr>Times New Roman</vt:lpstr>
      <vt:lpstr>Verdana</vt:lpstr>
      <vt:lpstr>Wingdings</vt:lpstr>
      <vt:lpstr>1_Office 主题​​</vt:lpstr>
      <vt:lpstr>3_Office 主题​​</vt:lpstr>
      <vt:lpstr>Soaring</vt:lpstr>
      <vt:lpstr>1_Soaring</vt:lpstr>
      <vt:lpstr>Blue Diagonal</vt:lpstr>
      <vt:lpstr>3_Blue Diagonal</vt:lpstr>
      <vt:lpstr>2_Soaring</vt:lpstr>
      <vt:lpstr>5_Office 主题​​</vt:lpstr>
      <vt:lpstr>文档</vt:lpstr>
      <vt:lpstr>位图图像</vt:lpstr>
      <vt:lpstr>Equation</vt:lpstr>
      <vt:lpstr>C语言程序设计 第1章 概述 </vt:lpstr>
      <vt:lpstr>PowerPoint 演示文稿</vt:lpstr>
      <vt:lpstr>PowerPoint 演示文稿</vt:lpstr>
      <vt:lpstr>1.1  C语言的发展历史-计算机语言</vt:lpstr>
      <vt:lpstr>PowerPoint 演示文稿</vt:lpstr>
      <vt:lpstr>PowerPoint 演示文稿</vt:lpstr>
      <vt:lpstr>PowerPoint 演示文稿</vt:lpstr>
      <vt:lpstr>PowerPoint 演示文稿</vt:lpstr>
      <vt:lpstr>数据类型</vt:lpstr>
      <vt:lpstr>PowerPoint 演示文稿</vt:lpstr>
      <vt:lpstr>PowerPoint 演示文稿</vt:lpstr>
      <vt:lpstr>PowerPoint 演示文稿</vt:lpstr>
      <vt:lpstr>0 - 16之间整数的常用进制数对应关系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逻辑运算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《C语言程序设计》</dc:title>
  <dc:creator>Administrator</dc:creator>
  <cp:lastModifiedBy>User</cp:lastModifiedBy>
  <cp:revision>467</cp:revision>
  <dcterms:created xsi:type="dcterms:W3CDTF">2022-07-08T03:32:00Z</dcterms:created>
  <dcterms:modified xsi:type="dcterms:W3CDTF">2025-09-11T06:34:02Z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BFD466564B3A47D89E7AF80165FC8B71</vt:lpwstr>
  </property>
  <property fmtid="{D5CDD505-2E9C-101B-9397-08002B2CF9AE}" pid="3" name="KSOProductBuildVer">
    <vt:lpwstr>2052-11.1.0.11875</vt:lpwstr>
  </property>
</Properties>
</file>