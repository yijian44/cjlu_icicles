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26" r:id="rId1"/>
    <p:sldMasterId id="2147483839" r:id="rId2"/>
  </p:sldMasterIdLst>
  <p:notesMasterIdLst>
    <p:notesMasterId r:id="rId36"/>
  </p:notesMasterIdLst>
  <p:sldIdLst>
    <p:sldId id="299" r:id="rId3"/>
    <p:sldId id="300" r:id="rId4"/>
    <p:sldId id="302" r:id="rId5"/>
    <p:sldId id="303" r:id="rId6"/>
    <p:sldId id="301" r:id="rId7"/>
    <p:sldId id="306" r:id="rId8"/>
    <p:sldId id="304" r:id="rId9"/>
    <p:sldId id="305" r:id="rId10"/>
    <p:sldId id="285" r:id="rId11"/>
    <p:sldId id="284" r:id="rId12"/>
    <p:sldId id="286" r:id="rId13"/>
    <p:sldId id="287" r:id="rId14"/>
    <p:sldId id="288" r:id="rId15"/>
    <p:sldId id="289" r:id="rId16"/>
    <p:sldId id="291" r:id="rId17"/>
    <p:sldId id="290" r:id="rId18"/>
    <p:sldId id="307" r:id="rId19"/>
    <p:sldId id="309" r:id="rId20"/>
    <p:sldId id="308" r:id="rId21"/>
    <p:sldId id="310" r:id="rId22"/>
    <p:sldId id="311" r:id="rId23"/>
    <p:sldId id="317" r:id="rId24"/>
    <p:sldId id="312" r:id="rId25"/>
    <p:sldId id="313" r:id="rId26"/>
    <p:sldId id="314" r:id="rId27"/>
    <p:sldId id="315" r:id="rId28"/>
    <p:sldId id="316" r:id="rId29"/>
    <p:sldId id="318" r:id="rId30"/>
    <p:sldId id="319" r:id="rId31"/>
    <p:sldId id="320" r:id="rId32"/>
    <p:sldId id="321" r:id="rId33"/>
    <p:sldId id="322" r:id="rId34"/>
    <p:sldId id="269" r:id="rId35"/>
  </p:sldIdLst>
  <p:sldSz cx="12192000" cy="6858000"/>
  <p:notesSz cx="6858000" cy="9144000"/>
  <p:custDataLst>
    <p:tags r:id="rId3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FF"/>
    <a:srgbClr val="EB27C6"/>
    <a:srgbClr val="54A5BF"/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72" y="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38048-F63A-4A4D-9D00-3E4A08633E5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E95F0-DD99-4637-B6CC-2CB7A5EF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同学，你好！欢迎同学们选修《麻醉学进展》这门课程。我是主讲老师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，来自浙江大学医学院附属第二医院麻醉手术部。首先我将讲述一下麻醉学概述中的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麻醉学的起源和发展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6.png"/><Relationship Id="rId4" Type="http://schemas.openxmlformats.org/officeDocument/2006/relationships/tags" Target="../tags/tag5.xml"/><Relationship Id="rId9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10" Type="http://schemas.openxmlformats.org/officeDocument/2006/relationships/image" Target="../media/image6.png"/><Relationship Id="rId4" Type="http://schemas.openxmlformats.org/officeDocument/2006/relationships/tags" Target="../tags/tag16.xml"/><Relationship Id="rId9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7889-7F4F-4468-9749-CDB7CA8FB84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763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B601-5397-4551-A762-7F5F3BCCC0F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35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F51D89D-949D-4764-9E92-6A4C0240D47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00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BE235-6CB3-465C-B79D-2ED7CC3238A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540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9E6E-E8E9-4E10-B381-7A672952EE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65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7422-9D7F-4A51-B3C7-4F59D04F0F4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722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337CD-AE36-4315-98EF-9C53C5C4206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439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B90F-2915-430D-A93A-745C87197AE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77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419B7C2-A9DF-4F31-AD39-FEB95D02439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555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4AEEF-2762-45C6-B123-D04A8CE9603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558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4548-D02D-4C05-86FF-41D48D9AAF9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149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436061" y="-10801"/>
            <a:ext cx="1753527" cy="1753527"/>
          </a:xfrm>
          <a:prstGeom prst="rect">
            <a:avLst/>
          </a:prstGeom>
        </p:spPr>
      </p:pic>
      <p:pic>
        <p:nvPicPr>
          <p:cNvPr id="6" name="图片 5" descr="图片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5104461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90056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2025/9/3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2025/9/3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311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2025/9/3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66211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436061" y="-10801"/>
            <a:ext cx="1753527" cy="1753527"/>
          </a:xfrm>
          <a:prstGeom prst="rect">
            <a:avLst/>
          </a:prstGeom>
        </p:spPr>
      </p:pic>
      <p:pic>
        <p:nvPicPr>
          <p:cNvPr id="6" name="图片 5" descr="图片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5104461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2025/9/3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74966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7889-7F4F-4468-9749-CDB7CA8FB84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0735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B601-5397-4551-A762-7F5F3BCCC0F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 descr="图片25">
            <a:extLst>
              <a:ext uri="{FF2B5EF4-FFF2-40B4-BE49-F238E27FC236}">
                <a16:creationId xmlns:a16="http://schemas.microsoft.com/office/drawing/2014/main" id="{2E24335B-A487-A6E2-A69A-D12C4C41DEB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8" name="图片 7" descr="图片25">
            <a:extLst>
              <a:ext uri="{FF2B5EF4-FFF2-40B4-BE49-F238E27FC236}">
                <a16:creationId xmlns:a16="http://schemas.microsoft.com/office/drawing/2014/main" id="{FC8F4595-B6A7-7948-83DA-4754F4492B3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9" name="图片 8" descr="图片25">
            <a:extLst>
              <a:ext uri="{FF2B5EF4-FFF2-40B4-BE49-F238E27FC236}">
                <a16:creationId xmlns:a16="http://schemas.microsoft.com/office/drawing/2014/main" id="{CCD42075-A684-354A-B61A-0D1D2E75F61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748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84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57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D89D-949D-4764-9E92-6A4C0240D47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7104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BE235-6CB3-465C-B79D-2ED7CC3238A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4657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9E6E-E8E9-4E10-B381-7A672952EE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8748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7422-9D7F-4A51-B3C7-4F59D04F0F4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6448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337CD-AE36-4315-98EF-9C53C5C4206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7513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533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B90F-2915-430D-A93A-745C87197AE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7143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53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7C2-A9DF-4F31-AD39-FEB95D02439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4761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4AEEF-2762-45C6-B123-D04A8CE9603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128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4548-D02D-4C05-86FF-41D48D9AAF9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655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ags" Target="../tags/tag2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tags" Target="../tags/tag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ags" Target="../tags/tag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9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990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655" r:id="rId13"/>
    <p:sldLayoutId id="2147483656" r:id="rId14"/>
    <p:sldLayoutId id="2147483701" r:id="rId15"/>
    <p:sldLayoutId id="2147483702" r:id="rId16"/>
    <p:sldLayoutId id="214748370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4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45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4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>
            <a:extLst>
              <a:ext uri="{FF2B5EF4-FFF2-40B4-BE49-F238E27FC236}">
                <a16:creationId xmlns:a16="http://schemas.microsoft.com/office/drawing/2014/main" id="{B41828C1-CFF6-41F5-34D2-12806C482A29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KSO_TEMPLATE" hidden="1">
            <a:extLst>
              <a:ext uri="{FF2B5EF4-FFF2-40B4-BE49-F238E27FC236}">
                <a16:creationId xmlns:a16="http://schemas.microsoft.com/office/drawing/2014/main" id="{4FC198B4-0223-FD15-985E-D32759C4E21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KSO_TEMPLATE" hidden="1">
            <a:extLst>
              <a:ext uri="{FF2B5EF4-FFF2-40B4-BE49-F238E27FC236}">
                <a16:creationId xmlns:a16="http://schemas.microsoft.com/office/drawing/2014/main" id="{B065944D-CE02-E2E3-E817-8521AA3FBF2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83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808514" y="1442497"/>
            <a:ext cx="6282732" cy="238760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 结   构</a:t>
            </a:r>
          </a:p>
        </p:txBody>
      </p:sp>
    </p:spTree>
    <p:extLst>
      <p:ext uri="{BB962C8B-B14F-4D97-AF65-F5344CB8AC3E}">
        <p14:creationId xmlns:p14="http://schemas.microsoft.com/office/powerpoint/2010/main" val="63370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2"/>
          <p:cNvSpPr>
            <a:spLocks/>
          </p:cNvSpPr>
          <p:nvPr/>
        </p:nvSpPr>
        <p:spPr bwMode="auto">
          <a:xfrm>
            <a:off x="2268538" y="1989138"/>
            <a:ext cx="215900" cy="2447925"/>
          </a:xfrm>
          <a:prstGeom prst="leftBrace">
            <a:avLst>
              <a:gd name="adj1" fmla="val 94485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6" name="AutoShape 3"/>
          <p:cNvSpPr>
            <a:spLocks/>
          </p:cNvSpPr>
          <p:nvPr/>
        </p:nvSpPr>
        <p:spPr bwMode="auto">
          <a:xfrm>
            <a:off x="3713163" y="3141663"/>
            <a:ext cx="211137" cy="677862"/>
          </a:xfrm>
          <a:prstGeom prst="leftBrace">
            <a:avLst>
              <a:gd name="adj1" fmla="val 2675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7" name="AutoShape 4"/>
          <p:cNvSpPr>
            <a:spLocks/>
          </p:cNvSpPr>
          <p:nvPr/>
        </p:nvSpPr>
        <p:spPr bwMode="auto">
          <a:xfrm>
            <a:off x="3779838" y="1484313"/>
            <a:ext cx="144462" cy="1296987"/>
          </a:xfrm>
          <a:prstGeom prst="leftBrace">
            <a:avLst>
              <a:gd name="adj1" fmla="val 7481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067175" y="1341438"/>
            <a:ext cx="1550988" cy="217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整型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实型</a:t>
            </a:r>
            <a:r>
              <a:rPr kumimoji="0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(</a:t>
            </a: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浮点型</a:t>
            </a:r>
            <a:r>
              <a:rPr kumimoji="0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)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字符型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枚举类型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数组类型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结构类型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共用体类型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795963" y="1773238"/>
            <a:ext cx="1333500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单精度型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双精度型</a:t>
            </a:r>
          </a:p>
        </p:txBody>
      </p:sp>
      <p:sp>
        <p:nvSpPr>
          <p:cNvPr id="10" name="AutoShape 7"/>
          <p:cNvSpPr>
            <a:spLocks/>
          </p:cNvSpPr>
          <p:nvPr/>
        </p:nvSpPr>
        <p:spPr bwMode="auto">
          <a:xfrm>
            <a:off x="5580063" y="1928813"/>
            <a:ext cx="265112" cy="465137"/>
          </a:xfrm>
          <a:prstGeom prst="leftBrace">
            <a:avLst>
              <a:gd name="adj1" fmla="val 14621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 flipH="1">
            <a:off x="2555875" y="1773238"/>
            <a:ext cx="1100138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基本类型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构造类型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指针类型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空类型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258888" y="2781300"/>
            <a:ext cx="1273175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数据类型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539750" y="4054475"/>
            <a:ext cx="917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4" name="Rectangle 11"/>
          <p:cNvSpPr txBox="1">
            <a:spLocks noChangeArrowheads="1"/>
          </p:cNvSpPr>
          <p:nvPr/>
        </p:nvSpPr>
        <p:spPr bwMode="auto">
          <a:xfrm>
            <a:off x="381000" y="152400"/>
            <a:ext cx="5054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数据类型的分类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900113" y="4941888"/>
            <a:ext cx="7543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400" dirty="0">
              <a:solidFill>
                <a:srgbClr val="3333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Wirth    </a:t>
            </a:r>
            <a:r>
              <a:rPr lang="zh-CN" altLang="en-US" sz="24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程序＝数据结构＋算法</a:t>
            </a:r>
          </a:p>
        </p:txBody>
      </p:sp>
      <p:sp>
        <p:nvSpPr>
          <p:cNvPr id="16" name="AutoShape 15"/>
          <p:cNvSpPr>
            <a:spLocks/>
          </p:cNvSpPr>
          <p:nvPr/>
        </p:nvSpPr>
        <p:spPr bwMode="auto">
          <a:xfrm>
            <a:off x="5003800" y="404813"/>
            <a:ext cx="215900" cy="1008062"/>
          </a:xfrm>
          <a:prstGeom prst="leftBrace">
            <a:avLst>
              <a:gd name="adj1" fmla="val 38909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5219700" y="188913"/>
            <a:ext cx="252095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基本整型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短整型　　　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长整型　　　基本型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无符号型　　短整型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　　　　　　长整型</a:t>
            </a:r>
          </a:p>
        </p:txBody>
      </p:sp>
      <p:sp>
        <p:nvSpPr>
          <p:cNvPr id="18" name="AutoShape 17"/>
          <p:cNvSpPr>
            <a:spLocks/>
          </p:cNvSpPr>
          <p:nvPr/>
        </p:nvSpPr>
        <p:spPr bwMode="auto">
          <a:xfrm>
            <a:off x="6443663" y="981075"/>
            <a:ext cx="144462" cy="719138"/>
          </a:xfrm>
          <a:prstGeom prst="leftBrace">
            <a:avLst>
              <a:gd name="adj1" fmla="val 4148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674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1658" y="1938231"/>
            <a:ext cx="10636704" cy="3734435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数组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457200" lvl="1" indent="0">
              <a:buNone/>
            </a:pPr>
            <a:r>
              <a:rPr lang="zh-CN" altLang="en-US" sz="2800" dirty="0"/>
              <a:t>同类型数据组成的构造数据类型</a:t>
            </a:r>
            <a:endParaRPr lang="en-US" altLang="zh-CN" sz="2800" dirty="0"/>
          </a:p>
          <a:p>
            <a:pPr marL="457200" lvl="1" indent="0">
              <a:buNone/>
            </a:pPr>
            <a:endParaRPr lang="en-US" altLang="zh-CN" sz="2800" dirty="0"/>
          </a:p>
          <a:p>
            <a:r>
              <a:rPr lang="zh-CN" altLang="en-US" sz="2800" dirty="0"/>
              <a:t>结构</a:t>
            </a:r>
            <a:endParaRPr lang="en-US" altLang="zh-CN" sz="2800" dirty="0"/>
          </a:p>
          <a:p>
            <a:endParaRPr lang="en-US" altLang="zh-CN" sz="2800" dirty="0"/>
          </a:p>
          <a:p>
            <a:pPr marL="457200" lvl="1" indent="0">
              <a:buNone/>
            </a:pPr>
            <a:r>
              <a:rPr lang="zh-CN" altLang="en-US" sz="2800" dirty="0"/>
              <a:t>不同类型数据组成的构造数据类型</a:t>
            </a:r>
          </a:p>
          <a:p>
            <a:pPr lvl="2"/>
            <a:endParaRPr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4415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语言程序设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未标题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695" y="600710"/>
            <a:ext cx="5625465" cy="12090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168650" y="803275"/>
            <a:ext cx="6310630" cy="464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500" dirty="0">
                <a:solidFill>
                  <a:prstClr val="white"/>
                </a:solidFill>
                <a:latin typeface="锐字潮牌真言简2.0免费 大粗" panose="02020300000000000000" charset="-122"/>
                <a:ea typeface="锐字潮牌真言简2.0免费 大粗" panose="02020300000000000000" charset="-122"/>
                <a:cs typeface="锐字潮牌真言简2.0免费 大粗" panose="02020300000000000000" charset="-122"/>
              </a:rPr>
              <a:t>结构实例</a:t>
            </a:r>
          </a:p>
        </p:txBody>
      </p:sp>
      <p:pic>
        <p:nvPicPr>
          <p:cNvPr id="7" name="图片 6" descr="未标1题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45" y="1618615"/>
            <a:ext cx="802640" cy="600075"/>
          </a:xfrm>
          <a:prstGeom prst="rect">
            <a:avLst/>
          </a:prstGeom>
        </p:spPr>
      </p:pic>
      <p:sp>
        <p:nvSpPr>
          <p:cNvPr id="8" name="内容占位符 2"/>
          <p:cNvSpPr txBox="1">
            <a:spLocks/>
          </p:cNvSpPr>
          <p:nvPr/>
        </p:nvSpPr>
        <p:spPr>
          <a:xfrm>
            <a:off x="1243584" y="1618615"/>
            <a:ext cx="10643616" cy="4722494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25000"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1" i="0" u="none" strike="noStrike" kern="1200" cap="none" spc="150" normalizeH="0" baseline="0" noProof="1" dirty="0">
                <a:solidFill>
                  <a:schemeClr val="accent2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9600" dirty="0">
                <a:solidFill>
                  <a:srgbClr val="000000"/>
                </a:solidFill>
              </a:rPr>
              <a:t>【</a:t>
            </a:r>
            <a:r>
              <a:rPr sz="9600" dirty="0">
                <a:solidFill>
                  <a:srgbClr val="000000"/>
                </a:solidFill>
              </a:rPr>
              <a:t>结构实例</a:t>
            </a:r>
            <a:r>
              <a:rPr lang="en-US" altLang="zh-CN" sz="9600" dirty="0">
                <a:solidFill>
                  <a:srgbClr val="000000"/>
                </a:solidFill>
              </a:rPr>
              <a:t>】</a:t>
            </a:r>
            <a:r>
              <a:rPr sz="9600" dirty="0">
                <a:solidFill>
                  <a:srgbClr val="000000"/>
                </a:solidFill>
              </a:rPr>
              <a:t>设学生的信息包括学号、姓名、年龄、性别、家庭地址及高考总分。编写程序，用结构变量存储一个学生的信息，并输出该学生信息。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olidFill>
                  <a:srgbClr val="000000"/>
                </a:solidFill>
              </a:rPr>
              <a:t>#include &lt;</a:t>
            </a:r>
            <a:r>
              <a:rPr lang="en-US" altLang="zh-CN" sz="4000" dirty="0" err="1">
                <a:solidFill>
                  <a:srgbClr val="000000"/>
                </a:solidFill>
              </a:rPr>
              <a:t>stdio.h</a:t>
            </a:r>
            <a:r>
              <a:rPr lang="en-US" altLang="zh-CN" sz="4000" dirty="0">
                <a:solidFill>
                  <a:srgbClr val="000000"/>
                </a:solidFill>
              </a:rPr>
              <a:t>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4000" dirty="0" err="1">
                <a:solidFill>
                  <a:srgbClr val="000000"/>
                </a:solidFill>
              </a:rPr>
              <a:t>struct</a:t>
            </a:r>
            <a:r>
              <a:rPr lang="en-US" altLang="zh-CN" sz="4000" dirty="0">
                <a:solidFill>
                  <a:srgbClr val="000000"/>
                </a:solidFill>
              </a:rPr>
              <a:t> </a:t>
            </a:r>
            <a:r>
              <a:rPr lang="en-US" altLang="zh-CN" sz="4000" dirty="0" err="1">
                <a:solidFill>
                  <a:srgbClr val="000000"/>
                </a:solidFill>
              </a:rPr>
              <a:t>stu</a:t>
            </a:r>
            <a:r>
              <a:rPr lang="en-US" altLang="zh-CN" sz="4000" dirty="0">
                <a:solidFill>
                  <a:srgbClr val="000000"/>
                </a:solidFill>
              </a:rPr>
              <a:t> {                    //</a:t>
            </a:r>
            <a:r>
              <a:rPr sz="4000" dirty="0">
                <a:solidFill>
                  <a:srgbClr val="000000"/>
                </a:solidFill>
              </a:rPr>
              <a:t>结构类型定义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olidFill>
                  <a:srgbClr val="000000"/>
                </a:solidFill>
              </a:rPr>
              <a:t>     </a:t>
            </a:r>
            <a:r>
              <a:rPr lang="en-US" altLang="zh-CN" sz="4000" dirty="0" err="1">
                <a:solidFill>
                  <a:srgbClr val="000000"/>
                </a:solidFill>
              </a:rPr>
              <a:t>int</a:t>
            </a:r>
            <a:r>
              <a:rPr lang="en-US" altLang="zh-CN" sz="4000" dirty="0">
                <a:solidFill>
                  <a:srgbClr val="000000"/>
                </a:solidFill>
              </a:rPr>
              <a:t> number;               //</a:t>
            </a:r>
            <a:r>
              <a:rPr sz="4000" dirty="0">
                <a:solidFill>
                  <a:srgbClr val="000000"/>
                </a:solidFill>
              </a:rPr>
              <a:t>结构成员</a:t>
            </a:r>
            <a:endParaRPr lang="en-US" altLang="zh-CN" sz="4000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olidFill>
                  <a:srgbClr val="000000"/>
                </a:solidFill>
              </a:rPr>
              <a:t>     char name[10];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olidFill>
                  <a:srgbClr val="000000"/>
                </a:solidFill>
              </a:rPr>
              <a:t>     </a:t>
            </a:r>
            <a:r>
              <a:rPr lang="en-US" altLang="zh-CN" sz="4000" dirty="0" err="1">
                <a:solidFill>
                  <a:srgbClr val="000000"/>
                </a:solidFill>
              </a:rPr>
              <a:t>int</a:t>
            </a:r>
            <a:r>
              <a:rPr lang="en-US" altLang="zh-CN" sz="4000" dirty="0">
                <a:solidFill>
                  <a:srgbClr val="000000"/>
                </a:solidFill>
              </a:rPr>
              <a:t> age;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olidFill>
                  <a:srgbClr val="000000"/>
                </a:solidFill>
              </a:rPr>
              <a:t>     char gender;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olidFill>
                  <a:srgbClr val="000000"/>
                </a:solidFill>
              </a:rPr>
              <a:t>     char address[50];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olidFill>
                  <a:srgbClr val="000000"/>
                </a:solidFill>
              </a:rPr>
              <a:t>     double score;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olidFill>
                  <a:srgbClr val="000000"/>
                </a:solidFill>
              </a:rPr>
              <a:t>};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olidFill>
                  <a:srgbClr val="000000"/>
                </a:solidFill>
              </a:rPr>
              <a:t>int main(void){</a:t>
            </a:r>
            <a:endParaRPr lang="en-US" sz="4000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4000" dirty="0">
                <a:solidFill>
                  <a:srgbClr val="000000"/>
                </a:solidFill>
              </a:rPr>
              <a:t>     </a:t>
            </a:r>
            <a:r>
              <a:rPr lang="en-US" altLang="zh-CN" sz="4000" dirty="0" err="1">
                <a:solidFill>
                  <a:srgbClr val="000000"/>
                </a:solidFill>
              </a:rPr>
              <a:t>struct</a:t>
            </a:r>
            <a:r>
              <a:rPr lang="en-US" altLang="zh-CN" sz="4000" dirty="0">
                <a:solidFill>
                  <a:srgbClr val="000000"/>
                </a:solidFill>
              </a:rPr>
              <a:t> </a:t>
            </a:r>
            <a:r>
              <a:rPr lang="en-US" altLang="zh-CN" sz="4000" dirty="0" err="1">
                <a:solidFill>
                  <a:srgbClr val="000000"/>
                </a:solidFill>
              </a:rPr>
              <a:t>stu</a:t>
            </a:r>
            <a:r>
              <a:rPr lang="en-US" altLang="zh-CN" sz="4000" dirty="0">
                <a:solidFill>
                  <a:srgbClr val="000000"/>
                </a:solidFill>
              </a:rPr>
              <a:t> s = {21114, "</a:t>
            </a:r>
            <a:r>
              <a:rPr sz="4000" dirty="0">
                <a:solidFill>
                  <a:srgbClr val="000000"/>
                </a:solidFill>
              </a:rPr>
              <a:t>张三</a:t>
            </a:r>
            <a:r>
              <a:rPr lang="en-US" altLang="zh-CN" sz="4000" dirty="0">
                <a:solidFill>
                  <a:srgbClr val="000000"/>
                </a:solidFill>
              </a:rPr>
              <a:t>", 19, 'M', "</a:t>
            </a:r>
            <a:r>
              <a:rPr sz="4000" dirty="0">
                <a:solidFill>
                  <a:srgbClr val="000000"/>
                </a:solidFill>
              </a:rPr>
              <a:t>杭州下沙</a:t>
            </a:r>
            <a:r>
              <a:rPr lang="en-US" altLang="zh-CN" sz="4000" dirty="0">
                <a:solidFill>
                  <a:srgbClr val="000000"/>
                </a:solidFill>
              </a:rPr>
              <a:t>", 645.5};   //</a:t>
            </a:r>
            <a:r>
              <a:rPr sz="4000" dirty="0">
                <a:solidFill>
                  <a:srgbClr val="000000"/>
                </a:solidFill>
              </a:rPr>
              <a:t>结构变量定义及初始化</a:t>
            </a:r>
            <a:endParaRPr lang="en-US" altLang="zh-CN" sz="4000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4000" dirty="0">
                <a:solidFill>
                  <a:srgbClr val="000000"/>
                </a:solidFill>
              </a:rPr>
              <a:t>     </a:t>
            </a:r>
            <a:r>
              <a:rPr lang="en-US" altLang="zh-CN" sz="4000" dirty="0" err="1">
                <a:solidFill>
                  <a:srgbClr val="000000"/>
                </a:solidFill>
              </a:rPr>
              <a:t>printf</a:t>
            </a:r>
            <a:r>
              <a:rPr lang="en-US" altLang="zh-CN" sz="4000" dirty="0">
                <a:solidFill>
                  <a:srgbClr val="000000"/>
                </a:solidFill>
              </a:rPr>
              <a:t>("%d %s %d %c %s %.1f\n", </a:t>
            </a:r>
            <a:r>
              <a:rPr lang="en-US" altLang="zh-CN" sz="4000" dirty="0" err="1">
                <a:solidFill>
                  <a:srgbClr val="000000"/>
                </a:solidFill>
              </a:rPr>
              <a:t>s.number</a:t>
            </a:r>
            <a:r>
              <a:rPr lang="en-US" altLang="zh-CN" sz="4000" dirty="0">
                <a:solidFill>
                  <a:srgbClr val="000000"/>
                </a:solidFill>
              </a:rPr>
              <a:t>, s.name, </a:t>
            </a:r>
            <a:r>
              <a:rPr lang="en-US" altLang="zh-CN" sz="4000" dirty="0" err="1">
                <a:solidFill>
                  <a:srgbClr val="000000"/>
                </a:solidFill>
              </a:rPr>
              <a:t>s.age</a:t>
            </a:r>
            <a:r>
              <a:rPr lang="en-US" altLang="zh-CN" sz="4000" dirty="0">
                <a:solidFill>
                  <a:srgbClr val="000000"/>
                </a:solidFill>
              </a:rPr>
              <a:t>, </a:t>
            </a:r>
            <a:r>
              <a:rPr lang="en-US" altLang="zh-CN" sz="4000" dirty="0" err="1">
                <a:solidFill>
                  <a:srgbClr val="000000"/>
                </a:solidFill>
              </a:rPr>
              <a:t>s.gender</a:t>
            </a:r>
            <a:r>
              <a:rPr lang="en-US" altLang="zh-CN" sz="4000" dirty="0">
                <a:solidFill>
                  <a:srgbClr val="000000"/>
                </a:solidFill>
              </a:rPr>
              <a:t>, </a:t>
            </a:r>
            <a:r>
              <a:rPr lang="en-US" altLang="zh-CN" sz="4000" dirty="0" err="1">
                <a:solidFill>
                  <a:srgbClr val="000000"/>
                </a:solidFill>
              </a:rPr>
              <a:t>s.address</a:t>
            </a:r>
            <a:r>
              <a:rPr lang="en-US" altLang="zh-CN" sz="4000" dirty="0">
                <a:solidFill>
                  <a:srgbClr val="000000"/>
                </a:solidFill>
              </a:rPr>
              <a:t>, </a:t>
            </a:r>
            <a:r>
              <a:rPr lang="en-US" altLang="zh-CN" sz="4000" dirty="0" err="1">
                <a:solidFill>
                  <a:srgbClr val="000000"/>
                </a:solidFill>
              </a:rPr>
              <a:t>s.score</a:t>
            </a:r>
            <a:r>
              <a:rPr lang="en-US" altLang="zh-CN" sz="4000" dirty="0">
                <a:solidFill>
                  <a:srgbClr val="000000"/>
                </a:solidFill>
              </a:rPr>
              <a:t>);  //</a:t>
            </a:r>
            <a:r>
              <a:rPr sz="4000" dirty="0">
                <a:solidFill>
                  <a:srgbClr val="000000"/>
                </a:solidFill>
              </a:rPr>
              <a:t>输出结构变量各成员值</a:t>
            </a:r>
            <a:endParaRPr lang="en-US" altLang="zh-CN" sz="4000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4000" dirty="0">
                <a:solidFill>
                  <a:srgbClr val="000000"/>
                </a:solidFill>
              </a:rPr>
              <a:t>     return 0;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olidFill>
                  <a:srgbClr val="000000"/>
                </a:solidFill>
              </a:rPr>
              <a:t>}</a:t>
            </a:r>
            <a:endParaRPr lang="en-US" sz="4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410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A96A91-7BAE-42B8-9424-68485B10C0DE}"/>
              </a:ext>
            </a:extLst>
          </p:cNvPr>
          <p:cNvSpPr txBox="1"/>
          <p:nvPr/>
        </p:nvSpPr>
        <p:spPr>
          <a:xfrm>
            <a:off x="1060260" y="338667"/>
            <a:ext cx="3731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第</a:t>
            </a:r>
            <a:r>
              <a:rPr lang="en-US" altLang="zh-CN" sz="2800" dirty="0"/>
              <a:t>7</a:t>
            </a:r>
            <a:r>
              <a:rPr lang="zh-CN" altLang="en-US" sz="2800" dirty="0"/>
              <a:t>章 结构 内容导图</a:t>
            </a:r>
            <a:endParaRPr 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8047EF-C1DE-6915-FB5F-33BE038750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484" y="1085850"/>
            <a:ext cx="7271819" cy="503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7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DD409-0B40-4080-B48B-0C9BC9FD5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127" y="1225296"/>
            <a:ext cx="9449139" cy="3520440"/>
          </a:xfrm>
        </p:spPr>
        <p:txBody>
          <a:bodyPr/>
          <a:lstStyle/>
          <a:p>
            <a:r>
              <a:rPr lang="en-US" dirty="0"/>
              <a:t>7.1  </a:t>
            </a:r>
            <a:r>
              <a:rPr lang="zh-CN" altLang="en-US" dirty="0"/>
              <a:t>结构的定义与使用</a:t>
            </a:r>
            <a:r>
              <a:rPr lang="en-US" dirty="0"/>
              <a:t> 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145439-DD7E-4156-B5C0-308AD8419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90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结构类型的定义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zh-CN" altLang="en-US" dirty="0"/>
          </a:p>
          <a:p>
            <a:pPr lvl="1"/>
            <a:r>
              <a:rPr lang="zh-CN" altLang="en-US" sz="2400" dirty="0"/>
              <a:t>语法格式：</a:t>
            </a:r>
            <a:endParaRPr lang="en-US" altLang="zh-CN" sz="2400" dirty="0"/>
          </a:p>
          <a:p>
            <a:pPr marL="274320" lvl="1" indent="0">
              <a:buNone/>
            </a:pPr>
            <a:r>
              <a:rPr lang="en-US" altLang="zh-CN" sz="2400" dirty="0"/>
              <a:t>   struct  </a:t>
            </a:r>
            <a:r>
              <a:rPr lang="zh-CN" altLang="en-US" sz="2400" dirty="0"/>
              <a:t>结构名</a:t>
            </a:r>
            <a:r>
              <a:rPr lang="en-US" altLang="zh-CN" sz="2400" dirty="0"/>
              <a:t>{</a:t>
            </a:r>
          </a:p>
          <a:p>
            <a:pPr marL="457200" lvl="1" indent="0">
              <a:buNone/>
            </a:pPr>
            <a:r>
              <a:rPr lang="zh-CN" altLang="en-US" sz="2400" dirty="0"/>
              <a:t>        结构成员表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 }</a:t>
            </a:r>
            <a:r>
              <a:rPr lang="zh-CN" altLang="en-US" sz="2400" dirty="0"/>
              <a:t>；</a:t>
            </a:r>
          </a:p>
          <a:p>
            <a:pPr lvl="1"/>
            <a:r>
              <a:rPr lang="en-US" altLang="zh-CN" sz="2400" dirty="0" err="1"/>
              <a:t>struct</a:t>
            </a:r>
            <a:r>
              <a:rPr lang="zh-CN" altLang="en-US" sz="2400" dirty="0"/>
              <a:t>－定义结构类型的关键字</a:t>
            </a:r>
          </a:p>
          <a:p>
            <a:pPr lvl="1"/>
            <a:r>
              <a:rPr lang="zh-CN" altLang="en-US" sz="2400" dirty="0"/>
              <a:t>结构名－用户根据标识符的命名规则命名</a:t>
            </a:r>
          </a:p>
          <a:p>
            <a:pPr lvl="1"/>
            <a:r>
              <a:rPr lang="zh-CN" altLang="en-US" sz="2400" dirty="0"/>
              <a:t>成员表－该结构类型中各成员的组成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         </a:t>
            </a:r>
            <a:r>
              <a:rPr lang="zh-CN" altLang="en-US" sz="2400" dirty="0"/>
              <a:t>数据类型  成员名； </a:t>
            </a:r>
            <a:endParaRPr sz="2400" dirty="0">
              <a:sym typeface="+mn-ea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653072" y="2573111"/>
            <a:ext cx="2592387" cy="2677656"/>
          </a:xfrm>
          <a:prstGeom prst="rect">
            <a:avLst/>
          </a:prstGeom>
          <a:noFill/>
          <a:ln w="12700" cap="sq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2400" kern="0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kern="0" dirty="0">
                <a:solidFill>
                  <a:schemeClr val="tx1"/>
                </a:solidFill>
                <a:cs typeface="Times New Roman" pitchFamily="18" charset="0"/>
              </a:rPr>
              <a:t>struct student{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kern="0" dirty="0">
                <a:solidFill>
                  <a:schemeClr val="tx1"/>
                </a:solidFill>
                <a:cs typeface="Times New Roman" pitchFamily="18" charset="0"/>
              </a:rPr>
              <a:t>　  </a:t>
            </a:r>
            <a:r>
              <a:rPr lang="en-US" altLang="zh-CN" sz="2400" kern="0" dirty="0">
                <a:solidFill>
                  <a:schemeClr val="tx1"/>
                </a:solidFill>
                <a:cs typeface="Times New Roman" pitchFamily="18" charset="0"/>
              </a:rPr>
              <a:t>int number;       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kern="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400" kern="0" dirty="0">
                <a:solidFill>
                  <a:schemeClr val="tx1"/>
                </a:solidFill>
                <a:cs typeface="Times New Roman" pitchFamily="18" charset="0"/>
              </a:rPr>
              <a:t>　 </a:t>
            </a:r>
            <a:r>
              <a:rPr lang="en-US" altLang="zh-CN" sz="2400" kern="0" dirty="0">
                <a:solidFill>
                  <a:schemeClr val="tx1"/>
                </a:solidFill>
                <a:cs typeface="Times New Roman" pitchFamily="18" charset="0"/>
              </a:rPr>
              <a:t>char name[20];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kern="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400" kern="0" dirty="0">
                <a:solidFill>
                  <a:schemeClr val="tx1"/>
                </a:solidFill>
                <a:cs typeface="Times New Roman" pitchFamily="18" charset="0"/>
              </a:rPr>
              <a:t>　 </a:t>
            </a:r>
            <a:r>
              <a:rPr lang="en-US" altLang="zh-CN" sz="2400" kern="0" dirty="0">
                <a:solidFill>
                  <a:schemeClr val="tx1"/>
                </a:solidFill>
                <a:cs typeface="Times New Roman" pitchFamily="18" charset="0"/>
              </a:rPr>
              <a:t>char gender;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kern="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400" kern="0" dirty="0">
                <a:solidFill>
                  <a:schemeClr val="tx1"/>
                </a:solidFill>
                <a:cs typeface="Times New Roman" pitchFamily="18" charset="0"/>
              </a:rPr>
              <a:t>　 </a:t>
            </a:r>
            <a:r>
              <a:rPr lang="en-US" altLang="zh-CN" sz="2400" kern="0" dirty="0">
                <a:solidFill>
                  <a:schemeClr val="tx1"/>
                </a:solidFill>
                <a:cs typeface="Times New Roman" pitchFamily="18" charset="0"/>
              </a:rPr>
              <a:t>float score;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kern="0" dirty="0">
                <a:solidFill>
                  <a:schemeClr val="tx1"/>
                </a:solidFill>
                <a:cs typeface="Times New Roman" pitchFamily="18" charset="0"/>
              </a:rPr>
              <a:t>};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8662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结构类型的定义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zh-CN" altLang="en-US" dirty="0"/>
          </a:p>
          <a:p>
            <a:pPr lvl="1"/>
            <a:r>
              <a:rPr lang="zh-CN" altLang="en-US" sz="3300" dirty="0"/>
              <a:t>结构类型可嵌套定义</a:t>
            </a:r>
            <a:endParaRPr lang="en-US" altLang="zh-CN" sz="3300" dirty="0"/>
          </a:p>
          <a:p>
            <a:pPr marL="274320" lvl="1" indent="0">
              <a:buNone/>
            </a:pPr>
            <a:endParaRPr lang="en-US" altLang="zh-CN" sz="2800" b="1" dirty="0">
              <a:solidFill>
                <a:srgbClr val="5596CD">
                  <a:lumMod val="5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1" dirty="0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struct date{ </a:t>
            </a:r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        int year;</a:t>
            </a:r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        </a:t>
            </a:r>
            <a:r>
              <a:rPr lang="en-US" altLang="zh-CN" sz="2800" b="1" dirty="0" err="1">
                <a:solidFill>
                  <a:schemeClr val="accent1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int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 month;</a:t>
            </a:r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        </a:t>
            </a:r>
            <a:r>
              <a:rPr lang="en-US" altLang="zh-CN" sz="2800" b="1" dirty="0" err="1">
                <a:solidFill>
                  <a:schemeClr val="accent1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int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 day;  </a:t>
            </a:r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    };</a:t>
            </a:r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1" dirty="0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en-US" altLang="zh-CN" sz="2800" b="1" dirty="0">
                <a:latin typeface="楷体" panose="02010609060101010101" charset="-122"/>
                <a:ea typeface="楷体" panose="02010609060101010101" charset="-122"/>
              </a:rPr>
              <a:t>struct student{</a:t>
            </a:r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b="1" dirty="0">
                <a:latin typeface="楷体" panose="02010609060101010101" charset="-122"/>
                <a:ea typeface="楷体" panose="02010609060101010101" charset="-122"/>
              </a:rPr>
              <a:t>　      </a:t>
            </a:r>
            <a:r>
              <a:rPr lang="en-US" altLang="zh-CN" sz="2800" b="1" dirty="0">
                <a:latin typeface="楷体" panose="02010609060101010101" charset="-122"/>
                <a:ea typeface="楷体" panose="02010609060101010101" charset="-122"/>
              </a:rPr>
              <a:t>int number;        </a:t>
            </a:r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1" dirty="0">
                <a:latin typeface="楷体" panose="02010609060101010101" charset="-122"/>
                <a:ea typeface="楷体" panose="02010609060101010101" charset="-122"/>
              </a:rPr>
              <a:t>        char name[20];</a:t>
            </a:r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1" dirty="0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2800" b="1" dirty="0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　     </a:t>
            </a:r>
            <a:r>
              <a:rPr lang="en-US" altLang="zh-CN" sz="2800" b="1" dirty="0" err="1">
                <a:solidFill>
                  <a:schemeClr val="accent1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struct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 date</a:t>
            </a:r>
            <a:r>
              <a:rPr lang="en-US" altLang="zh-CN" sz="2800" b="1" dirty="0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</a:rPr>
              <a:t>  </a:t>
            </a:r>
            <a:r>
              <a:rPr lang="en-US" altLang="zh-CN" sz="2800" b="1" dirty="0">
                <a:latin typeface="楷体" panose="02010609060101010101" charset="-122"/>
                <a:ea typeface="楷体" panose="02010609060101010101" charset="-122"/>
              </a:rPr>
              <a:t>birthday;</a:t>
            </a:r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1" dirty="0">
                <a:latin typeface="楷体" panose="02010609060101010101" charset="-122"/>
                <a:ea typeface="楷体" panose="02010609060101010101" charset="-122"/>
              </a:rPr>
              <a:t>    };</a:t>
            </a:r>
          </a:p>
          <a:p>
            <a:pPr lvl="1"/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0331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结构变量的定义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6800" y="1532585"/>
            <a:ext cx="10058400" cy="4572001"/>
          </a:xfrm>
        </p:spPr>
        <p:txBody>
          <a:bodyPr>
            <a:noAutofit/>
          </a:bodyPr>
          <a:lstStyle/>
          <a:p>
            <a:pPr marL="274320" lvl="1" indent="0"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）先定义结构类型，再定义该类型变量 </a:t>
            </a:r>
          </a:p>
          <a:p>
            <a:pPr lvl="1"/>
            <a:r>
              <a:rPr lang="zh-CN" altLang="en-US" sz="2000" dirty="0"/>
              <a:t>语法格式：　</a:t>
            </a:r>
            <a:r>
              <a:rPr lang="en-US" altLang="zh-CN" sz="2000" dirty="0" err="1"/>
              <a:t>struct</a:t>
            </a:r>
            <a:r>
              <a:rPr lang="en-US" altLang="zh-CN" sz="2000" dirty="0"/>
              <a:t>  </a:t>
            </a:r>
            <a:r>
              <a:rPr lang="zh-CN" altLang="en-US" sz="2000" dirty="0"/>
              <a:t>结构名</a:t>
            </a:r>
            <a:r>
              <a:rPr lang="en-US" altLang="zh-CN" sz="2000" dirty="0"/>
              <a:t>{</a:t>
            </a:r>
            <a:r>
              <a:rPr lang="zh-CN" altLang="en-US" sz="2000" dirty="0"/>
              <a:t> </a:t>
            </a:r>
          </a:p>
          <a:p>
            <a:pPr marL="457200" lvl="1" indent="0">
              <a:buNone/>
            </a:pPr>
            <a:r>
              <a:rPr lang="zh-CN" altLang="en-US" sz="2000" dirty="0"/>
              <a:t>　　                   成员表 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2000" dirty="0"/>
              <a:t>                    }</a:t>
            </a:r>
            <a:r>
              <a:rPr lang="zh-CN" altLang="en-US" sz="2000" dirty="0"/>
              <a:t>；</a:t>
            </a:r>
          </a:p>
          <a:p>
            <a:pPr marL="457200" lvl="1" indent="0">
              <a:buNone/>
            </a:pPr>
            <a:r>
              <a:rPr lang="zh-CN" altLang="en-US" sz="2000" dirty="0"/>
              <a:t>　　             </a:t>
            </a:r>
            <a:r>
              <a:rPr lang="en-US" altLang="zh-CN" sz="2000" dirty="0" err="1"/>
              <a:t>struct</a:t>
            </a:r>
            <a:r>
              <a:rPr lang="en-US" altLang="zh-CN" sz="2000" dirty="0"/>
              <a:t>  </a:t>
            </a:r>
            <a:r>
              <a:rPr lang="zh-CN" altLang="en-US" sz="2000" dirty="0"/>
              <a:t>结构名  变量名列表；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2000" dirty="0"/>
              <a:t> struct </a:t>
            </a:r>
            <a:r>
              <a:rPr lang="en-US" altLang="zh-CN" sz="2000" dirty="0" err="1"/>
              <a:t>stu</a:t>
            </a:r>
            <a:r>
              <a:rPr lang="en-US" altLang="zh-CN" sz="2000" dirty="0"/>
              <a:t>{</a:t>
            </a:r>
          </a:p>
          <a:p>
            <a:pPr marL="457200" lvl="1" indent="0">
              <a:buNone/>
            </a:pPr>
            <a:r>
              <a:rPr lang="en-US" altLang="zh-CN" sz="2000" dirty="0"/>
              <a:t>   </a:t>
            </a:r>
            <a:r>
              <a:rPr lang="zh-CN" altLang="en-US" sz="2000" dirty="0"/>
              <a:t>　</a:t>
            </a:r>
            <a:r>
              <a:rPr lang="en-US" altLang="zh-CN" sz="2000" dirty="0"/>
              <a:t>int number</a:t>
            </a:r>
            <a:r>
              <a:rPr lang="zh-CN" altLang="en-US" sz="2000" dirty="0"/>
              <a:t>；        </a:t>
            </a:r>
          </a:p>
          <a:p>
            <a:pPr marL="457200" lvl="1" indent="0">
              <a:buNone/>
            </a:pPr>
            <a:r>
              <a:rPr lang="zh-CN" altLang="en-US" sz="2000" dirty="0"/>
              <a:t>      </a:t>
            </a:r>
            <a:r>
              <a:rPr lang="en-US" altLang="zh-CN" sz="2000" dirty="0"/>
              <a:t>char name[20]</a:t>
            </a:r>
            <a:r>
              <a:rPr lang="zh-CN" altLang="en-US" sz="2000" dirty="0"/>
              <a:t>；  </a:t>
            </a:r>
          </a:p>
          <a:p>
            <a:pPr marL="457200" lvl="1" indent="0">
              <a:buNone/>
            </a:pPr>
            <a:r>
              <a:rPr lang="zh-CN" altLang="en-US" sz="2000" dirty="0"/>
              <a:t>      </a:t>
            </a:r>
            <a:r>
              <a:rPr lang="en-US" altLang="zh-CN" sz="2000" dirty="0"/>
              <a:t>char gender</a:t>
            </a:r>
            <a:r>
              <a:rPr lang="zh-CN" altLang="en-US" sz="2000" dirty="0"/>
              <a:t>；       </a:t>
            </a:r>
          </a:p>
          <a:p>
            <a:pPr marL="457200" lvl="1" indent="0">
              <a:buNone/>
            </a:pPr>
            <a:r>
              <a:rPr lang="zh-CN" altLang="en-US" sz="2000" dirty="0"/>
              <a:t>      </a:t>
            </a:r>
            <a:r>
              <a:rPr lang="en-US" altLang="zh-CN" sz="2000" dirty="0"/>
              <a:t>float score</a:t>
            </a:r>
            <a:r>
              <a:rPr lang="zh-CN" altLang="en-US" sz="2000" dirty="0"/>
              <a:t>；    </a:t>
            </a:r>
          </a:p>
          <a:p>
            <a:pPr marL="457200" lvl="1" indent="0">
              <a:buNone/>
            </a:pPr>
            <a:r>
              <a:rPr lang="en-US" altLang="zh-CN" sz="2000" dirty="0"/>
              <a:t> }</a:t>
            </a:r>
            <a:r>
              <a:rPr lang="zh-CN" altLang="en-US" sz="2000" dirty="0"/>
              <a:t>；</a:t>
            </a:r>
          </a:p>
          <a:p>
            <a:pPr marL="457200" lvl="1" indent="0">
              <a:buNone/>
            </a:pPr>
            <a:r>
              <a:rPr lang="en-US" altLang="zh-CN" sz="2000" dirty="0"/>
              <a:t> struct </a:t>
            </a:r>
            <a:r>
              <a:rPr lang="en-US" altLang="zh-CN" sz="2000" dirty="0" err="1"/>
              <a:t>stu</a:t>
            </a:r>
            <a:r>
              <a:rPr lang="en-US" altLang="zh-CN" sz="2000" dirty="0"/>
              <a:t> s1;</a:t>
            </a:r>
          </a:p>
          <a:p>
            <a:pPr lvl="1"/>
            <a:r>
              <a:rPr lang="zh-CN" altLang="en-US" sz="2000" dirty="0"/>
              <a:t>结构变量的存储：各成员在内存中连续存放，所占总存储空间</a:t>
            </a:r>
            <a:r>
              <a:rPr lang="en-US" altLang="zh-CN" sz="2000" dirty="0"/>
              <a:t>&gt;=</a:t>
            </a:r>
            <a:r>
              <a:rPr lang="zh-CN" altLang="en-US" sz="2000" dirty="0"/>
              <a:t>各成员存储空间之和。  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6477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结构变量的定义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zh-CN" altLang="en-US" dirty="0"/>
          </a:p>
          <a:p>
            <a:pPr marL="274320" lvl="1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）定义结构类型的同时定义该类型变量 </a:t>
            </a:r>
          </a:p>
          <a:p>
            <a:pPr lvl="1"/>
            <a:r>
              <a:rPr lang="zh-CN" altLang="en-US" sz="2400" dirty="0"/>
              <a:t>语法格式：　</a:t>
            </a:r>
            <a:r>
              <a:rPr lang="en-US" altLang="zh-CN" sz="2400" dirty="0" err="1"/>
              <a:t>struct</a:t>
            </a:r>
            <a:r>
              <a:rPr lang="en-US" altLang="zh-CN" sz="2400" dirty="0"/>
              <a:t>  </a:t>
            </a:r>
            <a:r>
              <a:rPr lang="zh-CN" altLang="en-US" sz="2400" dirty="0"/>
              <a:t>结构名</a:t>
            </a:r>
            <a:r>
              <a:rPr lang="en-US" altLang="zh-CN" sz="2400" dirty="0"/>
              <a:t>{</a:t>
            </a:r>
            <a:r>
              <a:rPr lang="zh-CN" altLang="en-US" sz="2400" dirty="0"/>
              <a:t> </a:t>
            </a:r>
          </a:p>
          <a:p>
            <a:pPr marL="457200" lvl="1" indent="0">
              <a:buNone/>
            </a:pPr>
            <a:r>
              <a:rPr lang="zh-CN" altLang="en-US" sz="2400" dirty="0"/>
              <a:t>　　             </a:t>
            </a:r>
            <a:r>
              <a:rPr lang="en-US" altLang="zh-CN" sz="2400" dirty="0"/>
              <a:t>     </a:t>
            </a:r>
            <a:r>
              <a:rPr lang="zh-CN" altLang="en-US" sz="2400" dirty="0"/>
              <a:t>成员表 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                    }</a:t>
            </a:r>
            <a:r>
              <a:rPr lang="zh-CN" altLang="en-US" sz="2400" dirty="0"/>
              <a:t>变量名列表；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struct </a:t>
            </a:r>
            <a:r>
              <a:rPr lang="en-US" altLang="zh-CN" sz="2400" dirty="0" err="1"/>
              <a:t>stu</a:t>
            </a:r>
            <a:r>
              <a:rPr lang="en-US" altLang="zh-CN" sz="2400" dirty="0"/>
              <a:t>{</a:t>
            </a:r>
          </a:p>
          <a:p>
            <a:pPr marL="457200" lvl="1" indent="0">
              <a:buNone/>
            </a:pPr>
            <a:r>
              <a:rPr lang="en-US" altLang="zh-CN" sz="2400" dirty="0"/>
              <a:t> </a:t>
            </a:r>
            <a:r>
              <a:rPr lang="zh-CN" altLang="en-US" sz="2400" dirty="0"/>
              <a:t>　</a:t>
            </a:r>
            <a:r>
              <a:rPr lang="en-US" altLang="zh-CN" sz="2400" dirty="0"/>
              <a:t>int number</a:t>
            </a:r>
            <a:r>
              <a:rPr lang="zh-CN" altLang="en-US" sz="2400" dirty="0"/>
              <a:t>；        </a:t>
            </a:r>
          </a:p>
          <a:p>
            <a:pPr marL="457200" lvl="1" indent="0"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char name[20]</a:t>
            </a:r>
            <a:r>
              <a:rPr lang="zh-CN" altLang="en-US" sz="2400" dirty="0"/>
              <a:t>；  </a:t>
            </a:r>
          </a:p>
          <a:p>
            <a:pPr marL="457200" lvl="1" indent="0"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char gender</a:t>
            </a:r>
            <a:r>
              <a:rPr lang="zh-CN" altLang="en-US" sz="2400" dirty="0"/>
              <a:t>；       </a:t>
            </a:r>
          </a:p>
          <a:p>
            <a:pPr marL="457200" lvl="1" indent="0"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float score</a:t>
            </a:r>
            <a:r>
              <a:rPr lang="zh-CN" altLang="en-US" sz="2400" dirty="0"/>
              <a:t>；    </a:t>
            </a:r>
          </a:p>
          <a:p>
            <a:pPr marL="457200" lvl="1" indent="0">
              <a:buNone/>
            </a:pPr>
            <a:r>
              <a:rPr lang="en-US" altLang="zh-CN" sz="2400" dirty="0"/>
              <a:t>}</a:t>
            </a:r>
            <a:r>
              <a:rPr lang="zh-CN" altLang="en-US" sz="2400" dirty="0"/>
              <a:t> </a:t>
            </a:r>
            <a:r>
              <a:rPr lang="en-US" altLang="zh-CN" sz="2400" dirty="0"/>
              <a:t>s1;</a:t>
            </a:r>
          </a:p>
        </p:txBody>
      </p:sp>
      <p:sp>
        <p:nvSpPr>
          <p:cNvPr id="4" name="矩形 3"/>
          <p:cNvSpPr/>
          <p:nvPr/>
        </p:nvSpPr>
        <p:spPr>
          <a:xfrm>
            <a:off x="7116777" y="2441490"/>
            <a:ext cx="35143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struct stu{</a:t>
            </a:r>
          </a:p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　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int number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  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char name[20]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char gender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 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float score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</a:t>
            </a:r>
          </a:p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}</a:t>
            </a:r>
            <a:r>
              <a:rPr lang="zh-CN" altLang="en-US" sz="2000" b="1" spc="150" noProof="1">
                <a:solidFill>
                  <a:srgbClr val="EB27C6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</a:p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EB27C6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struct stu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s1;</a:t>
            </a:r>
          </a:p>
        </p:txBody>
      </p:sp>
      <p:sp>
        <p:nvSpPr>
          <p:cNvPr id="5" name="矩形 4"/>
          <p:cNvSpPr/>
          <p:nvPr/>
        </p:nvSpPr>
        <p:spPr>
          <a:xfrm>
            <a:off x="7370749" y="2441490"/>
            <a:ext cx="3006436" cy="2266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7041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结构变量的定义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zh-CN" altLang="en-US" dirty="0"/>
          </a:p>
          <a:p>
            <a:pPr marL="274320" lvl="1" indent="0">
              <a:buNone/>
            </a:pPr>
            <a:r>
              <a:rPr lang="zh-CN" altLang="en-US" sz="2600" dirty="0"/>
              <a:t>（</a:t>
            </a:r>
            <a:r>
              <a:rPr lang="en-US" altLang="zh-CN" sz="2600" dirty="0"/>
              <a:t>3</a:t>
            </a:r>
            <a:r>
              <a:rPr lang="zh-CN" altLang="en-US" sz="2600" dirty="0"/>
              <a:t>）无结构类型名，直接定义结构变量 </a:t>
            </a:r>
          </a:p>
          <a:p>
            <a:pPr lvl="1"/>
            <a:r>
              <a:rPr lang="zh-CN" altLang="en-US" sz="2600" dirty="0"/>
              <a:t>语法格式： </a:t>
            </a:r>
            <a:r>
              <a:rPr lang="en-US" altLang="zh-CN" sz="2600" dirty="0"/>
              <a:t>struct{</a:t>
            </a:r>
            <a:endParaRPr lang="zh-CN" altLang="en-US" sz="2600" dirty="0"/>
          </a:p>
          <a:p>
            <a:pPr marL="457200" lvl="1" indent="0">
              <a:buNone/>
            </a:pPr>
            <a:r>
              <a:rPr lang="zh-CN" altLang="en-US" sz="2600" dirty="0"/>
              <a:t>　　           </a:t>
            </a:r>
            <a:r>
              <a:rPr lang="en-US" altLang="zh-CN" sz="2600" dirty="0"/>
              <a:t>      </a:t>
            </a:r>
            <a:r>
              <a:rPr lang="zh-CN" altLang="en-US" sz="2600" dirty="0"/>
              <a:t>成员表 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                  }</a:t>
            </a:r>
            <a:r>
              <a:rPr lang="zh-CN" altLang="en-US" sz="2600" dirty="0"/>
              <a:t>变量名列表；</a:t>
            </a:r>
          </a:p>
          <a:p>
            <a:pPr marL="274320" lvl="1" indent="0">
              <a:buNone/>
            </a:pP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struct {</a:t>
            </a:r>
          </a:p>
          <a:p>
            <a:pPr marL="457200" lvl="1" indent="0">
              <a:buNone/>
            </a:pPr>
            <a:r>
              <a:rPr lang="en-US" altLang="zh-CN" sz="2600" dirty="0"/>
              <a:t> </a:t>
            </a:r>
            <a:r>
              <a:rPr lang="zh-CN" altLang="en-US" sz="2600" dirty="0"/>
              <a:t>　</a:t>
            </a:r>
            <a:r>
              <a:rPr lang="en-US" altLang="zh-CN" sz="2600" dirty="0"/>
              <a:t>int number</a:t>
            </a:r>
            <a:r>
              <a:rPr lang="zh-CN" altLang="en-US" sz="2600" dirty="0"/>
              <a:t>；        </a:t>
            </a:r>
          </a:p>
          <a:p>
            <a:pPr marL="457200" lvl="1" indent="0">
              <a:buNone/>
            </a:pPr>
            <a:r>
              <a:rPr lang="zh-CN" altLang="en-US" sz="2600" dirty="0"/>
              <a:t>    </a:t>
            </a:r>
            <a:r>
              <a:rPr lang="en-US" altLang="zh-CN" sz="2600" dirty="0"/>
              <a:t>char name[20]</a:t>
            </a:r>
            <a:r>
              <a:rPr lang="zh-CN" altLang="en-US" sz="2600" dirty="0"/>
              <a:t>；  </a:t>
            </a:r>
          </a:p>
          <a:p>
            <a:pPr marL="457200" lvl="1" indent="0">
              <a:buNone/>
            </a:pPr>
            <a:r>
              <a:rPr lang="zh-CN" altLang="en-US" sz="2600" dirty="0"/>
              <a:t>    </a:t>
            </a:r>
            <a:r>
              <a:rPr lang="en-US" altLang="zh-CN" sz="2600" dirty="0"/>
              <a:t>char gender</a:t>
            </a:r>
            <a:r>
              <a:rPr lang="zh-CN" altLang="en-US" sz="2600" dirty="0"/>
              <a:t>；       </a:t>
            </a:r>
          </a:p>
          <a:p>
            <a:pPr marL="457200" lvl="1" indent="0">
              <a:buNone/>
            </a:pPr>
            <a:r>
              <a:rPr lang="zh-CN" altLang="en-US" sz="2600" dirty="0"/>
              <a:t>    </a:t>
            </a:r>
            <a:r>
              <a:rPr lang="en-US" altLang="zh-CN" sz="2600" dirty="0"/>
              <a:t>float score</a:t>
            </a:r>
            <a:r>
              <a:rPr lang="zh-CN" altLang="en-US" sz="2600" dirty="0"/>
              <a:t>；    </a:t>
            </a:r>
          </a:p>
          <a:p>
            <a:pPr marL="457200" lvl="1" indent="0">
              <a:buNone/>
            </a:pPr>
            <a:r>
              <a:rPr lang="en-US" altLang="zh-CN" sz="2600" dirty="0"/>
              <a:t>}s1;</a:t>
            </a:r>
          </a:p>
        </p:txBody>
      </p:sp>
      <p:sp>
        <p:nvSpPr>
          <p:cNvPr id="4" name="矩形 3"/>
          <p:cNvSpPr/>
          <p:nvPr/>
        </p:nvSpPr>
        <p:spPr>
          <a:xfrm>
            <a:off x="8022723" y="998023"/>
            <a:ext cx="35143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struct stu{</a:t>
            </a:r>
          </a:p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　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int number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  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char name[20]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char gender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 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float score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</a:t>
            </a:r>
          </a:p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}</a:t>
            </a:r>
            <a:r>
              <a:rPr lang="zh-CN" altLang="en-US" sz="2000" b="1" spc="150" noProof="1">
                <a:solidFill>
                  <a:srgbClr val="EB27C6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</a:p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EB27C6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struct stu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s1;</a:t>
            </a:r>
          </a:p>
        </p:txBody>
      </p:sp>
      <p:sp>
        <p:nvSpPr>
          <p:cNvPr id="5" name="矩形 4"/>
          <p:cNvSpPr/>
          <p:nvPr/>
        </p:nvSpPr>
        <p:spPr>
          <a:xfrm>
            <a:off x="8068181" y="3540447"/>
            <a:ext cx="34689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struct </a:t>
            </a:r>
            <a:r>
              <a:rPr lang="en-US" altLang="zh-CN" sz="2000" b="1" spc="150" noProof="1">
                <a:solidFill>
                  <a:srgbClr val="EB27C6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stu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{</a:t>
            </a:r>
          </a:p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　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int number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  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char name[20]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char gender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 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float score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</a:t>
            </a:r>
          </a:p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}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s1;</a:t>
            </a:r>
          </a:p>
        </p:txBody>
      </p:sp>
      <p:sp>
        <p:nvSpPr>
          <p:cNvPr id="6" name="矩形 5"/>
          <p:cNvSpPr/>
          <p:nvPr/>
        </p:nvSpPr>
        <p:spPr>
          <a:xfrm>
            <a:off x="8326240" y="1049337"/>
            <a:ext cx="3006436" cy="2266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8326240" y="3547402"/>
            <a:ext cx="3006436" cy="19588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4884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结构变量的初始化和使用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54515" y="1892808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 </a:t>
            </a:r>
          </a:p>
          <a:p>
            <a:pPr lvl="1"/>
            <a:r>
              <a:rPr lang="zh-CN" altLang="en-US" sz="2400" dirty="0"/>
              <a:t>语法格式：结构类型　结构变量名</a:t>
            </a:r>
            <a:r>
              <a:rPr lang="en-US" altLang="zh-CN" sz="2400" dirty="0"/>
              <a:t>={</a:t>
            </a:r>
            <a:r>
              <a:rPr lang="zh-CN" altLang="en-US" sz="2400" dirty="0"/>
              <a:t>初始值表</a:t>
            </a:r>
            <a:r>
              <a:rPr lang="en-US" altLang="zh-CN" sz="2400" dirty="0"/>
              <a:t>}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struct  </a:t>
            </a:r>
            <a:r>
              <a:rPr lang="en-US" altLang="zh-CN" sz="2400" dirty="0" err="1"/>
              <a:t>stu</a:t>
            </a:r>
            <a:r>
              <a:rPr lang="en-US" altLang="zh-CN" sz="2400" dirty="0"/>
              <a:t>{</a:t>
            </a:r>
          </a:p>
          <a:p>
            <a:pPr marL="457200" lvl="1" indent="0">
              <a:buNone/>
            </a:pPr>
            <a:r>
              <a:rPr lang="en-US" altLang="zh-CN" sz="2400" dirty="0"/>
              <a:t>     int number</a:t>
            </a:r>
            <a:r>
              <a:rPr lang="zh-CN" altLang="en-US" sz="2400" dirty="0"/>
              <a:t>；</a:t>
            </a:r>
          </a:p>
          <a:p>
            <a:pPr marL="457200" lvl="1" indent="0">
              <a:buNone/>
            </a:pPr>
            <a:r>
              <a:rPr lang="zh-CN" altLang="en-US" sz="2400" dirty="0"/>
              <a:t>     </a:t>
            </a:r>
            <a:r>
              <a:rPr lang="en-US" altLang="zh-CN" sz="2400" dirty="0"/>
              <a:t>char name[20]</a:t>
            </a:r>
            <a:r>
              <a:rPr lang="zh-CN" altLang="en-US" sz="2400" dirty="0"/>
              <a:t>；</a:t>
            </a:r>
          </a:p>
          <a:p>
            <a:pPr marL="457200" lvl="1" indent="0">
              <a:buNone/>
            </a:pPr>
            <a:r>
              <a:rPr lang="zh-CN" altLang="en-US" sz="2400" dirty="0"/>
              <a:t>     </a:t>
            </a:r>
            <a:r>
              <a:rPr lang="en-US" altLang="zh-CN" sz="2400" dirty="0"/>
              <a:t>char gender</a:t>
            </a:r>
            <a:r>
              <a:rPr lang="zh-CN" altLang="en-US" sz="2400" dirty="0"/>
              <a:t>；</a:t>
            </a:r>
          </a:p>
          <a:p>
            <a:pPr marL="457200" lvl="1" indent="0">
              <a:buNone/>
            </a:pPr>
            <a:r>
              <a:rPr lang="zh-CN" altLang="en-US" sz="2400" dirty="0"/>
              <a:t>     </a:t>
            </a:r>
            <a:r>
              <a:rPr lang="en-US" altLang="zh-CN" sz="2400" dirty="0"/>
              <a:t>float score</a:t>
            </a:r>
            <a:r>
              <a:rPr lang="zh-CN" altLang="en-US" sz="2400" dirty="0"/>
              <a:t>；</a:t>
            </a:r>
          </a:p>
          <a:p>
            <a:pPr marL="457200" lvl="1" indent="0"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} s1 = {3301, "</a:t>
            </a:r>
            <a:r>
              <a:rPr lang="en-US" altLang="zh-CN" sz="2400" dirty="0" err="1"/>
              <a:t>Lihua</a:t>
            </a:r>
            <a:r>
              <a:rPr lang="en-US" altLang="zh-CN" sz="2400" dirty="0"/>
              <a:t>", 'M'};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8521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42757"/>
            <a:ext cx="10058400" cy="1609344"/>
          </a:xfrm>
        </p:spPr>
        <p:txBody>
          <a:bodyPr/>
          <a:lstStyle/>
          <a:p>
            <a:r>
              <a:rPr lang="zh-CN" altLang="en-US" dirty="0"/>
              <a:t>结构变量的引用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9931" y="1882987"/>
            <a:ext cx="11072137" cy="52031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  </a:t>
            </a:r>
          </a:p>
          <a:p>
            <a:pPr marL="274320" lvl="1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）结构类型变量的引用</a:t>
            </a:r>
          </a:p>
          <a:p>
            <a:pPr lvl="1"/>
            <a:r>
              <a:rPr lang="zh-CN" altLang="en-US" sz="2400" dirty="0"/>
              <a:t>结构变量可作为一个整体赋值给同类型变量。</a:t>
            </a:r>
          </a:p>
          <a:p>
            <a:pPr marL="274320" lvl="1" indent="0">
              <a:buNone/>
            </a:pP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  </a:t>
            </a:r>
            <a:r>
              <a:rPr lang="en-US" altLang="zh-CN" sz="2400" dirty="0" err="1"/>
              <a:t>struct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stu</a:t>
            </a:r>
            <a:r>
              <a:rPr lang="en-US" altLang="zh-CN" sz="2400" dirty="0"/>
              <a:t> s1,s2 = {3301</a:t>
            </a:r>
            <a:r>
              <a:rPr lang="zh-CN" altLang="en-US" sz="2400" dirty="0"/>
              <a:t>，</a:t>
            </a:r>
            <a:r>
              <a:rPr lang="en-US" altLang="zh-CN" sz="2400" dirty="0"/>
              <a:t>"</a:t>
            </a:r>
            <a:r>
              <a:rPr lang="en-US" altLang="zh-CN" sz="2400" dirty="0" err="1"/>
              <a:t>Lihua</a:t>
            </a:r>
            <a:r>
              <a:rPr lang="en-US" altLang="zh-CN" sz="2400" dirty="0"/>
              <a:t>"</a:t>
            </a:r>
            <a:r>
              <a:rPr lang="zh-CN" altLang="en-US" sz="2400" dirty="0"/>
              <a:t>，</a:t>
            </a:r>
            <a:r>
              <a:rPr lang="en-US" altLang="zh-CN" sz="2400" dirty="0"/>
              <a:t>'M'};</a:t>
            </a:r>
          </a:p>
          <a:p>
            <a:pPr marL="457200" lvl="1" indent="0">
              <a:buNone/>
            </a:pPr>
            <a:r>
              <a:rPr lang="en-US" altLang="zh-CN" sz="2400" dirty="0"/>
              <a:t>  s1 = s2;</a:t>
            </a:r>
          </a:p>
          <a:p>
            <a:pPr lvl="1"/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  </a:t>
            </a:r>
            <a:r>
              <a:rPr lang="en-US" altLang="zh-CN" sz="2400" dirty="0" err="1"/>
              <a:t>struct</a:t>
            </a:r>
            <a:r>
              <a:rPr lang="en-US" altLang="zh-CN" sz="2400" dirty="0"/>
              <a:t>  </a:t>
            </a:r>
            <a:r>
              <a:rPr lang="en-US" altLang="zh-CN" sz="2400" dirty="0" err="1"/>
              <a:t>stu</a:t>
            </a:r>
            <a:r>
              <a:rPr lang="en-US" altLang="zh-CN" sz="2400" dirty="0"/>
              <a:t>  s1;</a:t>
            </a:r>
          </a:p>
          <a:p>
            <a:pPr marL="457200" lvl="1" indent="0">
              <a:buNone/>
            </a:pPr>
            <a:r>
              <a:rPr lang="en-US" altLang="zh-CN" sz="2400" dirty="0"/>
              <a:t>  s1 = {3301, "</a:t>
            </a:r>
            <a:r>
              <a:rPr lang="en-US" altLang="zh-CN" sz="2400" dirty="0" err="1"/>
              <a:t>Lihua</a:t>
            </a:r>
            <a:r>
              <a:rPr lang="en-US" altLang="zh-CN" sz="2400" dirty="0"/>
              <a:t>", 'M'}; //</a:t>
            </a:r>
            <a:r>
              <a:rPr lang="en-US" altLang="zh-CN" sz="2400" dirty="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4" name="矩形 3"/>
          <p:cNvSpPr/>
          <p:nvPr/>
        </p:nvSpPr>
        <p:spPr>
          <a:xfrm>
            <a:off x="7519604" y="2459504"/>
            <a:ext cx="34689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struct </a:t>
            </a:r>
            <a:r>
              <a:rPr lang="en-US" altLang="zh-CN" sz="2000" b="1" spc="150" noProof="1">
                <a:latin typeface="楷体" panose="02010609060101010101" charset="-122"/>
                <a:ea typeface="楷体" panose="02010609060101010101" charset="-122"/>
                <a:sym typeface="+mn-ea"/>
              </a:rPr>
              <a:t>stu{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　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int number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  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char name[20]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char gender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 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float score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</a:t>
            </a:r>
          </a:p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}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s1;</a:t>
            </a:r>
          </a:p>
        </p:txBody>
      </p:sp>
      <p:sp>
        <p:nvSpPr>
          <p:cNvPr id="5" name="矩形 4"/>
          <p:cNvSpPr/>
          <p:nvPr/>
        </p:nvSpPr>
        <p:spPr>
          <a:xfrm>
            <a:off x="7615715" y="2407392"/>
            <a:ext cx="3567546" cy="2266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6039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结构变量的引用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4381" y="1813438"/>
            <a:ext cx="6033686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   </a:t>
            </a:r>
          </a:p>
          <a:p>
            <a:pPr marL="274320" lvl="1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）结构类型变量成员的引用</a:t>
            </a:r>
          </a:p>
          <a:p>
            <a:pPr lvl="1"/>
            <a:r>
              <a:rPr lang="zh-CN" altLang="en-US" sz="2400" dirty="0"/>
              <a:t>语法格式：结构变量名</a:t>
            </a:r>
            <a:r>
              <a:rPr lang="en-US" altLang="zh-CN" sz="2400" dirty="0"/>
              <a:t>.</a:t>
            </a:r>
            <a:r>
              <a:rPr lang="zh-CN" altLang="en-US" sz="2400" dirty="0"/>
              <a:t>成员名</a:t>
            </a:r>
          </a:p>
          <a:p>
            <a:pPr lvl="1"/>
            <a:r>
              <a:rPr lang="en-US" altLang="zh-CN" sz="2400" dirty="0"/>
              <a:t>“.”</a:t>
            </a:r>
            <a:r>
              <a:rPr lang="zh-CN" altLang="en-US" sz="2400" dirty="0"/>
              <a:t>成员运算符－表示存取结构变量的某个成员，在所有运算符中优先级最高。</a:t>
            </a:r>
            <a:endParaRPr lang="en-US" altLang="zh-CN" sz="2400" dirty="0"/>
          </a:p>
          <a:p>
            <a:pPr marL="457200" lvl="1" indent="0">
              <a:buNone/>
            </a:pPr>
            <a:endParaRPr lang="zh-CN" altLang="en-US" sz="2400" dirty="0"/>
          </a:p>
          <a:p>
            <a:pPr marL="274320" lvl="1" indent="0">
              <a:buNone/>
            </a:pPr>
            <a:r>
              <a:rPr lang="en-US" altLang="zh-CN" sz="2400" dirty="0"/>
              <a:t>        s1.number = 6</a:t>
            </a:r>
            <a:r>
              <a:rPr lang="zh-CN" altLang="en-US" sz="2400" dirty="0"/>
              <a:t>；</a:t>
            </a:r>
          </a:p>
          <a:p>
            <a:pPr marL="457200" lvl="1" indent="0">
              <a:buNone/>
            </a:pPr>
            <a:r>
              <a:rPr lang="en-US" altLang="zh-CN" sz="2400" dirty="0"/>
              <a:t>      </a:t>
            </a:r>
            <a:r>
              <a:rPr lang="en-US" altLang="zh-CN" sz="2400" dirty="0" err="1"/>
              <a:t>strcpy</a:t>
            </a:r>
            <a:r>
              <a:rPr lang="en-US" altLang="zh-CN" sz="2400" dirty="0"/>
              <a:t>(s1.name, "</a:t>
            </a:r>
            <a:r>
              <a:rPr lang="zh-CN" altLang="en-US" sz="2400" dirty="0"/>
              <a:t>张三</a:t>
            </a:r>
            <a:r>
              <a:rPr lang="en-US" altLang="zh-CN" sz="2400" dirty="0"/>
              <a:t>");   </a:t>
            </a:r>
          </a:p>
        </p:txBody>
      </p:sp>
      <p:sp>
        <p:nvSpPr>
          <p:cNvPr id="4" name="矩形 3"/>
          <p:cNvSpPr/>
          <p:nvPr/>
        </p:nvSpPr>
        <p:spPr>
          <a:xfrm>
            <a:off x="7653229" y="2093976"/>
            <a:ext cx="34689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struct </a:t>
            </a:r>
            <a:r>
              <a:rPr lang="en-US" altLang="zh-CN" sz="2000" b="1" spc="150" noProof="1">
                <a:latin typeface="楷体" panose="02010609060101010101" charset="-122"/>
                <a:ea typeface="楷体" panose="02010609060101010101" charset="-122"/>
                <a:sym typeface="+mn-ea"/>
              </a:rPr>
              <a:t>stu{</a:t>
            </a:r>
          </a:p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　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int number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  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char name[20]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char gender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   </a:t>
            </a:r>
          </a:p>
          <a:p>
            <a:pPr lvl="1">
              <a:tabLst>
                <a:tab pos="1609725" algn="l"/>
              </a:tabLst>
            </a:pP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float score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    </a:t>
            </a:r>
          </a:p>
          <a:p>
            <a:pPr lvl="1">
              <a:tabLst>
                <a:tab pos="1609725" algn="l"/>
              </a:tabLst>
            </a:pP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}</a:t>
            </a:r>
            <a:r>
              <a:rPr lang="zh-CN" altLang="en-US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</a:t>
            </a:r>
            <a:r>
              <a:rPr lang="en-US" altLang="zh-CN" sz="2000" b="1" spc="150" noProof="1">
                <a:solidFill>
                  <a:srgbClr val="5596CD">
                    <a:lumMod val="50000"/>
                  </a:srgb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s1;</a:t>
            </a:r>
          </a:p>
        </p:txBody>
      </p:sp>
      <p:sp>
        <p:nvSpPr>
          <p:cNvPr id="5" name="矩形 4"/>
          <p:cNvSpPr/>
          <p:nvPr/>
        </p:nvSpPr>
        <p:spPr>
          <a:xfrm>
            <a:off x="7690073" y="2093976"/>
            <a:ext cx="3567546" cy="2266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9868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结构变量的引用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6800" y="1901274"/>
            <a:ext cx="10058400" cy="447209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zh-CN" altLang="en-US" dirty="0"/>
              <a:t> </a:t>
            </a:r>
          </a:p>
          <a:p>
            <a:pPr marL="274320" lvl="1" indent="0">
              <a:buNone/>
            </a:pPr>
            <a:r>
              <a:rPr lang="zh-CN" altLang="en-US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）嵌套结构中成员的引用</a:t>
            </a:r>
          </a:p>
          <a:p>
            <a:pPr marL="457200" lvl="1" indent="0">
              <a:buNone/>
            </a:pPr>
            <a:r>
              <a:rPr lang="zh-CN" altLang="en-US" sz="2800" dirty="0"/>
              <a:t>通过成员运算符</a:t>
            </a:r>
            <a:r>
              <a:rPr lang="en-US" altLang="zh-CN" sz="2800" dirty="0"/>
              <a:t>"."</a:t>
            </a:r>
            <a:r>
              <a:rPr lang="zh-CN" altLang="en-US" sz="2800" dirty="0"/>
              <a:t>，一级级运算至最低一级成员</a:t>
            </a:r>
          </a:p>
          <a:p>
            <a:pPr lvl="1" indent="0">
              <a:buNone/>
            </a:pPr>
            <a:r>
              <a:rPr lang="en-US" altLang="zh-CN" sz="2800" dirty="0">
                <a:solidFill>
                  <a:srgbClr val="EB27C6"/>
                </a:solidFill>
              </a:rPr>
              <a:t>struct date </a:t>
            </a:r>
            <a:r>
              <a:rPr lang="en-US" altLang="zh-CN" sz="2800" dirty="0"/>
              <a:t>{</a:t>
            </a:r>
            <a:endParaRPr lang="en-US" altLang="zh-CN" sz="2800" dirty="0">
              <a:solidFill>
                <a:srgbClr val="EB27C6"/>
              </a:solidFill>
            </a:endParaRP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int year;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int month;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int day;  </a:t>
            </a:r>
          </a:p>
          <a:p>
            <a:pPr marL="457200" lvl="1" indent="0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};</a:t>
            </a:r>
          </a:p>
          <a:p>
            <a:pPr lvl="1" indent="0">
              <a:buNone/>
            </a:pPr>
            <a:r>
              <a:rPr lang="en-US" altLang="zh-CN" sz="2800" dirty="0"/>
              <a:t>struct student{</a:t>
            </a:r>
          </a:p>
          <a:p>
            <a:pPr marL="457200" lvl="1" indent="0">
              <a:buNone/>
            </a:pPr>
            <a:r>
              <a:rPr lang="en-US" altLang="zh-CN" sz="2800" dirty="0"/>
              <a:t>      int number;</a:t>
            </a:r>
          </a:p>
          <a:p>
            <a:pPr marL="457200" lvl="1" indent="0">
              <a:buNone/>
            </a:pPr>
            <a:r>
              <a:rPr lang="en-US" altLang="zh-CN" sz="2800" dirty="0"/>
              <a:t>      char name[10];</a:t>
            </a:r>
          </a:p>
          <a:p>
            <a:pPr marL="457200" lvl="1" indent="0">
              <a:buNone/>
            </a:pPr>
            <a:r>
              <a:rPr lang="en-US" altLang="zh-CN" sz="2800" dirty="0"/>
              <a:t>      </a:t>
            </a:r>
            <a:r>
              <a:rPr lang="en-US" altLang="zh-CN" sz="2800" dirty="0">
                <a:solidFill>
                  <a:srgbClr val="EB27C6"/>
                </a:solidFill>
              </a:rPr>
              <a:t>struct date </a:t>
            </a:r>
            <a:r>
              <a:rPr lang="en-US" altLang="zh-CN" sz="2800" dirty="0" err="1"/>
              <a:t>bir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rx</a:t>
            </a:r>
            <a:r>
              <a:rPr lang="en-US" altLang="zh-CN" sz="2800" dirty="0"/>
              <a:t>;   </a:t>
            </a:r>
            <a:r>
              <a:rPr lang="zh-CN" altLang="en-US" sz="2800" dirty="0"/>
              <a:t>　</a:t>
            </a:r>
            <a:r>
              <a:rPr lang="en-US" altLang="zh-CN" sz="2800" dirty="0"/>
              <a:t>//</a:t>
            </a:r>
            <a:r>
              <a:rPr lang="zh-CN" altLang="en-US" sz="2800" dirty="0"/>
              <a:t>出生和入学日期</a:t>
            </a:r>
          </a:p>
          <a:p>
            <a:pPr marL="457200" lvl="1" indent="0">
              <a:buNone/>
            </a:pPr>
            <a:r>
              <a:rPr lang="en-US" altLang="zh-CN" sz="2800" dirty="0"/>
              <a:t>}li; </a:t>
            </a:r>
          </a:p>
          <a:p>
            <a:pPr marL="457200" lvl="1" indent="0">
              <a:buNone/>
            </a:pPr>
            <a:r>
              <a:rPr lang="en-US" altLang="zh-CN" sz="2800" dirty="0" err="1"/>
              <a:t>li.bir.year</a:t>
            </a:r>
            <a:r>
              <a:rPr lang="en-US" altLang="zh-CN" sz="2800" dirty="0"/>
              <a:t> = 1991;</a:t>
            </a:r>
          </a:p>
          <a:p>
            <a:pPr marL="457200" lvl="1" indent="0">
              <a:buNone/>
            </a:pPr>
            <a:r>
              <a:rPr lang="en-US" altLang="zh-CN" sz="2800" dirty="0" err="1"/>
              <a:t>li.rx.month</a:t>
            </a:r>
            <a:r>
              <a:rPr lang="en-US" altLang="zh-CN" sz="2800" dirty="0"/>
              <a:t> = 9;</a:t>
            </a:r>
            <a:r>
              <a:rPr lang="zh-CN" altLang="en-US" sz="2800" dirty="0"/>
              <a:t>　           </a:t>
            </a:r>
            <a:r>
              <a:rPr lang="en-US" altLang="zh-CN" sz="2800" dirty="0"/>
              <a:t>//</a:t>
            </a:r>
            <a:r>
              <a:rPr lang="zh-CN" altLang="en-US" sz="2800" dirty="0"/>
              <a:t>入学日期的月份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0164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5048" y="0"/>
            <a:ext cx="10058400" cy="1609344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程序举例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0" y="203200"/>
            <a:ext cx="5257800" cy="64516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#include 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struct student {                       </a:t>
            </a:r>
            <a:r>
              <a:rPr lang="en-US" dirty="0">
                <a:solidFill>
                  <a:srgbClr val="0070C0"/>
                </a:solidFill>
              </a:rPr>
              <a:t>//</a:t>
            </a:r>
            <a:r>
              <a:rPr lang="zh-CN" altLang="en-US" dirty="0">
                <a:solidFill>
                  <a:srgbClr val="0070C0"/>
                </a:solidFill>
              </a:rPr>
              <a:t>定义结构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       char name[10];</a:t>
            </a:r>
          </a:p>
          <a:p>
            <a:pPr marL="0" indent="0">
              <a:buNone/>
            </a:pPr>
            <a:r>
              <a:rPr lang="en-US" dirty="0"/>
              <a:t>       int age;</a:t>
            </a:r>
          </a:p>
          <a:p>
            <a:pPr marL="0" indent="0">
              <a:buNone/>
            </a:pPr>
            <a:r>
              <a:rPr lang="en-US" dirty="0"/>
              <a:t>       float score[5], average;</a:t>
            </a:r>
          </a:p>
          <a:p>
            <a:pPr marL="0" indent="0">
              <a:buNone/>
            </a:pPr>
            <a:r>
              <a:rPr lang="en-US" dirty="0"/>
              <a:t>}; </a:t>
            </a:r>
          </a:p>
          <a:p>
            <a:pPr marL="0" indent="0">
              <a:buNone/>
            </a:pPr>
            <a:r>
              <a:rPr lang="en-US" dirty="0"/>
              <a:t>int main(void) {</a:t>
            </a:r>
          </a:p>
          <a:p>
            <a:pPr marL="0" indent="0">
              <a:buNone/>
            </a:pPr>
            <a:r>
              <a:rPr lang="en-US" dirty="0"/>
              <a:t>      struct student s1;         </a:t>
            </a:r>
            <a:r>
              <a:rPr lang="en-US" dirty="0">
                <a:solidFill>
                  <a:srgbClr val="0070C0"/>
                </a:solidFill>
              </a:rPr>
              <a:t>//</a:t>
            </a:r>
            <a:r>
              <a:rPr lang="zh-CN" altLang="en-US" dirty="0">
                <a:solidFill>
                  <a:srgbClr val="0070C0"/>
                </a:solidFill>
              </a:rPr>
              <a:t>定义结构变量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      int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s1.average = 0;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s%d</a:t>
            </a:r>
            <a:r>
              <a:rPr lang="en-US" dirty="0"/>
              <a:t>", s1.name, &amp;s1.age);</a:t>
            </a:r>
          </a:p>
          <a:p>
            <a:pPr marL="0" indent="0">
              <a:buNone/>
            </a:pPr>
            <a:r>
              <a:rPr lang="en-US" dirty="0"/>
              <a:t>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5;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 err="1"/>
              <a:t>scanf</a:t>
            </a:r>
            <a:r>
              <a:rPr lang="en-US" dirty="0"/>
              <a:t>("%f", &amp;s1.score[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           s1.average += s1.score[</a:t>
            </a:r>
            <a:r>
              <a:rPr lang="en-US" dirty="0" err="1"/>
              <a:t>i</a:t>
            </a:r>
            <a:r>
              <a:rPr lang="en-US" dirty="0"/>
              <a:t>] / 5.0;</a:t>
            </a:r>
          </a:p>
          <a:p>
            <a:pPr marL="0" indent="0">
              <a:buNone/>
            </a:pPr>
            <a:r>
              <a:rPr lang="en-US" dirty="0"/>
              <a:t>      }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printf</a:t>
            </a:r>
            <a:r>
              <a:rPr lang="en-US" dirty="0"/>
              <a:t>("Output:\n  %s %4d \n", s1.name, s1.age);</a:t>
            </a:r>
          </a:p>
          <a:p>
            <a:pPr marL="0" indent="0">
              <a:buNone/>
            </a:pPr>
            <a:r>
              <a:rPr lang="en-US" dirty="0"/>
              <a:t>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5;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 err="1"/>
              <a:t>printf</a:t>
            </a:r>
            <a:r>
              <a:rPr lang="en-US" dirty="0"/>
              <a:t>("%6.1f ", s1.score[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    }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printf</a:t>
            </a:r>
            <a:r>
              <a:rPr lang="en-US" dirty="0"/>
              <a:t>("\n  Average = %6.1f ", s1.average);</a:t>
            </a:r>
          </a:p>
          <a:p>
            <a:pPr marL="0" indent="0">
              <a:buNone/>
            </a:pPr>
            <a:r>
              <a:rPr lang="en-US" dirty="0"/>
              <a:t>  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765048" y="4057118"/>
            <a:ext cx="3822192" cy="2246769"/>
          </a:xfrm>
          <a:prstGeom prst="rect">
            <a:avLst/>
          </a:prstGeom>
          <a:noFill/>
          <a:ln w="12700" cap="sq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70C0"/>
                </a:solidFill>
                <a:cs typeface="Times New Roman" pitchFamily="18" charset="0"/>
              </a:rPr>
              <a:t>程序执行：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0" u="sng" dirty="0" err="1">
                <a:solidFill>
                  <a:srgbClr val="0070C0"/>
                </a:solidFill>
                <a:cs typeface="Times New Roman" pitchFamily="18" charset="0"/>
              </a:rPr>
              <a:t>Zhangsan</a:t>
            </a:r>
            <a:r>
              <a:rPr lang="en-US" altLang="zh-CN" sz="2000" b="0" u="sng" dirty="0">
                <a:solidFill>
                  <a:srgbClr val="0070C0"/>
                </a:solidFill>
                <a:cs typeface="Times New Roman" pitchFamily="18" charset="0"/>
              </a:rPr>
              <a:t> 20⸔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0" u="sng" dirty="0">
                <a:solidFill>
                  <a:srgbClr val="0070C0"/>
                </a:solidFill>
                <a:cs typeface="Times New Roman" pitchFamily="18" charset="0"/>
              </a:rPr>
              <a:t>67 89 96 78 86⸔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70C0"/>
                </a:solidFill>
                <a:cs typeface="Times New Roman" pitchFamily="18" charset="0"/>
              </a:rPr>
              <a:t>Output: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70C0"/>
                </a:solidFill>
                <a:cs typeface="Times New Roman" pitchFamily="18" charset="0"/>
              </a:rPr>
              <a:t>     </a:t>
            </a:r>
            <a:r>
              <a:rPr lang="en-US" altLang="zh-CN" sz="2000" b="0" dirty="0" err="1">
                <a:solidFill>
                  <a:srgbClr val="0070C0"/>
                </a:solidFill>
                <a:cs typeface="Times New Roman" pitchFamily="18" charset="0"/>
              </a:rPr>
              <a:t>Zhangsan</a:t>
            </a:r>
            <a:r>
              <a:rPr lang="en-US" altLang="zh-CN" sz="2000" b="0" dirty="0">
                <a:solidFill>
                  <a:srgbClr val="0070C0"/>
                </a:solidFill>
                <a:cs typeface="Times New Roman" pitchFamily="18" charset="0"/>
              </a:rPr>
              <a:t>   20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70C0"/>
                </a:solidFill>
                <a:cs typeface="Times New Roman" pitchFamily="18" charset="0"/>
              </a:rPr>
              <a:t>     67.0    89.0    96.0    78.0    86.0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70C0"/>
                </a:solidFill>
                <a:cs typeface="Times New Roman" pitchFamily="18" charset="0"/>
              </a:rPr>
              <a:t>     Average = 83.2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BA422A-E6BA-4F29-B1EF-9F64ED85AAAF}"/>
              </a:ext>
            </a:extLst>
          </p:cNvPr>
          <p:cNvSpPr txBox="1"/>
          <p:nvPr/>
        </p:nvSpPr>
        <p:spPr>
          <a:xfrm>
            <a:off x="451824" y="1318367"/>
            <a:ext cx="413541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【</a:t>
            </a:r>
            <a:r>
              <a:rPr lang="zh-CN" altLang="en-US" sz="2400" dirty="0"/>
              <a:t>例 </a:t>
            </a:r>
            <a:r>
              <a:rPr lang="en-US" altLang="zh-CN" sz="2400" dirty="0"/>
              <a:t>7.1】</a:t>
            </a:r>
            <a:r>
              <a:rPr lang="zh-CN" altLang="en-US" sz="2400" dirty="0"/>
              <a:t>问题：</a:t>
            </a:r>
            <a:endParaRPr lang="en-US" altLang="zh-CN" sz="2400" dirty="0"/>
          </a:p>
          <a:p>
            <a:r>
              <a:rPr lang="zh-CN" altLang="en-US" sz="2400" dirty="0"/>
              <a:t>编写程序，输入某学生信息</a:t>
            </a:r>
            <a:r>
              <a:rPr lang="en-US" altLang="zh-CN" sz="2400" dirty="0"/>
              <a:t>(</a:t>
            </a:r>
            <a:r>
              <a:rPr lang="zh-CN" altLang="en-US" sz="2400" dirty="0"/>
              <a:t>姓名</a:t>
            </a:r>
            <a:r>
              <a:rPr lang="en-US" altLang="zh-CN" sz="2400" dirty="0"/>
              <a:t>,</a:t>
            </a:r>
            <a:r>
              <a:rPr lang="zh-CN" altLang="en-US" sz="2400" dirty="0"/>
              <a:t>年龄</a:t>
            </a:r>
            <a:r>
              <a:rPr lang="en-US" altLang="zh-CN" sz="2400" dirty="0"/>
              <a:t>,5</a:t>
            </a:r>
            <a:r>
              <a:rPr lang="zh-CN" altLang="en-US" sz="2400" dirty="0"/>
              <a:t>门课成绩</a:t>
            </a:r>
            <a:r>
              <a:rPr lang="en-US" altLang="zh-CN" sz="2400" dirty="0"/>
              <a:t>)</a:t>
            </a:r>
            <a:r>
              <a:rPr lang="zh-CN" altLang="en-US" sz="2400" dirty="0"/>
              <a:t>，计算平均成绩并输出。</a:t>
            </a:r>
            <a:endParaRPr lang="en-US" altLang="zh-CN" sz="2400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35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AAE519-4DA2-479E-9C54-2BDD9A800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7262" y="996696"/>
            <a:ext cx="9052560" cy="3520440"/>
          </a:xfrm>
        </p:spPr>
        <p:txBody>
          <a:bodyPr>
            <a:normAutofit/>
          </a:bodyPr>
          <a:lstStyle/>
          <a:p>
            <a:r>
              <a:rPr lang="en-US" altLang="zh-CN" sz="6000" dirty="0"/>
              <a:t>7.2</a:t>
            </a:r>
            <a:r>
              <a:rPr lang="zh-CN" altLang="en-US" sz="6000" dirty="0"/>
              <a:t>结构数组与结构指针</a:t>
            </a:r>
            <a:endParaRPr lang="en-US" sz="60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546441-8B8D-4EB1-81A2-53A4923E2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147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27ACCB-BA54-45E0-99C3-C81DB377F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处理多个结构数据记录时需要用结构数组</a:t>
            </a:r>
            <a:endParaRPr lang="en-US" altLang="zh-CN" sz="2800" dirty="0"/>
          </a:p>
          <a:p>
            <a:r>
              <a:rPr lang="zh-CN" altLang="en-US" sz="2800" dirty="0"/>
              <a:t>在访问结构数组时最方便的方式是用结构指针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8987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8F7366-9FF3-41E5-9693-606E7F61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结构数组和结构指针的定义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B7760F-62EC-4961-AC48-3A3785F63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918207"/>
            <a:ext cx="10114620" cy="4677325"/>
          </a:xfrm>
        </p:spPr>
        <p:txBody>
          <a:bodyPr>
            <a:normAutofit lnSpcReduction="10000"/>
          </a:bodyPr>
          <a:lstStyle/>
          <a:p>
            <a:pPr indent="266700" algn="just"/>
            <a:r>
              <a:rPr lang="zh-CN" sz="2400" b="1" kern="100" dirty="0">
                <a:effectLst/>
                <a:latin typeface="+mn-ea"/>
                <a:cs typeface="Times New Roman" panose="02020603050405020304" pitchFamily="18" charset="0"/>
              </a:rPr>
              <a:t>结构数组定义的一般形式：</a:t>
            </a:r>
            <a:endParaRPr lang="en-US" sz="2400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400" kern="100" dirty="0">
                <a:effectLst/>
                <a:latin typeface="+mn-ea"/>
                <a:cs typeface="Times New Roman" panose="02020603050405020304" pitchFamily="18" charset="0"/>
              </a:rPr>
              <a:t>     struct </a:t>
            </a:r>
            <a:r>
              <a:rPr lang="zh-CN" sz="2400" kern="100" dirty="0">
                <a:effectLst/>
                <a:latin typeface="+mn-ea"/>
                <a:cs typeface="Times New Roman" panose="02020603050405020304" pitchFamily="18" charset="0"/>
              </a:rPr>
              <a:t>结构类型名 数组名</a:t>
            </a:r>
            <a:r>
              <a:rPr lang="en-US" sz="2400" kern="100" dirty="0">
                <a:effectLst/>
                <a:latin typeface="+mn-ea"/>
                <a:cs typeface="Times New Roman" panose="02020603050405020304" pitchFamily="18" charset="0"/>
              </a:rPr>
              <a:t>[</a:t>
            </a:r>
            <a:r>
              <a:rPr lang="zh-CN" sz="2400" kern="100" dirty="0">
                <a:effectLst/>
                <a:latin typeface="+mn-ea"/>
                <a:cs typeface="Times New Roman" panose="02020603050405020304" pitchFamily="18" charset="0"/>
              </a:rPr>
              <a:t>常量表达式</a:t>
            </a:r>
            <a:r>
              <a:rPr lang="en-US" sz="2400" kern="100" dirty="0">
                <a:effectLst/>
                <a:latin typeface="+mn-ea"/>
                <a:cs typeface="Times New Roman" panose="02020603050405020304" pitchFamily="18" charset="0"/>
              </a:rPr>
              <a:t>];</a:t>
            </a:r>
          </a:p>
          <a:p>
            <a:pPr indent="266700" algn="just"/>
            <a:r>
              <a:rPr lang="zh-CN" sz="2400" b="1" kern="100" dirty="0">
                <a:effectLst/>
                <a:latin typeface="+mn-ea"/>
                <a:cs typeface="Times New Roman" panose="02020603050405020304" pitchFamily="18" charset="0"/>
              </a:rPr>
              <a:t>结构指针定义的一般形式：</a:t>
            </a:r>
            <a:endParaRPr lang="en-US" sz="2400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400" kern="100" dirty="0">
                <a:effectLst/>
                <a:latin typeface="+mn-ea"/>
                <a:cs typeface="Times New Roman" panose="02020603050405020304" pitchFamily="18" charset="0"/>
              </a:rPr>
              <a:t>     struct </a:t>
            </a:r>
            <a:r>
              <a:rPr lang="zh-CN" sz="2400" kern="100" dirty="0">
                <a:effectLst/>
                <a:latin typeface="+mn-ea"/>
                <a:cs typeface="Times New Roman" panose="02020603050405020304" pitchFamily="18" charset="0"/>
              </a:rPr>
              <a:t>结构类型名</a:t>
            </a:r>
            <a:r>
              <a:rPr lang="en-US" sz="2400" kern="100" dirty="0">
                <a:effectLst/>
                <a:latin typeface="+mn-ea"/>
                <a:cs typeface="Times New Roman" panose="02020603050405020304" pitchFamily="18" charset="0"/>
              </a:rPr>
              <a:t> *</a:t>
            </a:r>
            <a:r>
              <a:rPr lang="zh-CN" sz="2400" kern="100" dirty="0">
                <a:effectLst/>
                <a:latin typeface="+mn-ea"/>
                <a:cs typeface="Times New Roman" panose="02020603050405020304" pitchFamily="18" charset="0"/>
              </a:rPr>
              <a:t>指针变量名</a:t>
            </a:r>
            <a:r>
              <a:rPr lang="en-US" sz="2400" kern="100" dirty="0">
                <a:effectLst/>
                <a:latin typeface="+mn-ea"/>
                <a:cs typeface="Times New Roman" panose="02020603050405020304" pitchFamily="18" charset="0"/>
              </a:rPr>
              <a:t>;</a:t>
            </a:r>
          </a:p>
          <a:p>
            <a:pPr indent="0" algn="just"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 student{</a:t>
            </a:r>
            <a:endParaRPr lang="en-US" sz="24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number;                                                       </a:t>
            </a:r>
            <a:endParaRPr lang="en-US" sz="24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char name[20];</a:t>
            </a:r>
            <a:endParaRPr lang="en-US" sz="24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float score[3];</a:t>
            </a:r>
            <a:endParaRPr lang="en-US" sz="24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};</a:t>
            </a:r>
            <a:endParaRPr lang="en-US" sz="24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400" kern="100" dirty="0">
                <a:solidFill>
                  <a:srgbClr val="EB27C6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 student s[40], *p;</a:t>
            </a:r>
            <a:endParaRPr lang="en-US" sz="2400" kern="100" dirty="0">
              <a:solidFill>
                <a:srgbClr val="EB27C6"/>
              </a:solidFill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847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E49DE-57F0-41C3-A03A-D0F764F1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结构数组和结构指针的使用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28D264-7F63-4892-BE5F-83A5F2890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4619752" cy="4050792"/>
          </a:xfrm>
        </p:spPr>
        <p:txBody>
          <a:bodyPr/>
          <a:lstStyle/>
          <a:p>
            <a:r>
              <a:rPr lang="zh-CN" altLang="en-US" sz="2400" b="1" dirty="0"/>
              <a:t>结构数组仍然遵循数组的使用规则              </a:t>
            </a:r>
            <a:endParaRPr lang="en-US" altLang="zh-CN" sz="2400" b="1" dirty="0"/>
          </a:p>
          <a:p>
            <a:r>
              <a:rPr lang="zh-CN" altLang="en-US" sz="2400" b="1" dirty="0"/>
              <a:t>用指针访问结构成员时的一般格式：</a:t>
            </a:r>
            <a:endParaRPr lang="en-US" altLang="zh-CN" sz="2400" b="1" dirty="0"/>
          </a:p>
          <a:p>
            <a:pPr indent="0" algn="just">
              <a:buNone/>
            </a:pPr>
            <a:r>
              <a:rPr lang="en-US" sz="2400" dirty="0">
                <a:latin typeface="+mn-ea"/>
              </a:rPr>
              <a:t> </a:t>
            </a:r>
            <a:r>
              <a:rPr lang="en-US" sz="2400" kern="100" dirty="0">
                <a:effectLst/>
                <a:latin typeface="+mn-ea"/>
                <a:cs typeface="Times New Roman" panose="02020603050405020304" pitchFamily="18" charset="0"/>
              </a:rPr>
              <a:t>(*</a:t>
            </a:r>
            <a:r>
              <a:rPr lang="zh-CN" sz="2400" kern="100" dirty="0">
                <a:effectLst/>
                <a:latin typeface="+mn-ea"/>
                <a:cs typeface="Times New Roman" panose="02020603050405020304" pitchFamily="18" charset="0"/>
              </a:rPr>
              <a:t>指针变量名</a:t>
            </a:r>
            <a:r>
              <a:rPr lang="en-US" sz="2400" kern="100" dirty="0">
                <a:effectLst/>
                <a:latin typeface="+mn-ea"/>
                <a:cs typeface="Times New Roman" panose="02020603050405020304" pitchFamily="18" charset="0"/>
              </a:rPr>
              <a:t>). </a:t>
            </a:r>
            <a:r>
              <a:rPr lang="zh-CN" sz="2400" kern="100" dirty="0">
                <a:effectLst/>
                <a:latin typeface="+mn-ea"/>
                <a:cs typeface="Times New Roman" panose="02020603050405020304" pitchFamily="18" charset="0"/>
              </a:rPr>
              <a:t>成员名</a:t>
            </a:r>
            <a:endParaRPr lang="en-US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sz="2400" kern="100" dirty="0">
                <a:effectLst/>
                <a:latin typeface="+mn-ea"/>
                <a:cs typeface="Times New Roman" panose="02020603050405020304" pitchFamily="18" charset="0"/>
              </a:rPr>
              <a:t>指针变量名</a:t>
            </a:r>
            <a:r>
              <a:rPr lang="en-US" sz="2400" kern="100" dirty="0">
                <a:effectLst/>
                <a:latin typeface="+mn-ea"/>
                <a:cs typeface="Times New Roman" panose="02020603050405020304" pitchFamily="18" charset="0"/>
              </a:rPr>
              <a:t>-&gt;</a:t>
            </a:r>
            <a:r>
              <a:rPr lang="zh-CN" sz="2400" kern="100" dirty="0">
                <a:effectLst/>
                <a:latin typeface="+mn-ea"/>
                <a:cs typeface="Times New Roman" panose="02020603050405020304" pitchFamily="18" charset="0"/>
              </a:rPr>
              <a:t>成员名</a:t>
            </a:r>
            <a:endParaRPr lang="en-US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958557-08E1-4F78-B0B4-D3D0EF1A5B6E}"/>
              </a:ext>
            </a:extLst>
          </p:cNvPr>
          <p:cNvSpPr txBox="1"/>
          <p:nvPr/>
        </p:nvSpPr>
        <p:spPr>
          <a:xfrm>
            <a:off x="7323667" y="2121408"/>
            <a:ext cx="30056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S[0].number=101;</a:t>
            </a:r>
          </a:p>
          <a:p>
            <a:r>
              <a:rPr lang="en-US" sz="2400" dirty="0"/>
              <a:t>S[0].score[1]=90;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7BC5E3-DE50-438C-AC53-1AD2E98C289D}"/>
              </a:ext>
            </a:extLst>
          </p:cNvPr>
          <p:cNvSpPr txBox="1"/>
          <p:nvPr/>
        </p:nvSpPr>
        <p:spPr>
          <a:xfrm>
            <a:off x="7323667" y="3309711"/>
            <a:ext cx="30056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p=s;</a:t>
            </a:r>
          </a:p>
          <a:p>
            <a:r>
              <a:rPr lang="en-US" sz="2400" dirty="0"/>
              <a:t>(*p).number=101;</a:t>
            </a:r>
          </a:p>
          <a:p>
            <a:r>
              <a:rPr lang="en-US" sz="2400" dirty="0"/>
              <a:t>p++;</a:t>
            </a:r>
          </a:p>
          <a:p>
            <a:r>
              <a:rPr lang="en-US" sz="2400" dirty="0"/>
              <a:t>(*p).number=102;</a:t>
            </a:r>
          </a:p>
          <a:p>
            <a:r>
              <a:rPr lang="en-US" sz="2400" dirty="0"/>
              <a:t>P-&gt;score[0]=80;</a:t>
            </a:r>
          </a:p>
        </p:txBody>
      </p:sp>
    </p:spTree>
    <p:extLst>
      <p:ext uri="{BB962C8B-B14F-4D97-AF65-F5344CB8AC3E}">
        <p14:creationId xmlns:p14="http://schemas.microsoft.com/office/powerpoint/2010/main" val="5073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01F29-3C36-418E-903F-846CDA571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648" y="114931"/>
            <a:ext cx="10058400" cy="1609344"/>
          </a:xfrm>
        </p:spPr>
        <p:txBody>
          <a:bodyPr/>
          <a:lstStyle/>
          <a:p>
            <a:r>
              <a:rPr lang="zh-CN" altLang="en-US" dirty="0"/>
              <a:t>结构数组举例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EB0A03-60E8-4ABB-AF19-2FC85E029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724275"/>
            <a:ext cx="3448981" cy="140072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【</a:t>
            </a:r>
            <a:r>
              <a:rPr lang="zh-CN" altLang="en-US" b="1" kern="100" dirty="0">
                <a:latin typeface="+mn-ea"/>
                <a:cs typeface="Times New Roman" panose="02020603050405020304" pitchFamily="18" charset="0"/>
              </a:rPr>
              <a:t>例 </a:t>
            </a:r>
            <a:r>
              <a:rPr lang="en-US" altLang="zh-CN" b="1" kern="100" dirty="0">
                <a:latin typeface="+mn-ea"/>
                <a:cs typeface="Times New Roman" panose="02020603050405020304" pitchFamily="18" charset="0"/>
              </a:rPr>
              <a:t>7.2】</a:t>
            </a:r>
            <a:r>
              <a:rPr lang="zh-CN" altLang="en-US" b="1" kern="100" dirty="0">
                <a:effectLst/>
                <a:latin typeface="+mn-ea"/>
                <a:cs typeface="Times New Roman" panose="02020603050405020304" pitchFamily="18" charset="0"/>
              </a:rPr>
              <a:t>问题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：</a:t>
            </a:r>
            <a:r>
              <a:rPr lang="zh-CN" kern="100" dirty="0">
                <a:effectLst/>
                <a:latin typeface="+mn-ea"/>
                <a:cs typeface="Times New Roman" panose="02020603050405020304" pitchFamily="18" charset="0"/>
              </a:rPr>
              <a:t>一场选举有</a:t>
            </a:r>
            <a:r>
              <a:rPr lang="en-US" kern="100" dirty="0">
                <a:effectLst/>
                <a:latin typeface="+mn-ea"/>
                <a:cs typeface="Times New Roman" panose="02020603050405020304" pitchFamily="18" charset="0"/>
              </a:rPr>
              <a:t>4</a:t>
            </a:r>
            <a:r>
              <a:rPr lang="zh-CN" kern="100" dirty="0">
                <a:effectLst/>
                <a:latin typeface="+mn-ea"/>
                <a:cs typeface="Times New Roman" panose="02020603050405020304" pitchFamily="18" charset="0"/>
              </a:rPr>
              <a:t>个候选人，编号分别为</a:t>
            </a:r>
            <a:r>
              <a:rPr lang="en-US" kern="100" dirty="0">
                <a:effectLst/>
                <a:latin typeface="+mn-ea"/>
                <a:cs typeface="Times New Roman" panose="02020603050405020304" pitchFamily="18" charset="0"/>
              </a:rPr>
              <a:t>1</a:t>
            </a:r>
            <a:r>
              <a:rPr lang="zh-CN" kern="100" dirty="0">
                <a:effectLst/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kern="100" dirty="0">
                <a:effectLst/>
                <a:latin typeface="+mn-ea"/>
                <a:cs typeface="Times New Roman" panose="02020603050405020304" pitchFamily="18" charset="0"/>
              </a:rPr>
              <a:t>2</a:t>
            </a:r>
            <a:r>
              <a:rPr lang="zh-CN" kern="100" dirty="0">
                <a:effectLst/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kern="100" dirty="0">
                <a:effectLst/>
                <a:latin typeface="+mn-ea"/>
                <a:cs typeface="Times New Roman" panose="02020603050405020304" pitchFamily="18" charset="0"/>
              </a:rPr>
              <a:t>3</a:t>
            </a:r>
            <a:r>
              <a:rPr lang="zh-CN" kern="100" dirty="0">
                <a:effectLst/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kern="100" dirty="0">
                <a:effectLst/>
                <a:latin typeface="+mn-ea"/>
                <a:cs typeface="Times New Roman" panose="02020603050405020304" pitchFamily="18" charset="0"/>
              </a:rPr>
              <a:t>4</a:t>
            </a:r>
            <a:r>
              <a:rPr lang="zh-CN" kern="100" dirty="0">
                <a:effectLst/>
                <a:latin typeface="+mn-ea"/>
                <a:cs typeface="Times New Roman" panose="02020603050405020304" pitchFamily="18" charset="0"/>
              </a:rPr>
              <a:t>，共收到</a:t>
            </a:r>
            <a:r>
              <a:rPr lang="en-US" kern="100" dirty="0">
                <a:effectLst/>
                <a:latin typeface="+mn-ea"/>
                <a:cs typeface="Times New Roman" panose="02020603050405020304" pitchFamily="18" charset="0"/>
              </a:rPr>
              <a:t>10</a:t>
            </a:r>
            <a:r>
              <a:rPr lang="zh-CN" kern="100" dirty="0">
                <a:effectLst/>
                <a:latin typeface="+mn-ea"/>
                <a:cs typeface="Times New Roman" panose="02020603050405020304" pitchFamily="18" charset="0"/>
              </a:rPr>
              <a:t>张有效选票，统计</a:t>
            </a:r>
            <a:r>
              <a:rPr lang="en-US" kern="100" dirty="0">
                <a:effectLst/>
                <a:latin typeface="+mn-ea"/>
                <a:cs typeface="Times New Roman" panose="02020603050405020304" pitchFamily="18" charset="0"/>
              </a:rPr>
              <a:t>4</a:t>
            </a:r>
            <a:r>
              <a:rPr lang="zh-CN" kern="100" dirty="0">
                <a:effectLst/>
                <a:latin typeface="+mn-ea"/>
                <a:cs typeface="Times New Roman" panose="02020603050405020304" pitchFamily="18" charset="0"/>
              </a:rPr>
              <a:t>个候选人的得票数，输出候选人名字和得票数。 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D8FF95-B257-4FA2-BDBE-09E68EED213E}"/>
              </a:ext>
            </a:extLst>
          </p:cNvPr>
          <p:cNvSpPr txBox="1"/>
          <p:nvPr/>
        </p:nvSpPr>
        <p:spPr>
          <a:xfrm>
            <a:off x="1063752" y="3341132"/>
            <a:ext cx="384235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编程分析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定义</a:t>
            </a:r>
            <a:r>
              <a:rPr lang="zh-CN" sz="2000" kern="100" dirty="0">
                <a:effectLst/>
                <a:latin typeface="+mn-ea"/>
                <a:cs typeface="Times New Roman" panose="02020603050405020304" pitchFamily="18" charset="0"/>
              </a:rPr>
              <a:t>结构，</a:t>
            </a:r>
            <a:r>
              <a:rPr lang="zh-CN" altLang="en-US" sz="2000" kern="100" dirty="0">
                <a:effectLst/>
                <a:latin typeface="+mn-ea"/>
                <a:cs typeface="Times New Roman" panose="02020603050405020304" pitchFamily="18" charset="0"/>
              </a:rPr>
              <a:t>候选人信息</a:t>
            </a:r>
            <a:r>
              <a:rPr lang="zh-CN" sz="2000" kern="100" dirty="0">
                <a:effectLst/>
                <a:latin typeface="+mn-ea"/>
                <a:cs typeface="Times New Roman" panose="02020603050405020304" pitchFamily="18" charset="0"/>
              </a:rPr>
              <a:t>包含三个成员：编号</a:t>
            </a:r>
            <a:r>
              <a:rPr lang="en-US" sz="2000" kern="100" dirty="0">
                <a:effectLst/>
                <a:latin typeface="+mn-ea"/>
                <a:cs typeface="Times New Roman" panose="02020603050405020304" pitchFamily="18" charset="0"/>
              </a:rPr>
              <a:t>int num</a:t>
            </a:r>
            <a:endParaRPr lang="en-US" altLang="zh-CN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en-US" altLang="zh-CN" sz="2000" kern="100" dirty="0">
                <a:latin typeface="+mn-ea"/>
                <a:cs typeface="Times New Roman" panose="02020603050405020304" pitchFamily="18" charset="0"/>
              </a:rPr>
              <a:t>      </a:t>
            </a:r>
            <a:r>
              <a:rPr lang="zh-CN" sz="2000" kern="100" dirty="0">
                <a:effectLst/>
                <a:latin typeface="+mn-ea"/>
                <a:cs typeface="Times New Roman" panose="02020603050405020304" pitchFamily="18" charset="0"/>
              </a:rPr>
              <a:t>姓名</a:t>
            </a:r>
            <a:r>
              <a:rPr lang="en-US" sz="2000" kern="100" dirty="0">
                <a:effectLst/>
                <a:latin typeface="+mn-ea"/>
                <a:cs typeface="Times New Roman" panose="02020603050405020304" pitchFamily="18" charset="0"/>
              </a:rPr>
              <a:t>char name</a:t>
            </a:r>
            <a:endParaRPr lang="en-US" altLang="zh-CN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en-US" altLang="zh-CN" sz="2000" kern="100" dirty="0">
                <a:latin typeface="+mn-ea"/>
                <a:cs typeface="Times New Roman" panose="02020603050405020304" pitchFamily="18" charset="0"/>
              </a:rPr>
              <a:t>      </a:t>
            </a:r>
            <a:r>
              <a:rPr lang="zh-CN" sz="2000" kern="100" dirty="0">
                <a:effectLst/>
                <a:latin typeface="+mn-ea"/>
                <a:cs typeface="Times New Roman" panose="02020603050405020304" pitchFamily="18" charset="0"/>
              </a:rPr>
              <a:t>得票数</a:t>
            </a:r>
            <a:r>
              <a:rPr lang="en-US" sz="2000" kern="100" dirty="0">
                <a:effectLst/>
                <a:latin typeface="+mn-ea"/>
                <a:cs typeface="Times New Roman" panose="02020603050405020304" pitchFamily="18" charset="0"/>
              </a:rPr>
              <a:t>int vote</a:t>
            </a:r>
            <a:endParaRPr lang="en-US" altLang="zh-CN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sz="2000" kern="100" dirty="0">
                <a:effectLst/>
                <a:latin typeface="+mn-ea"/>
                <a:cs typeface="Times New Roman" panose="02020603050405020304" pitchFamily="18" charset="0"/>
              </a:rPr>
              <a:t>统计得票数时输入选票上所选的编号，依次和候选人的编号比较，相等时计数</a:t>
            </a: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sz="2000" kern="100" dirty="0">
                <a:effectLst/>
                <a:latin typeface="+mn-ea"/>
                <a:cs typeface="Times New Roman" panose="02020603050405020304" pitchFamily="18" charset="0"/>
              </a:rPr>
              <a:t>最后输出五个候选人的名字和得票数。</a:t>
            </a:r>
            <a:endParaRPr lang="en-US" sz="20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58917A-BD47-45C2-ADDC-BCB52E3C85D6}"/>
              </a:ext>
            </a:extLst>
          </p:cNvPr>
          <p:cNvSpPr txBox="1"/>
          <p:nvPr/>
        </p:nvSpPr>
        <p:spPr>
          <a:xfrm>
            <a:off x="4704798" y="193675"/>
            <a:ext cx="748216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#include &lt;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stdio.h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#define N 10                 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 candidate {                      //</a:t>
            </a:r>
            <a:r>
              <a:rPr 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定义结构类型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num;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char name[20];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int count;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};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main(void){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 candidate can[4] =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{{1, "Zhang", 0}, {2, "Wang", 0}, {3, "Li", 0}, {4, "Chen", 0}}; </a:t>
            </a: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//</a:t>
            </a:r>
            <a:r>
              <a:rPr 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定义结构数组并初始化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int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j,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selectNum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for (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 N;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++){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("Input the selected number on the vote:\n");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scanf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("%d", &amp;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selectNum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for (j = 0; j &lt; 4;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j++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if (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selectNum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== can[j].num)</a:t>
            </a: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can[j].count++;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break; 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}</a:t>
            </a:r>
          </a:p>
          <a:p>
            <a:pPr indent="266700" algn="just"/>
            <a:r>
              <a:rPr lang="en-US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}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}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for (j = 0; j &lt; 4;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j++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No.%d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%s votes:%d\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n",can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[j].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num,can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[j].name, can[j].count);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}</a:t>
            </a:r>
          </a:p>
          <a:p>
            <a:pPr indent="266700" algn="just"/>
            <a:r>
              <a:rPr lang="en-US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return 0;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sz="16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57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9A4D30-780E-44E3-810A-23AD354B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结构指针举例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DB4290-F8BC-4C4A-9859-8ABD09276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0" y="133856"/>
            <a:ext cx="7315199" cy="6609843"/>
          </a:xfrm>
        </p:spPr>
        <p:txBody>
          <a:bodyPr>
            <a:noAutofit/>
          </a:bodyPr>
          <a:lstStyle/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main(void) {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struct candidate can[4] = </a:t>
            </a:r>
            <a:r>
              <a:rPr kumimoji="0" lang="en-US" altLang="zh-CN" sz="13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{{1, "Zhang", 0}, {2, "Wang", 0}, {3, "Li", 0}, {4, "Chen", 0}}</a:t>
            </a:r>
            <a:r>
              <a:rPr lang="en-US" sz="13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  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struct candidate </a:t>
            </a:r>
            <a:r>
              <a:rPr lang="en-US" sz="1600" kern="100" dirty="0"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*p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          		//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定义结构指针 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int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j,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selectNum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     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for (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 N;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++){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("Input the selected number on the vote:\n");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scanf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("%d", &amp;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selectNum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                 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for (p = can; p &lt; can+4; p++){   		//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用结构指针 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 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访问数据</a:t>
            </a:r>
          </a:p>
          <a:p>
            <a:pPr indent="0" algn="just">
              <a:buNone/>
            </a:pP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 (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selectNum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== </a:t>
            </a:r>
            <a:r>
              <a:rPr lang="en-US" sz="1600" kern="100" dirty="0"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(*p).num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</a:t>
            </a:r>
            <a:r>
              <a:rPr lang="en-US" sz="1600" kern="100" dirty="0"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(*p)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.count++;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break; 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}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}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}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for (p = can; p &lt; can+4; p++){         		//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用结构指针 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 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输出数据</a:t>
            </a:r>
          </a:p>
          <a:p>
            <a:pPr indent="0" algn="just">
              <a:buNone/>
            </a:pP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No.%d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%s votes:%d\n", </a:t>
            </a:r>
            <a:r>
              <a:rPr lang="en-US" sz="1600" kern="100" dirty="0"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(*p).num, (*p).name, (*p).count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 indent="0" algn="just"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}</a:t>
            </a:r>
          </a:p>
          <a:p>
            <a:endParaRPr lang="en-US" sz="1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699547-00A5-4C68-ADAB-DEBD440D6A14}"/>
              </a:ext>
            </a:extLst>
          </p:cNvPr>
          <p:cNvSpPr txBox="1"/>
          <p:nvPr/>
        </p:nvSpPr>
        <p:spPr>
          <a:xfrm>
            <a:off x="1143000" y="2093976"/>
            <a:ext cx="32373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上例问题处理候选人数组结构成员数据时，改用指针，仍然按照指针的使用规则：定义后指向数组首地址，依次向下移动访问数据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69947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B4A806-69A6-44BB-88BF-A8D2C6E2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7.3  </a:t>
            </a:r>
            <a:r>
              <a:rPr lang="zh-CN" altLang="en-US" dirty="0"/>
              <a:t>结构和函数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F62DF9-4AA6-404C-A588-C0435714E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9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FAD88-DBA8-4329-BD91-46CCD9F33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15" y="478197"/>
            <a:ext cx="5076952" cy="1609344"/>
          </a:xfrm>
        </p:spPr>
        <p:txBody>
          <a:bodyPr/>
          <a:lstStyle/>
          <a:p>
            <a:r>
              <a:rPr lang="zh-CN" altLang="en-US" dirty="0"/>
              <a:t>函数调用值传递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182F8C-1582-4253-BCEB-1047B216D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2121408"/>
            <a:ext cx="3544485" cy="405079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结构作为一种类型的数据，可以在函数调用的时候作为实参向形参进行值传递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en-US" altLang="zh-CN" sz="2400" dirty="0"/>
              <a:t>【</a:t>
            </a:r>
            <a:r>
              <a:rPr lang="zh-CN" altLang="en-US" sz="2400" dirty="0"/>
              <a:t>例 </a:t>
            </a:r>
            <a:r>
              <a:rPr lang="en-US" altLang="zh-CN" sz="2400" dirty="0"/>
              <a:t>7.3】</a:t>
            </a:r>
            <a:r>
              <a:rPr lang="zh-CN" altLang="en-US" sz="2400" dirty="0"/>
              <a:t>编写程序，输入</a:t>
            </a:r>
            <a:r>
              <a:rPr lang="en-US" altLang="zh-CN" sz="2400" dirty="0"/>
              <a:t>2</a:t>
            </a:r>
            <a:r>
              <a:rPr lang="zh-CN" altLang="en-US" sz="2400" dirty="0"/>
              <a:t>个复数，通过函数比较这</a:t>
            </a:r>
            <a:r>
              <a:rPr lang="en-US" altLang="zh-CN" sz="2400" dirty="0"/>
              <a:t>2</a:t>
            </a:r>
            <a:r>
              <a:rPr lang="zh-CN" altLang="en-US" sz="2400" dirty="0"/>
              <a:t>个复数的模是否相等。</a:t>
            </a:r>
            <a:endParaRPr 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02E6CE-41C5-4A28-A6E0-5E8BD6AF2B2F}"/>
              </a:ext>
            </a:extLst>
          </p:cNvPr>
          <p:cNvSpPr txBox="1"/>
          <p:nvPr/>
        </p:nvSpPr>
        <p:spPr>
          <a:xfrm>
            <a:off x="5698067" y="122682"/>
            <a:ext cx="58674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#include &lt;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stdio.h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#include &lt;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math.h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 comp {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double x, y, m;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};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double compare(</a:t>
            </a:r>
            <a:r>
              <a:rPr lang="en-US" sz="2000" kern="100" dirty="0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 comp a, struct comp b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a.m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sqrt(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a.x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 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a.x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a.y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 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a.y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b.m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sqrt(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b.x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 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b.x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b.y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 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b.y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return (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a.m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 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b.m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main(void) {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struct comp a, b;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scanf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("%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lf%lf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", &amp;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a.x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&amp;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a.y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scanf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("%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lf%lf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", &amp;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b.x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&amp;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b.y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if (</a:t>
            </a:r>
            <a:r>
              <a:rPr lang="en-US" sz="2000" kern="100" dirty="0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compare(a, b) 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== 0){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("Equal\n");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}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else{ 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("Unequal\n");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}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return 0;</a:t>
            </a:r>
          </a:p>
          <a:p>
            <a:pPr indent="266700" algn="just"/>
            <a:r>
              <a:rPr 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15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72C2F0-6AAB-431D-8ADE-74DEEB687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5" y="291931"/>
            <a:ext cx="5576485" cy="1609344"/>
          </a:xfrm>
        </p:spPr>
        <p:txBody>
          <a:bodyPr/>
          <a:lstStyle/>
          <a:p>
            <a:r>
              <a:rPr lang="zh-CN" altLang="en-US" dirty="0"/>
              <a:t>函数调用地址传递</a:t>
            </a:r>
            <a:endParaRPr 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BAC09E0-BB96-4453-8288-0CFF167E2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981" y="1964428"/>
            <a:ext cx="4061714" cy="405130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400" dirty="0"/>
              <a:t>函数调用时结构数据从实参向形参地址传递</a:t>
            </a:r>
            <a:endParaRPr lang="en-US" altLang="zh-CN" sz="2400" dirty="0"/>
          </a:p>
          <a:p>
            <a:r>
              <a:rPr lang="zh-CN" altLang="en-US" sz="2400" dirty="0"/>
              <a:t>编程举例：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【</a:t>
            </a:r>
            <a:r>
              <a:rPr lang="zh-CN" altLang="en-US" sz="2400" dirty="0"/>
              <a:t>例 </a:t>
            </a:r>
            <a:r>
              <a:rPr lang="en-US" altLang="zh-CN" sz="2400" dirty="0"/>
              <a:t>7.4】</a:t>
            </a:r>
            <a:r>
              <a:rPr lang="zh-CN" altLang="en-US" sz="2400" dirty="0"/>
              <a:t>建立一个有 </a:t>
            </a:r>
            <a:r>
              <a:rPr lang="en-US" altLang="zh-CN" sz="2400" dirty="0"/>
              <a:t>N </a:t>
            </a:r>
            <a:r>
              <a:rPr lang="zh-CN" altLang="en-US" sz="2400" dirty="0"/>
              <a:t>个联系人的通讯录，包括姓名、地址、电话 </a:t>
            </a:r>
            <a:r>
              <a:rPr lang="en-US" altLang="zh-CN" sz="2400" dirty="0"/>
              <a:t>3 </a:t>
            </a:r>
            <a:r>
              <a:rPr lang="zh-CN" altLang="en-US" sz="2400" dirty="0"/>
              <a:t>个信息，编写 </a:t>
            </a:r>
            <a:r>
              <a:rPr lang="en-US" altLang="zh-CN" sz="2400" dirty="0"/>
              <a:t>2 </a:t>
            </a:r>
            <a:r>
              <a:rPr lang="zh-CN" altLang="en-US" sz="2400" dirty="0"/>
              <a:t>个函数分别实现单个联系人的信息输入和所有联系人的信息输出。如果输入以 </a:t>
            </a:r>
            <a:r>
              <a:rPr lang="en-US" altLang="zh-CN" sz="2400" dirty="0"/>
              <a:t>0 </a:t>
            </a:r>
            <a:r>
              <a:rPr lang="zh-CN" altLang="en-US" sz="2400" dirty="0"/>
              <a:t>开头的姓名，则结束输入。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input</a:t>
            </a:r>
            <a:r>
              <a:rPr lang="zh-CN" altLang="en-US" sz="2400" dirty="0"/>
              <a:t>函数：输入通讯录信息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display</a:t>
            </a:r>
            <a:r>
              <a:rPr lang="zh-CN" altLang="en-US" sz="2400" dirty="0"/>
              <a:t>函数：显示通讯录</a:t>
            </a:r>
            <a:endParaRPr lang="en-US" altLang="zh-CN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20B80F-3CD0-4EED-A5AE-9256D404B795}"/>
              </a:ext>
            </a:extLst>
          </p:cNvPr>
          <p:cNvSpPr txBox="1"/>
          <p:nvPr/>
        </p:nvSpPr>
        <p:spPr>
          <a:xfrm>
            <a:off x="5716184" y="77501"/>
            <a:ext cx="6366933" cy="452431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#include &lt;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stdio.h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#define N 3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 Phonebook 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// 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定义通信录结构类型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char name[50];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char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addr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[100];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char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[20];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}; 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main(void){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 Phonebook man[N];             //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定义结构数组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int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for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 N;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++)                     //N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个联系人的信息录入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if (input(&amp;man[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]) == 0)     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break;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display(man,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                    //N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个联系人的信息输出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return 0;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7314CE-7B2B-4DD4-AF5B-9ED663662666}"/>
              </a:ext>
            </a:extLst>
          </p:cNvPr>
          <p:cNvSpPr txBox="1"/>
          <p:nvPr/>
        </p:nvSpPr>
        <p:spPr>
          <a:xfrm>
            <a:off x="5481404" y="3526536"/>
            <a:ext cx="6366933" cy="313932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input(struct Phonebook *p1)   //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定义信息录入函数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("Name: ");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gets(p1-&gt;name);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if (p1-&gt;name[0] == '0')     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return 0;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("Address</a:t>
            </a:r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:");    </a:t>
            </a:r>
          </a:p>
          <a:p>
            <a:pPr indent="266700" algn="just"/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gets(p1-&gt;</a:t>
            </a:r>
            <a:r>
              <a:rPr lang="en-US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addr</a:t>
            </a:r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Phonenumber</a:t>
            </a:r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:");      </a:t>
            </a:r>
          </a:p>
          <a:p>
            <a:pPr indent="266700" algn="just"/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gets(p1-&gt;</a:t>
            </a:r>
            <a:r>
              <a:rPr lang="en-US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tel</a:t>
            </a:r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return 1;                            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 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82FBAC-53D2-4F23-A7C1-283E3CA2C905}"/>
              </a:ext>
            </a:extLst>
          </p:cNvPr>
          <p:cNvSpPr txBox="1"/>
          <p:nvPr/>
        </p:nvSpPr>
        <p:spPr>
          <a:xfrm>
            <a:off x="5246624" y="4549676"/>
            <a:ext cx="6786500" cy="230832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display(struct Phonebook *p2, int n)   //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定义信息显示函数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  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 name             address          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\n");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("---------------------------------------------------\n");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for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 n;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++, p2++){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("%-10s%-15s%s\n", p2-&gt;name, p2-&gt;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addr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p2-&gt;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}</a:t>
            </a: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7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BCA62-F6A5-42A8-8D98-8266AF76F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861" y="1250696"/>
            <a:ext cx="5706872" cy="3520440"/>
          </a:xfrm>
        </p:spPr>
        <p:txBody>
          <a:bodyPr/>
          <a:lstStyle/>
          <a:p>
            <a:r>
              <a:rPr lang="en-US" altLang="zh-CN" dirty="0"/>
              <a:t>7.4  </a:t>
            </a:r>
            <a:r>
              <a:rPr lang="zh-CN" altLang="en-US" dirty="0"/>
              <a:t>链   表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93977C-EBE0-4487-939F-229543E94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248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FD35F9-5AD8-4212-BAB2-03F38A023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链表概念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8089FD-CE0E-4740-A7A6-8F86B372C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链表作为一种数据结构有比结构数组更灵活的特点：</a:t>
            </a:r>
            <a:endParaRPr lang="en-US" altLang="zh-CN" sz="2400" dirty="0"/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zh-CN" altLang="en-US" sz="2400" dirty="0"/>
              <a:t>按需分配内存</a:t>
            </a:r>
            <a:endParaRPr lang="en-US" altLang="zh-CN" sz="2400" dirty="0"/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zh-CN" altLang="en-US" sz="2400" dirty="0"/>
              <a:t>数据不占连续内存</a:t>
            </a:r>
            <a:endParaRPr lang="en-US" altLang="zh-CN" sz="2400" dirty="0"/>
          </a:p>
          <a:p>
            <a:r>
              <a:rPr lang="zh-CN" altLang="en-US" sz="2400" dirty="0"/>
              <a:t>链表有单项链表和双向链表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295665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96ACF8-239E-4E83-A692-FA8A8196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单向链表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9BA2A8-8659-4E6F-9586-78A62C40A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24" y="2093976"/>
            <a:ext cx="10058400" cy="4050792"/>
          </a:xfrm>
        </p:spPr>
        <p:txBody>
          <a:bodyPr/>
          <a:lstStyle/>
          <a:p>
            <a:r>
              <a:rPr lang="zh-CN" altLang="en-US" sz="2400" b="1" dirty="0"/>
              <a:t>链表节点定义：</a:t>
            </a:r>
            <a:endParaRPr lang="en-US" altLang="zh-CN" sz="2400" b="1" dirty="0"/>
          </a:p>
          <a:p>
            <a:pPr marL="0" indent="0">
              <a:buNone/>
            </a:pPr>
            <a:r>
              <a:rPr lang="zh-CN" altLang="en-US" dirty="0"/>
              <a:t>在结构成员里添加指向下一节点的指针</a:t>
            </a:r>
            <a:endParaRPr lang="en-US" altLang="zh-CN" dirty="0"/>
          </a:p>
          <a:p>
            <a:pPr indent="0" algn="just"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 data{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1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int num;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float score;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1800" kern="100" dirty="0"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struct data *next;</a:t>
            </a:r>
            <a:endParaRPr lang="en-US" sz="1800" kern="100" dirty="0">
              <a:solidFill>
                <a:srgbClr val="9933FF"/>
              </a:solidFill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marL="468630" indent="-285750" algn="just"/>
            <a:r>
              <a:rPr lang="zh-CN" altLang="en-US" sz="2400" b="1" kern="100" dirty="0">
                <a:latin typeface="+mn-ea"/>
                <a:cs typeface="Times New Roman" panose="02020603050405020304" pitchFamily="18" charset="0"/>
              </a:rPr>
              <a:t>头指针：存放起始节点地址</a:t>
            </a:r>
            <a:endParaRPr lang="en-US" altLang="zh-CN" sz="2400" b="1" kern="100" dirty="0">
              <a:latin typeface="+mn-ea"/>
              <a:cs typeface="Times New Roman" panose="02020603050405020304" pitchFamily="18" charset="0"/>
            </a:endParaRPr>
          </a:p>
          <a:p>
            <a:pPr indent="0" algn="just"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8" name="Picture 4" descr="链表">
            <a:extLst>
              <a:ext uri="{FF2B5EF4-FFF2-40B4-BE49-F238E27FC236}">
                <a16:creationId xmlns:a16="http://schemas.microsoft.com/office/drawing/2014/main" id="{7CBB1BCE-B331-445F-B4CF-01EABB237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22006" y="3085702"/>
            <a:ext cx="6312238" cy="139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1029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569F1-5C35-475D-8323-5EED38D1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链表操作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99B1A3-3198-42F5-A6C3-B6F366963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6397752" cy="405079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在链表节点间顺次移动指针： 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   p=p-&gt;next</a:t>
            </a:r>
          </a:p>
          <a:p>
            <a:r>
              <a:rPr lang="zh-CN" altLang="en-US" sz="2400" dirty="0"/>
              <a:t>在链表中添加节点：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   p-&gt;next=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altLang="zh-CN" sz="2400" dirty="0"/>
              <a:t>new</a:t>
            </a:r>
            <a:r>
              <a:rPr lang="en-US" altLang="zh-CN" sz="2400" dirty="0">
                <a:solidFill>
                  <a:srgbClr val="99FF33"/>
                </a:solidFill>
                <a:ea typeface="华文细黑" pitchFamily="2" charset="-122"/>
              </a:rPr>
              <a:t>  </a:t>
            </a:r>
          </a:p>
          <a:p>
            <a:r>
              <a:rPr lang="zh-CN" altLang="en-US" sz="2400" dirty="0">
                <a:latin typeface="+mn-ea"/>
              </a:rPr>
              <a:t> 最末节点地址：</a:t>
            </a: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n-ea"/>
              </a:rPr>
              <a:t>           </a:t>
            </a:r>
            <a:r>
              <a:rPr lang="en-US" altLang="zh-CN" sz="2400" dirty="0"/>
              <a:t>p-&gt;next=NULL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81816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1F013-B06E-4F15-99DD-A7E08D6B8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4509685" cy="1609344"/>
          </a:xfrm>
        </p:spPr>
        <p:txBody>
          <a:bodyPr/>
          <a:lstStyle/>
          <a:p>
            <a:r>
              <a:rPr lang="zh-CN" altLang="en-US" dirty="0"/>
              <a:t>静态链表的建立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9BC898-E166-45E0-A99A-E634FFDD0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4712885" cy="405079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定义节点</a:t>
            </a:r>
            <a:endParaRPr lang="en-US" altLang="zh-CN" sz="2400" dirty="0"/>
          </a:p>
          <a:p>
            <a:r>
              <a:rPr lang="zh-CN" altLang="en-US" sz="2400" dirty="0"/>
              <a:t>定义节点指针和头指针</a:t>
            </a:r>
            <a:endParaRPr lang="en-US" altLang="zh-CN" sz="2400" dirty="0"/>
          </a:p>
          <a:p>
            <a:r>
              <a:rPr lang="zh-CN" altLang="en-US" sz="2400" dirty="0"/>
              <a:t>输入节点数据</a:t>
            </a:r>
            <a:endParaRPr lang="en-US" altLang="zh-CN" sz="2400" dirty="0"/>
          </a:p>
          <a:p>
            <a:r>
              <a:rPr lang="zh-CN" altLang="en-US" sz="2400" dirty="0"/>
              <a:t>顺次连接节点</a:t>
            </a:r>
            <a:endParaRPr lang="en-US" altLang="zh-CN" sz="2400" dirty="0"/>
          </a:p>
          <a:p>
            <a:r>
              <a:rPr lang="zh-CN" altLang="en-US" sz="2400" dirty="0"/>
              <a:t>用指针访问各节点数据</a:t>
            </a:r>
            <a:endParaRPr 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12C839-024F-4104-8C6D-1E2343D5E3BD}"/>
              </a:ext>
            </a:extLst>
          </p:cNvPr>
          <p:cNvSpPr txBox="1"/>
          <p:nvPr/>
        </p:nvSpPr>
        <p:spPr>
          <a:xfrm>
            <a:off x="5782733" y="194734"/>
            <a:ext cx="631613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#include &lt;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stdio.h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 data{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num; 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float score; 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struct data *next;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main(void){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 data s1, s2, s3, *head, *p;     </a:t>
            </a:r>
          </a:p>
          <a:p>
            <a:pPr indent="266700" algn="just"/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//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定义三个变量两个指针均为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 data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s1.num = 1001</a:t>
            </a:r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s1.score = 66;       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给三个节点数据赋值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s2. num = 1002</a:t>
            </a:r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s2.score = 77; 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s3. num = 1003</a:t>
            </a:r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s3.score = 88; 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head = &amp;s1; 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s1.next = &amp;s2; 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s2.next = &amp;s3; 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s3.next = NULL; 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p = head;                                           // 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输出节点数据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do{</a:t>
            </a:r>
            <a:endParaRPr lang="en-US" kern="100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kern="1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("%d %5.1f\n", p-&gt;num, p-&gt;score);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p = p-&gt;next; 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40005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} while (p != NULL);</a:t>
            </a:r>
          </a:p>
          <a:p>
            <a:pPr indent="400050" algn="just"/>
            <a:r>
              <a:rPr 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return 0;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sz="18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098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5EBC2-3105-420A-8C05-2155E54D8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08" y="193699"/>
            <a:ext cx="10058400" cy="1609344"/>
          </a:xfrm>
        </p:spPr>
        <p:txBody>
          <a:bodyPr/>
          <a:lstStyle/>
          <a:p>
            <a:r>
              <a:rPr lang="zh-CN" altLang="en-US" dirty="0"/>
              <a:t>内存分配函数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451E67-0753-445E-AE71-D4D560695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339403"/>
            <a:ext cx="10058400" cy="467503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CN" altLang="en-US" sz="2400" dirty="0">
              <a:ea typeface="华文细黑" pitchFamily="2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>
                <a:latin typeface="+mn-ea"/>
              </a:rPr>
              <a:t>void *malloc(x)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+mn-ea"/>
              </a:rPr>
              <a:t>  </a:t>
            </a:r>
            <a:r>
              <a:rPr lang="zh-CN" altLang="en-US" sz="2400" dirty="0">
                <a:latin typeface="+mn-ea"/>
              </a:rPr>
              <a:t>分配一个长度为</a:t>
            </a:r>
            <a:r>
              <a:rPr lang="en-US" altLang="zh-CN" sz="2400" dirty="0">
                <a:latin typeface="+mn-ea"/>
              </a:rPr>
              <a:t>x</a:t>
            </a:r>
            <a:r>
              <a:rPr lang="zh-CN" altLang="en-US" sz="2400" dirty="0">
                <a:latin typeface="+mn-ea"/>
              </a:rPr>
              <a:t>字节的连续空间，分配成功返回起始地址指针，分配失败返回</a:t>
            </a:r>
            <a:r>
              <a:rPr lang="en-US" altLang="zh-CN" sz="2400" dirty="0">
                <a:latin typeface="+mn-ea"/>
              </a:rPr>
              <a:t>NULL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>
                <a:latin typeface="+mn-ea"/>
              </a:rPr>
              <a:t>void *</a:t>
            </a:r>
            <a:r>
              <a:rPr lang="en-US" altLang="zh-CN" sz="2400" dirty="0" err="1">
                <a:latin typeface="+mn-ea"/>
              </a:rPr>
              <a:t>calloc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 err="1">
                <a:latin typeface="+mn-ea"/>
              </a:rPr>
              <a:t>n,x</a:t>
            </a:r>
            <a:r>
              <a:rPr lang="en-US" altLang="zh-CN" sz="2400" dirty="0">
                <a:latin typeface="+mn-ea"/>
              </a:rPr>
              <a:t>)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+mn-ea"/>
              </a:rPr>
              <a:t>    </a:t>
            </a:r>
            <a:r>
              <a:rPr lang="zh-CN" altLang="en-US" sz="2400" dirty="0">
                <a:latin typeface="+mn-ea"/>
              </a:rPr>
              <a:t>分配</a:t>
            </a:r>
            <a:r>
              <a:rPr lang="en-US" altLang="zh-CN" sz="2400" dirty="0">
                <a:latin typeface="+mn-ea"/>
              </a:rPr>
              <a:t>n</a:t>
            </a:r>
            <a:r>
              <a:rPr lang="zh-CN" altLang="en-US" sz="2400" dirty="0">
                <a:latin typeface="+mn-ea"/>
              </a:rPr>
              <a:t>个长度为</a:t>
            </a:r>
            <a:r>
              <a:rPr lang="en-US" altLang="zh-CN" sz="2400" dirty="0">
                <a:latin typeface="+mn-ea"/>
              </a:rPr>
              <a:t>x</a:t>
            </a:r>
            <a:r>
              <a:rPr lang="zh-CN" altLang="en-US" sz="2400" dirty="0">
                <a:latin typeface="+mn-ea"/>
              </a:rPr>
              <a:t>字节的连续空间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>
                <a:latin typeface="+mn-ea"/>
              </a:rPr>
              <a:t>void *</a:t>
            </a:r>
            <a:r>
              <a:rPr lang="en-US" altLang="zh-CN" sz="2400" dirty="0" err="1">
                <a:latin typeface="+mn-ea"/>
              </a:rPr>
              <a:t>realloc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 err="1">
                <a:latin typeface="+mn-ea"/>
              </a:rPr>
              <a:t>p,x</a:t>
            </a:r>
            <a:r>
              <a:rPr lang="en-US" altLang="zh-CN" sz="2400" dirty="0">
                <a:latin typeface="+mn-ea"/>
              </a:rPr>
              <a:t>)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+mn-ea"/>
              </a:rPr>
              <a:t>    </a:t>
            </a:r>
            <a:r>
              <a:rPr lang="zh-CN" altLang="en-US" sz="2400" dirty="0">
                <a:latin typeface="+mn-ea"/>
              </a:rPr>
              <a:t>将</a:t>
            </a:r>
            <a:r>
              <a:rPr lang="en-US" altLang="zh-CN" sz="2400" dirty="0">
                <a:latin typeface="+mn-ea"/>
              </a:rPr>
              <a:t>p</a:t>
            </a:r>
            <a:r>
              <a:rPr lang="zh-CN" altLang="en-US" sz="2400" dirty="0">
                <a:latin typeface="+mn-ea"/>
              </a:rPr>
              <a:t>所指的已分配空间大小调整为</a:t>
            </a:r>
            <a:r>
              <a:rPr lang="en-US" altLang="zh-CN" sz="2400" dirty="0">
                <a:latin typeface="+mn-ea"/>
              </a:rPr>
              <a:t>x</a:t>
            </a:r>
            <a:r>
              <a:rPr lang="zh-CN" altLang="en-US" sz="2400" dirty="0">
                <a:latin typeface="+mn-ea"/>
              </a:rPr>
              <a:t>个字节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>
                <a:latin typeface="+mn-ea"/>
              </a:rPr>
              <a:t>void free(p)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+mn-ea"/>
              </a:rPr>
              <a:t>   </a:t>
            </a:r>
            <a:r>
              <a:rPr lang="zh-CN" altLang="en-US" sz="2400" dirty="0">
                <a:latin typeface="+mn-ea"/>
              </a:rPr>
              <a:t>将由以上各函数申请的以</a:t>
            </a:r>
            <a:r>
              <a:rPr lang="en-US" altLang="zh-CN" sz="2400" dirty="0">
                <a:latin typeface="+mn-ea"/>
              </a:rPr>
              <a:t>p</a:t>
            </a:r>
            <a:r>
              <a:rPr lang="zh-CN" altLang="en-US" sz="2400" dirty="0">
                <a:latin typeface="+mn-ea"/>
              </a:rPr>
              <a:t>为首地址的内存空间全部释放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2702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78B15-83CD-4701-B748-C70E24A45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4004428" cy="1609344"/>
          </a:xfrm>
        </p:spPr>
        <p:txBody>
          <a:bodyPr/>
          <a:lstStyle/>
          <a:p>
            <a:r>
              <a:rPr lang="zh-CN" altLang="en-US" dirty="0"/>
              <a:t>动态链表建立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B55281-8B55-4E60-B9C3-C4084BFB2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9" y="2121408"/>
            <a:ext cx="4571098" cy="4050792"/>
          </a:xfrm>
        </p:spPr>
        <p:txBody>
          <a:bodyPr/>
          <a:lstStyle/>
          <a:p>
            <a:r>
              <a:rPr lang="zh-CN" altLang="en-US" dirty="0"/>
              <a:t>节点一般自后向前建立</a:t>
            </a:r>
            <a:endParaRPr lang="en-US" altLang="zh-CN" dirty="0"/>
          </a:p>
          <a:p>
            <a:r>
              <a:rPr lang="zh-CN" altLang="en-US" dirty="0"/>
              <a:t>每个节点数据输入之前用</a:t>
            </a:r>
            <a:r>
              <a:rPr lang="en-US" altLang="zh-CN" dirty="0"/>
              <a:t>malloc</a:t>
            </a:r>
            <a:r>
              <a:rPr lang="zh-CN" altLang="en-US" dirty="0"/>
              <a:t>函数分配内存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运行结果：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10   9   8   7   6   5   4   3   2   1</a:t>
            </a:r>
          </a:p>
          <a:p>
            <a:endParaRPr lang="en-US" dirty="0"/>
          </a:p>
          <a:p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1FCE9F-0E4D-4663-91E1-DD952264E166}"/>
              </a:ext>
            </a:extLst>
          </p:cNvPr>
          <p:cNvSpPr txBox="1"/>
          <p:nvPr/>
        </p:nvSpPr>
        <p:spPr>
          <a:xfrm>
            <a:off x="5640946" y="297501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5E863D-04D1-4D3F-B4BA-137BBAAF2F91}"/>
              </a:ext>
            </a:extLst>
          </p:cNvPr>
          <p:cNvSpPr txBox="1"/>
          <p:nvPr/>
        </p:nvSpPr>
        <p:spPr>
          <a:xfrm>
            <a:off x="5804080" y="570019"/>
            <a:ext cx="592119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#include&lt;stdio.h&gt;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#include&lt;stdlib.h&gt;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struct info{                       //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定义节点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int data;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struct info *next;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int main(void){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struct info *base,*p;    //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定义节点指针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int n;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base=NULL;               //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从最末节点开始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for(n=0;n&lt;10;n++) { </a:t>
            </a:r>
          </a:p>
          <a:p>
            <a:pPr eaLnBrk="1" hangingPunct="1"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p=(struct info *)malloc(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sizeof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(struct info));</a:t>
            </a:r>
          </a:p>
          <a:p>
            <a:pPr eaLnBrk="1" hangingPunct="1"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p-&gt;data=n+1;</a:t>
            </a:r>
          </a:p>
          <a:p>
            <a:pPr eaLnBrk="1" hangingPunct="1"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p-&gt;next=base;</a:t>
            </a:r>
          </a:p>
          <a:p>
            <a:pPr eaLnBrk="1" hangingPunct="1"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base=p;</a:t>
            </a:r>
          </a:p>
          <a:p>
            <a:pPr eaLnBrk="1" hangingPunct="1"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}</a:t>
            </a:r>
          </a:p>
          <a:p>
            <a:pPr eaLnBrk="1" hangingPunct="1"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while (p!=NULL){</a:t>
            </a:r>
          </a:p>
          <a:p>
            <a:pPr eaLnBrk="1" hangingPunct="1"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("%4d",p-&gt;data);</a:t>
            </a:r>
          </a:p>
          <a:p>
            <a:pPr eaLnBrk="1" hangingPunct="1"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    p=p-&gt;next;</a:t>
            </a:r>
          </a:p>
          <a:p>
            <a:pPr eaLnBrk="1" hangingPunct="1"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}</a:t>
            </a:r>
          </a:p>
          <a:p>
            <a:pPr eaLnBrk="1" hangingPunct="1"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return 0;</a:t>
            </a:r>
          </a:p>
          <a:p>
            <a:pPr eaLnBrk="1" hangingPunct="1"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78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谢谢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U5YWU2YzllNGZmZTViNjUwYjAxYWNhZmY5MDU0M2QifQ=="/>
  <p:tag name="KSO_WPP_MARK_KEY" val="c34bcdfb-13dc-4e7f-b54f-4cde71d08e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3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d"/>
  <p:tag name="KSO_WM_UNIT_DEC_AREA_ID" val="dee9a792411d45f58c6e5b99eb87e92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c69729ceb794182b0b48671241df94a"/>
  <p:tag name="KSO_WM_SLIDE_BACKGROUND_TYPE" val="bel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b1da29c00c7f45aeb3e2a6197fbd5a6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98ba860c38645fbbad577258b122222"/>
  <p:tag name="KSO_WM_SLIDE_BACKGROUND_TYPE" val="bel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3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d"/>
  <p:tag name="KSO_WM_UNIT_DEC_AREA_ID" val="dee9a792411d45f58c6e5b99eb87e92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c69729ceb794182b0b48671241df94a"/>
  <p:tag name="KSO_WM_SLIDE_BACKGROUND_TYPE" val="bel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b1da29c00c7f45aeb3e2a6197fbd5a6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98ba860c38645fbbad577258b122222"/>
  <p:tag name="KSO_WM_SLIDE_BACKGROUND_TYPE" val="belt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材纹理">
  <a:themeElements>
    <a:clrScheme name="木材纹理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木材纹理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man Old Style" panose="02050604050505020204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材纹理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8E89CD47-BF55-4DDE-B823-2283AA7E7695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9525" algn="ctr">
          <a:solidFill>
            <a:srgbClr val="0070C0"/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lIns="0" tIns="0" rIns="0" bIns="0"/>
      <a:lstStyle>
        <a:defPPr algn="ctr">
          <a:spcBef>
            <a:spcPct val="0"/>
          </a:spcBef>
          <a:buClrTx/>
          <a:buSzTx/>
          <a:buFontTx/>
          <a:buNone/>
          <a:defRPr kumimoji="0" sz="2000">
            <a:solidFill>
              <a:srgbClr val="00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木材纹理</Template>
  <TotalTime>11467</TotalTime>
  <Words>3172</Words>
  <Application>Microsoft Office PowerPoint</Application>
  <PresentationFormat>宽屏</PresentationFormat>
  <Paragraphs>477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楷体</vt:lpstr>
      <vt:lpstr>锐字潮牌真言简2.0免费 大粗</vt:lpstr>
      <vt:lpstr>宋体</vt:lpstr>
      <vt:lpstr>微软雅黑</vt:lpstr>
      <vt:lpstr>Arial</vt:lpstr>
      <vt:lpstr>Bookman Old Style</vt:lpstr>
      <vt:lpstr>Calibri</vt:lpstr>
      <vt:lpstr>Century Gothic</vt:lpstr>
      <vt:lpstr>Times New Roman</vt:lpstr>
      <vt:lpstr>Wingdings</vt:lpstr>
      <vt:lpstr>木材纹理</vt:lpstr>
      <vt:lpstr>3_Office 主题​​</vt:lpstr>
      <vt:lpstr>第7章  结   构</vt:lpstr>
      <vt:lpstr>PowerPoint 演示文稿</vt:lpstr>
      <vt:lpstr>结构类型</vt:lpstr>
      <vt:lpstr>PowerPoint 演示文稿</vt:lpstr>
      <vt:lpstr>PowerPoint 演示文稿</vt:lpstr>
      <vt:lpstr>7.1  结构的定义与使用 </vt:lpstr>
      <vt:lpstr>1. 结构类型的定义</vt:lpstr>
      <vt:lpstr>结构类型的定义</vt:lpstr>
      <vt:lpstr>2.结构变量的定义</vt:lpstr>
      <vt:lpstr>结构变量的定义</vt:lpstr>
      <vt:lpstr>结构变量的定义</vt:lpstr>
      <vt:lpstr>3. 结构变量的初始化和使用</vt:lpstr>
      <vt:lpstr>结构变量的引用</vt:lpstr>
      <vt:lpstr>结构变量的引用</vt:lpstr>
      <vt:lpstr>结构变量的引用</vt:lpstr>
      <vt:lpstr>程序举例</vt:lpstr>
      <vt:lpstr>7.2结构数组与结构指针</vt:lpstr>
      <vt:lpstr>PowerPoint 演示文稿</vt:lpstr>
      <vt:lpstr>结构数组和结构指针的定义</vt:lpstr>
      <vt:lpstr>结构数组和结构指针的使用</vt:lpstr>
      <vt:lpstr>结构数组举例</vt:lpstr>
      <vt:lpstr>结构指针举例</vt:lpstr>
      <vt:lpstr>7.3  结构和函数</vt:lpstr>
      <vt:lpstr>函数调用值传递</vt:lpstr>
      <vt:lpstr>函数调用地址传递</vt:lpstr>
      <vt:lpstr>7.4  链   表</vt:lpstr>
      <vt:lpstr>链表概念</vt:lpstr>
      <vt:lpstr>单向链表</vt:lpstr>
      <vt:lpstr>链表操作</vt:lpstr>
      <vt:lpstr>静态链表的建立</vt:lpstr>
      <vt:lpstr>内存分配函数</vt:lpstr>
      <vt:lpstr>动态链表建立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《C语言程序设计》</dc:title>
  <dc:creator>Administrator</dc:creator>
  <cp:lastModifiedBy>燕敏 陈</cp:lastModifiedBy>
  <cp:revision>164</cp:revision>
  <dcterms:created xsi:type="dcterms:W3CDTF">2022-07-08T03:32:00Z</dcterms:created>
  <dcterms:modified xsi:type="dcterms:W3CDTF">2025-09-03T15:22:29Z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BFD466564B3A47D89E7AF80165FC8B71</vt:lpwstr>
  </property>
  <property fmtid="{D5CDD505-2E9C-101B-9397-08002B2CF9AE}" pid="3" name="KSOProductBuildVer">
    <vt:lpwstr>2052-11.1.0.11875</vt:lpwstr>
  </property>
</Properties>
</file>