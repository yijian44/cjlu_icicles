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3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4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5.xml" ContentType="application/vnd.openxmlformats-officedocument.presentationml.notesSlide+xml"/>
  <Override PartName="/ppt/tags/tag60.xml" ContentType="application/vnd.openxmlformats-officedocument.presentationml.tags+xml"/>
  <Override PartName="/ppt/notesSlides/notesSlide6.xml" ContentType="application/vnd.openxmlformats-officedocument.presentationml.notesSlide+xml"/>
  <Override PartName="/ppt/tags/tag61.xml" ContentType="application/vnd.openxmlformats-officedocument.presentationml.tags+xml"/>
  <Override PartName="/ppt/notesSlides/notesSlide7.xml" ContentType="application/vnd.openxmlformats-officedocument.presentationml.notesSlide+xml"/>
  <Override PartName="/ppt/tags/tag62.xml" ContentType="application/vnd.openxmlformats-officedocument.presentationml.tags+xml"/>
  <Override PartName="/ppt/notesSlides/notesSlide8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9.xml" ContentType="application/vnd.openxmlformats-officedocument.presentationml.notesSlide+xml"/>
  <Override PartName="/ppt/tags/tag6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  <p:sldMasterId id="2147483704" r:id="rId2"/>
    <p:sldMasterId id="2147483717" r:id="rId3"/>
  </p:sldMasterIdLst>
  <p:notesMasterIdLst>
    <p:notesMasterId r:id="rId55"/>
  </p:notesMasterIdLst>
  <p:sldIdLst>
    <p:sldId id="316" r:id="rId4"/>
    <p:sldId id="317" r:id="rId5"/>
    <p:sldId id="299" r:id="rId6"/>
    <p:sldId id="306" r:id="rId7"/>
    <p:sldId id="307" r:id="rId8"/>
    <p:sldId id="302" r:id="rId9"/>
    <p:sldId id="303" r:id="rId10"/>
    <p:sldId id="309" r:id="rId11"/>
    <p:sldId id="310" r:id="rId12"/>
    <p:sldId id="311" r:id="rId13"/>
    <p:sldId id="312" r:id="rId14"/>
    <p:sldId id="313" r:id="rId15"/>
    <p:sldId id="315" r:id="rId16"/>
    <p:sldId id="314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331" r:id="rId31"/>
    <p:sldId id="332" r:id="rId32"/>
    <p:sldId id="333" r:id="rId33"/>
    <p:sldId id="334" r:id="rId34"/>
    <p:sldId id="335" r:id="rId35"/>
    <p:sldId id="336" r:id="rId36"/>
    <p:sldId id="337" r:id="rId37"/>
    <p:sldId id="338" r:id="rId38"/>
    <p:sldId id="339" r:id="rId39"/>
    <p:sldId id="340" r:id="rId40"/>
    <p:sldId id="341" r:id="rId41"/>
    <p:sldId id="342" r:id="rId42"/>
    <p:sldId id="343" r:id="rId43"/>
    <p:sldId id="344" r:id="rId44"/>
    <p:sldId id="345" r:id="rId45"/>
    <p:sldId id="346" r:id="rId46"/>
    <p:sldId id="347" r:id="rId47"/>
    <p:sldId id="348" r:id="rId48"/>
    <p:sldId id="349" r:id="rId49"/>
    <p:sldId id="350" r:id="rId50"/>
    <p:sldId id="352" r:id="rId51"/>
    <p:sldId id="353" r:id="rId52"/>
    <p:sldId id="354" r:id="rId53"/>
    <p:sldId id="269" r:id="rId54"/>
  </p:sldIdLst>
  <p:sldSz cx="12192000" cy="6858000"/>
  <p:notesSz cx="6858000" cy="9144000"/>
  <p:custDataLst>
    <p:tags r:id="rId5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B0FF"/>
    <a:srgbClr val="EB27C6"/>
    <a:srgbClr val="54A5BF"/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tableStyles" Target="tableStyle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ags" Target="tags/tag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commentAuthors" Target="commentAuthor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38048-F63A-4A4D-9D00-3E4A08633E52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E95F0-DD99-4637-B6CC-2CB7A5EF22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8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同学，你好！欢迎同学们选修《麻醉学进展》这门课程。我是主讲老师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，来自浙江大学医学院附属第二医院麻醉手术部。首先我将讲述一下麻醉学概述中的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麻醉学的起源和发展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715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同学，你好！欢迎同学们选修《麻醉学进展》这门课程。我是主讲老师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，来自浙江大学医学院附属第二医院麻醉手术部。首先我将讲述一下麻醉学概述中的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麻醉学的起源和发展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E83-7467-4844-86B0-1E72CB4E1334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同学，你好！欢迎同学们选修《麻醉学进展》这门课程。我是主讲老师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，来自浙江大学医学院附属第二医院麻醉手术部。首先我将讲述一下麻醉学概述中的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麻醉学的起源和发展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8C8E83-7467-4844-86B0-1E72CB4E133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同学，你好！欢迎同学们选修《麻醉学进展》这门课程。我是主讲老师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，来自浙江大学医学院附属第二医院麻醉手术部。首先我将讲述一下麻醉学概述中的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麻醉学的起源和发展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8C8E83-7467-4844-86B0-1E72CB4E133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E95F0-DD99-4637-B6CC-2CB7A5EF22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E95F0-DD99-4637-B6CC-2CB7A5EF22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E95F0-DD99-4637-B6CC-2CB7A5EF22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E95F0-DD99-4637-B6CC-2CB7A5EF22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2E95F0-DD99-4637-B6CC-2CB7A5EF22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4018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10" Type="http://schemas.openxmlformats.org/officeDocument/2006/relationships/image" Target="../media/image3.png"/><Relationship Id="rId4" Type="http://schemas.openxmlformats.org/officeDocument/2006/relationships/tags" Target="../tags/tag17.xml"/><Relationship Id="rId9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10" Type="http://schemas.openxmlformats.org/officeDocument/2006/relationships/image" Target="../media/image3.png"/><Relationship Id="rId4" Type="http://schemas.openxmlformats.org/officeDocument/2006/relationships/tags" Target="../tags/tag26.xml"/><Relationship Id="rId9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3"/>
          <p:cNvSpPr>
            <a:spLocks noGrp="1"/>
          </p:cNvSpPr>
          <p:nvPr>
            <p:ph type="subTitle" idx="3" hasCustomPrompt="1"/>
            <p:custDataLst>
              <p:tags r:id="rId1"/>
            </p:custDataLst>
          </p:nvPr>
        </p:nvSpPr>
        <p:spPr>
          <a:xfrm>
            <a:off x="1652270" y="3649345"/>
            <a:ext cx="8890000" cy="66929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3600" b="0" i="0" u="none" strike="noStrike" kern="1200" cap="none" spc="200" normalizeH="0" baseline="0" noProof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4" name="标题 4"/>
          <p:cNvSpPr>
            <a:spLocks noGrp="1"/>
          </p:cNvSpPr>
          <p:nvPr>
            <p:ph type="ctrTitle" idx="2" hasCustomPrompt="1"/>
            <p:custDataLst>
              <p:tags r:id="rId2"/>
            </p:custDataLst>
          </p:nvPr>
        </p:nvSpPr>
        <p:spPr>
          <a:xfrm>
            <a:off x="1652270" y="2227797"/>
            <a:ext cx="8890064" cy="1112520"/>
          </a:xfrm>
        </p:spPr>
        <p:txBody>
          <a:bodyPr vert="horz" wrap="square" lIns="0" tIns="0" rIns="0" bIns="0" rtlCol="0" anchor="b" anchorCtr="0">
            <a:normAutofit lnSpcReduction="1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225" b="1" i="0" u="none" strike="noStrike" kern="1200" cap="none" spc="7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1655445" y="3486150"/>
            <a:ext cx="8909050" cy="0"/>
          </a:xfrm>
          <a:prstGeom prst="line">
            <a:avLst/>
          </a:prstGeom>
          <a:ln w="19050">
            <a:solidFill>
              <a:srgbClr val="DEDE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 userDrawn="1"/>
        </p:nvSpPr>
        <p:spPr>
          <a:xfrm>
            <a:off x="6036310" y="3401695"/>
            <a:ext cx="168275" cy="168275"/>
          </a:xfrm>
          <a:prstGeom prst="ellipse">
            <a:avLst/>
          </a:prstGeom>
          <a:solidFill>
            <a:schemeClr val="bg1"/>
          </a:solidFill>
          <a:ln>
            <a:solidFill>
              <a:srgbClr val="DEDE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 userDrawn="1"/>
        </p:nvSpPr>
        <p:spPr>
          <a:xfrm>
            <a:off x="3362960" y="4785995"/>
            <a:ext cx="2502535" cy="387985"/>
          </a:xfrm>
          <a:prstGeom prst="roundRect">
            <a:avLst/>
          </a:prstGeom>
          <a:solidFill>
            <a:schemeClr val="bg1"/>
          </a:solidFill>
          <a:ln>
            <a:solidFill>
              <a:srgbClr val="DEDE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中国计量大学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00685"/>
            <a:ext cx="10852150" cy="553085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37920"/>
            <a:ext cx="10852150" cy="520319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1" i="0" u="none" strike="noStrike" kern="1200" cap="none" spc="150" normalizeH="0" baseline="0" noProof="1" dirty="0">
                <a:solidFill>
                  <a:schemeClr val="accent2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475615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37920"/>
            <a:ext cx="5377180" cy="520319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3"/>
          </p:nvPr>
        </p:nvSpPr>
        <p:spPr>
          <a:xfrm>
            <a:off x="6111875" y="1126490"/>
            <a:ext cx="5410200" cy="520319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2025/9/3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436061" y="-10801"/>
            <a:ext cx="1753527" cy="1753527"/>
          </a:xfrm>
          <a:prstGeom prst="rect">
            <a:avLst/>
          </a:prstGeom>
        </p:spPr>
      </p:pic>
      <p:pic>
        <p:nvPicPr>
          <p:cNvPr id="6" name="图片 5" descr="图片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5104461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17889-7F4F-4468-9749-CDB7CA8FB84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723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2025/9/3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311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2025/9/3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66211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436061" y="-10801"/>
            <a:ext cx="1753527" cy="1753527"/>
          </a:xfrm>
          <a:prstGeom prst="rect">
            <a:avLst/>
          </a:prstGeom>
        </p:spPr>
      </p:pic>
      <p:pic>
        <p:nvPicPr>
          <p:cNvPr id="6" name="图片 5" descr="图片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5104461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2025/9/3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74966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763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397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7987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8139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410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3742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2708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8938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8980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834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F082C1-BA06-4A57-9242-B34C145ED52E}" type="datetimeFigureOut">
              <a:rPr lang="zh-CN" altLang="en-US" smtClean="0">
                <a:solidFill>
                  <a:prstClr val="black"/>
                </a:solidFill>
              </a:rPr>
              <a:pPr/>
              <a:t>2025/9/3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5279D09-0933-4A63-9768-D8C870FC4EFC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371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34511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图片25">
            <a:extLst>
              <a:ext uri="{FF2B5EF4-FFF2-40B4-BE49-F238E27FC236}">
                <a16:creationId xmlns:a16="http://schemas.microsoft.com/office/drawing/2014/main" id="{2E24335B-A487-A6E2-A69A-D12C4C41DEB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8" name="图片 7" descr="图片25">
            <a:extLst>
              <a:ext uri="{FF2B5EF4-FFF2-40B4-BE49-F238E27FC236}">
                <a16:creationId xmlns:a16="http://schemas.microsoft.com/office/drawing/2014/main" id="{FC8F4595-B6A7-7948-83DA-4754F4492B3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9" name="图片 8" descr="图片25">
            <a:extLst>
              <a:ext uri="{FF2B5EF4-FFF2-40B4-BE49-F238E27FC236}">
                <a16:creationId xmlns:a16="http://schemas.microsoft.com/office/drawing/2014/main" id="{CCD42075-A684-354A-B61A-0D1D2E75F61A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679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84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57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50650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4002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137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77813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65152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533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51577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53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2025/9/3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9610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67302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437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ags" Target="../tags/tag30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ags" Target="../tags/tag32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ags" Target="../tags/tag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69925" y="443230"/>
            <a:ext cx="10852150" cy="53403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69925" y="1130300"/>
            <a:ext cx="10852150" cy="5219700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716" r:id="rId10"/>
    <p:sldLayoutId id="2147483701" r:id="rId11"/>
    <p:sldLayoutId id="2147483702" r:id="rId12"/>
    <p:sldLayoutId id="2147483703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tabLst>
          <a:tab pos="1609725" algn="l"/>
        </a:tabLst>
        <a:defRPr sz="3200" b="1" u="none" strike="noStrike" kern="1200" cap="none" spc="150" normalizeH="0" baseline="0">
          <a:solidFill>
            <a:schemeClr val="tx1"/>
          </a:solidFill>
          <a:uFillTx/>
          <a:latin typeface="楷体" panose="02010609060101010101" charset="-122"/>
          <a:ea typeface="楷体" panose="0201060906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4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45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45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>
            <a:extLst>
              <a:ext uri="{FF2B5EF4-FFF2-40B4-BE49-F238E27FC236}">
                <a16:creationId xmlns:a16="http://schemas.microsoft.com/office/drawing/2014/main" id="{B41828C1-CFF6-41F5-34D2-12806C482A29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KSO_TEMPLATE" hidden="1">
            <a:extLst>
              <a:ext uri="{FF2B5EF4-FFF2-40B4-BE49-F238E27FC236}">
                <a16:creationId xmlns:a16="http://schemas.microsoft.com/office/drawing/2014/main" id="{4FC198B4-0223-FD15-985E-D32759C4E21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KSO_TEMPLATE" hidden="1">
            <a:extLst>
              <a:ext uri="{FF2B5EF4-FFF2-40B4-BE49-F238E27FC236}">
                <a16:creationId xmlns:a16="http://schemas.microsoft.com/office/drawing/2014/main" id="{B065944D-CE02-E2E3-E817-8521AA3FBF26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753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36914" y="1389743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436609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中国计量大学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710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94849B8-CE14-F90E-68D5-AF30FEE75D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120" y="1700085"/>
            <a:ext cx="5584761" cy="435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87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36914" y="1389743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4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指针的定义与使用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436609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中国计量大学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70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2"/>
          <p:cNvSpPr>
            <a:spLocks/>
          </p:cNvSpPr>
          <p:nvPr/>
        </p:nvSpPr>
        <p:spPr bwMode="auto">
          <a:xfrm>
            <a:off x="2268538" y="1989138"/>
            <a:ext cx="215900" cy="2447925"/>
          </a:xfrm>
          <a:prstGeom prst="leftBrace">
            <a:avLst>
              <a:gd name="adj1" fmla="val 94485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6" name="AutoShape 3"/>
          <p:cNvSpPr>
            <a:spLocks/>
          </p:cNvSpPr>
          <p:nvPr/>
        </p:nvSpPr>
        <p:spPr bwMode="auto">
          <a:xfrm>
            <a:off x="3713163" y="3141663"/>
            <a:ext cx="211137" cy="677862"/>
          </a:xfrm>
          <a:prstGeom prst="leftBrace">
            <a:avLst>
              <a:gd name="adj1" fmla="val 2675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7" name="AutoShape 4"/>
          <p:cNvSpPr>
            <a:spLocks/>
          </p:cNvSpPr>
          <p:nvPr/>
        </p:nvSpPr>
        <p:spPr bwMode="auto">
          <a:xfrm>
            <a:off x="3779838" y="1484313"/>
            <a:ext cx="144462" cy="1296987"/>
          </a:xfrm>
          <a:prstGeom prst="leftBrace">
            <a:avLst>
              <a:gd name="adj1" fmla="val 7481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067175" y="1341438"/>
            <a:ext cx="1550988" cy="217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整型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实型</a:t>
            </a:r>
            <a:r>
              <a:rPr kumimoji="0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(</a:t>
            </a: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浮点型</a:t>
            </a:r>
            <a:r>
              <a:rPr kumimoji="0"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)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字符型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枚举类型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数组类型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结构类型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共用体类型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795963" y="1773238"/>
            <a:ext cx="1333500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单精度型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双精度型</a:t>
            </a:r>
          </a:p>
        </p:txBody>
      </p:sp>
      <p:sp>
        <p:nvSpPr>
          <p:cNvPr id="10" name="AutoShape 7"/>
          <p:cNvSpPr>
            <a:spLocks/>
          </p:cNvSpPr>
          <p:nvPr/>
        </p:nvSpPr>
        <p:spPr bwMode="auto">
          <a:xfrm>
            <a:off x="5580063" y="1928813"/>
            <a:ext cx="265112" cy="465137"/>
          </a:xfrm>
          <a:prstGeom prst="leftBrace">
            <a:avLst>
              <a:gd name="adj1" fmla="val 14621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 flipH="1">
            <a:off x="2555875" y="1773238"/>
            <a:ext cx="1100138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基本类型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构造类型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EB27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指针类型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空类型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258888" y="2781300"/>
            <a:ext cx="1273175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数据类型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539750" y="4054475"/>
            <a:ext cx="917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4" name="Rectangle 11"/>
          <p:cNvSpPr txBox="1">
            <a:spLocks noChangeArrowheads="1"/>
          </p:cNvSpPr>
          <p:nvPr/>
        </p:nvSpPr>
        <p:spPr bwMode="auto">
          <a:xfrm>
            <a:off x="381000" y="152400"/>
            <a:ext cx="5054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6600CC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数据类型的分类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900113" y="4941888"/>
            <a:ext cx="7543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400" dirty="0">
              <a:solidFill>
                <a:srgbClr val="3333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Wirth    </a:t>
            </a:r>
            <a:r>
              <a:rPr lang="zh-CN" altLang="en-US" sz="2400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程序＝数据结构＋算法</a:t>
            </a:r>
          </a:p>
        </p:txBody>
      </p:sp>
      <p:sp>
        <p:nvSpPr>
          <p:cNvPr id="16" name="AutoShape 15"/>
          <p:cNvSpPr>
            <a:spLocks/>
          </p:cNvSpPr>
          <p:nvPr/>
        </p:nvSpPr>
        <p:spPr bwMode="auto">
          <a:xfrm>
            <a:off x="5003800" y="404813"/>
            <a:ext cx="215900" cy="1008062"/>
          </a:xfrm>
          <a:prstGeom prst="leftBrace">
            <a:avLst>
              <a:gd name="adj1" fmla="val 38909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5219700" y="188913"/>
            <a:ext cx="252095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基本整型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短整型　　　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长整型　　　基本型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无符号型　　短整型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　　　　　　长整型</a:t>
            </a:r>
          </a:p>
        </p:txBody>
      </p:sp>
      <p:sp>
        <p:nvSpPr>
          <p:cNvPr id="18" name="AutoShape 17"/>
          <p:cNvSpPr>
            <a:spLocks/>
          </p:cNvSpPr>
          <p:nvPr/>
        </p:nvSpPr>
        <p:spPr bwMode="auto">
          <a:xfrm>
            <a:off x="6443663" y="981075"/>
            <a:ext cx="144462" cy="719138"/>
          </a:xfrm>
          <a:prstGeom prst="leftBrace">
            <a:avLst>
              <a:gd name="adj1" fmla="val 41484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en-US" sz="2400" b="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945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6A48D-B8D4-430A-AE1C-E921A6F75A1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E283A4E-CF21-A728-93CC-6FA97AEE55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568" y="1815274"/>
            <a:ext cx="5010912" cy="365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817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6.1.1 </a:t>
            </a:r>
            <a:r>
              <a:rPr lang="zh-CN" altLang="en-US" dirty="0"/>
              <a:t>指针类型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42365"/>
            <a:ext cx="10636704" cy="5203190"/>
          </a:xfrm>
        </p:spPr>
        <p:txBody>
          <a:bodyPr>
            <a:normAutofit/>
          </a:bodyPr>
          <a:lstStyle/>
          <a:p>
            <a:r>
              <a:rPr lang="zh-CN" altLang="en-US" dirty="0"/>
              <a:t>指针</a:t>
            </a:r>
            <a:endParaRPr lang="en-US" altLang="zh-CN" dirty="0"/>
          </a:p>
          <a:p>
            <a:pPr lvl="1"/>
            <a:r>
              <a:rPr lang="zh-CN" altLang="en-US" dirty="0"/>
              <a:t>指针是一种存储变量地址的特殊数据类型。通过指针，可以访问和修改该地址处存储的变量的值。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指针在</a:t>
            </a:r>
            <a:r>
              <a:rPr lang="en-US" altLang="zh-CN" dirty="0"/>
              <a:t>C</a:t>
            </a:r>
            <a:r>
              <a:rPr lang="zh-CN" altLang="en-US" dirty="0"/>
              <a:t>语言中非常重要，因为它们允许我们动态地分配内存、处理复杂的数据结构，并进行函数间的数据传递。</a:t>
            </a:r>
          </a:p>
          <a:p>
            <a:pPr lvl="2"/>
            <a:endParaRPr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4415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语言程序设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未标题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695" y="600710"/>
            <a:ext cx="5625465" cy="12090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168650" y="803275"/>
            <a:ext cx="6310630" cy="464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500" dirty="0">
                <a:solidFill>
                  <a:prstClr val="white"/>
                </a:solidFill>
                <a:latin typeface="锐字潮牌真言简2.0免费 大粗" panose="02020300000000000000" charset="-122"/>
                <a:ea typeface="锐字潮牌真言简2.0免费 大粗" panose="02020300000000000000" charset="-122"/>
                <a:cs typeface="锐字潮牌真言简2.0免费 大粗" panose="02020300000000000000" charset="-122"/>
              </a:rPr>
              <a:t>指针实例</a:t>
            </a:r>
          </a:p>
        </p:txBody>
      </p:sp>
      <p:pic>
        <p:nvPicPr>
          <p:cNvPr id="7" name="图片 6" descr="未标1题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45" y="1618615"/>
            <a:ext cx="802640" cy="600075"/>
          </a:xfrm>
          <a:prstGeom prst="rect">
            <a:avLst/>
          </a:prstGeom>
        </p:spPr>
      </p:pic>
      <p:sp>
        <p:nvSpPr>
          <p:cNvPr id="8" name="内容占位符 2"/>
          <p:cNvSpPr txBox="1">
            <a:spLocks/>
          </p:cNvSpPr>
          <p:nvPr/>
        </p:nvSpPr>
        <p:spPr>
          <a:xfrm>
            <a:off x="1243584" y="1618615"/>
            <a:ext cx="10643616" cy="4722494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25000" lnSpcReduction="2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1" i="0" u="none" strike="noStrike" kern="1200" cap="none" spc="150" normalizeH="0" baseline="0" noProof="1" dirty="0">
                <a:solidFill>
                  <a:schemeClr val="accent2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9600" dirty="0">
                <a:solidFill>
                  <a:srgbClr val="000000"/>
                </a:solidFill>
              </a:rPr>
              <a:t>【</a:t>
            </a:r>
            <a:r>
              <a:rPr lang="zh-CN" altLang="en-US" sz="9600" dirty="0">
                <a:solidFill>
                  <a:srgbClr val="000000"/>
                </a:solidFill>
              </a:rPr>
              <a:t>指针</a:t>
            </a:r>
            <a:r>
              <a:rPr sz="9600" dirty="0">
                <a:solidFill>
                  <a:srgbClr val="000000"/>
                </a:solidFill>
              </a:rPr>
              <a:t>实例</a:t>
            </a:r>
            <a:r>
              <a:rPr lang="en-US" sz="9600" dirty="0">
                <a:solidFill>
                  <a:srgbClr val="000000"/>
                </a:solidFill>
              </a:rPr>
              <a:t>6.1</a:t>
            </a:r>
            <a:r>
              <a:rPr lang="en-US" altLang="zh-CN" sz="9600" dirty="0">
                <a:solidFill>
                  <a:srgbClr val="000000"/>
                </a:solidFill>
              </a:rPr>
              <a:t>】</a:t>
            </a:r>
            <a:r>
              <a:rPr lang="zh-CN" altLang="en-US" sz="9600" dirty="0">
                <a:solidFill>
                  <a:srgbClr val="000000"/>
                </a:solidFill>
              </a:rPr>
              <a:t>使用指针输出一个</a:t>
            </a:r>
            <a:r>
              <a:rPr lang="en-US" altLang="zh-CN" sz="9600" dirty="0">
                <a:solidFill>
                  <a:srgbClr val="000000"/>
                </a:solidFill>
              </a:rPr>
              <a:t>int</a:t>
            </a:r>
            <a:r>
              <a:rPr lang="zh-CN" altLang="en-US" sz="9600" dirty="0">
                <a:solidFill>
                  <a:srgbClr val="000000"/>
                </a:solidFill>
              </a:rPr>
              <a:t>型变量的值，并修改之。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#include &lt;</a:t>
            </a:r>
            <a:r>
              <a:rPr lang="en-US" altLang="zh-CN" sz="8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stdio.h</a:t>
            </a: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int main(void)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int num = 42;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int *</a:t>
            </a:r>
            <a:r>
              <a:rPr lang="en-US" altLang="zh-CN" sz="8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ptr</a:t>
            </a: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;        // </a:t>
            </a:r>
            <a:r>
              <a:rPr lang="zh-CN" altLang="en-US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声明一个指向</a:t>
            </a: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zh-CN" altLang="en-US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型的指针</a:t>
            </a:r>
            <a:endParaRPr lang="en-US" altLang="zh-CN" sz="8000" b="1" dirty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sz="8000" b="1" dirty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8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ptr</a:t>
            </a: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= &amp;num;  // </a:t>
            </a:r>
            <a:r>
              <a:rPr lang="zh-CN" altLang="en-US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8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ptr</a:t>
            </a:r>
            <a:r>
              <a:rPr lang="zh-CN" altLang="en-US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指向</a:t>
            </a: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</a:t>
            </a:r>
            <a:r>
              <a:rPr lang="zh-CN" altLang="en-US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的地址</a:t>
            </a:r>
            <a:endParaRPr lang="en-US" altLang="zh-CN" sz="8000" b="1" dirty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8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("Original value: num = %d\n", num);                      // </a:t>
            </a:r>
            <a:r>
              <a:rPr lang="zh-CN" altLang="en-US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</a:t>
            </a: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</a:t>
            </a:r>
            <a:r>
              <a:rPr lang="zh-CN" altLang="en-US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的原始值</a:t>
            </a:r>
            <a:endParaRPr lang="en-US" altLang="zh-CN" sz="8000" b="1" dirty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8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("Value pointed by the pointer: *</a:t>
            </a:r>
            <a:r>
              <a:rPr lang="en-US" altLang="zh-CN" sz="8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ptr</a:t>
            </a: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= %d\n", *</a:t>
            </a:r>
            <a:r>
              <a:rPr lang="en-US" altLang="zh-CN" sz="8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ptr</a:t>
            </a: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); // </a:t>
            </a:r>
            <a:r>
              <a:rPr lang="zh-CN" altLang="en-US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输出指针指向的值</a:t>
            </a:r>
            <a:endParaRPr lang="en-US" altLang="zh-CN" sz="8000" b="1" dirty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*</a:t>
            </a:r>
            <a:r>
              <a:rPr lang="en-US" altLang="zh-CN" sz="8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ptr</a:t>
            </a: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= 100;   // </a:t>
            </a:r>
            <a:r>
              <a:rPr lang="zh-CN" altLang="en-US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修改指针所指向的值</a:t>
            </a:r>
            <a:endParaRPr lang="en-US" altLang="zh-CN" sz="8000" b="1" dirty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8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("Modified value: num = %d\n", num);   // </a:t>
            </a:r>
            <a:r>
              <a:rPr lang="zh-CN" altLang="en-US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输出修改后的</a:t>
            </a: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num</a:t>
            </a:r>
            <a:r>
              <a:rPr lang="zh-CN" altLang="en-US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的值</a:t>
            </a:r>
            <a:endParaRPr lang="en-US" altLang="zh-CN" sz="8000" b="1" dirty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return 0;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8000" b="1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}</a:t>
            </a:r>
            <a:endParaRPr lang="en-US" sz="8000" b="1" dirty="0">
              <a:solidFill>
                <a:srgbClr val="000000"/>
              </a:solidFill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410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6.1.2 </a:t>
            </a:r>
            <a:r>
              <a:rPr lang="zh-CN" altLang="en-US" dirty="0"/>
              <a:t>指针与地址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42365"/>
            <a:ext cx="10636704" cy="5203190"/>
          </a:xfrm>
        </p:spPr>
        <p:txBody>
          <a:bodyPr>
            <a:norm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存储单元、内存地址和指针</a:t>
            </a:r>
          </a:p>
          <a:p>
            <a:pPr lvl="2"/>
            <a:endParaRPr dirty="0"/>
          </a:p>
        </p:txBody>
      </p:sp>
      <p:grpSp>
        <p:nvGrpSpPr>
          <p:cNvPr id="36" name="Group 2">
            <a:extLst>
              <a:ext uri="{FF2B5EF4-FFF2-40B4-BE49-F238E27FC236}">
                <a16:creationId xmlns:a16="http://schemas.microsoft.com/office/drawing/2014/main" id="{CC7368A2-F08B-46D4-823A-113C186F6407}"/>
              </a:ext>
            </a:extLst>
          </p:cNvPr>
          <p:cNvGrpSpPr>
            <a:grpSpLocks/>
          </p:cNvGrpSpPr>
          <p:nvPr/>
        </p:nvGrpSpPr>
        <p:grpSpPr bwMode="auto">
          <a:xfrm>
            <a:off x="2904067" y="3464982"/>
            <a:ext cx="704850" cy="1143000"/>
            <a:chOff x="684" y="1932"/>
            <a:chExt cx="444" cy="720"/>
          </a:xfrm>
        </p:grpSpPr>
        <p:sp>
          <p:nvSpPr>
            <p:cNvPr id="37" name="Oval 3">
              <a:extLst>
                <a:ext uri="{FF2B5EF4-FFF2-40B4-BE49-F238E27FC236}">
                  <a16:creationId xmlns:a16="http://schemas.microsoft.com/office/drawing/2014/main" id="{8B582C62-4BEE-4029-AFE9-34BBBE2BC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2436"/>
              <a:ext cx="444" cy="21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round/>
              <a:headEnd type="none" w="lg" len="lg"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Oval 4">
              <a:extLst>
                <a:ext uri="{FF2B5EF4-FFF2-40B4-BE49-F238E27FC236}">
                  <a16:creationId xmlns:a16="http://schemas.microsoft.com/office/drawing/2014/main" id="{BCB7ACE4-260A-4728-9DD7-176AF4883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1932"/>
              <a:ext cx="444" cy="21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  <a:headEnd type="none" w="lg" len="lg"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" name="Text Box 6">
            <a:extLst>
              <a:ext uri="{FF2B5EF4-FFF2-40B4-BE49-F238E27FC236}">
                <a16:creationId xmlns:a16="http://schemas.microsoft.com/office/drawing/2014/main" id="{72333CC8-7AC4-4DCB-92CE-5FD94A140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980" y="2890307"/>
            <a:ext cx="2895600" cy="1225550"/>
          </a:xfrm>
          <a:prstGeom prst="rect">
            <a:avLst/>
          </a:prstGeom>
          <a:noFill/>
          <a:ln w="38100">
            <a:solidFill>
              <a:srgbClr val="3399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程序中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  </a:t>
            </a:r>
            <a:r>
              <a:rPr kumimoji="1"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shor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en-US" altLang="zh-CN" sz="2400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float x;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40" name="AutoShape 7">
            <a:extLst>
              <a:ext uri="{FF2B5EF4-FFF2-40B4-BE49-F238E27FC236}">
                <a16:creationId xmlns:a16="http://schemas.microsoft.com/office/drawing/2014/main" id="{2B4A4D47-3B76-46E2-80B0-AC0C893D5AC5}"/>
              </a:ext>
            </a:extLst>
          </p:cNvPr>
          <p:cNvSpPr>
            <a:spLocks/>
          </p:cNvSpPr>
          <p:nvPr/>
        </p:nvSpPr>
        <p:spPr bwMode="auto">
          <a:xfrm>
            <a:off x="5682193" y="1853617"/>
            <a:ext cx="4287838" cy="400050"/>
          </a:xfrm>
          <a:prstGeom prst="borderCallout2">
            <a:avLst>
              <a:gd name="adj1" fmla="val 26278"/>
              <a:gd name="adj2" fmla="val -1815"/>
              <a:gd name="adj3" fmla="val 26278"/>
              <a:gd name="adj4" fmla="val -56444"/>
              <a:gd name="adj5" fmla="val 179199"/>
              <a:gd name="adj6" fmla="val -56787"/>
            </a:avLst>
          </a:prstGeom>
          <a:noFill/>
          <a:ln w="38100">
            <a:solidFill>
              <a:srgbClr val="FF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内存中每个字节有一个编号</a:t>
            </a:r>
            <a:r>
              <a:rPr kumimoji="1"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kumimoji="1" lang="zh-CN" altLang="en-US" sz="20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</a:t>
            </a:r>
            <a:endParaRPr kumimoji="1" lang="zh-CN" altLang="en-US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7FE670EF-68E2-4AEB-BCC4-7B589798F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8667" y="3826932"/>
            <a:ext cx="1082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b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的值</a:t>
            </a:r>
          </a:p>
        </p:txBody>
      </p:sp>
      <p:sp>
        <p:nvSpPr>
          <p:cNvPr id="60" name="Text Box 32">
            <a:extLst>
              <a:ext uri="{FF2B5EF4-FFF2-40B4-BE49-F238E27FC236}">
                <a16:creationId xmlns:a16="http://schemas.microsoft.com/office/drawing/2014/main" id="{44A8C3E0-6834-41AC-9BFE-7CF045EB0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8667" y="4969932"/>
            <a:ext cx="1162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b="0">
                <a:solidFill>
                  <a:srgbClr val="CC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kumimoji="1" lang="zh-CN" altLang="en-US" b="0">
                <a:solidFill>
                  <a:srgbClr val="CC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的值</a:t>
            </a:r>
          </a:p>
        </p:txBody>
      </p:sp>
      <p:sp>
        <p:nvSpPr>
          <p:cNvPr id="61" name="Text Box 33">
            <a:extLst>
              <a:ext uri="{FF2B5EF4-FFF2-40B4-BE49-F238E27FC236}">
                <a16:creationId xmlns:a16="http://schemas.microsoft.com/office/drawing/2014/main" id="{39C8BF76-EF07-41C8-84D0-64802A425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9092" y="4516434"/>
            <a:ext cx="35830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程序运行</a:t>
            </a:r>
            <a:r>
              <a:rPr kumimoji="1" lang="zh-CN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时为其分配内存单元</a:t>
            </a:r>
            <a:endParaRPr kumimoji="1" lang="zh-CN" altLang="en-US" sz="20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2" name="Group 34">
            <a:extLst>
              <a:ext uri="{FF2B5EF4-FFF2-40B4-BE49-F238E27FC236}">
                <a16:creationId xmlns:a16="http://schemas.microsoft.com/office/drawing/2014/main" id="{CEF5CE02-792A-4FE2-8A47-894EE6BF8F32}"/>
              </a:ext>
            </a:extLst>
          </p:cNvPr>
          <p:cNvGrpSpPr>
            <a:grpSpLocks/>
          </p:cNvGrpSpPr>
          <p:nvPr/>
        </p:nvGrpSpPr>
        <p:grpSpPr bwMode="auto">
          <a:xfrm>
            <a:off x="5666317" y="3284007"/>
            <a:ext cx="3543300" cy="400050"/>
            <a:chOff x="2076" y="1512"/>
            <a:chExt cx="2232" cy="252"/>
          </a:xfrm>
        </p:grpSpPr>
        <p:sp>
          <p:nvSpPr>
            <p:cNvPr id="63" name="Line 35">
              <a:extLst>
                <a:ext uri="{FF2B5EF4-FFF2-40B4-BE49-F238E27FC236}">
                  <a16:creationId xmlns:a16="http://schemas.microsoft.com/office/drawing/2014/main" id="{F0C197B3-B753-46EA-9C8F-181861CB4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8" y="1512"/>
              <a:ext cx="0" cy="25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36">
              <a:extLst>
                <a:ext uri="{FF2B5EF4-FFF2-40B4-BE49-F238E27FC236}">
                  <a16:creationId xmlns:a16="http://schemas.microsoft.com/office/drawing/2014/main" id="{38FBF5D2-0B57-47B5-B1B2-E88849EED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" y="1764"/>
              <a:ext cx="2232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5" name="Group 37">
            <a:extLst>
              <a:ext uri="{FF2B5EF4-FFF2-40B4-BE49-F238E27FC236}">
                <a16:creationId xmlns:a16="http://schemas.microsoft.com/office/drawing/2014/main" id="{7057F8DC-6CCC-4F27-B1F7-DEB37F799F6E}"/>
              </a:ext>
            </a:extLst>
          </p:cNvPr>
          <p:cNvGrpSpPr>
            <a:grpSpLocks/>
          </p:cNvGrpSpPr>
          <p:nvPr/>
        </p:nvGrpSpPr>
        <p:grpSpPr bwMode="auto">
          <a:xfrm>
            <a:off x="5666317" y="4046007"/>
            <a:ext cx="3829050" cy="419100"/>
            <a:chOff x="2076" y="1992"/>
            <a:chExt cx="2412" cy="264"/>
          </a:xfrm>
        </p:grpSpPr>
        <p:sp>
          <p:nvSpPr>
            <p:cNvPr id="66" name="Line 38">
              <a:extLst>
                <a:ext uri="{FF2B5EF4-FFF2-40B4-BE49-F238E27FC236}">
                  <a16:creationId xmlns:a16="http://schemas.microsoft.com/office/drawing/2014/main" id="{3557B8CD-3664-40DD-B7D3-8F6C05072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" y="2255"/>
              <a:ext cx="2412" cy="0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39">
              <a:extLst>
                <a:ext uri="{FF2B5EF4-FFF2-40B4-BE49-F238E27FC236}">
                  <a16:creationId xmlns:a16="http://schemas.microsoft.com/office/drawing/2014/main" id="{FFD210D1-F0C1-4AF4-9F0C-096045E1A8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88" y="1992"/>
              <a:ext cx="0" cy="264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649F905F-CE9F-4CE2-A998-6428AB8D5030}"/>
              </a:ext>
            </a:extLst>
          </p:cNvPr>
          <p:cNvGrpSpPr/>
          <p:nvPr/>
        </p:nvGrpSpPr>
        <p:grpSpPr>
          <a:xfrm>
            <a:off x="2896567" y="2255307"/>
            <a:ext cx="2785626" cy="3886200"/>
            <a:chOff x="2896567" y="2255307"/>
            <a:chExt cx="2785626" cy="3886200"/>
          </a:xfrm>
        </p:grpSpPr>
        <p:sp>
          <p:nvSpPr>
            <p:cNvPr id="42" name="Rectangle 11">
              <a:extLst>
                <a:ext uri="{FF2B5EF4-FFF2-40B4-BE49-F238E27FC236}">
                  <a16:creationId xmlns:a16="http://schemas.microsoft.com/office/drawing/2014/main" id="{D2B0B091-78BE-46FC-9CD2-829CB01F7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9730" y="2629957"/>
              <a:ext cx="1922463" cy="3511550"/>
            </a:xfrm>
            <a:prstGeom prst="rect">
              <a:avLst/>
            </a:prstGeom>
            <a:solidFill>
              <a:srgbClr val="DDDDDD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1" lang="zh-CN" altLang="zh-CN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12">
              <a:extLst>
                <a:ext uri="{FF2B5EF4-FFF2-40B4-BE49-F238E27FC236}">
                  <a16:creationId xmlns:a16="http://schemas.microsoft.com/office/drawing/2014/main" id="{234776BC-2A94-47D4-8B43-0513DB8AD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9730" y="3034770"/>
              <a:ext cx="19224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13">
              <a:extLst>
                <a:ext uri="{FF2B5EF4-FFF2-40B4-BE49-F238E27FC236}">
                  <a16:creationId xmlns:a16="http://schemas.microsoft.com/office/drawing/2014/main" id="{C168DA84-4F51-4546-8E46-2AFD5D52A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9730" y="3687232"/>
              <a:ext cx="19224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14">
              <a:extLst>
                <a:ext uri="{FF2B5EF4-FFF2-40B4-BE49-F238E27FC236}">
                  <a16:creationId xmlns:a16="http://schemas.microsoft.com/office/drawing/2014/main" id="{E633E093-6310-4D01-AD0A-82A042E861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9730" y="4093632"/>
              <a:ext cx="1922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15">
              <a:extLst>
                <a:ext uri="{FF2B5EF4-FFF2-40B4-BE49-F238E27FC236}">
                  <a16:creationId xmlns:a16="http://schemas.microsoft.com/office/drawing/2014/main" id="{0C5CB77C-D1EC-4FE8-AA36-04B28F9A0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9730" y="4463520"/>
              <a:ext cx="19224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16">
              <a:extLst>
                <a:ext uri="{FF2B5EF4-FFF2-40B4-BE49-F238E27FC236}">
                  <a16:creationId xmlns:a16="http://schemas.microsoft.com/office/drawing/2014/main" id="{DB268DC1-1047-4394-8089-AA2A9CA9A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9730" y="4868332"/>
              <a:ext cx="19224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17">
              <a:extLst>
                <a:ext uri="{FF2B5EF4-FFF2-40B4-BE49-F238E27FC236}">
                  <a16:creationId xmlns:a16="http://schemas.microsoft.com/office/drawing/2014/main" id="{EBD0BD82-A76C-49D9-B457-C613C8E13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0680" y="5277907"/>
              <a:ext cx="19224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18">
              <a:extLst>
                <a:ext uri="{FF2B5EF4-FFF2-40B4-BE49-F238E27FC236}">
                  <a16:creationId xmlns:a16="http://schemas.microsoft.com/office/drawing/2014/main" id="{0FEB6E63-A232-41A1-AE3C-DECA0F88C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9730" y="6138332"/>
              <a:ext cx="19224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Text Box 21">
              <a:extLst>
                <a:ext uri="{FF2B5EF4-FFF2-40B4-BE49-F238E27FC236}">
                  <a16:creationId xmlns:a16="http://schemas.microsoft.com/office/drawing/2014/main" id="{E58FCD64-E5BC-48A7-A57E-E3BA4F4262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0142" y="3083982"/>
              <a:ext cx="488950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…...</a:t>
              </a:r>
            </a:p>
          </p:txBody>
        </p:sp>
        <p:sp>
          <p:nvSpPr>
            <p:cNvPr id="51" name="Text Box 23">
              <a:extLst>
                <a:ext uri="{FF2B5EF4-FFF2-40B4-BE49-F238E27FC236}">
                  <a16:creationId xmlns:a16="http://schemas.microsoft.com/office/drawing/2014/main" id="{F1F33538-7810-491F-95AA-555B09A17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4067" y="3436407"/>
              <a:ext cx="692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2000</a:t>
              </a:r>
            </a:p>
          </p:txBody>
        </p:sp>
        <p:sp>
          <p:nvSpPr>
            <p:cNvPr id="52" name="Text Box 24">
              <a:extLst>
                <a:ext uri="{FF2B5EF4-FFF2-40B4-BE49-F238E27FC236}">
                  <a16:creationId xmlns:a16="http://schemas.microsoft.com/office/drawing/2014/main" id="{1A7C758A-E3AE-4529-8A6D-1028EBB915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4067" y="3841220"/>
              <a:ext cx="692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2001</a:t>
              </a:r>
            </a:p>
          </p:txBody>
        </p:sp>
        <p:sp>
          <p:nvSpPr>
            <p:cNvPr id="53" name="Text Box 25">
              <a:extLst>
                <a:ext uri="{FF2B5EF4-FFF2-40B4-BE49-F238E27FC236}">
                  <a16:creationId xmlns:a16="http://schemas.microsoft.com/office/drawing/2014/main" id="{C89757E0-492D-4823-AC19-A70D0338F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4067" y="4230157"/>
              <a:ext cx="692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2002</a:t>
              </a:r>
            </a:p>
          </p:txBody>
        </p:sp>
        <p:sp>
          <p:nvSpPr>
            <p:cNvPr id="54" name="Text Box 26">
              <a:extLst>
                <a:ext uri="{FF2B5EF4-FFF2-40B4-BE49-F238E27FC236}">
                  <a16:creationId xmlns:a16="http://schemas.microsoft.com/office/drawing/2014/main" id="{EE77590D-3B70-4B74-8B6C-AD86986C7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4067" y="5500157"/>
              <a:ext cx="692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2005</a:t>
              </a:r>
            </a:p>
          </p:txBody>
        </p:sp>
        <p:sp>
          <p:nvSpPr>
            <p:cNvPr id="55" name="Text Box 27">
              <a:extLst>
                <a:ext uri="{FF2B5EF4-FFF2-40B4-BE49-F238E27FC236}">
                  <a16:creationId xmlns:a16="http://schemas.microsoft.com/office/drawing/2014/main" id="{0892C403-4ED6-4A20-9F22-B60760EFDF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6005" y="2255307"/>
              <a:ext cx="692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内存</a:t>
              </a:r>
            </a:p>
          </p:txBody>
        </p:sp>
        <p:sp>
          <p:nvSpPr>
            <p:cNvPr id="56" name="Text Box 28">
              <a:extLst>
                <a:ext uri="{FF2B5EF4-FFF2-40B4-BE49-F238E27FC236}">
                  <a16:creationId xmlns:a16="http://schemas.microsoft.com/office/drawing/2014/main" id="{2B2AE119-F026-484A-B470-EC2EBE277B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9805" y="2475970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7" name="Text Box 29">
              <a:extLst>
                <a:ext uri="{FF2B5EF4-FFF2-40B4-BE49-F238E27FC236}">
                  <a16:creationId xmlns:a16="http://schemas.microsoft.com/office/drawing/2014/main" id="{BFAC64BE-518C-4D6A-B7E3-6A88E13CC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4067" y="4630207"/>
              <a:ext cx="692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2003</a:t>
              </a:r>
            </a:p>
          </p:txBody>
        </p:sp>
        <p:sp>
          <p:nvSpPr>
            <p:cNvPr id="58" name="Line 30">
              <a:extLst>
                <a:ext uri="{FF2B5EF4-FFF2-40B4-BE49-F238E27FC236}">
                  <a16:creationId xmlns:a16="http://schemas.microsoft.com/office/drawing/2014/main" id="{D40414C9-93AB-4387-98C2-474FE1F8A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9730" y="5697007"/>
              <a:ext cx="19224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Text Box 29">
              <a:extLst>
                <a:ext uri="{FF2B5EF4-FFF2-40B4-BE49-F238E27FC236}">
                  <a16:creationId xmlns:a16="http://schemas.microsoft.com/office/drawing/2014/main" id="{F8922241-EF77-4A4E-8457-1FE7EC9F42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6567" y="5077852"/>
              <a:ext cx="697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2004</a:t>
              </a:r>
            </a:p>
          </p:txBody>
        </p:sp>
      </p:grpSp>
      <p:sp>
        <p:nvSpPr>
          <p:cNvPr id="68" name="AutoShape 40">
            <a:extLst>
              <a:ext uri="{FF2B5EF4-FFF2-40B4-BE49-F238E27FC236}">
                <a16:creationId xmlns:a16="http://schemas.microsoft.com/office/drawing/2014/main" id="{3FB69DDA-8D9C-48FD-886F-E5C8BA7F6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7492" y="5558895"/>
            <a:ext cx="4422775" cy="1252537"/>
          </a:xfrm>
          <a:prstGeom prst="cloudCallout">
            <a:avLst>
              <a:gd name="adj1" fmla="val -53519"/>
              <a:gd name="adj2" fmla="val -83588"/>
            </a:avLst>
          </a:prstGeom>
          <a:noFill/>
          <a:ln w="38100">
            <a:solidFill>
              <a:srgbClr val="FF9900"/>
            </a:solidFill>
            <a:round/>
            <a:headEnd type="none" w="lg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0" dirty="0">
                <a:solidFill>
                  <a:srgbClr val="CC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变量</a:t>
            </a:r>
            <a:r>
              <a:rPr kumimoji="1"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是对程序中数据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存储空间的抽象</a:t>
            </a:r>
            <a:endParaRPr kumimoji="1" lang="zh-CN" altLang="en-US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" name="Text Box 21">
            <a:extLst>
              <a:ext uri="{FF2B5EF4-FFF2-40B4-BE49-F238E27FC236}">
                <a16:creationId xmlns:a16="http://schemas.microsoft.com/office/drawing/2014/main" id="{B89E15C2-D44A-4149-92E1-E40FE7C57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015" y="2837496"/>
            <a:ext cx="48895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…...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469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 autoUpdateAnimBg="0"/>
      <p:bldP spid="40" grpId="0" animBg="1" autoUpdateAnimBg="0"/>
      <p:bldP spid="59" grpId="0" autoUpdateAnimBg="0"/>
      <p:bldP spid="60" grpId="0" build="p" autoUpdateAnimBg="0" advAuto="0"/>
      <p:bldP spid="61" grpId="0" build="p" autoUpdateAnimBg="0" advAuto="0"/>
      <p:bldP spid="68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CC487428-1B1F-4AE0-93C2-5F82094979BC}"/>
              </a:ext>
            </a:extLst>
          </p:cNvPr>
          <p:cNvGrpSpPr/>
          <p:nvPr/>
        </p:nvGrpSpPr>
        <p:grpSpPr>
          <a:xfrm>
            <a:off x="2671027" y="2754314"/>
            <a:ext cx="4405631" cy="3841217"/>
            <a:chOff x="2671027" y="2754314"/>
            <a:chExt cx="4405631" cy="3841217"/>
          </a:xfrm>
        </p:grpSpPr>
        <p:sp>
          <p:nvSpPr>
            <p:cNvPr id="36" name="Rectangle 5">
              <a:extLst>
                <a:ext uri="{FF2B5EF4-FFF2-40B4-BE49-F238E27FC236}">
                  <a16:creationId xmlns:a16="http://schemas.microsoft.com/office/drawing/2014/main" id="{CBAE4B05-F2DE-4CDE-BCA3-BBAE9DB97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4302" y="2754314"/>
              <a:ext cx="1922462" cy="3841217"/>
            </a:xfrm>
            <a:prstGeom prst="rect">
              <a:avLst/>
            </a:prstGeom>
            <a:solidFill>
              <a:srgbClr val="DDDDDD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1" lang="zh-CN" altLang="zh-CN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Line 6">
              <a:extLst>
                <a:ext uri="{FF2B5EF4-FFF2-40B4-BE49-F238E27FC236}">
                  <a16:creationId xmlns:a16="http://schemas.microsoft.com/office/drawing/2014/main" id="{DB5F0549-6CCA-4E44-80B0-4F4AAF5BDD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3352" y="3449640"/>
              <a:ext cx="19224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7">
              <a:extLst>
                <a:ext uri="{FF2B5EF4-FFF2-40B4-BE49-F238E27FC236}">
                  <a16:creationId xmlns:a16="http://schemas.microsoft.com/office/drawing/2014/main" id="{71115EA2-52E0-450F-BF6A-AFB60C07C0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3352" y="3856040"/>
              <a:ext cx="19224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8">
              <a:extLst>
                <a:ext uri="{FF2B5EF4-FFF2-40B4-BE49-F238E27FC236}">
                  <a16:creationId xmlns:a16="http://schemas.microsoft.com/office/drawing/2014/main" id="{E0883AFF-18F7-4FFF-9103-F503E4C557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3352" y="4225927"/>
              <a:ext cx="19224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9">
              <a:extLst>
                <a:ext uri="{FF2B5EF4-FFF2-40B4-BE49-F238E27FC236}">
                  <a16:creationId xmlns:a16="http://schemas.microsoft.com/office/drawing/2014/main" id="{43291CA4-EB58-4F07-B1E7-4F620BF99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3352" y="4630740"/>
              <a:ext cx="19224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10">
              <a:extLst>
                <a:ext uri="{FF2B5EF4-FFF2-40B4-BE49-F238E27FC236}">
                  <a16:creationId xmlns:a16="http://schemas.microsoft.com/office/drawing/2014/main" id="{4DA11D75-6323-496E-96EC-094B599C68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4302" y="5040315"/>
              <a:ext cx="19224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Text Box 14">
              <a:extLst>
                <a:ext uri="{FF2B5EF4-FFF2-40B4-BE49-F238E27FC236}">
                  <a16:creationId xmlns:a16="http://schemas.microsoft.com/office/drawing/2014/main" id="{27BEB2D8-E1EF-49E5-9632-317430774D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3764" y="2846390"/>
              <a:ext cx="488950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…...</a:t>
              </a:r>
            </a:p>
          </p:txBody>
        </p:sp>
        <p:sp>
          <p:nvSpPr>
            <p:cNvPr id="44" name="Text Box 16">
              <a:extLst>
                <a:ext uri="{FF2B5EF4-FFF2-40B4-BE49-F238E27FC236}">
                  <a16:creationId xmlns:a16="http://schemas.microsoft.com/office/drawing/2014/main" id="{AE1AF724-8E81-4006-8E59-953611899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639" y="3275015"/>
              <a:ext cx="692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2000</a:t>
              </a:r>
            </a:p>
          </p:txBody>
        </p:sp>
        <p:sp>
          <p:nvSpPr>
            <p:cNvPr id="45" name="Text Box 17">
              <a:extLst>
                <a:ext uri="{FF2B5EF4-FFF2-40B4-BE49-F238E27FC236}">
                  <a16:creationId xmlns:a16="http://schemas.microsoft.com/office/drawing/2014/main" id="{CC56D5AE-41E5-4C98-B941-F897CC685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639" y="4816477"/>
              <a:ext cx="692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2004</a:t>
              </a:r>
            </a:p>
          </p:txBody>
        </p:sp>
        <p:sp>
          <p:nvSpPr>
            <p:cNvPr id="46" name="Text Box 18">
              <a:extLst>
                <a:ext uri="{FF2B5EF4-FFF2-40B4-BE49-F238E27FC236}">
                  <a16:creationId xmlns:a16="http://schemas.microsoft.com/office/drawing/2014/main" id="{A5ADB29C-5FD5-4881-8A12-5174AB4BD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7607" y="5612224"/>
              <a:ext cx="692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2006</a:t>
              </a:r>
            </a:p>
          </p:txBody>
        </p:sp>
        <p:sp>
          <p:nvSpPr>
            <p:cNvPr id="47" name="Text Box 19">
              <a:extLst>
                <a:ext uri="{FF2B5EF4-FFF2-40B4-BE49-F238E27FC236}">
                  <a16:creationId xmlns:a16="http://schemas.microsoft.com/office/drawing/2014/main" id="{5C0FA51E-4358-40E2-9CE5-30C592DA3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639" y="5273875"/>
              <a:ext cx="692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2005</a:t>
              </a:r>
            </a:p>
          </p:txBody>
        </p:sp>
        <p:sp>
          <p:nvSpPr>
            <p:cNvPr id="48" name="Line 20">
              <a:extLst>
                <a:ext uri="{FF2B5EF4-FFF2-40B4-BE49-F238E27FC236}">
                  <a16:creationId xmlns:a16="http://schemas.microsoft.com/office/drawing/2014/main" id="{2D3256E0-DD96-4232-A564-A17C78D8B2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2871" y="5456240"/>
              <a:ext cx="19224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21">
              <a:extLst>
                <a:ext uri="{FF2B5EF4-FFF2-40B4-BE49-F238E27FC236}">
                  <a16:creationId xmlns:a16="http://schemas.microsoft.com/office/drawing/2014/main" id="{8D666788-E6F2-48DE-B684-466C6BB103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40889" y="3455990"/>
              <a:ext cx="361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lg" len="lg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Text Box 22">
              <a:extLst>
                <a:ext uri="{FF2B5EF4-FFF2-40B4-BE49-F238E27FC236}">
                  <a16:creationId xmlns:a16="http://schemas.microsoft.com/office/drawing/2014/main" id="{BF5E9337-23DF-473A-BD9A-6587B831F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9814" y="3211515"/>
              <a:ext cx="13468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lg" len="lg"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整型变量</a:t>
              </a:r>
              <a:r>
                <a:rPr kumimoji="1" lang="en-US" altLang="zh-CN" sz="2400" b="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kumimoji="1"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" name="Text Box 26">
              <a:extLst>
                <a:ext uri="{FF2B5EF4-FFF2-40B4-BE49-F238E27FC236}">
                  <a16:creationId xmlns:a16="http://schemas.microsoft.com/office/drawing/2014/main" id="{2420EDB0-1042-470D-A289-AC8E6748F3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639" y="3660777"/>
              <a:ext cx="692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2001</a:t>
              </a:r>
            </a:p>
          </p:txBody>
        </p:sp>
        <p:sp>
          <p:nvSpPr>
            <p:cNvPr id="54" name="Text Box 27">
              <a:extLst>
                <a:ext uri="{FF2B5EF4-FFF2-40B4-BE49-F238E27FC236}">
                  <a16:creationId xmlns:a16="http://schemas.microsoft.com/office/drawing/2014/main" id="{D803792B-6DEC-47DD-AC20-90BB70F01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639" y="4046540"/>
              <a:ext cx="692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2002</a:t>
              </a:r>
            </a:p>
          </p:txBody>
        </p:sp>
        <p:sp>
          <p:nvSpPr>
            <p:cNvPr id="55" name="Text Box 28">
              <a:extLst>
                <a:ext uri="{FF2B5EF4-FFF2-40B4-BE49-F238E27FC236}">
                  <a16:creationId xmlns:a16="http://schemas.microsoft.com/office/drawing/2014/main" id="{8E0F9193-C59E-4F28-AC88-CFA66B557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639" y="4430715"/>
              <a:ext cx="692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2003</a:t>
              </a:r>
            </a:p>
          </p:txBody>
        </p:sp>
        <p:sp>
          <p:nvSpPr>
            <p:cNvPr id="80" name="Text Box 23">
              <a:extLst>
                <a:ext uri="{FF2B5EF4-FFF2-40B4-BE49-F238E27FC236}">
                  <a16:creationId xmlns:a16="http://schemas.microsoft.com/office/drawing/2014/main" id="{CD9E8C2A-2543-412B-ADC6-438B598F93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825" y="3993508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400" b="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66" name="Line 20">
              <a:extLst>
                <a:ext uri="{FF2B5EF4-FFF2-40B4-BE49-F238E27FC236}">
                  <a16:creationId xmlns:a16="http://schemas.microsoft.com/office/drawing/2014/main" id="{E0C5C1F3-7DF3-4625-A637-5996743A86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3771" y="5807611"/>
              <a:ext cx="19224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20">
              <a:extLst>
                <a:ext uri="{FF2B5EF4-FFF2-40B4-BE49-F238E27FC236}">
                  <a16:creationId xmlns:a16="http://schemas.microsoft.com/office/drawing/2014/main" id="{571B787E-132E-45D5-94F6-163E14F79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2871" y="6163211"/>
              <a:ext cx="19224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Text Box 18">
              <a:extLst>
                <a:ext uri="{FF2B5EF4-FFF2-40B4-BE49-F238E27FC236}">
                  <a16:creationId xmlns:a16="http://schemas.microsoft.com/office/drawing/2014/main" id="{4DD772BD-A028-4240-A59E-6E6B33546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1027" y="6002863"/>
              <a:ext cx="697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2007</a:t>
              </a:r>
            </a:p>
          </p:txBody>
        </p:sp>
      </p:grpSp>
      <p:sp>
        <p:nvSpPr>
          <p:cNvPr id="57" name="Text Box 30">
            <a:extLst>
              <a:ext uri="{FF2B5EF4-FFF2-40B4-BE49-F238E27FC236}">
                <a16:creationId xmlns:a16="http://schemas.microsoft.com/office/drawing/2014/main" id="{DC0CDD7C-0FD6-44C9-B1F7-8DFF22BC8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276" y="5583993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b="0" dirty="0">
                <a:solidFill>
                  <a:srgbClr val="CC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2000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42365"/>
            <a:ext cx="10636704" cy="5203190"/>
          </a:xfrm>
        </p:spPr>
        <p:txBody>
          <a:bodyPr>
            <a:norm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 指针与指针变量</a:t>
            </a:r>
          </a:p>
          <a:p>
            <a:pPr lvl="2"/>
            <a:endParaRPr dirty="0"/>
          </a:p>
        </p:txBody>
      </p:sp>
      <p:sp>
        <p:nvSpPr>
          <p:cNvPr id="51" name="Line 24">
            <a:extLst>
              <a:ext uri="{FF2B5EF4-FFF2-40B4-BE49-F238E27FC236}">
                <a16:creationId xmlns:a16="http://schemas.microsoft.com/office/drawing/2014/main" id="{A5B93CC4-FB5D-4290-B411-2A30B204E0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8989" y="5037140"/>
            <a:ext cx="361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lg" len="lg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Text Box 25">
            <a:extLst>
              <a:ext uri="{FF2B5EF4-FFF2-40B4-BE49-F238E27FC236}">
                <a16:creationId xmlns:a16="http://schemas.microsoft.com/office/drawing/2014/main" id="{0EFC2439-CC86-40CD-8379-F4B97F520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2839" y="4850277"/>
            <a:ext cx="8258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lg" len="lg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变量</a:t>
            </a:r>
            <a:r>
              <a:rPr kumimoji="1" lang="en-US" altLang="zh-CN" sz="2000" b="0" dirty="0">
                <a:solidFill>
                  <a:srgbClr val="CC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56" name="Rectangle 29">
            <a:extLst>
              <a:ext uri="{FF2B5EF4-FFF2-40B4-BE49-F238E27FC236}">
                <a16:creationId xmlns:a16="http://schemas.microsoft.com/office/drawing/2014/main" id="{B5E7807C-78AD-4ED7-875D-B290DBD9B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6120" y="883194"/>
            <a:ext cx="5171813" cy="848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342900" lvl="2" indent="-3429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b="1" spc="150" noProof="1">
                <a:solidFill>
                  <a:schemeClr val="accent2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指针：一个变量的地址。</a:t>
            </a:r>
            <a:endParaRPr lang="en-US" altLang="zh-CN" b="1" spc="150" noProof="1">
              <a:solidFill>
                <a:schemeClr val="accent2">
                  <a:lumMod val="50000"/>
                </a:schemeClr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342900" lvl="2" indent="-3429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b="1" spc="150" noProof="1">
                <a:solidFill>
                  <a:schemeClr val="accent2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指针变量：专门存放地址的变量。</a:t>
            </a:r>
          </a:p>
        </p:txBody>
      </p:sp>
      <p:sp>
        <p:nvSpPr>
          <p:cNvPr id="58" name="AutoShape 31">
            <a:extLst>
              <a:ext uri="{FF2B5EF4-FFF2-40B4-BE49-F238E27FC236}">
                <a16:creationId xmlns:a16="http://schemas.microsoft.com/office/drawing/2014/main" id="{9494AF76-503F-44E6-B422-165928166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964" y="2595565"/>
            <a:ext cx="930275" cy="561975"/>
          </a:xfrm>
          <a:prstGeom prst="wedgeEllipseCallout">
            <a:avLst>
              <a:gd name="adj1" fmla="val 43889"/>
              <a:gd name="adj2" fmla="val 83616"/>
            </a:avLst>
          </a:prstGeom>
          <a:noFill/>
          <a:ln w="38100">
            <a:solidFill>
              <a:srgbClr val="FFCC00"/>
            </a:solidFill>
            <a:miter lim="800000"/>
            <a:headEnd type="none" w="lg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指针</a:t>
            </a:r>
          </a:p>
        </p:txBody>
      </p:sp>
      <p:sp>
        <p:nvSpPr>
          <p:cNvPr id="59" name="AutoShape 32">
            <a:extLst>
              <a:ext uri="{FF2B5EF4-FFF2-40B4-BE49-F238E27FC236}">
                <a16:creationId xmlns:a16="http://schemas.microsoft.com/office/drawing/2014/main" id="{1299EA54-05CA-47A6-8035-EC6F2AD7E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549" y="5374221"/>
            <a:ext cx="1647825" cy="561975"/>
          </a:xfrm>
          <a:prstGeom prst="wedgeEllipseCallout">
            <a:avLst>
              <a:gd name="adj1" fmla="val -50958"/>
              <a:gd name="adj2" fmla="val -74574"/>
            </a:avLst>
          </a:prstGeom>
          <a:noFill/>
          <a:ln w="38100">
            <a:solidFill>
              <a:srgbClr val="FFCC00"/>
            </a:solidFill>
            <a:miter lim="800000"/>
            <a:headEnd type="none" w="lg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指针变量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A7FF8C2-86F7-4F17-9F0F-42FA1CA435FB}"/>
              </a:ext>
            </a:extLst>
          </p:cNvPr>
          <p:cNvGrpSpPr>
            <a:grpSpLocks/>
          </p:cNvGrpSpPr>
          <p:nvPr/>
        </p:nvGrpSpPr>
        <p:grpSpPr bwMode="auto">
          <a:xfrm>
            <a:off x="2261854" y="3462980"/>
            <a:ext cx="1922462" cy="2252655"/>
            <a:chOff x="2601912" y="2591598"/>
            <a:chExt cx="1035051" cy="1822283"/>
          </a:xfrm>
        </p:grpSpPr>
        <p:sp>
          <p:nvSpPr>
            <p:cNvPr id="61" name="Line 35">
              <a:extLst>
                <a:ext uri="{FF2B5EF4-FFF2-40B4-BE49-F238E27FC236}">
                  <a16:creationId xmlns:a16="http://schemas.microsoft.com/office/drawing/2014/main" id="{01994AA9-2C65-4417-BFE5-5FAE38A8C7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05088" y="2611438"/>
              <a:ext cx="247650" cy="0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 type="non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36">
              <a:extLst>
                <a:ext uri="{FF2B5EF4-FFF2-40B4-BE49-F238E27FC236}">
                  <a16:creationId xmlns:a16="http://schemas.microsoft.com/office/drawing/2014/main" id="{40AF1971-624A-4B28-83E9-0D7A88BFE4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01912" y="2591598"/>
              <a:ext cx="9526" cy="1822283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 type="non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37">
              <a:extLst>
                <a:ext uri="{FF2B5EF4-FFF2-40B4-BE49-F238E27FC236}">
                  <a16:creationId xmlns:a16="http://schemas.microsoft.com/office/drawing/2014/main" id="{11C8526E-AF79-44B5-8290-2B9E131F1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5088" y="4406025"/>
              <a:ext cx="1031875" cy="4124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4" name="AutoShape 39">
            <a:extLst>
              <a:ext uri="{FF2B5EF4-FFF2-40B4-BE49-F238E27FC236}">
                <a16:creationId xmlns:a16="http://schemas.microsoft.com/office/drawing/2014/main" id="{D64AAFAA-6E4A-4945-BFCE-C3AA930F9529}"/>
              </a:ext>
            </a:extLst>
          </p:cNvPr>
          <p:cNvSpPr>
            <a:spLocks/>
          </p:cNvSpPr>
          <p:nvPr/>
        </p:nvSpPr>
        <p:spPr bwMode="auto">
          <a:xfrm>
            <a:off x="6286941" y="4110040"/>
            <a:ext cx="1936749" cy="461665"/>
          </a:xfrm>
          <a:prstGeom prst="borderCallout1">
            <a:avLst>
              <a:gd name="adj1" fmla="val 23528"/>
              <a:gd name="adj2" fmla="val -4204"/>
              <a:gd name="adj3" fmla="val 22551"/>
              <a:gd name="adj4" fmla="val -81347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变量</a:t>
            </a:r>
            <a:r>
              <a:rPr kumimoji="1"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的</a:t>
            </a:r>
            <a:r>
              <a:rPr kumimoji="1"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内容</a:t>
            </a:r>
            <a:endParaRPr kumimoji="1" lang="zh-CN" altLang="en-US" sz="2400" b="0" dirty="0">
              <a:solidFill>
                <a:schemeClr val="tx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5" name="AutoShape 40">
            <a:extLst>
              <a:ext uri="{FF2B5EF4-FFF2-40B4-BE49-F238E27FC236}">
                <a16:creationId xmlns:a16="http://schemas.microsoft.com/office/drawing/2014/main" id="{38E1F43F-7844-429E-A6A6-6757C90F82F2}"/>
              </a:ext>
            </a:extLst>
          </p:cNvPr>
          <p:cNvSpPr>
            <a:spLocks/>
          </p:cNvSpPr>
          <p:nvPr/>
        </p:nvSpPr>
        <p:spPr bwMode="auto">
          <a:xfrm>
            <a:off x="214839" y="3792540"/>
            <a:ext cx="1812925" cy="485775"/>
          </a:xfrm>
          <a:prstGeom prst="borderCallout1">
            <a:avLst>
              <a:gd name="adj1" fmla="val 23528"/>
              <a:gd name="adj2" fmla="val 104204"/>
              <a:gd name="adj3" fmla="val -60130"/>
              <a:gd name="adj4" fmla="val 140106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zh-CN" altLang="en-US" sz="2400" b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变量的</a:t>
            </a:r>
            <a:r>
              <a:rPr kumimoji="1" lang="zh-CN" altLang="en-US" sz="2400" b="0">
                <a:solidFill>
                  <a:srgbClr val="CC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地址</a:t>
            </a:r>
          </a:p>
        </p:txBody>
      </p:sp>
      <p:grpSp>
        <p:nvGrpSpPr>
          <p:cNvPr id="87" name="Group 43">
            <a:extLst>
              <a:ext uri="{FF2B5EF4-FFF2-40B4-BE49-F238E27FC236}">
                <a16:creationId xmlns:a16="http://schemas.microsoft.com/office/drawing/2014/main" id="{E54A852D-BF66-4BF5-B29F-A096EE9E9D6A}"/>
              </a:ext>
            </a:extLst>
          </p:cNvPr>
          <p:cNvGrpSpPr>
            <a:grpSpLocks/>
          </p:cNvGrpSpPr>
          <p:nvPr/>
        </p:nvGrpSpPr>
        <p:grpSpPr bwMode="auto">
          <a:xfrm>
            <a:off x="6203155" y="2129317"/>
            <a:ext cx="5728691" cy="1403350"/>
            <a:chOff x="-371" y="3174"/>
            <a:chExt cx="3362" cy="884"/>
          </a:xfrm>
        </p:grpSpPr>
        <p:sp>
          <p:nvSpPr>
            <p:cNvPr id="88" name="Text Box 44">
              <a:extLst>
                <a:ext uri="{FF2B5EF4-FFF2-40B4-BE49-F238E27FC236}">
                  <a16:creationId xmlns:a16="http://schemas.microsoft.com/office/drawing/2014/main" id="{8718CF3B-0092-4E97-8F35-434B3FC51B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71" y="3174"/>
              <a:ext cx="94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指针变量</a:t>
              </a:r>
              <a:r>
                <a:rPr kumimoji="1" lang="en-US" altLang="zh-CN" sz="2000" b="0" dirty="0">
                  <a:solidFill>
                    <a:srgbClr val="CC66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kumimoji="1"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89" name="Text Box 45">
              <a:extLst>
                <a:ext uri="{FF2B5EF4-FFF2-40B4-BE49-F238E27FC236}">
                  <a16:creationId xmlns:a16="http://schemas.microsoft.com/office/drawing/2014/main" id="{41837151-F4F0-4F0D-8CE6-49A4788190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760"/>
              <a:ext cx="55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变量</a:t>
              </a:r>
              <a:r>
                <a:rPr kumimoji="1" lang="en-US" altLang="zh-CN" sz="2400" b="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kumimoji="1"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0" name="Group 46">
              <a:extLst>
                <a:ext uri="{FF2B5EF4-FFF2-40B4-BE49-F238E27FC236}">
                  <a16:creationId xmlns:a16="http://schemas.microsoft.com/office/drawing/2014/main" id="{B6AED5E6-3194-4838-9D1E-5FE4170476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" y="3194"/>
              <a:ext cx="2461" cy="864"/>
              <a:chOff x="-34" y="3110"/>
              <a:chExt cx="2461" cy="864"/>
            </a:xfrm>
          </p:grpSpPr>
          <p:sp>
            <p:nvSpPr>
              <p:cNvPr id="91" name="Rectangle 47">
                <a:extLst>
                  <a:ext uri="{FF2B5EF4-FFF2-40B4-BE49-F238E27FC236}">
                    <a16:creationId xmlns:a16="http://schemas.microsoft.com/office/drawing/2014/main" id="{42A68CE3-E06B-47A0-8284-22ED42935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4" y="3110"/>
                <a:ext cx="1476" cy="29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变量</a:t>
                </a:r>
                <a:r>
                  <a:rPr kumimoji="1" lang="en-US" altLang="zh-CN" sz="2400" b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1" lang="zh-CN" altLang="en-US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的地址</a:t>
                </a:r>
                <a:r>
                  <a:rPr kumimoji="1" lang="en-US" altLang="zh-CN" sz="2400" b="0" dirty="0">
                    <a:solidFill>
                      <a:srgbClr val="CC66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2000</a:t>
                </a:r>
              </a:p>
            </p:txBody>
          </p:sp>
          <p:sp>
            <p:nvSpPr>
              <p:cNvPr id="92" name="Rectangle 48">
                <a:extLst>
                  <a:ext uri="{FF2B5EF4-FFF2-40B4-BE49-F238E27FC236}">
                    <a16:creationId xmlns:a16="http://schemas.microsoft.com/office/drawing/2014/main" id="{13DA5CB0-2C78-4211-B438-8A26BEC4B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" y="3682"/>
                <a:ext cx="739" cy="29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变量值</a:t>
                </a:r>
                <a:r>
                  <a:rPr kumimoji="1" lang="en-US" altLang="zh-CN" sz="2400" b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kumimoji="1" lang="zh-CN" altLang="en-US" sz="2400" b="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" name="Line 49">
                <a:extLst>
                  <a:ext uri="{FF2B5EF4-FFF2-40B4-BE49-F238E27FC236}">
                    <a16:creationId xmlns:a16="http://schemas.microsoft.com/office/drawing/2014/main" id="{15718F28-046D-456C-8A2C-395AB8D468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7" y="3416"/>
                <a:ext cx="3" cy="26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4" name="Text Box 50">
                <a:extLst>
                  <a:ext uri="{FF2B5EF4-FFF2-40B4-BE49-F238E27FC236}">
                    <a16:creationId xmlns:a16="http://schemas.microsoft.com/office/drawing/2014/main" id="{9892346A-371C-45C3-9879-99060ED9E3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5" y="3388"/>
                <a:ext cx="49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400" b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指向</a:t>
                </a:r>
                <a:endParaRPr kumimoji="1"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cxnSp>
            <p:nvCxnSpPr>
              <p:cNvPr id="95" name="AutoShape 51">
                <a:extLst>
                  <a:ext uri="{FF2B5EF4-FFF2-40B4-BE49-F238E27FC236}">
                    <a16:creationId xmlns:a16="http://schemas.microsoft.com/office/drawing/2014/main" id="{DDD61B43-9AA1-473D-8B94-A5127FE30520}"/>
                  </a:ext>
                </a:extLst>
              </p:cNvPr>
              <p:cNvCxnSpPr>
                <a:cxnSpLocks noChangeShapeType="1"/>
                <a:stCxn id="92" idx="3"/>
                <a:endCxn id="91" idx="3"/>
              </p:cNvCxnSpPr>
              <p:nvPr/>
            </p:nvCxnSpPr>
            <p:spPr bwMode="auto">
              <a:xfrm flipV="1">
                <a:off x="1162" y="3256"/>
                <a:ext cx="280" cy="572"/>
              </a:xfrm>
              <a:prstGeom prst="curvedConnector3">
                <a:avLst>
                  <a:gd name="adj1" fmla="val 147914"/>
                </a:avLst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6" name="Text Box 52">
                <a:extLst>
                  <a:ext uri="{FF2B5EF4-FFF2-40B4-BE49-F238E27FC236}">
                    <a16:creationId xmlns:a16="http://schemas.microsoft.com/office/drawing/2014/main" id="{3704F6E5-DB6B-49DA-8F30-9E6F1286AA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5" y="3295"/>
                <a:ext cx="882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地址存入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指针变量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78657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1" grpId="0" animBg="1"/>
      <p:bldP spid="52" grpId="0"/>
      <p:bldP spid="58" grpId="0" animBg="1" autoUpdateAnimBg="0"/>
      <p:bldP spid="59" grpId="0" animBg="1" autoUpdateAnimBg="0"/>
      <p:bldP spid="64" grpId="0" animBg="1" autoUpdateAnimBg="0"/>
      <p:bldP spid="65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6.1.3 </a:t>
            </a:r>
            <a:r>
              <a:rPr lang="zh-CN" altLang="en-US" dirty="0"/>
              <a:t>指针的定义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42365"/>
            <a:ext cx="10636704" cy="5203190"/>
          </a:xfrm>
        </p:spPr>
        <p:txBody>
          <a:bodyPr>
            <a:normAutofit/>
          </a:bodyPr>
          <a:lstStyle/>
          <a:p>
            <a:pPr lvl="1"/>
            <a:r>
              <a:rPr lang="zh-CN" altLang="en-US" dirty="0"/>
              <a:t>指针变量的定义：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zh-CN" altLang="en-US" dirty="0">
                <a:solidFill>
                  <a:srgbClr val="0000FF"/>
                </a:solidFill>
              </a:rPr>
              <a:t>数据类型 </a:t>
            </a:r>
            <a:r>
              <a:rPr lang="en-US" dirty="0">
                <a:solidFill>
                  <a:srgbClr val="0000FF"/>
                </a:solidFill>
              </a:rPr>
              <a:t>*</a:t>
            </a:r>
            <a:r>
              <a:rPr lang="zh-CN" altLang="en-US" dirty="0">
                <a:solidFill>
                  <a:srgbClr val="0000FF"/>
                </a:solidFill>
              </a:rPr>
              <a:t>变量名</a:t>
            </a:r>
            <a:r>
              <a:rPr lang="en-US" dirty="0">
                <a:solidFill>
                  <a:srgbClr val="0000FF"/>
                </a:solidFill>
              </a:rPr>
              <a:t>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B0F0"/>
                </a:solidFill>
              </a:rPr>
              <a:t>	</a:t>
            </a:r>
            <a:r>
              <a:rPr lang="en-US" altLang="zh-CN" dirty="0">
                <a:solidFill>
                  <a:srgbClr val="00B0F0"/>
                </a:solidFill>
              </a:rPr>
              <a:t>int *p;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1609725" algn="l"/>
              </a:tabLst>
              <a:defRPr/>
            </a:pPr>
            <a:r>
              <a:rPr kumimoji="0" lang="zh-CN" altLang="en-US" sz="3200" b="1" i="0" u="none" strike="noStrike" kern="1200" cap="none" spc="150" normalizeH="0" baseline="0" noProof="1">
                <a:ln>
                  <a:noFill/>
                </a:ln>
                <a:solidFill>
                  <a:srgbClr val="5596CD">
                    <a:lumMod val="50000"/>
                  </a:srgbClr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在变量名前面的</a:t>
            </a:r>
            <a:r>
              <a:rPr kumimoji="0" lang="en-US" altLang="zh-CN" sz="3200" b="1" i="0" u="none" strike="noStrike" kern="1200" cap="none" spc="150" normalizeH="0" baseline="0" noProof="1">
                <a:ln>
                  <a:noFill/>
                </a:ln>
                <a:solidFill>
                  <a:srgbClr val="5596CD">
                    <a:lumMod val="50000"/>
                  </a:srgbClr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*</a:t>
            </a:r>
            <a:r>
              <a:rPr kumimoji="0" lang="zh-CN" altLang="en-US" sz="3200" b="1" i="0" u="none" strike="noStrike" kern="1200" cap="none" spc="150" normalizeH="0" baseline="0" noProof="1">
                <a:ln>
                  <a:noFill/>
                </a:ln>
                <a:solidFill>
                  <a:srgbClr val="5596CD">
                    <a:lumMod val="50000"/>
                  </a:srgbClr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表明其为一个指针变量。</a:t>
            </a:r>
            <a:endParaRPr kumimoji="0" lang="en-US" altLang="zh-CN" sz="3200" b="1" i="0" u="none" strike="noStrike" kern="1200" cap="none" spc="150" normalizeH="0" baseline="0" noProof="1">
              <a:ln>
                <a:noFill/>
              </a:ln>
              <a:solidFill>
                <a:srgbClr val="5596CD">
                  <a:lumMod val="50000"/>
                </a:srgbClr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  <a:p>
            <a:pPr marL="457200" lvl="1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lvl="1"/>
            <a:r>
              <a:rPr lang="zh-CN" altLang="en-US" dirty="0"/>
              <a:t>多个指针变量的定义（</a:t>
            </a:r>
            <a:r>
              <a:rPr lang="zh-CN" altLang="en-US" dirty="0">
                <a:solidFill>
                  <a:srgbClr val="FF0000"/>
                </a:solidFill>
              </a:rPr>
              <a:t>每个指针变量前加</a:t>
            </a:r>
            <a:r>
              <a:rPr lang="en-US" altLang="zh-CN" dirty="0">
                <a:solidFill>
                  <a:srgbClr val="FF0000"/>
                </a:solidFill>
              </a:rPr>
              <a:t>*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zh-CN" altLang="en-US" dirty="0">
                <a:solidFill>
                  <a:srgbClr val="0000FF"/>
                </a:solidFill>
              </a:rPr>
              <a:t>数据类型 </a:t>
            </a:r>
            <a:r>
              <a:rPr lang="en-US" altLang="zh-CN" dirty="0">
                <a:solidFill>
                  <a:srgbClr val="0000FF"/>
                </a:solidFill>
              </a:rPr>
              <a:t>*</a:t>
            </a:r>
            <a:r>
              <a:rPr lang="zh-CN" altLang="en-US" dirty="0">
                <a:solidFill>
                  <a:srgbClr val="0000FF"/>
                </a:solidFill>
              </a:rPr>
              <a:t>变量名</a:t>
            </a:r>
            <a:r>
              <a:rPr lang="en-US" altLang="zh-CN" dirty="0">
                <a:solidFill>
                  <a:srgbClr val="0000FF"/>
                </a:solidFill>
              </a:rPr>
              <a:t>1, *</a:t>
            </a:r>
            <a:r>
              <a:rPr lang="zh-CN" altLang="en-US" dirty="0">
                <a:solidFill>
                  <a:srgbClr val="0000FF"/>
                </a:solidFill>
              </a:rPr>
              <a:t>变量名</a:t>
            </a:r>
            <a:r>
              <a:rPr lang="en-US" altLang="zh-CN" dirty="0">
                <a:solidFill>
                  <a:srgbClr val="0000FF"/>
                </a:solidFill>
              </a:rPr>
              <a:t>2;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B0F0"/>
                </a:solidFill>
              </a:rPr>
              <a:t>	char *p1, *p2;</a:t>
            </a:r>
          </a:p>
          <a:p>
            <a:pPr marL="457200" lvl="1" indent="0">
              <a:buNone/>
            </a:pPr>
            <a:r>
              <a:rPr lang="zh-CN" altLang="en-US" dirty="0"/>
              <a:t>注意：</a:t>
            </a:r>
            <a:r>
              <a:rPr lang="en-US" altLang="zh-CN" dirty="0"/>
              <a:t>char *p1, p2;</a:t>
            </a:r>
            <a:r>
              <a:rPr lang="zh-CN" altLang="en-US" dirty="0"/>
              <a:t>等价于</a:t>
            </a:r>
            <a:r>
              <a:rPr lang="en-US" altLang="zh-CN" dirty="0"/>
              <a:t>char *p1; char p2; </a:t>
            </a:r>
          </a:p>
          <a:p>
            <a:pPr lvl="1"/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53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6.1.4 </a:t>
            </a:r>
            <a:r>
              <a:rPr lang="zh-CN" altLang="en-US" dirty="0"/>
              <a:t>指针的运算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42365"/>
            <a:ext cx="10636704" cy="520319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取地址运算</a:t>
            </a:r>
            <a:endParaRPr lang="en-US" altLang="zh-CN" dirty="0"/>
          </a:p>
          <a:p>
            <a:pPr lvl="1"/>
            <a:r>
              <a:rPr lang="en-US" altLang="zh-CN" dirty="0"/>
              <a:t>&amp;</a:t>
            </a:r>
            <a:r>
              <a:rPr lang="zh-CN" altLang="en-US" dirty="0"/>
              <a:t>称为取地址运算符，用于获取变量的内存单元地址。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一般语法：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&amp;</a:t>
            </a:r>
            <a:r>
              <a:rPr lang="zh-CN" altLang="en-US" dirty="0"/>
              <a:t>变量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例：</a:t>
            </a:r>
            <a:r>
              <a:rPr lang="en-US" altLang="zh-CN" dirty="0"/>
              <a:t>	</a:t>
            </a:r>
            <a:r>
              <a:rPr lang="en-US" altLang="zh-CN" dirty="0">
                <a:solidFill>
                  <a:srgbClr val="00B0FF"/>
                </a:solidFill>
              </a:rPr>
              <a:t>int a;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B0FF"/>
                </a:solidFill>
              </a:rPr>
              <a:t>	int *p;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B0FF"/>
                </a:solidFill>
              </a:rPr>
              <a:t>	p = </a:t>
            </a:r>
            <a:r>
              <a:rPr lang="en-US" altLang="zh-CN" dirty="0">
                <a:solidFill>
                  <a:srgbClr val="FF0000"/>
                </a:solidFill>
              </a:rPr>
              <a:t>&amp;</a:t>
            </a:r>
            <a:r>
              <a:rPr lang="en-US" altLang="zh-CN" dirty="0">
                <a:solidFill>
                  <a:srgbClr val="00B0FF"/>
                </a:solidFill>
              </a:rPr>
              <a:t>a;</a:t>
            </a:r>
          </a:p>
          <a:p>
            <a:pPr marL="457200" lvl="1" indent="0">
              <a:buNone/>
            </a:pPr>
            <a:r>
              <a:rPr lang="zh-CN" altLang="en-US" dirty="0"/>
              <a:t>通过</a:t>
            </a:r>
            <a:r>
              <a:rPr lang="en-US" altLang="zh-CN" dirty="0"/>
              <a:t>&amp;</a:t>
            </a:r>
            <a:r>
              <a:rPr lang="zh-CN" altLang="en-US" dirty="0"/>
              <a:t>获取变量</a:t>
            </a:r>
            <a:r>
              <a:rPr lang="en-US" altLang="zh-CN" dirty="0"/>
              <a:t>a</a:t>
            </a:r>
            <a:r>
              <a:rPr lang="zh-CN" altLang="en-US" dirty="0"/>
              <a:t>的地址，并存到指针变量</a:t>
            </a:r>
            <a:r>
              <a:rPr lang="en-US" altLang="zh-CN" dirty="0"/>
              <a:t>p</a:t>
            </a:r>
            <a:r>
              <a:rPr lang="zh-CN" altLang="en-US" dirty="0"/>
              <a:t>中。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此时称为“</a:t>
            </a:r>
            <a:r>
              <a:rPr lang="zh-CN" altLang="en-US" dirty="0">
                <a:solidFill>
                  <a:srgbClr val="FF0000"/>
                </a:solidFill>
              </a:rPr>
              <a:t>指针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zh-CN" altLang="en-US" dirty="0">
                <a:solidFill>
                  <a:srgbClr val="FF0000"/>
                </a:solidFill>
              </a:rPr>
              <a:t>指向变量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/>
              <a:t>”。</a:t>
            </a:r>
            <a:endParaRPr lang="en-US" altLang="zh-CN" dirty="0"/>
          </a:p>
          <a:p>
            <a:pPr lvl="1"/>
            <a:r>
              <a:rPr lang="zh-CN" altLang="en-US" dirty="0"/>
              <a:t>注意：指针类型与变量的类型需要一致。例如，对</a:t>
            </a:r>
            <a:r>
              <a:rPr lang="en-US" altLang="zh-CN" dirty="0"/>
              <a:t>int</a:t>
            </a:r>
            <a:r>
              <a:rPr lang="zh-CN" altLang="en-US" dirty="0"/>
              <a:t>型变量获取到的地址只能赋值给</a:t>
            </a:r>
            <a:r>
              <a:rPr lang="en-US" altLang="zh-CN" dirty="0"/>
              <a:t>int</a:t>
            </a:r>
            <a:r>
              <a:rPr lang="zh-CN" altLang="en-US" dirty="0"/>
              <a:t>型的指针。</a:t>
            </a:r>
            <a:endParaRPr lang="en-US" altLang="zh-CN" dirty="0">
              <a:solidFill>
                <a:srgbClr val="00B0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9686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指针的运算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9468" y="1142365"/>
            <a:ext cx="11472332" cy="5427768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间接引用运算</a:t>
            </a:r>
            <a:endParaRPr lang="en-US" altLang="zh-CN" dirty="0"/>
          </a:p>
          <a:p>
            <a:pPr lvl="1"/>
            <a:r>
              <a:rPr lang="zh-CN" altLang="en-US" dirty="0"/>
              <a:t>通过变量名引用变量称为直接引用，通过变量的地址（指针）引用变量称为间接引用。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*</a:t>
            </a:r>
            <a:r>
              <a:rPr lang="zh-CN" altLang="en-US" dirty="0"/>
              <a:t>称为间接引用运算符，用于使用指针（地址）间接引用变量。间接引用运算符也称为间接访问运算符、间接运算符或解引用运算符。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一般语法：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*</a:t>
            </a:r>
            <a:r>
              <a:rPr lang="zh-CN" altLang="en-US" dirty="0"/>
              <a:t>指针变量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例：</a:t>
            </a:r>
            <a:r>
              <a:rPr lang="en-US" altLang="zh-CN" dirty="0"/>
              <a:t>	</a:t>
            </a:r>
            <a:r>
              <a:rPr lang="en-US" altLang="zh-CN" dirty="0">
                <a:solidFill>
                  <a:srgbClr val="00B0FF"/>
                </a:solidFill>
              </a:rPr>
              <a:t>int a;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B0FF"/>
                </a:solidFill>
              </a:rPr>
              <a:t>	int *p;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B0FF"/>
                </a:solidFill>
              </a:rPr>
              <a:t>	p = &amp;a;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	*</a:t>
            </a:r>
            <a:r>
              <a:rPr lang="en-US" altLang="zh-CN" dirty="0">
                <a:solidFill>
                  <a:srgbClr val="00B0FF"/>
                </a:solidFill>
              </a:rPr>
              <a:t>p = 3;</a:t>
            </a:r>
          </a:p>
          <a:p>
            <a:pPr marL="457200" lvl="1" indent="0">
              <a:buNone/>
            </a:pPr>
            <a:r>
              <a:rPr lang="zh-CN" altLang="en-US" dirty="0"/>
              <a:t>当指针</a:t>
            </a:r>
            <a:r>
              <a:rPr lang="en-US" altLang="zh-CN" dirty="0"/>
              <a:t>p</a:t>
            </a:r>
            <a:r>
              <a:rPr lang="zh-CN" altLang="en-US" dirty="0"/>
              <a:t>指向变量</a:t>
            </a:r>
            <a:r>
              <a:rPr lang="en-US" altLang="zh-CN" dirty="0"/>
              <a:t>a</a:t>
            </a:r>
            <a:r>
              <a:rPr lang="zh-CN" altLang="en-US" dirty="0"/>
              <a:t>，可以通过</a:t>
            </a:r>
            <a:r>
              <a:rPr lang="en-US" altLang="zh-CN" dirty="0"/>
              <a:t>*p</a:t>
            </a:r>
            <a:r>
              <a:rPr lang="zh-CN" altLang="en-US" dirty="0"/>
              <a:t>间接引用变量</a:t>
            </a:r>
            <a:r>
              <a:rPr lang="en-US" altLang="zh-CN" dirty="0"/>
              <a:t>a</a:t>
            </a:r>
            <a:r>
              <a:rPr lang="zh-CN" altLang="en-US" dirty="0"/>
              <a:t>，此时</a:t>
            </a:r>
            <a:r>
              <a:rPr lang="en-US" altLang="zh-CN" dirty="0"/>
              <a:t>*p</a:t>
            </a:r>
            <a:r>
              <a:rPr lang="zh-CN" altLang="en-US" dirty="0"/>
              <a:t>与</a:t>
            </a:r>
            <a:r>
              <a:rPr lang="en-US" altLang="zh-CN" dirty="0"/>
              <a:t>a</a:t>
            </a:r>
            <a:r>
              <a:rPr lang="zh-CN" altLang="en-US" dirty="0"/>
              <a:t>等价。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9021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6.1.4 </a:t>
            </a:r>
            <a:r>
              <a:rPr lang="zh-CN" altLang="en-US" dirty="0"/>
              <a:t>指针的运算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9468" y="1142365"/>
            <a:ext cx="11472332" cy="5427768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指针运算的注意点</a:t>
            </a:r>
            <a:endParaRPr lang="en-US" altLang="zh-CN" dirty="0"/>
          </a:p>
          <a:p>
            <a:pPr lvl="1"/>
            <a:r>
              <a:rPr lang="en-US" altLang="zh-CN" dirty="0"/>
              <a:t>NULL</a:t>
            </a:r>
            <a:r>
              <a:rPr lang="zh-CN" altLang="en-US" dirty="0"/>
              <a:t>是一个特殊的地址值，其地址值为</a:t>
            </a:r>
            <a:r>
              <a:rPr lang="en-US" altLang="zh-CN" dirty="0"/>
              <a:t>0</a:t>
            </a:r>
            <a:r>
              <a:rPr lang="zh-CN" altLang="en-US" dirty="0"/>
              <a:t>。它表示指针不指向任何有效的内存地址。例如</a:t>
            </a:r>
            <a:r>
              <a:rPr lang="en-US" altLang="zh-CN" dirty="0"/>
              <a:t>int *p = NULL;</a:t>
            </a:r>
            <a:r>
              <a:rPr lang="zh-CN" altLang="en-US" dirty="0"/>
              <a:t>代表</a:t>
            </a:r>
            <a:r>
              <a:rPr lang="en-US" altLang="zh-CN" dirty="0"/>
              <a:t>p</a:t>
            </a:r>
            <a:r>
              <a:rPr lang="zh-CN" altLang="en-US" dirty="0"/>
              <a:t>指针不指向任何有效地址。一个好的编程习惯是，当指针未使用之前，或者使用完之后，就将其赋值为</a:t>
            </a:r>
            <a:r>
              <a:rPr lang="en-US" altLang="zh-CN" dirty="0"/>
              <a:t>NULL</a:t>
            </a:r>
            <a:r>
              <a:rPr lang="zh-CN" altLang="en-US" dirty="0"/>
              <a:t>，以避免一些潜在的错误。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指针必须指向有效的内存地址，才可以进行间接引用。指针变量未赋值，或为</a:t>
            </a:r>
            <a:r>
              <a:rPr lang="en-US" altLang="zh-CN" dirty="0"/>
              <a:t>NULL</a:t>
            </a:r>
            <a:r>
              <a:rPr lang="zh-CN" altLang="en-US" dirty="0"/>
              <a:t>时，不允许使用指针进行间接引用。否则会造成错误。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*</a:t>
            </a:r>
            <a:r>
              <a:rPr lang="zh-CN" altLang="en-US" dirty="0"/>
              <a:t>运算符在不同位置作用不同。在指针变量定义中，</a:t>
            </a:r>
            <a:r>
              <a:rPr lang="en-US" altLang="zh-CN" dirty="0"/>
              <a:t>*</a:t>
            </a:r>
            <a:r>
              <a:rPr lang="zh-CN" altLang="en-US" dirty="0"/>
              <a:t>代表指针变量，例如</a:t>
            </a:r>
            <a:r>
              <a:rPr lang="en-US" altLang="zh-CN" dirty="0"/>
              <a:t>int *p</a:t>
            </a:r>
            <a:r>
              <a:rPr lang="zh-CN" altLang="en-US" dirty="0"/>
              <a:t>；而作为指针变量的运算符，</a:t>
            </a:r>
            <a:r>
              <a:rPr lang="en-US" altLang="zh-CN" dirty="0"/>
              <a:t>*</a:t>
            </a:r>
            <a:r>
              <a:rPr lang="zh-CN" altLang="en-US" dirty="0"/>
              <a:t>是间接引用运算符，例如</a:t>
            </a:r>
            <a:r>
              <a:rPr lang="en-US" altLang="zh-CN" dirty="0"/>
              <a:t>*p = 3;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en-US" altLang="zh-CN" dirty="0">
              <a:solidFill>
                <a:srgbClr val="00B0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1087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指针的运算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9468" y="1142365"/>
            <a:ext cx="11472332" cy="5427768"/>
          </a:xfrm>
        </p:spPr>
        <p:txBody>
          <a:bodyPr>
            <a:norm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指针变量之间的关系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7F7F35A-566E-48A1-80BF-F0AAD352242C}"/>
              </a:ext>
            </a:extLst>
          </p:cNvPr>
          <p:cNvGrpSpPr/>
          <p:nvPr/>
        </p:nvGrpSpPr>
        <p:grpSpPr>
          <a:xfrm>
            <a:off x="7914656" y="2349557"/>
            <a:ext cx="2941237" cy="3433176"/>
            <a:chOff x="8585941" y="2094434"/>
            <a:chExt cx="2941237" cy="2928069"/>
          </a:xfrm>
        </p:grpSpPr>
        <p:grpSp>
          <p:nvGrpSpPr>
            <p:cNvPr id="9" name="Group 24">
              <a:extLst>
                <a:ext uri="{FF2B5EF4-FFF2-40B4-BE49-F238E27FC236}">
                  <a16:creationId xmlns:a16="http://schemas.microsoft.com/office/drawing/2014/main" id="{13D8F38C-4AF3-4418-9CB1-A92AE89E13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85941" y="2094434"/>
              <a:ext cx="2941237" cy="1614110"/>
              <a:chOff x="1224" y="958"/>
              <a:chExt cx="1729" cy="738"/>
            </a:xfrm>
          </p:grpSpPr>
          <p:sp>
            <p:nvSpPr>
              <p:cNvPr id="16" name="Rectangle 25">
                <a:extLst>
                  <a:ext uri="{FF2B5EF4-FFF2-40B4-BE49-F238E27FC236}">
                    <a16:creationId xmlns:a16="http://schemas.microsoft.com/office/drawing/2014/main" id="{271CA463-14EF-4B69-8F23-E45425D56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3" y="1184"/>
                <a:ext cx="600" cy="26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800"/>
              </a:p>
            </p:txBody>
          </p:sp>
          <p:sp>
            <p:nvSpPr>
              <p:cNvPr id="17" name="Rectangle 26">
                <a:extLst>
                  <a:ext uri="{FF2B5EF4-FFF2-40B4-BE49-F238E27FC236}">
                    <a16:creationId xmlns:a16="http://schemas.microsoft.com/office/drawing/2014/main" id="{9A4FCFC1-A3C3-4528-9B71-3CF625DE8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1202"/>
                <a:ext cx="600" cy="26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kumimoji="1" lang="zh-CN" altLang="en-US" sz="2800" dirty="0">
                    <a:solidFill>
                      <a:srgbClr val="00B050"/>
                    </a:solidFill>
                    <a:latin typeface="Times New Roman" panose="02020603050405020304" pitchFamily="18" charset="0"/>
                  </a:rPr>
                  <a:t>的值</a:t>
                </a:r>
                <a:endParaRPr kumimoji="1" lang="en-US" altLang="zh-CN" sz="2800" dirty="0">
                  <a:solidFill>
                    <a:srgbClr val="00B05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Text Box 27">
                <a:extLst>
                  <a:ext uri="{FF2B5EF4-FFF2-40B4-BE49-F238E27FC236}">
                    <a16:creationId xmlns:a16="http://schemas.microsoft.com/office/drawing/2014/main" id="{49BDFA3D-65B5-4724-9543-E91F92907B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29" y="975"/>
                <a:ext cx="624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1" lang="zh-CN" altLang="en-US" sz="2800" dirty="0">
                    <a:latin typeface="Times New Roman" panose="02020603050405020304" pitchFamily="18" charset="0"/>
                  </a:rPr>
                  <a:t>变量</a:t>
                </a:r>
                <a:r>
                  <a:rPr kumimoji="1" lang="en-US" altLang="zh-CN" sz="2800" dirty="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9" name="Text Box 28">
                <a:extLst>
                  <a:ext uri="{FF2B5EF4-FFF2-40B4-BE49-F238E27FC236}">
                    <a16:creationId xmlns:a16="http://schemas.microsoft.com/office/drawing/2014/main" id="{AAD0BB7F-05EF-40B2-80C5-C6C556258D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8" y="1198"/>
                <a:ext cx="366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1"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&amp;a</a:t>
                </a:r>
              </a:p>
            </p:txBody>
          </p:sp>
          <p:sp>
            <p:nvSpPr>
              <p:cNvPr id="20" name="Text Box 29">
                <a:extLst>
                  <a:ext uri="{FF2B5EF4-FFF2-40B4-BE49-F238E27FC236}">
                    <a16:creationId xmlns:a16="http://schemas.microsoft.com/office/drawing/2014/main" id="{5FB4F4BA-1DAE-442E-879D-8B9322AC76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4" y="958"/>
                <a:ext cx="636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1" lang="zh-CN" alt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指针</a:t>
                </a:r>
                <a:r>
                  <a:rPr kumimoji="1"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21" name="Line 30">
                <a:extLst>
                  <a:ext uri="{FF2B5EF4-FFF2-40B4-BE49-F238E27FC236}">
                    <a16:creationId xmlns:a16="http://schemas.microsoft.com/office/drawing/2014/main" id="{E5405888-A164-4112-BD06-79C4498BEC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8" y="1333"/>
                <a:ext cx="4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22" name="Text Box 31">
                <a:extLst>
                  <a:ext uri="{FF2B5EF4-FFF2-40B4-BE49-F238E27FC236}">
                    <a16:creationId xmlns:a16="http://schemas.microsoft.com/office/drawing/2014/main" id="{156BF166-7EBB-4703-B23D-3CAD5BF8FB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8" y="1457"/>
                <a:ext cx="320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1" lang="en-US" altLang="zh-CN" sz="2800" dirty="0">
                    <a:solidFill>
                      <a:srgbClr val="00B050"/>
                    </a:solidFill>
                    <a:latin typeface="Times New Roman" panose="02020603050405020304" pitchFamily="18" charset="0"/>
                  </a:rPr>
                  <a:t>*p</a:t>
                </a: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12959F74-D536-46D8-BE3A-503A5617F8DD}"/>
                </a:ext>
              </a:extLst>
            </p:cNvPr>
            <p:cNvGrpSpPr/>
            <p:nvPr/>
          </p:nvGrpSpPr>
          <p:grpSpPr>
            <a:xfrm>
              <a:off x="8710346" y="3859533"/>
              <a:ext cx="2772192" cy="1162970"/>
              <a:chOff x="8488008" y="2830866"/>
              <a:chExt cx="2772192" cy="1162970"/>
            </a:xfrm>
          </p:grpSpPr>
          <p:sp>
            <p:nvSpPr>
              <p:cNvPr id="5" name="AutoShape 20">
                <a:extLst>
                  <a:ext uri="{FF2B5EF4-FFF2-40B4-BE49-F238E27FC236}">
                    <a16:creationId xmlns:a16="http://schemas.microsoft.com/office/drawing/2014/main" id="{CEFEB127-48CC-4D29-A06A-89F1F8F990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7342" y="3638650"/>
                <a:ext cx="925410" cy="194655"/>
              </a:xfrm>
              <a:prstGeom prst="leftRightArrow">
                <a:avLst>
                  <a:gd name="adj1" fmla="val 50000"/>
                  <a:gd name="adj2" fmla="val 122247"/>
                </a:avLst>
              </a:prstGeom>
              <a:solidFill>
                <a:srgbClr val="FFFFFF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800"/>
              </a:p>
            </p:txBody>
          </p:sp>
          <p:sp>
            <p:nvSpPr>
              <p:cNvPr id="6" name="AutoShape 21">
                <a:extLst>
                  <a:ext uri="{FF2B5EF4-FFF2-40B4-BE49-F238E27FC236}">
                    <a16:creationId xmlns:a16="http://schemas.microsoft.com/office/drawing/2014/main" id="{1DCFCD3C-E74C-43BA-8AB4-EA449A2DF2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8175" y="3078528"/>
                <a:ext cx="925410" cy="194655"/>
              </a:xfrm>
              <a:prstGeom prst="leftRightArrow">
                <a:avLst>
                  <a:gd name="adj1" fmla="val 50000"/>
                  <a:gd name="adj2" fmla="val 122247"/>
                </a:avLst>
              </a:prstGeom>
              <a:solidFill>
                <a:srgbClr val="FFFFFF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800"/>
              </a:p>
            </p:txBody>
          </p:sp>
          <p:sp>
            <p:nvSpPr>
              <p:cNvPr id="10" name="Text Box 32">
                <a:extLst>
                  <a:ext uri="{FF2B5EF4-FFF2-40B4-BE49-F238E27FC236}">
                    <a16:creationId xmlns:a16="http://schemas.microsoft.com/office/drawing/2014/main" id="{8D29167B-7BFC-43F9-ABBC-2465A78654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49572" y="3470616"/>
                <a:ext cx="34336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1" lang="en-US" altLang="zh-CN" sz="2800" dirty="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1" name="Text Box 33">
                <a:extLst>
                  <a:ext uri="{FF2B5EF4-FFF2-40B4-BE49-F238E27FC236}">
                    <a16:creationId xmlns:a16="http://schemas.microsoft.com/office/drawing/2014/main" id="{83A3DB31-7306-40CB-B6B2-C7D9DCCB51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88008" y="3417260"/>
                <a:ext cx="54373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1" lang="en-US" altLang="zh-CN" sz="2800" dirty="0">
                    <a:latin typeface="Times New Roman" panose="02020603050405020304" pitchFamily="18" charset="0"/>
                  </a:rPr>
                  <a:t>*p</a:t>
                </a:r>
              </a:p>
            </p:txBody>
          </p:sp>
          <p:sp>
            <p:nvSpPr>
              <p:cNvPr id="12" name="Text Box 34">
                <a:extLst>
                  <a:ext uri="{FF2B5EF4-FFF2-40B4-BE49-F238E27FC236}">
                    <a16:creationId xmlns:a16="http://schemas.microsoft.com/office/drawing/2014/main" id="{4CC1EB4B-308A-4B30-92D9-EB81C47557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37914" y="2882518"/>
                <a:ext cx="62228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1" lang="en-US" altLang="zh-CN" sz="2800" dirty="0">
                    <a:latin typeface="Times New Roman" panose="02020603050405020304" pitchFamily="18" charset="0"/>
                  </a:rPr>
                  <a:t>&amp;a</a:t>
                </a:r>
              </a:p>
            </p:txBody>
          </p:sp>
          <p:sp>
            <p:nvSpPr>
              <p:cNvPr id="13" name="Text Box 35">
                <a:extLst>
                  <a:ext uri="{FF2B5EF4-FFF2-40B4-BE49-F238E27FC236}">
                    <a16:creationId xmlns:a16="http://schemas.microsoft.com/office/drawing/2014/main" id="{1BC15F48-154D-4303-A746-2DC0F7B346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26588" y="2830866"/>
                <a:ext cx="27728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kumimoji="1" lang="en-US" altLang="zh-CN" sz="2800" dirty="0">
                    <a:latin typeface="Times New Roman" panose="02020603050405020304" pitchFamily="18" charset="0"/>
                  </a:rPr>
                  <a:t>p</a:t>
                </a:r>
              </a:p>
            </p:txBody>
          </p:sp>
        </p:grp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30F0EB5D-428A-46C5-BE40-07D1AF65AB4F}"/>
              </a:ext>
            </a:extLst>
          </p:cNvPr>
          <p:cNvSpPr txBox="1"/>
          <p:nvPr/>
        </p:nvSpPr>
        <p:spPr>
          <a:xfrm>
            <a:off x="958791" y="1926636"/>
            <a:ext cx="6114966" cy="41549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#include &lt;</a:t>
            </a:r>
            <a:r>
              <a:rPr lang="en-US" altLang="zh-CN" sz="22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stdio.h</a:t>
            </a:r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 main(void) {</a:t>
            </a:r>
          </a:p>
          <a:p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int a = 0;</a:t>
            </a:r>
          </a:p>
          <a:p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int *p;</a:t>
            </a:r>
          </a:p>
          <a:p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 = &amp;a;</a:t>
            </a:r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</a:t>
            </a:r>
            <a:r>
              <a:rPr lang="zh-CN" altLang="en-US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// p</a:t>
            </a:r>
            <a:r>
              <a:rPr lang="zh-CN" altLang="en-US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保存了变量</a:t>
            </a:r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的地址</a:t>
            </a:r>
            <a:endParaRPr lang="en-US" altLang="zh-CN" sz="22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22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("a = %d\n", a);      // </a:t>
            </a:r>
            <a:r>
              <a:rPr lang="zh-CN" altLang="en-US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直接引用</a:t>
            </a:r>
          </a:p>
          <a:p>
            <a:r>
              <a:rPr lang="zh-CN" altLang="en-US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22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("*p = %d\n", *p); // </a:t>
            </a:r>
            <a:r>
              <a:rPr lang="zh-CN" altLang="en-US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间接引用</a:t>
            </a:r>
          </a:p>
          <a:p>
            <a:r>
              <a:rPr lang="zh-CN" altLang="en-US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en-US" sz="2200" b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200" b="1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 = 3;</a:t>
            </a:r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// </a:t>
            </a:r>
            <a:r>
              <a:rPr lang="zh-CN" altLang="en-US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间接引用</a:t>
            </a:r>
          </a:p>
          <a:p>
            <a:r>
              <a:rPr lang="zh-CN" altLang="en-US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22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("a = %d\n", a);     // </a:t>
            </a:r>
            <a:r>
              <a:rPr lang="zh-CN" altLang="en-US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直接引用</a:t>
            </a:r>
          </a:p>
          <a:p>
            <a:r>
              <a:rPr lang="zh-CN" altLang="en-US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22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("*p = %d\n", *p); // </a:t>
            </a:r>
            <a:r>
              <a:rPr lang="zh-CN" altLang="en-US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间接引用</a:t>
            </a:r>
          </a:p>
          <a:p>
            <a:r>
              <a:rPr lang="zh-CN" altLang="en-US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return 0;</a:t>
            </a:r>
          </a:p>
          <a:p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0E14157-3E79-4CF1-BC5A-871942291C08}"/>
              </a:ext>
            </a:extLst>
          </p:cNvPr>
          <p:cNvSpPr txBox="1"/>
          <p:nvPr/>
        </p:nvSpPr>
        <p:spPr>
          <a:xfrm>
            <a:off x="7078441" y="369578"/>
            <a:ext cx="1672429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dirty="0"/>
              <a:t>运行结果：</a:t>
            </a:r>
            <a:endParaRPr lang="en-US" altLang="zh-CN" sz="2000" dirty="0"/>
          </a:p>
          <a:p>
            <a:r>
              <a:rPr lang="zh-CN" altLang="en-US" sz="2000" dirty="0"/>
              <a:t>a = 0</a:t>
            </a:r>
          </a:p>
          <a:p>
            <a:r>
              <a:rPr lang="zh-CN" altLang="en-US" sz="2000" dirty="0"/>
              <a:t>*p = 0</a:t>
            </a:r>
          </a:p>
          <a:p>
            <a:r>
              <a:rPr lang="zh-CN" altLang="en-US" sz="2000" dirty="0"/>
              <a:t>a = 3</a:t>
            </a:r>
          </a:p>
          <a:p>
            <a:r>
              <a:rPr lang="zh-CN" altLang="en-US" sz="2000" dirty="0"/>
              <a:t>*p =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4120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36914" y="1389743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4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指针与数组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436609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中国计量大学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6A48D-B8D4-430A-AE1C-E921A6F75A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786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6A48D-B8D4-430A-AE1C-E921A6F75A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025469E-60F0-BB5C-19E8-F005EDB5AE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256" y="2245804"/>
            <a:ext cx="4849876" cy="260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623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指针与数组的关系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42365"/>
            <a:ext cx="10636704" cy="5203190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数组</a:t>
            </a:r>
            <a:endParaRPr lang="en-US" altLang="zh-CN" dirty="0"/>
          </a:p>
          <a:p>
            <a:pPr lvl="1"/>
            <a:r>
              <a:rPr lang="zh-CN" altLang="en-US" dirty="0"/>
              <a:t>数组是一种连续存储相同类型元素的数据结构。数组中的元素在内存中按照顺序排列，通过索引来访问每个元素。</a:t>
            </a:r>
            <a:endParaRPr lang="en-US" altLang="zh-CN" dirty="0"/>
          </a:p>
          <a:p>
            <a:r>
              <a:rPr lang="zh-CN" altLang="en-US" dirty="0"/>
              <a:t>指针</a:t>
            </a:r>
            <a:endParaRPr lang="en-US" altLang="zh-CN" dirty="0"/>
          </a:p>
          <a:p>
            <a:pPr lvl="1"/>
            <a:r>
              <a:rPr lang="zh-CN" altLang="en-US" dirty="0"/>
              <a:t>指针是一种特殊的变量，其值是内存地址。可以使用地址进行数据的间接访问。</a:t>
            </a:r>
            <a:endParaRPr lang="en-US" altLang="zh-CN" dirty="0"/>
          </a:p>
          <a:p>
            <a:r>
              <a:rPr lang="zh-CN" altLang="en-US" b="0" i="0" dirty="0">
                <a:solidFill>
                  <a:srgbClr val="374151"/>
                </a:solidFill>
                <a:effectLst/>
                <a:latin typeface="Söhne"/>
              </a:rPr>
              <a:t>指针与数组的关系</a:t>
            </a:r>
            <a:endParaRPr lang="en-US" altLang="zh-CN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/>
            <a:r>
              <a:rPr lang="zh-CN" altLang="en-US" dirty="0"/>
              <a:t>数组名是一个指向数组首元素的指针</a:t>
            </a:r>
            <a:r>
              <a:rPr lang="en-US" altLang="zh-CN" dirty="0"/>
              <a:t>,</a:t>
            </a:r>
            <a:r>
              <a:rPr lang="zh-CN" altLang="en-US" dirty="0"/>
              <a:t>即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与</a:t>
            </a:r>
            <a:r>
              <a:rPr lang="en-US" altLang="zh-CN" dirty="0">
                <a:solidFill>
                  <a:srgbClr val="FF0000"/>
                </a:solidFill>
              </a:rPr>
              <a:t>&amp;a[0]</a:t>
            </a:r>
            <a:r>
              <a:rPr lang="zh-CN" altLang="en-US" dirty="0">
                <a:solidFill>
                  <a:srgbClr val="FF0000"/>
                </a:solidFill>
              </a:rPr>
              <a:t>等价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可以通过指针与整型的算术运算来遍历数组的不同元素。</a:t>
            </a:r>
            <a:endParaRPr lang="en-US" altLang="zh-CN" dirty="0"/>
          </a:p>
          <a:p>
            <a:pPr lvl="1"/>
            <a:r>
              <a:rPr lang="zh-CN" altLang="en-US" dirty="0"/>
              <a:t>数据实际存储在数组中，指针只是数组元素的地址。</a:t>
            </a:r>
          </a:p>
          <a:p>
            <a:pPr lvl="2"/>
            <a:endParaRPr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252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语言程序设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未标题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695" y="600710"/>
            <a:ext cx="5625465" cy="12090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168650" y="803275"/>
            <a:ext cx="6310630" cy="8153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锐字潮牌真言简2.0免费 大粗" panose="02020300000000000000" charset="-122"/>
                <a:ea typeface="锐字潮牌真言简2.0免费 大粗" panose="02020300000000000000" charset="-122"/>
                <a:cs typeface="锐字潮牌真言简2.0免费 大粗" panose="02020300000000000000" charset="-122"/>
              </a:rPr>
              <a:t>指针与数组</a:t>
            </a:r>
          </a:p>
        </p:txBody>
      </p:sp>
      <p:pic>
        <p:nvPicPr>
          <p:cNvPr id="7" name="图片 6" descr="未标1题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45" y="1618615"/>
            <a:ext cx="802640" cy="600075"/>
          </a:xfrm>
          <a:prstGeom prst="rect">
            <a:avLst/>
          </a:prstGeom>
        </p:spPr>
      </p:pic>
      <p:sp>
        <p:nvSpPr>
          <p:cNvPr id="8" name="内容占位符 2"/>
          <p:cNvSpPr txBox="1">
            <a:spLocks/>
          </p:cNvSpPr>
          <p:nvPr/>
        </p:nvSpPr>
        <p:spPr>
          <a:xfrm>
            <a:off x="1243584" y="1618615"/>
            <a:ext cx="10643616" cy="4507865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25000" lnSpcReduction="2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1" i="0" u="none" strike="noStrike" kern="1200" cap="none" spc="150" normalizeH="0" baseline="0" noProof="1" dirty="0">
                <a:solidFill>
                  <a:schemeClr val="accent2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96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【</a:t>
            </a:r>
            <a:r>
              <a:rPr kumimoji="0" lang="zh-CN" altLang="en-US" sz="96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指针与数组实例</a:t>
            </a:r>
            <a:r>
              <a:rPr kumimoji="0" lang="en-US" altLang="zh-CN" sz="96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】</a:t>
            </a:r>
            <a:r>
              <a:rPr kumimoji="0" lang="zh-CN" altLang="en-US" sz="96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使用指针遍历数组并输出所有元素。</a:t>
            </a:r>
          </a:p>
          <a:p>
            <a:pPr marL="0" lv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9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altLang="zh-CN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lv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main(void) {</a:t>
            </a:r>
          </a:p>
          <a:p>
            <a:pPr marL="0" lv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int a[] = {1, 2, 3, 4, 5}, *p;</a:t>
            </a:r>
          </a:p>
          <a:p>
            <a:pPr marL="0" lv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// </a:t>
            </a:r>
            <a:r>
              <a:rPr lang="zh-CN" altLang="en-US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使用指针遍历数组并输出元素</a:t>
            </a:r>
          </a:p>
          <a:p>
            <a:pPr marL="0" lv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zh-CN" altLang="en-US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(p = a; p &lt; a + 5; p++) {</a:t>
            </a:r>
          </a:p>
          <a:p>
            <a:pPr marL="0" lv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9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("a[%d]: %d\n", p - a, *p); // p – a</a:t>
            </a:r>
            <a:r>
              <a:rPr lang="zh-CN" altLang="en-US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是下标，*</a:t>
            </a:r>
            <a:r>
              <a:rPr lang="en-US" altLang="zh-CN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是元素的值</a:t>
            </a:r>
          </a:p>
          <a:p>
            <a:pPr marL="0" lv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pPr marL="0" lv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return 0;</a:t>
            </a:r>
          </a:p>
          <a:p>
            <a:pPr marL="0" lv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9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3014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6.2.1 </a:t>
            </a:r>
            <a:r>
              <a:rPr lang="zh-CN" altLang="en-US" dirty="0"/>
              <a:t>指针与一维数组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42365"/>
            <a:ext cx="10636704" cy="5203190"/>
          </a:xfrm>
        </p:spPr>
        <p:txBody>
          <a:bodyPr>
            <a:norm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指向一维数组元素的指针变量</a:t>
            </a:r>
          </a:p>
          <a:p>
            <a:pPr lvl="1"/>
            <a:r>
              <a:rPr lang="zh-CN" altLang="en-US" dirty="0"/>
              <a:t>数组名就是首地址的地址常量。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int a[] = {1, 2, 3, 4, 5}, *p;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B0FF"/>
                </a:solidFill>
              </a:rPr>
              <a:t>p = a;  // </a:t>
            </a:r>
            <a:r>
              <a:rPr lang="zh-CN" altLang="en-US" dirty="0">
                <a:solidFill>
                  <a:srgbClr val="00B0FF"/>
                </a:solidFill>
              </a:rPr>
              <a:t>等价于 </a:t>
            </a:r>
            <a:r>
              <a:rPr lang="en-US" altLang="zh-CN" dirty="0">
                <a:solidFill>
                  <a:srgbClr val="00B0FF"/>
                </a:solidFill>
              </a:rPr>
              <a:t>p = &amp;a[0];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4A4EDA7-8BC5-4B2E-A967-141444BCC875}"/>
              </a:ext>
            </a:extLst>
          </p:cNvPr>
          <p:cNvGrpSpPr/>
          <p:nvPr/>
        </p:nvGrpSpPr>
        <p:grpSpPr>
          <a:xfrm>
            <a:off x="8041604" y="1367863"/>
            <a:ext cx="3625458" cy="4436124"/>
            <a:chOff x="8551705" y="810026"/>
            <a:chExt cx="3141987" cy="4436124"/>
          </a:xfrm>
        </p:grpSpPr>
        <p:sp>
          <p:nvSpPr>
            <p:cNvPr id="117" name="Rectangle 11">
              <a:extLst>
                <a:ext uri="{FF2B5EF4-FFF2-40B4-BE49-F238E27FC236}">
                  <a16:creationId xmlns:a16="http://schemas.microsoft.com/office/drawing/2014/main" id="{CCB034A5-BD78-4E5C-8959-FDA41B7FA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1790" y="1368108"/>
              <a:ext cx="1800225" cy="384492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" name="Line 13">
              <a:extLst>
                <a:ext uri="{FF2B5EF4-FFF2-40B4-BE49-F238E27FC236}">
                  <a16:creationId xmlns:a16="http://schemas.microsoft.com/office/drawing/2014/main" id="{CB4DC9F7-4C41-4D94-B10E-06187622F1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1315" y="2084070"/>
              <a:ext cx="18002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9" name="Line 15">
              <a:extLst>
                <a:ext uri="{FF2B5EF4-FFF2-40B4-BE49-F238E27FC236}">
                  <a16:creationId xmlns:a16="http://schemas.microsoft.com/office/drawing/2014/main" id="{BC6FB46C-DC02-4BC7-BB7B-36D3522CDA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2902" y="2825433"/>
              <a:ext cx="18002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0" name="Line 17">
              <a:extLst>
                <a:ext uri="{FF2B5EF4-FFF2-40B4-BE49-F238E27FC236}">
                  <a16:creationId xmlns:a16="http://schemas.microsoft.com/office/drawing/2014/main" id="{5E55EA3D-7556-4ED5-9B09-C2260F21C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6552" y="3595370"/>
              <a:ext cx="18002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1" name="Line 19">
              <a:extLst>
                <a:ext uri="{FF2B5EF4-FFF2-40B4-BE49-F238E27FC236}">
                  <a16:creationId xmlns:a16="http://schemas.microsoft.com/office/drawing/2014/main" id="{1228EFAE-1B33-442A-BFDA-2FE077D04C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0807" y="4424045"/>
              <a:ext cx="18002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2" name="Text Box 21">
              <a:extLst>
                <a:ext uri="{FF2B5EF4-FFF2-40B4-BE49-F238E27FC236}">
                  <a16:creationId xmlns:a16="http://schemas.microsoft.com/office/drawing/2014/main" id="{79D2BFD5-321D-44FE-8360-976F65F0A9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51684" y="1410665"/>
              <a:ext cx="70989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a[0]</a:t>
              </a:r>
            </a:p>
          </p:txBody>
        </p:sp>
        <p:sp>
          <p:nvSpPr>
            <p:cNvPr id="123" name="Text Box 23">
              <a:extLst>
                <a:ext uri="{FF2B5EF4-FFF2-40B4-BE49-F238E27FC236}">
                  <a16:creationId xmlns:a16="http://schemas.microsoft.com/office/drawing/2014/main" id="{68681440-4E62-4E8A-AE6C-6143328B1E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58401" y="2155807"/>
              <a:ext cx="70989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a[1]</a:t>
              </a:r>
            </a:p>
          </p:txBody>
        </p:sp>
        <p:sp>
          <p:nvSpPr>
            <p:cNvPr id="124" name="Text Box 25">
              <a:extLst>
                <a:ext uri="{FF2B5EF4-FFF2-40B4-BE49-F238E27FC236}">
                  <a16:creationId xmlns:a16="http://schemas.microsoft.com/office/drawing/2014/main" id="{15AEF403-CFDD-4A3F-B66E-151E49DC5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30902" y="2668277"/>
              <a:ext cx="592138" cy="954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a[2]</a:t>
              </a:r>
            </a:p>
          </p:txBody>
        </p:sp>
        <p:sp>
          <p:nvSpPr>
            <p:cNvPr id="125" name="Text Box 27">
              <a:extLst>
                <a:ext uri="{FF2B5EF4-FFF2-40B4-BE49-F238E27FC236}">
                  <a16:creationId xmlns:a16="http://schemas.microsoft.com/office/drawing/2014/main" id="{6C008EFD-F7B2-476A-9611-826766D60A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83801" y="3738948"/>
              <a:ext cx="70989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a[3]</a:t>
              </a:r>
            </a:p>
          </p:txBody>
        </p:sp>
        <p:sp>
          <p:nvSpPr>
            <p:cNvPr id="126" name="Text Box 30">
              <a:extLst>
                <a:ext uri="{FF2B5EF4-FFF2-40B4-BE49-F238E27FC236}">
                  <a16:creationId xmlns:a16="http://schemas.microsoft.com/office/drawing/2014/main" id="{1FC36D8F-C4F7-4971-97D8-29F4C6C9A7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30902" y="4292043"/>
              <a:ext cx="592137" cy="954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a[4]</a:t>
              </a:r>
            </a:p>
          </p:txBody>
        </p:sp>
        <p:sp>
          <p:nvSpPr>
            <p:cNvPr id="127" name="Text Box 31">
              <a:extLst>
                <a:ext uri="{FF2B5EF4-FFF2-40B4-BE49-F238E27FC236}">
                  <a16:creationId xmlns:a16="http://schemas.microsoft.com/office/drawing/2014/main" id="{4125E8C0-A244-456D-8BEA-EC72A6DE6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0550" y="810026"/>
              <a:ext cx="98270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zh-CN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数组</a:t>
              </a:r>
              <a:r>
                <a:rPr kumimoji="1" lang="en-US" altLang="zh-CN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8" name="Line 32">
              <a:extLst>
                <a:ext uri="{FF2B5EF4-FFF2-40B4-BE49-F238E27FC236}">
                  <a16:creationId xmlns:a16="http://schemas.microsoft.com/office/drawing/2014/main" id="{53E93EE2-498C-493C-937E-C938F1F134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94815" y="1385569"/>
              <a:ext cx="348561" cy="793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9" name="Text Box 33">
              <a:extLst>
                <a:ext uri="{FF2B5EF4-FFF2-40B4-BE49-F238E27FC236}">
                  <a16:creationId xmlns:a16="http://schemas.microsoft.com/office/drawing/2014/main" id="{CF7E6AE7-C460-4682-B372-3B4E42C34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51705" y="1100255"/>
              <a:ext cx="34856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</a:p>
          </p:txBody>
        </p:sp>
        <p:sp>
          <p:nvSpPr>
            <p:cNvPr id="137" name="Line 41">
              <a:extLst>
                <a:ext uri="{FF2B5EF4-FFF2-40B4-BE49-F238E27FC236}">
                  <a16:creationId xmlns:a16="http://schemas.microsoft.com/office/drawing/2014/main" id="{5ED1C9CE-E782-4A65-AFBD-C5A5983AE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9123" y="1545908"/>
              <a:ext cx="1798637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8" name="Line 42">
              <a:extLst>
                <a:ext uri="{FF2B5EF4-FFF2-40B4-BE49-F238E27FC236}">
                  <a16:creationId xmlns:a16="http://schemas.microsoft.com/office/drawing/2014/main" id="{B1A4B496-F16F-4808-8C6B-A3E063DEC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9123" y="1931670"/>
              <a:ext cx="1798637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9" name="Line 43">
              <a:extLst>
                <a:ext uri="{FF2B5EF4-FFF2-40B4-BE49-F238E27FC236}">
                  <a16:creationId xmlns:a16="http://schemas.microsoft.com/office/drawing/2014/main" id="{50958525-7EC7-48FF-BAE1-236325942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9123" y="2282508"/>
              <a:ext cx="1798637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0" name="Line 44">
              <a:extLst>
                <a:ext uri="{FF2B5EF4-FFF2-40B4-BE49-F238E27FC236}">
                  <a16:creationId xmlns:a16="http://schemas.microsoft.com/office/drawing/2014/main" id="{F03B78DB-4774-4BA5-979D-020C932A4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9123" y="2652395"/>
              <a:ext cx="1798637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1" name="Line 45">
              <a:extLst>
                <a:ext uri="{FF2B5EF4-FFF2-40B4-BE49-F238E27FC236}">
                  <a16:creationId xmlns:a16="http://schemas.microsoft.com/office/drawing/2014/main" id="{FEE46E4F-C89C-4CAF-801D-099B5EFDFA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2519" y="3036570"/>
              <a:ext cx="1798637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2" name="Line 46">
              <a:extLst>
                <a:ext uri="{FF2B5EF4-FFF2-40B4-BE49-F238E27FC236}">
                  <a16:creationId xmlns:a16="http://schemas.microsoft.com/office/drawing/2014/main" id="{B29ED04D-D962-40B5-98FA-2C00BD9C5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9123" y="3423920"/>
              <a:ext cx="1798637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3" name="Line 47">
              <a:extLst>
                <a:ext uri="{FF2B5EF4-FFF2-40B4-BE49-F238E27FC236}">
                  <a16:creationId xmlns:a16="http://schemas.microsoft.com/office/drawing/2014/main" id="{F33388EC-ADA5-42AD-9C4E-561847AD9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9123" y="4249420"/>
              <a:ext cx="1798637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4" name="Line 48">
              <a:extLst>
                <a:ext uri="{FF2B5EF4-FFF2-40B4-BE49-F238E27FC236}">
                  <a16:creationId xmlns:a16="http://schemas.microsoft.com/office/drawing/2014/main" id="{2D650D0F-0A91-48D9-9780-B1D3DC16D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9123" y="4635183"/>
              <a:ext cx="1798637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5" name="Line 49">
              <a:extLst>
                <a:ext uri="{FF2B5EF4-FFF2-40B4-BE49-F238E27FC236}">
                  <a16:creationId xmlns:a16="http://schemas.microsoft.com/office/drawing/2014/main" id="{D562D771-BB18-4311-878E-4DFBCB0C21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2519" y="5022533"/>
              <a:ext cx="1798637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6" name="Line 50">
              <a:extLst>
                <a:ext uri="{FF2B5EF4-FFF2-40B4-BE49-F238E27FC236}">
                  <a16:creationId xmlns:a16="http://schemas.microsoft.com/office/drawing/2014/main" id="{94B2BA3C-6B46-4397-97E1-B999F6196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9123" y="3811270"/>
              <a:ext cx="1798637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8" name="Line 55">
              <a:extLst>
                <a:ext uri="{FF2B5EF4-FFF2-40B4-BE49-F238E27FC236}">
                  <a16:creationId xmlns:a16="http://schemas.microsoft.com/office/drawing/2014/main" id="{6263E6AE-69BE-44E6-A39A-9CA17AFF4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3027" y="2457133"/>
              <a:ext cx="1798637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9" name="Line 56">
              <a:extLst>
                <a:ext uri="{FF2B5EF4-FFF2-40B4-BE49-F238E27FC236}">
                  <a16:creationId xmlns:a16="http://schemas.microsoft.com/office/drawing/2014/main" id="{46F1AA47-7D62-40A9-9AEF-C1B1D23AF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4965" y="1733233"/>
              <a:ext cx="1798637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0" name="Line 57">
              <a:extLst>
                <a:ext uri="{FF2B5EF4-FFF2-40B4-BE49-F238E27FC236}">
                  <a16:creationId xmlns:a16="http://schemas.microsoft.com/office/drawing/2014/main" id="{B5655229-3C78-406E-AE50-9F181D0220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4965" y="3227070"/>
              <a:ext cx="1798637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1" name="Line 58">
              <a:extLst>
                <a:ext uri="{FF2B5EF4-FFF2-40B4-BE49-F238E27FC236}">
                  <a16:creationId xmlns:a16="http://schemas.microsoft.com/office/drawing/2014/main" id="{9E4FF0E8-B27D-478B-98EC-6BA5150422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2772" y="4019233"/>
              <a:ext cx="1798637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2" name="Line 59">
              <a:extLst>
                <a:ext uri="{FF2B5EF4-FFF2-40B4-BE49-F238E27FC236}">
                  <a16:creationId xmlns:a16="http://schemas.microsoft.com/office/drawing/2014/main" id="{C6ED7118-6E61-4E4A-8A44-5A9EBB9D89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3377" y="4809808"/>
              <a:ext cx="1798638" cy="0"/>
            </a:xfrm>
            <a:prstGeom prst="line">
              <a:avLst/>
            </a:prstGeom>
            <a:noFill/>
            <a:ln w="28575">
              <a:solidFill>
                <a:srgbClr val="0070C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60886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指针与一维数组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42365"/>
            <a:ext cx="10636704" cy="5203190"/>
          </a:xfrm>
        </p:spPr>
        <p:txBody>
          <a:bodyPr>
            <a:norm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指针的加减运算</a:t>
            </a:r>
          </a:p>
          <a:p>
            <a:pPr lvl="1"/>
            <a:endParaRPr lang="zh-CN" altLang="en-US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5D9C846-A963-428E-9819-7B0873060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239741"/>
              </p:ext>
            </p:extLst>
          </p:nvPr>
        </p:nvGraphicFramePr>
        <p:xfrm>
          <a:off x="719772" y="2219388"/>
          <a:ext cx="10537010" cy="36493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1975">
                  <a:extLst>
                    <a:ext uri="{9D8B030D-6E8A-4147-A177-3AD203B41FA5}">
                      <a16:colId xmlns:a16="http://schemas.microsoft.com/office/drawing/2014/main" val="2946587038"/>
                    </a:ext>
                  </a:extLst>
                </a:gridCol>
                <a:gridCol w="7435035">
                  <a:extLst>
                    <a:ext uri="{9D8B030D-6E8A-4147-A177-3AD203B41FA5}">
                      <a16:colId xmlns:a16="http://schemas.microsoft.com/office/drawing/2014/main" val="588647039"/>
                    </a:ext>
                  </a:extLst>
                </a:gridCol>
              </a:tblGrid>
              <a:tr h="159026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表达式</a:t>
                      </a: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（其中</a:t>
                      </a:r>
                      <a:r>
                        <a:rPr lang="en-US" sz="2400" b="1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p,p1,p2</a:t>
                      </a:r>
                      <a:r>
                        <a:rPr lang="zh-CN" sz="2400" b="1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为指针，</a:t>
                      </a:r>
                      <a:r>
                        <a:rPr lang="en-US" sz="2400" b="1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i</a:t>
                      </a:r>
                      <a:r>
                        <a:rPr lang="zh-CN" sz="2400" b="1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为整型变量）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含义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75208474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 + i</a:t>
                      </a:r>
                      <a:endParaRPr lang="zh-CN" sz="2400" b="1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从指针</a:t>
                      </a:r>
                      <a:r>
                        <a:rPr lang="en-US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开始，向后偏移</a:t>
                      </a:r>
                      <a:r>
                        <a:rPr lang="en-US" sz="2400" b="1" kern="100" dirty="0" err="1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i</a:t>
                      </a:r>
                      <a:r>
                        <a:rPr lang="zh-CN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个元素的地址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20766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 - i</a:t>
                      </a:r>
                      <a:endParaRPr lang="zh-CN" sz="2400" b="1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从指针</a:t>
                      </a:r>
                      <a:r>
                        <a:rPr lang="en-US" sz="2400" b="1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sz="2400" b="1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开始，向前偏移</a:t>
                      </a:r>
                      <a:r>
                        <a:rPr lang="en-US" sz="2400" b="1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i</a:t>
                      </a:r>
                      <a:r>
                        <a:rPr lang="zh-CN" sz="2400" b="1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个元素的地址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5094874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p++, p--</a:t>
                      </a:r>
                      <a:endParaRPr lang="zh-CN" sz="2400" b="1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指针</a:t>
                      </a:r>
                      <a:r>
                        <a:rPr lang="en-US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zh-CN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自身向后</a:t>
                      </a:r>
                      <a:r>
                        <a:rPr lang="en-US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向前偏移</a:t>
                      </a:r>
                      <a:r>
                        <a:rPr lang="en-US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r>
                        <a:rPr lang="zh-CN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个元素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2045815"/>
                  </a:ext>
                </a:extLst>
              </a:tr>
              <a:tr h="46880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p2 - p1</a:t>
                      </a:r>
                      <a:endParaRPr lang="zh-CN" sz="2400" b="1" kern="100"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计算</a:t>
                      </a:r>
                      <a:r>
                        <a:rPr lang="en-US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p2</a:t>
                      </a:r>
                      <a:r>
                        <a:rPr lang="zh-CN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与</a:t>
                      </a:r>
                      <a:r>
                        <a:rPr lang="en-US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p1</a:t>
                      </a:r>
                      <a:r>
                        <a:rPr lang="zh-CN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两个指针间的偏移量，即相差多少个元素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41579363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p1 + p2</a:t>
                      </a:r>
                      <a:r>
                        <a:rPr lang="zh-CN" sz="2400" b="1" kern="100" dirty="0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（错误）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不允许</a:t>
                      </a:r>
                      <a:r>
                        <a:rPr lang="zh-CN" sz="2400" b="1" kern="100" dirty="0"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两个指针相加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50225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92924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指针与一维数组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42365"/>
            <a:ext cx="10636704" cy="5203190"/>
          </a:xfrm>
        </p:spPr>
        <p:txBody>
          <a:bodyPr>
            <a:norm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指针的加减运算</a:t>
            </a:r>
          </a:p>
          <a:p>
            <a:pPr lvl="1"/>
            <a:endParaRPr lang="zh-CN" altLang="en-US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  <p:sp>
        <p:nvSpPr>
          <p:cNvPr id="84" name="Text Box 4">
            <a:extLst>
              <a:ext uri="{FF2B5EF4-FFF2-40B4-BE49-F238E27FC236}">
                <a16:creationId xmlns:a16="http://schemas.microsoft.com/office/drawing/2014/main" id="{53CB693D-6453-4745-990D-1CC292B2D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50" y="1899682"/>
            <a:ext cx="5297167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例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	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假设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p = &amp;a[0];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	</a:t>
            </a:r>
            <a:r>
              <a:rPr kumimoji="1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则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p+1</a:t>
            </a:r>
            <a:r>
              <a:rPr kumimoji="1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指向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a[1]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</a:t>
            </a:r>
            <a:endParaRPr kumimoji="1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	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即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p+1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 p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往后挪（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14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）字节</a:t>
            </a:r>
          </a:p>
        </p:txBody>
      </p:sp>
      <p:sp>
        <p:nvSpPr>
          <p:cNvPr id="85" name="Text Box 5">
            <a:extLst>
              <a:ext uri="{FF2B5EF4-FFF2-40B4-BE49-F238E27FC236}">
                <a16:creationId xmlns:a16="http://schemas.microsoft.com/office/drawing/2014/main" id="{8C42F6D0-23F1-453F-A1F2-D4F516B9E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353" y="2968704"/>
            <a:ext cx="3248005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例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	int *p = &amp;a[2];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	p++;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	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*p=1;</a:t>
            </a:r>
          </a:p>
        </p:txBody>
      </p:sp>
      <p:sp>
        <p:nvSpPr>
          <p:cNvPr id="86" name="Text Box 6">
            <a:extLst>
              <a:ext uri="{FF2B5EF4-FFF2-40B4-BE49-F238E27FC236}">
                <a16:creationId xmlns:a16="http://schemas.microsoft.com/office/drawing/2014/main" id="{DB2F28A0-418C-43BE-8CE3-152DD6325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56" y="3977640"/>
            <a:ext cx="3668395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例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	int *p1=&amp;a[2];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	int *p2=&amp;a[4];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	</a:t>
            </a:r>
            <a:r>
              <a:rPr kumimoji="1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则：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p2-p1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为多少？</a:t>
            </a:r>
            <a:endParaRPr kumimoji="1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87" name="Rectangle 11">
            <a:extLst>
              <a:ext uri="{FF2B5EF4-FFF2-40B4-BE49-F238E27FC236}">
                <a16:creationId xmlns:a16="http://schemas.microsoft.com/office/drawing/2014/main" id="{108CB1F1-4061-4874-A55B-D0D23BD4D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0298" y="2321878"/>
            <a:ext cx="1800225" cy="38449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88" name="Line 13">
            <a:extLst>
              <a:ext uri="{FF2B5EF4-FFF2-40B4-BE49-F238E27FC236}">
                <a16:creationId xmlns:a16="http://schemas.microsoft.com/office/drawing/2014/main" id="{13ED2763-6A6B-42ED-80B7-96386892844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9823" y="3037840"/>
            <a:ext cx="18002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89" name="Line 15">
            <a:extLst>
              <a:ext uri="{FF2B5EF4-FFF2-40B4-BE49-F238E27FC236}">
                <a16:creationId xmlns:a16="http://schemas.microsoft.com/office/drawing/2014/main" id="{515CE0D5-BB96-4810-81F0-95CD966564A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41410" y="3779203"/>
            <a:ext cx="18002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0" name="Line 17">
            <a:extLst>
              <a:ext uri="{FF2B5EF4-FFF2-40B4-BE49-F238E27FC236}">
                <a16:creationId xmlns:a16="http://schemas.microsoft.com/office/drawing/2014/main" id="{9DD17634-A087-4A74-9EC7-F2F9178987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5060" y="4549140"/>
            <a:ext cx="18002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1" name="Line 19">
            <a:extLst>
              <a:ext uri="{FF2B5EF4-FFF2-40B4-BE49-F238E27FC236}">
                <a16:creationId xmlns:a16="http://schemas.microsoft.com/office/drawing/2014/main" id="{697C7624-AA2C-421A-883E-FB6BE80C0B3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44903" y="5377815"/>
            <a:ext cx="18002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2" name="Text Box 21">
            <a:extLst>
              <a:ext uri="{FF2B5EF4-FFF2-40B4-BE49-F238E27FC236}">
                <a16:creationId xmlns:a16="http://schemas.microsoft.com/office/drawing/2014/main" id="{D3DF031B-73D6-4DCE-8EB0-33E3E05DB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3938" y="2412843"/>
            <a:ext cx="1584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a[0],p[0]</a:t>
            </a:r>
          </a:p>
        </p:txBody>
      </p:sp>
      <p:sp>
        <p:nvSpPr>
          <p:cNvPr id="97" name="Text Box 31">
            <a:extLst>
              <a:ext uri="{FF2B5EF4-FFF2-40B4-BE49-F238E27FC236}">
                <a16:creationId xmlns:a16="http://schemas.microsoft.com/office/drawing/2014/main" id="{2AB389CE-DA88-4A44-BDF5-5583DD836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0632" y="1827552"/>
            <a:ext cx="95891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</a:t>
            </a:r>
            <a:r>
              <a:rPr kumimoji="1" lang="zh-CN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数组</a:t>
            </a:r>
            <a:endParaRPr kumimoji="1" lang="zh-CN" altLang="en-US" sz="2400" i="0" u="none" strike="noStrike" kern="1200" cap="none" spc="0" normalizeH="0" baseline="0" noProof="0" dirty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8" name="Line 32">
            <a:extLst>
              <a:ext uri="{FF2B5EF4-FFF2-40B4-BE49-F238E27FC236}">
                <a16:creationId xmlns:a16="http://schemas.microsoft.com/office/drawing/2014/main" id="{40C8B3F0-B80E-4B3B-BC4E-9740E2B23802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3078" y="2321878"/>
            <a:ext cx="6000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9" name="Text Box 33">
            <a:extLst>
              <a:ext uri="{FF2B5EF4-FFF2-40B4-BE49-F238E27FC236}">
                <a16:creationId xmlns:a16="http://schemas.microsoft.com/office/drawing/2014/main" id="{D7DA7E2B-C774-4210-A47C-91554168A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5884" y="2053695"/>
            <a:ext cx="6511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p,a</a:t>
            </a:r>
            <a:endParaRPr kumimoji="1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00" name="Line 34">
            <a:extLst>
              <a:ext uri="{FF2B5EF4-FFF2-40B4-BE49-F238E27FC236}">
                <a16:creationId xmlns:a16="http://schemas.microsoft.com/office/drawing/2014/main" id="{FD81C83E-570D-4235-B962-FFF31C2A41B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1810" y="3037840"/>
            <a:ext cx="58261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01" name="Text Box 35">
            <a:extLst>
              <a:ext uri="{FF2B5EF4-FFF2-40B4-BE49-F238E27FC236}">
                <a16:creationId xmlns:a16="http://schemas.microsoft.com/office/drawing/2014/main" id="{946E74BB-64A3-443C-A33B-BEED15A45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7118" y="2795166"/>
            <a:ext cx="12731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p+1,a+1</a:t>
            </a:r>
          </a:p>
        </p:txBody>
      </p:sp>
      <p:sp>
        <p:nvSpPr>
          <p:cNvPr id="102" name="Line 36">
            <a:extLst>
              <a:ext uri="{FF2B5EF4-FFF2-40B4-BE49-F238E27FC236}">
                <a16:creationId xmlns:a16="http://schemas.microsoft.com/office/drawing/2014/main" id="{D1B8C439-0DA2-4599-A0B8-2C5D78A0A898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5460" y="3779202"/>
            <a:ext cx="5651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03" name="Text Box 37">
            <a:extLst>
              <a:ext uri="{FF2B5EF4-FFF2-40B4-BE49-F238E27FC236}">
                <a16:creationId xmlns:a16="http://schemas.microsoft.com/office/drawing/2014/main" id="{DC8D5E75-E9B7-4B5A-BB64-23CD0E9B3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938" y="3526810"/>
            <a:ext cx="12731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p+2,a+2</a:t>
            </a:r>
          </a:p>
        </p:txBody>
      </p:sp>
      <p:sp>
        <p:nvSpPr>
          <p:cNvPr id="104" name="Line 38">
            <a:extLst>
              <a:ext uri="{FF2B5EF4-FFF2-40B4-BE49-F238E27FC236}">
                <a16:creationId xmlns:a16="http://schemas.microsoft.com/office/drawing/2014/main" id="{3895D012-E48C-4FE4-83E8-C0084671D5D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3078" y="5377815"/>
            <a:ext cx="58261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05" name="Text Box 39">
            <a:extLst>
              <a:ext uri="{FF2B5EF4-FFF2-40B4-BE49-F238E27FC236}">
                <a16:creationId xmlns:a16="http://schemas.microsoft.com/office/drawing/2014/main" id="{2742EC01-6257-4B9E-B22E-7E5533D57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541" y="5127288"/>
            <a:ext cx="12731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p+4,a+4</a:t>
            </a:r>
          </a:p>
        </p:txBody>
      </p:sp>
      <p:sp>
        <p:nvSpPr>
          <p:cNvPr id="107" name="Line 41">
            <a:extLst>
              <a:ext uri="{FF2B5EF4-FFF2-40B4-BE49-F238E27FC236}">
                <a16:creationId xmlns:a16="http://schemas.microsoft.com/office/drawing/2014/main" id="{19A18045-26B5-4392-8BDA-110D3916B84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4423" y="2499678"/>
            <a:ext cx="1798637" cy="0"/>
          </a:xfrm>
          <a:prstGeom prst="line">
            <a:avLst/>
          </a:prstGeom>
          <a:noFill/>
          <a:ln w="28575">
            <a:solidFill>
              <a:srgbClr val="1D528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08" name="Line 42">
            <a:extLst>
              <a:ext uri="{FF2B5EF4-FFF2-40B4-BE49-F238E27FC236}">
                <a16:creationId xmlns:a16="http://schemas.microsoft.com/office/drawing/2014/main" id="{AE3DD175-FD8F-4B03-998B-E3F5FFB04D0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4423" y="2885440"/>
            <a:ext cx="1798637" cy="0"/>
          </a:xfrm>
          <a:prstGeom prst="line">
            <a:avLst/>
          </a:prstGeom>
          <a:noFill/>
          <a:ln w="28575">
            <a:solidFill>
              <a:srgbClr val="1D528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09" name="Line 43">
            <a:extLst>
              <a:ext uri="{FF2B5EF4-FFF2-40B4-BE49-F238E27FC236}">
                <a16:creationId xmlns:a16="http://schemas.microsoft.com/office/drawing/2014/main" id="{049DCE64-1DE6-4619-9921-965CB0756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4423" y="3236278"/>
            <a:ext cx="1798637" cy="0"/>
          </a:xfrm>
          <a:prstGeom prst="line">
            <a:avLst/>
          </a:prstGeom>
          <a:noFill/>
          <a:ln w="28575">
            <a:solidFill>
              <a:srgbClr val="1D528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10" name="Line 44">
            <a:extLst>
              <a:ext uri="{FF2B5EF4-FFF2-40B4-BE49-F238E27FC236}">
                <a16:creationId xmlns:a16="http://schemas.microsoft.com/office/drawing/2014/main" id="{A729AB0E-87FC-48E5-AE48-9885A6FB5A74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4423" y="3606165"/>
            <a:ext cx="1798637" cy="0"/>
          </a:xfrm>
          <a:prstGeom prst="line">
            <a:avLst/>
          </a:prstGeom>
          <a:noFill/>
          <a:ln w="28575">
            <a:solidFill>
              <a:srgbClr val="1D528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11" name="Line 45">
            <a:extLst>
              <a:ext uri="{FF2B5EF4-FFF2-40B4-BE49-F238E27FC236}">
                <a16:creationId xmlns:a16="http://schemas.microsoft.com/office/drawing/2014/main" id="{BE884DE9-1F84-4F12-8D29-DD921DE4F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4423" y="3990340"/>
            <a:ext cx="1798637" cy="0"/>
          </a:xfrm>
          <a:prstGeom prst="line">
            <a:avLst/>
          </a:prstGeom>
          <a:noFill/>
          <a:ln w="28575">
            <a:solidFill>
              <a:srgbClr val="1D528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12" name="Line 46">
            <a:extLst>
              <a:ext uri="{FF2B5EF4-FFF2-40B4-BE49-F238E27FC236}">
                <a16:creationId xmlns:a16="http://schemas.microsoft.com/office/drawing/2014/main" id="{A69D62A6-F0F1-44C7-A456-DEDCC7837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4423" y="4377690"/>
            <a:ext cx="1798637" cy="0"/>
          </a:xfrm>
          <a:prstGeom prst="line">
            <a:avLst/>
          </a:prstGeom>
          <a:noFill/>
          <a:ln w="28575">
            <a:solidFill>
              <a:srgbClr val="1D528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13" name="Line 47">
            <a:extLst>
              <a:ext uri="{FF2B5EF4-FFF2-40B4-BE49-F238E27FC236}">
                <a16:creationId xmlns:a16="http://schemas.microsoft.com/office/drawing/2014/main" id="{F1CADD83-C337-4A1C-A934-9D6F98AC4A9B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4423" y="5203190"/>
            <a:ext cx="1798637" cy="0"/>
          </a:xfrm>
          <a:prstGeom prst="line">
            <a:avLst/>
          </a:prstGeom>
          <a:noFill/>
          <a:ln w="28575">
            <a:solidFill>
              <a:srgbClr val="1D528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14" name="Line 48">
            <a:extLst>
              <a:ext uri="{FF2B5EF4-FFF2-40B4-BE49-F238E27FC236}">
                <a16:creationId xmlns:a16="http://schemas.microsoft.com/office/drawing/2014/main" id="{69D12624-BE75-41FE-9B5D-FE461CAB6C14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4423" y="5588953"/>
            <a:ext cx="1798637" cy="0"/>
          </a:xfrm>
          <a:prstGeom prst="line">
            <a:avLst/>
          </a:prstGeom>
          <a:noFill/>
          <a:ln w="28575">
            <a:solidFill>
              <a:srgbClr val="1D528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15" name="Line 49">
            <a:extLst>
              <a:ext uri="{FF2B5EF4-FFF2-40B4-BE49-F238E27FC236}">
                <a16:creationId xmlns:a16="http://schemas.microsoft.com/office/drawing/2014/main" id="{8BC7E3C3-A5ED-4D4F-8F25-7547B9E8D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4423" y="5976303"/>
            <a:ext cx="1798637" cy="0"/>
          </a:xfrm>
          <a:prstGeom prst="line">
            <a:avLst/>
          </a:prstGeom>
          <a:noFill/>
          <a:ln w="28575">
            <a:solidFill>
              <a:srgbClr val="1D528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16" name="Line 50">
            <a:extLst>
              <a:ext uri="{FF2B5EF4-FFF2-40B4-BE49-F238E27FC236}">
                <a16:creationId xmlns:a16="http://schemas.microsoft.com/office/drawing/2014/main" id="{057C17DF-21BF-45C3-9870-C7EEAFB0247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0773" y="4765040"/>
            <a:ext cx="1798637" cy="0"/>
          </a:xfrm>
          <a:prstGeom prst="line">
            <a:avLst/>
          </a:prstGeom>
          <a:noFill/>
          <a:ln w="28575">
            <a:solidFill>
              <a:srgbClr val="1D528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17" name="Text Box 51">
            <a:extLst>
              <a:ext uri="{FF2B5EF4-FFF2-40B4-BE49-F238E27FC236}">
                <a16:creationId xmlns:a16="http://schemas.microsoft.com/office/drawing/2014/main" id="{D94F52BA-9596-4BF9-81A3-489040B7C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4360" y="4730116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</a:t>
            </a:r>
          </a:p>
        </p:txBody>
      </p:sp>
      <p:sp>
        <p:nvSpPr>
          <p:cNvPr id="118" name="Line 55">
            <a:extLst>
              <a:ext uri="{FF2B5EF4-FFF2-40B4-BE49-F238E27FC236}">
                <a16:creationId xmlns:a16="http://schemas.microsoft.com/office/drawing/2014/main" id="{26582DC9-2C7E-4A4B-84D5-1A8525D9A97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4423" y="3410903"/>
            <a:ext cx="1798637" cy="0"/>
          </a:xfrm>
          <a:prstGeom prst="line">
            <a:avLst/>
          </a:prstGeom>
          <a:noFill/>
          <a:ln w="28575">
            <a:solidFill>
              <a:srgbClr val="1D528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19" name="Line 56">
            <a:extLst>
              <a:ext uri="{FF2B5EF4-FFF2-40B4-BE49-F238E27FC236}">
                <a16:creationId xmlns:a16="http://schemas.microsoft.com/office/drawing/2014/main" id="{338588A6-9CB3-4CA2-A67E-82D9EBDF082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473" y="2687003"/>
            <a:ext cx="1798637" cy="0"/>
          </a:xfrm>
          <a:prstGeom prst="line">
            <a:avLst/>
          </a:prstGeom>
          <a:noFill/>
          <a:ln w="28575">
            <a:solidFill>
              <a:srgbClr val="1D528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0" name="Line 57">
            <a:extLst>
              <a:ext uri="{FF2B5EF4-FFF2-40B4-BE49-F238E27FC236}">
                <a16:creationId xmlns:a16="http://schemas.microsoft.com/office/drawing/2014/main" id="{C9BF018B-F705-44D5-A3BB-85E61130841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3473" y="4180840"/>
            <a:ext cx="1798637" cy="0"/>
          </a:xfrm>
          <a:prstGeom prst="line">
            <a:avLst/>
          </a:prstGeom>
          <a:noFill/>
          <a:ln w="28575">
            <a:solidFill>
              <a:srgbClr val="1D528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1" name="Line 58">
            <a:extLst>
              <a:ext uri="{FF2B5EF4-FFF2-40B4-BE49-F238E27FC236}">
                <a16:creationId xmlns:a16="http://schemas.microsoft.com/office/drawing/2014/main" id="{E2B7D195-6AA9-4179-B8C4-F5CBEE4E7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4423" y="4973003"/>
            <a:ext cx="1798637" cy="0"/>
          </a:xfrm>
          <a:prstGeom prst="line">
            <a:avLst/>
          </a:prstGeom>
          <a:noFill/>
          <a:ln w="28575">
            <a:solidFill>
              <a:srgbClr val="1D528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2" name="Line 59">
            <a:extLst>
              <a:ext uri="{FF2B5EF4-FFF2-40B4-BE49-F238E27FC236}">
                <a16:creationId xmlns:a16="http://schemas.microsoft.com/office/drawing/2014/main" id="{3163AE59-DFEF-4600-A978-492B412EDAC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885" y="5763578"/>
            <a:ext cx="1798638" cy="0"/>
          </a:xfrm>
          <a:prstGeom prst="line">
            <a:avLst/>
          </a:prstGeom>
          <a:noFill/>
          <a:ln w="28575">
            <a:solidFill>
              <a:srgbClr val="1D528D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3" name="TextBox 42">
            <a:extLst>
              <a:ext uri="{FF2B5EF4-FFF2-40B4-BE49-F238E27FC236}">
                <a16:creationId xmlns:a16="http://schemas.microsoft.com/office/drawing/2014/main" id="{B5BA5652-9B89-4F34-9699-76601B1BE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9214" y="4654749"/>
            <a:ext cx="28733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4" name="Text Box 6">
            <a:extLst>
              <a:ext uri="{FF2B5EF4-FFF2-40B4-BE49-F238E27FC236}">
                <a16:creationId xmlns:a16="http://schemas.microsoft.com/office/drawing/2014/main" id="{6390F2F6-1998-4F20-8618-1467B1416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25" y="5203190"/>
            <a:ext cx="5921296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注意：</a:t>
            </a:r>
            <a:endParaRPr kumimoji="1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数组名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也是指针，同样可以进行</a:t>
            </a:r>
            <a:r>
              <a:rPr kumimoji="1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a+i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操作。</a:t>
            </a:r>
            <a:endParaRPr kumimoji="1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指针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	p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也可以使用下标，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p[</a:t>
            </a:r>
            <a:r>
              <a:rPr kumimoji="1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i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]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  *(p+i)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。实际指的就是指针偏移后间接访问元素值。</a:t>
            </a:r>
            <a:endParaRPr kumimoji="1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5" name="Text Box 33">
            <a:extLst>
              <a:ext uri="{FF2B5EF4-FFF2-40B4-BE49-F238E27FC236}">
                <a16:creationId xmlns:a16="http://schemas.microsoft.com/office/drawing/2014/main" id="{431DD028-98D0-4903-B16D-3DBA46053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4486" y="1552884"/>
            <a:ext cx="8034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地址</a:t>
            </a:r>
            <a:endParaRPr kumimoji="1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6" name="Text Box 33">
            <a:extLst>
              <a:ext uri="{FF2B5EF4-FFF2-40B4-BE49-F238E27FC236}">
                <a16:creationId xmlns:a16="http://schemas.microsoft.com/office/drawing/2014/main" id="{1F6D22FE-40FB-4252-A494-59264274F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2634" y="1516629"/>
            <a:ext cx="8034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元素</a:t>
            </a:r>
            <a:endParaRPr kumimoji="1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1D528D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7" name="Text Box 21">
            <a:extLst>
              <a:ext uri="{FF2B5EF4-FFF2-40B4-BE49-F238E27FC236}">
                <a16:creationId xmlns:a16="http://schemas.microsoft.com/office/drawing/2014/main" id="{1DF018E1-9718-4E13-A31F-32D41C069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3938" y="3145463"/>
            <a:ext cx="1584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a[1],p[1]</a:t>
            </a:r>
          </a:p>
        </p:txBody>
      </p:sp>
      <p:sp>
        <p:nvSpPr>
          <p:cNvPr id="128" name="Text Box 21">
            <a:extLst>
              <a:ext uri="{FF2B5EF4-FFF2-40B4-BE49-F238E27FC236}">
                <a16:creationId xmlns:a16="http://schemas.microsoft.com/office/drawing/2014/main" id="{AF4B1FB7-6361-4518-9C9C-9E2A39605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3938" y="3936627"/>
            <a:ext cx="1584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a[2],p[2]</a:t>
            </a:r>
          </a:p>
        </p:txBody>
      </p:sp>
      <p:sp>
        <p:nvSpPr>
          <p:cNvPr id="129" name="Text Box 21">
            <a:extLst>
              <a:ext uri="{FF2B5EF4-FFF2-40B4-BE49-F238E27FC236}">
                <a16:creationId xmlns:a16="http://schemas.microsoft.com/office/drawing/2014/main" id="{6C417E3D-D44D-44F0-8B96-F03C48CF7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9714" y="4727791"/>
            <a:ext cx="1584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a[3],p[3]</a:t>
            </a:r>
          </a:p>
        </p:txBody>
      </p:sp>
      <p:sp>
        <p:nvSpPr>
          <p:cNvPr id="130" name="Text Box 21">
            <a:extLst>
              <a:ext uri="{FF2B5EF4-FFF2-40B4-BE49-F238E27FC236}">
                <a16:creationId xmlns:a16="http://schemas.microsoft.com/office/drawing/2014/main" id="{626CD29C-B925-4468-ABDC-19FD54A45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0288" y="5532942"/>
            <a:ext cx="1584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1D528D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a[0],p[4]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037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utoUpdateAnimBg="0"/>
      <p:bldP spid="85" grpId="0" autoUpdateAnimBg="0"/>
      <p:bldP spid="86" grpId="0"/>
      <p:bldP spid="117" grpId="0" build="p" autoUpdateAnimBg="0"/>
      <p:bldP spid="123" grpId="0"/>
      <p:bldP spid="1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指针与一维数组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42365"/>
            <a:ext cx="10636704" cy="5203190"/>
          </a:xfrm>
        </p:spPr>
        <p:txBody>
          <a:bodyPr>
            <a:norm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一维数组元素的引用方法</a:t>
            </a:r>
          </a:p>
          <a:p>
            <a:pPr lvl="1"/>
            <a:endParaRPr lang="zh-CN" altLang="en-US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4281CC0-DBBC-42C8-8520-65117819A351}"/>
              </a:ext>
            </a:extLst>
          </p:cNvPr>
          <p:cNvSpPr txBox="1"/>
          <p:nvPr/>
        </p:nvSpPr>
        <p:spPr>
          <a:xfrm>
            <a:off x="5890260" y="1740656"/>
            <a:ext cx="1889760" cy="48936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运行结果：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*(p + 0):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*(a + 0):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p[0]: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a[0]: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*(p + 1):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*(a + 1):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p[1]: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a[1]: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*(p + 2):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*(a + 2):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p[2]: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a[2]: 3</a:t>
            </a:r>
          </a:p>
        </p:txBody>
      </p:sp>
      <p:sp>
        <p:nvSpPr>
          <p:cNvPr id="47" name="Text Box 6">
            <a:extLst>
              <a:ext uri="{FF2B5EF4-FFF2-40B4-BE49-F238E27FC236}">
                <a16:creationId xmlns:a16="http://schemas.microsoft.com/office/drawing/2014/main" id="{2B8EA2E0-ED40-42B5-97F0-42C045C9C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30" y="1740656"/>
            <a:ext cx="5444854" cy="4716659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#include &lt;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stdio.h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&gt;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zh-CN" sz="2200" kern="0" dirty="0">
              <a:solidFill>
                <a:srgbClr val="000000"/>
              </a:solidFill>
              <a:cs typeface="Times New Roman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int main(void)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     int a[] = {1, 2, 3}, 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, *p;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     p = a;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     for (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 = 0; 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 &lt; 3; 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++)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          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printf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("*(p + %d): %d\n", 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, *(p + 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));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          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printf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("*(a + %d): %d\n", 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, *(a + 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));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          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printf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("p[%d]: %d\n", 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, p[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]);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          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printf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("a[%d]: %d\n", 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, a[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]);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     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     return 0;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itchFamily="18" charset="0"/>
              </a:rPr>
              <a:t>}</a:t>
            </a:r>
          </a:p>
        </p:txBody>
      </p:sp>
      <p:sp>
        <p:nvSpPr>
          <p:cNvPr id="48" name="Rectangle 100">
            <a:extLst>
              <a:ext uri="{FF2B5EF4-FFF2-40B4-BE49-F238E27FC236}">
                <a16:creationId xmlns:a16="http://schemas.microsoft.com/office/drawing/2014/main" id="{A4ED3F3E-E5C2-4311-9AC7-AEA1EBEAB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958039"/>
            <a:ext cx="4225479" cy="1571842"/>
          </a:xfrm>
          <a:prstGeom prst="rect">
            <a:avLst/>
          </a:prstGeom>
          <a:solidFill>
            <a:schemeClr val="bg1"/>
          </a:solidFill>
          <a:ln w="38100">
            <a:solidFill>
              <a:srgbClr val="339966"/>
            </a:solidFill>
            <a:miter lim="800000"/>
            <a:headEnd type="none" w="lg" len="lg"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假设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p=a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，即指针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p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指向数组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首地址，则：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p+i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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a+i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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&amp;p[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]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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&amp;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a[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i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]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*(p+i)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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*(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a+i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)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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p[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]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Symbol" panose="05050102010706020507" pitchFamily="18" charset="2"/>
              </a:rPr>
              <a:t>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a[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i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]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Symbol" panose="05050102010706020507" pitchFamily="18" charset="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70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指针与一维数组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42365"/>
            <a:ext cx="10636704" cy="5203190"/>
          </a:xfrm>
        </p:spPr>
        <p:txBody>
          <a:bodyPr>
            <a:norm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一维数组元素的引用方法</a:t>
            </a:r>
          </a:p>
          <a:p>
            <a:pPr lvl="1"/>
            <a:endParaRPr lang="zh-CN" altLang="en-US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  <p:sp>
        <p:nvSpPr>
          <p:cNvPr id="47" name="Text Box 6">
            <a:extLst>
              <a:ext uri="{FF2B5EF4-FFF2-40B4-BE49-F238E27FC236}">
                <a16:creationId xmlns:a16="http://schemas.microsoft.com/office/drawing/2014/main" id="{2B8EA2E0-ED40-42B5-97F0-42C045C9C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29" y="1740656"/>
            <a:ext cx="8773271" cy="4917319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找到一个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int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型数组中的最大元素，输出元素下标和元素的值，仅使用指针，不使用普通的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int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型变量。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#include &lt;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itchFamily="18" charset="0"/>
              </a:rPr>
              <a:t>stdio.h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&gt;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zh-CN" sz="2400" kern="0" dirty="0">
              <a:solidFill>
                <a:srgbClr val="000000"/>
              </a:solidFill>
              <a:cs typeface="Times New Roman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int main(void)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     int a[] = {1, 8, 2}, *p, *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itchFamily="18" charset="0"/>
              </a:rPr>
              <a:t>p_max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    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itchFamily="18" charset="0"/>
              </a:rPr>
              <a:t>p_max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= a;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     for (p = a + 1; p &lt; a + 3; p++)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            if (*p &gt;= *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itchFamily="18" charset="0"/>
              </a:rPr>
              <a:t>p_max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)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                  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itchFamily="18" charset="0"/>
              </a:rPr>
              <a:t>p_max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= p;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    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itchFamily="18" charset="0"/>
              </a:rPr>
              <a:t>printf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("Max value: a[%d]=%d\n", (int)(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itchFamily="18" charset="0"/>
              </a:rPr>
              <a:t>p_max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- a), *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itchFamily="18" charset="0"/>
              </a:rPr>
              <a:t>p_max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     return 0;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97C67-4A18-4001-A1F4-CE33E0F1DEE9}"/>
              </a:ext>
            </a:extLst>
          </p:cNvPr>
          <p:cNvSpPr txBox="1"/>
          <p:nvPr/>
        </p:nvSpPr>
        <p:spPr>
          <a:xfrm>
            <a:off x="9331869" y="1842254"/>
            <a:ext cx="2402931" cy="707886"/>
          </a:xfrm>
          <a:prstGeom prst="rect">
            <a:avLst/>
          </a:prstGeom>
          <a:noFill/>
          <a:ln>
            <a:solidFill>
              <a:srgbClr val="339966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运行结果：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Max value: a[1]=8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6827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6.2.2 </a:t>
            </a:r>
            <a:r>
              <a:rPr lang="zh-CN" altLang="en-US" dirty="0"/>
              <a:t>指针与二维数组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4" y="1142365"/>
            <a:ext cx="10207625" cy="5203190"/>
          </a:xfrm>
        </p:spPr>
        <p:txBody>
          <a:bodyPr>
            <a:normAutofit lnSpcReduction="10000"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元素指针：</a:t>
            </a:r>
            <a:endParaRPr lang="en-US" altLang="zh-CN" dirty="0"/>
          </a:p>
          <a:p>
            <a:pPr lvl="1"/>
            <a:r>
              <a:rPr lang="en-US" altLang="zh-CN" dirty="0"/>
              <a:t>&amp;a[</a:t>
            </a:r>
            <a:r>
              <a:rPr lang="en-US" altLang="zh-CN" dirty="0" err="1"/>
              <a:t>i</a:t>
            </a:r>
            <a:r>
              <a:rPr lang="en-US" altLang="zh-CN" dirty="0"/>
              <a:t>][j]</a:t>
            </a:r>
            <a:r>
              <a:rPr lang="en-US" altLang="zh-CN" dirty="0">
                <a:sym typeface="Symbol" panose="05050102010706020507" pitchFamily="18" charset="2"/>
              </a:rPr>
              <a:t>a[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]+j</a:t>
            </a:r>
            <a:r>
              <a:rPr lang="zh-CN" altLang="en-US" dirty="0">
                <a:sym typeface="Symbol" panose="05050102010706020507" pitchFamily="18" charset="2"/>
              </a:rPr>
              <a:t>。解释：</a:t>
            </a:r>
            <a:r>
              <a:rPr lang="en-US" altLang="zh-CN" dirty="0">
                <a:sym typeface="Symbol" panose="05050102010706020507" pitchFamily="18" charset="2"/>
              </a:rPr>
              <a:t>a[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]</a:t>
            </a:r>
            <a:r>
              <a:rPr lang="zh-CN" altLang="en-US" dirty="0">
                <a:sym typeface="Symbol" panose="05050102010706020507" pitchFamily="18" charset="2"/>
              </a:rPr>
              <a:t>是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zh-CN" altLang="en-US" dirty="0">
                <a:sym typeface="Symbol" panose="05050102010706020507" pitchFamily="18" charset="2"/>
              </a:rPr>
              <a:t>行的数组首地址，再加上</a:t>
            </a:r>
            <a:r>
              <a:rPr lang="en-US" altLang="zh-CN" dirty="0">
                <a:sym typeface="Symbol" panose="05050102010706020507" pitchFamily="18" charset="2"/>
              </a:rPr>
              <a:t>j</a:t>
            </a:r>
            <a:r>
              <a:rPr lang="zh-CN" altLang="en-US" dirty="0">
                <a:sym typeface="Symbol" panose="05050102010706020507" pitchFamily="18" charset="2"/>
              </a:rPr>
              <a:t>就是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][j]</a:t>
            </a:r>
            <a:r>
              <a:rPr lang="zh-CN" altLang="en-US" dirty="0"/>
              <a:t>的元素地址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2.</a:t>
            </a:r>
            <a:r>
              <a:rPr lang="zh-CN" altLang="en-US" dirty="0">
                <a:sym typeface="Symbol" panose="05050102010706020507" pitchFamily="18" charset="2"/>
              </a:rPr>
              <a:t>行指针：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每一行的地址。</a:t>
            </a:r>
            <a:r>
              <a:rPr lang="en-US" altLang="zh-CN" dirty="0">
                <a:sym typeface="Symbol" panose="05050102010706020507" pitchFamily="18" charset="2"/>
              </a:rPr>
              <a:t>a</a:t>
            </a:r>
            <a:r>
              <a:rPr lang="zh-CN" altLang="en-US" dirty="0">
                <a:sym typeface="Symbol" panose="05050102010706020507" pitchFamily="18" charset="2"/>
              </a:rPr>
              <a:t>为首行地址，</a:t>
            </a:r>
            <a:r>
              <a:rPr lang="en-US" altLang="zh-CN" dirty="0" err="1">
                <a:sym typeface="Symbol" panose="05050102010706020507" pitchFamily="18" charset="2"/>
              </a:rPr>
              <a:t>a+i</a:t>
            </a:r>
            <a:r>
              <a:rPr lang="zh-CN" altLang="en-US" dirty="0">
                <a:sym typeface="Symbol" panose="05050102010706020507" pitchFamily="18" charset="2"/>
              </a:rPr>
              <a:t>为第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zh-CN" altLang="en-US" dirty="0">
                <a:sym typeface="Symbol" panose="05050102010706020507" pitchFamily="18" charset="2"/>
              </a:rPr>
              <a:t>行地址。</a:t>
            </a:r>
            <a:endParaRPr lang="zh-CN" altLang="en-US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3BCEEA00-7024-4205-9C4D-AB95AF862118}"/>
              </a:ext>
            </a:extLst>
          </p:cNvPr>
          <p:cNvGrpSpPr/>
          <p:nvPr/>
        </p:nvGrpSpPr>
        <p:grpSpPr>
          <a:xfrm>
            <a:off x="466725" y="940753"/>
            <a:ext cx="5715000" cy="2290762"/>
            <a:chOff x="4048125" y="364173"/>
            <a:chExt cx="5715000" cy="2290762"/>
          </a:xfrm>
        </p:grpSpPr>
        <p:grpSp>
          <p:nvGrpSpPr>
            <p:cNvPr id="69" name="Group 3">
              <a:extLst>
                <a:ext uri="{FF2B5EF4-FFF2-40B4-BE49-F238E27FC236}">
                  <a16:creationId xmlns:a16="http://schemas.microsoft.com/office/drawing/2014/main" id="{41CE39AC-84BD-49D6-9330-36160899E9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8125" y="378461"/>
              <a:ext cx="5715000" cy="2274888"/>
              <a:chOff x="0" y="679"/>
              <a:chExt cx="3600" cy="1433"/>
            </a:xfrm>
          </p:grpSpPr>
          <p:sp>
            <p:nvSpPr>
              <p:cNvPr id="70" name="Rectangle 4">
                <a:extLst>
                  <a:ext uri="{FF2B5EF4-FFF2-40B4-BE49-F238E27FC236}">
                    <a16:creationId xmlns:a16="http://schemas.microsoft.com/office/drawing/2014/main" id="{299301FE-C2D1-4751-ACF7-A700D3DDA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816"/>
                <a:ext cx="2832" cy="129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Text Box 5">
                <a:extLst>
                  <a:ext uri="{FF2B5EF4-FFF2-40B4-BE49-F238E27FC236}">
                    <a16:creationId xmlns:a16="http://schemas.microsoft.com/office/drawing/2014/main" id="{4B02C6F2-CF9D-437E-970F-4A1B7FF031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344"/>
                <a:ext cx="43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a[1]</a:t>
                </a:r>
              </a:p>
            </p:txBody>
          </p:sp>
          <p:sp>
            <p:nvSpPr>
              <p:cNvPr id="72" name="Text Box 6">
                <a:extLst>
                  <a:ext uri="{FF2B5EF4-FFF2-40B4-BE49-F238E27FC236}">
                    <a16:creationId xmlns:a16="http://schemas.microsoft.com/office/drawing/2014/main" id="{FFD0B0EC-AA81-4574-B7E7-C01A831F71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776"/>
                <a:ext cx="43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a[2]</a:t>
                </a:r>
              </a:p>
            </p:txBody>
          </p:sp>
          <p:sp>
            <p:nvSpPr>
              <p:cNvPr id="73" name="Text Box 7">
                <a:extLst>
                  <a:ext uri="{FF2B5EF4-FFF2-40B4-BE49-F238E27FC236}">
                    <a16:creationId xmlns:a16="http://schemas.microsoft.com/office/drawing/2014/main" id="{9744A9A8-CE29-4C99-8C9C-EFEDF7BB59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8" y="696"/>
                <a:ext cx="62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a[0][0]</a:t>
                </a: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Text Box 8">
                <a:extLst>
                  <a:ext uri="{FF2B5EF4-FFF2-40B4-BE49-F238E27FC236}">
                    <a16:creationId xmlns:a16="http://schemas.microsoft.com/office/drawing/2014/main" id="{0CE9C813-9E08-476A-B81A-0539D956E7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5" y="696"/>
                <a:ext cx="62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a[0][1]</a:t>
                </a: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Text Box 9">
                <a:extLst>
                  <a:ext uri="{FF2B5EF4-FFF2-40B4-BE49-F238E27FC236}">
                    <a16:creationId xmlns:a16="http://schemas.microsoft.com/office/drawing/2014/main" id="{E181A444-A12F-469F-A42C-8609564F8E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684"/>
                <a:ext cx="62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a[0][2]</a:t>
                </a: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Text Box 10">
                <a:extLst>
                  <a:ext uri="{FF2B5EF4-FFF2-40B4-BE49-F238E27FC236}">
                    <a16:creationId xmlns:a16="http://schemas.microsoft.com/office/drawing/2014/main" id="{6939AC25-F25A-4A78-8B22-F92BF48A37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0" y="679"/>
                <a:ext cx="62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a[0][3]</a:t>
                </a: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Text Box 11">
                <a:extLst>
                  <a:ext uri="{FF2B5EF4-FFF2-40B4-BE49-F238E27FC236}">
                    <a16:creationId xmlns:a16="http://schemas.microsoft.com/office/drawing/2014/main" id="{017E7041-F543-4B23-ACCE-6B0A076661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1" y="1584"/>
                <a:ext cx="62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a[2][0]</a:t>
                </a: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Text Box 12">
                <a:extLst>
                  <a:ext uri="{FF2B5EF4-FFF2-40B4-BE49-F238E27FC236}">
                    <a16:creationId xmlns:a16="http://schemas.microsoft.com/office/drawing/2014/main" id="{9D611CC5-5942-46D3-9EFF-F2269DDE29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0" y="1574"/>
                <a:ext cx="62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a[2][1]</a:t>
                </a: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Text Box 13">
                <a:extLst>
                  <a:ext uri="{FF2B5EF4-FFF2-40B4-BE49-F238E27FC236}">
                    <a16:creationId xmlns:a16="http://schemas.microsoft.com/office/drawing/2014/main" id="{B3A096A3-4FC4-4E42-BFE5-FD50A31B85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0" y="1104"/>
                <a:ext cx="62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a[1][1]</a:t>
                </a: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Text Box 14">
                <a:extLst>
                  <a:ext uri="{FF2B5EF4-FFF2-40B4-BE49-F238E27FC236}">
                    <a16:creationId xmlns:a16="http://schemas.microsoft.com/office/drawing/2014/main" id="{E22220DA-20E8-4E0F-8A8B-1CEBC7CF94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571"/>
                <a:ext cx="62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a[2][2]</a:t>
                </a: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1" name="Text Box 15">
                <a:extLst>
                  <a:ext uri="{FF2B5EF4-FFF2-40B4-BE49-F238E27FC236}">
                    <a16:creationId xmlns:a16="http://schemas.microsoft.com/office/drawing/2014/main" id="{E4A9076F-D6DC-4482-9875-D05F55928B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104"/>
                <a:ext cx="62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a[1][2]</a:t>
                </a:r>
                <a:endParaRPr kumimoji="1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" name="Text Box 16">
                <a:extLst>
                  <a:ext uri="{FF2B5EF4-FFF2-40B4-BE49-F238E27FC236}">
                    <a16:creationId xmlns:a16="http://schemas.microsoft.com/office/drawing/2014/main" id="{CBFF1808-A15D-4ACC-884C-E5ADDB0AD6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1116"/>
                <a:ext cx="62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a[1][3]</a:t>
                </a: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3" name="Text Box 17">
                <a:extLst>
                  <a:ext uri="{FF2B5EF4-FFF2-40B4-BE49-F238E27FC236}">
                    <a16:creationId xmlns:a16="http://schemas.microsoft.com/office/drawing/2014/main" id="{ABB3A225-0F8E-4C15-BA7C-84A3D8E26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5" y="1571"/>
                <a:ext cx="62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a[2][3]</a:t>
                </a: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4" name="Text Box 18">
                <a:extLst>
                  <a:ext uri="{FF2B5EF4-FFF2-40B4-BE49-F238E27FC236}">
                    <a16:creationId xmlns:a16="http://schemas.microsoft.com/office/drawing/2014/main" id="{0E50A7F0-BFD5-4523-83CD-171F1997A1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8" y="1104"/>
                <a:ext cx="624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a[1][0]</a:t>
                </a:r>
                <a:endPara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5" name="Line 19">
                <a:extLst>
                  <a:ext uri="{FF2B5EF4-FFF2-40B4-BE49-F238E27FC236}">
                    <a16:creationId xmlns:a16="http://schemas.microsoft.com/office/drawing/2014/main" id="{3299310C-A345-4012-BC6C-4004D5A08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196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6" name="Line 20">
                <a:extLst>
                  <a:ext uri="{FF2B5EF4-FFF2-40B4-BE49-F238E27FC236}">
                    <a16:creationId xmlns:a16="http://schemas.microsoft.com/office/drawing/2014/main" id="{424AD3C2-4587-4FB0-993A-32C4355754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148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grpSp>
          <p:nvGrpSpPr>
            <p:cNvPr id="87" name="Group 21">
              <a:extLst>
                <a:ext uri="{FF2B5EF4-FFF2-40B4-BE49-F238E27FC236}">
                  <a16:creationId xmlns:a16="http://schemas.microsoft.com/office/drawing/2014/main" id="{AF2563BE-0DE9-4B7E-BAE4-68166915CF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8125" y="749935"/>
              <a:ext cx="1219200" cy="400050"/>
              <a:chOff x="0" y="912"/>
              <a:chExt cx="768" cy="252"/>
            </a:xfrm>
          </p:grpSpPr>
          <p:sp>
            <p:nvSpPr>
              <p:cNvPr id="88" name="Text Box 22">
                <a:extLst>
                  <a:ext uri="{FF2B5EF4-FFF2-40B4-BE49-F238E27FC236}">
                    <a16:creationId xmlns:a16="http://schemas.microsoft.com/office/drawing/2014/main" id="{E1940B8E-53B9-4CA5-A80E-4997F017A6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912"/>
                <a:ext cx="43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a[0]</a:t>
                </a:r>
              </a:p>
            </p:txBody>
          </p:sp>
          <p:sp>
            <p:nvSpPr>
              <p:cNvPr id="89" name="Line 23">
                <a:extLst>
                  <a:ext uri="{FF2B5EF4-FFF2-40B4-BE49-F238E27FC236}">
                    <a16:creationId xmlns:a16="http://schemas.microsoft.com/office/drawing/2014/main" id="{4D9C60C2-133C-44E6-B2D6-B73EAA6471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105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grpSp>
          <p:nvGrpSpPr>
            <p:cNvPr id="90" name="Group 24">
              <a:extLst>
                <a:ext uri="{FF2B5EF4-FFF2-40B4-BE49-F238E27FC236}">
                  <a16:creationId xmlns:a16="http://schemas.microsoft.com/office/drawing/2014/main" id="{3ABE6A4E-6EB1-4E7A-A1FD-D5E7DE43A2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8488" y="364173"/>
              <a:ext cx="782638" cy="400050"/>
              <a:chOff x="227" y="669"/>
              <a:chExt cx="493" cy="252"/>
            </a:xfrm>
          </p:grpSpPr>
          <p:sp>
            <p:nvSpPr>
              <p:cNvPr id="91" name="Text Box 25">
                <a:extLst>
                  <a:ext uri="{FF2B5EF4-FFF2-40B4-BE49-F238E27FC236}">
                    <a16:creationId xmlns:a16="http://schemas.microsoft.com/office/drawing/2014/main" id="{82F47DBA-AC8A-4DEA-870B-81996AE1E3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" y="669"/>
                <a:ext cx="43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92" name="Line 26">
                <a:extLst>
                  <a:ext uri="{FF2B5EF4-FFF2-40B4-BE49-F238E27FC236}">
                    <a16:creationId xmlns:a16="http://schemas.microsoft.com/office/drawing/2014/main" id="{3A3B0A03-5391-418E-B6CA-18239DBC4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816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sp>
          <p:nvSpPr>
            <p:cNvPr id="93" name="Line 27">
              <a:extLst>
                <a:ext uri="{FF2B5EF4-FFF2-40B4-BE49-F238E27FC236}">
                  <a16:creationId xmlns:a16="http://schemas.microsoft.com/office/drawing/2014/main" id="{1BB4457F-DF48-4B59-AFA7-49F787B81F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7125" y="597535"/>
              <a:ext cx="0" cy="20574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4" name="Line 28">
              <a:extLst>
                <a:ext uri="{FF2B5EF4-FFF2-40B4-BE49-F238E27FC236}">
                  <a16:creationId xmlns:a16="http://schemas.microsoft.com/office/drawing/2014/main" id="{B75F823E-F82E-4B7F-B30A-07FE7105A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20125" y="597535"/>
              <a:ext cx="0" cy="20574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5" name="Line 29">
              <a:extLst>
                <a:ext uri="{FF2B5EF4-FFF2-40B4-BE49-F238E27FC236}">
                  <a16:creationId xmlns:a16="http://schemas.microsoft.com/office/drawing/2014/main" id="{570491B8-9B43-414E-ADC2-11DC7274C0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4125" y="595949"/>
              <a:ext cx="0" cy="20574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6" name="Line 30">
              <a:extLst>
                <a:ext uri="{FF2B5EF4-FFF2-40B4-BE49-F238E27FC236}">
                  <a16:creationId xmlns:a16="http://schemas.microsoft.com/office/drawing/2014/main" id="{1AC2035A-7CF9-41A0-B438-F1939DA894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7325" y="1969135"/>
              <a:ext cx="44958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7" name="Line 31">
              <a:extLst>
                <a:ext uri="{FF2B5EF4-FFF2-40B4-BE49-F238E27FC236}">
                  <a16:creationId xmlns:a16="http://schemas.microsoft.com/office/drawing/2014/main" id="{EBCD3681-6ADE-4252-B07E-8CC4331443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7325" y="1207135"/>
              <a:ext cx="44958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38" name="文本框 137">
            <a:extLst>
              <a:ext uri="{FF2B5EF4-FFF2-40B4-BE49-F238E27FC236}">
                <a16:creationId xmlns:a16="http://schemas.microsoft.com/office/drawing/2014/main" id="{AB3DEB83-AF7D-4D4E-B220-1C6E0C8F611E}"/>
              </a:ext>
            </a:extLst>
          </p:cNvPr>
          <p:cNvSpPr txBox="1"/>
          <p:nvPr/>
        </p:nvSpPr>
        <p:spPr>
          <a:xfrm>
            <a:off x="6381749" y="1434209"/>
            <a:ext cx="53435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150" normalizeH="0" baseline="0" noProof="1">
                <a:ln>
                  <a:noFill/>
                </a:ln>
                <a:solidFill>
                  <a:srgbClr val="5596CD">
                    <a:lumMod val="50000"/>
                  </a:srgbClr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二维数组可以看做元素为一维数组的数组，其每个元素都是一行。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5299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指针与二维数组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2C99B6-3F94-4D8C-B709-34A45E14A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ym typeface="Symbol" panose="05050102010706020507" pitchFamily="18" charset="2"/>
              </a:rPr>
              <a:t>3.</a:t>
            </a:r>
            <a:r>
              <a:rPr lang="zh-CN" altLang="en-US" dirty="0">
                <a:sym typeface="Symbol" panose="05050102010706020507" pitchFamily="18" charset="2"/>
              </a:rPr>
              <a:t>各种表示的含义</a:t>
            </a:r>
            <a:endParaRPr lang="zh-CN" altLang="en-US" dirty="0"/>
          </a:p>
        </p:txBody>
      </p:sp>
      <p:graphicFrame>
        <p:nvGraphicFramePr>
          <p:cNvPr id="39" name="表格 5">
            <a:extLst>
              <a:ext uri="{FF2B5EF4-FFF2-40B4-BE49-F238E27FC236}">
                <a16:creationId xmlns:a16="http://schemas.microsoft.com/office/drawing/2014/main" id="{9AFDCA88-EB16-4937-9D61-93D38B46B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465138"/>
              </p:ext>
            </p:extLst>
          </p:nvPr>
        </p:nvGraphicFramePr>
        <p:xfrm>
          <a:off x="2091754" y="1953260"/>
          <a:ext cx="781424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1446">
                  <a:extLst>
                    <a:ext uri="{9D8B030D-6E8A-4147-A177-3AD203B41FA5}">
                      <a16:colId xmlns:a16="http://schemas.microsoft.com/office/drawing/2014/main" val="3384189558"/>
                    </a:ext>
                  </a:extLst>
                </a:gridCol>
                <a:gridCol w="3854450">
                  <a:extLst>
                    <a:ext uri="{9D8B030D-6E8A-4147-A177-3AD203B41FA5}">
                      <a16:colId xmlns:a16="http://schemas.microsoft.com/office/drawing/2014/main" val="2071747241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794310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表示形式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含义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类型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0263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数组首地址，第</a:t>
                      </a:r>
                      <a:r>
                        <a:rPr lang="en-US" altLang="zh-CN" sz="2400" dirty="0"/>
                        <a:t>0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</a:rPr>
                        <a:t>行</a:t>
                      </a:r>
                      <a:r>
                        <a:rPr lang="zh-CN" altLang="en-US" sz="2400" dirty="0"/>
                        <a:t>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行指针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1954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zh-CN" sz="2400" dirty="0"/>
                        <a:t>a+i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第</a:t>
                      </a:r>
                      <a:r>
                        <a:rPr lang="en-US" altLang="zh-CN" sz="2400" dirty="0" err="1"/>
                        <a:t>i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</a:rPr>
                        <a:t>行</a:t>
                      </a:r>
                      <a:r>
                        <a:rPr lang="zh-CN" altLang="en-US" sz="2400" dirty="0"/>
                        <a:t>的地址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行指针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981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a[</a:t>
                      </a:r>
                      <a:r>
                        <a:rPr lang="en-US" altLang="zh-CN" sz="2400" dirty="0" err="1"/>
                        <a:t>i</a:t>
                      </a:r>
                      <a:r>
                        <a:rPr lang="en-US" altLang="zh-CN" sz="2400" dirty="0"/>
                        <a:t>]</a:t>
                      </a:r>
                    </a:p>
                    <a:p>
                      <a:pPr algn="ctr"/>
                      <a:r>
                        <a:rPr lang="en-US" altLang="zh-CN" sz="2400" dirty="0"/>
                        <a:t>*(</a:t>
                      </a:r>
                      <a:r>
                        <a:rPr lang="en-US" altLang="zh-CN" sz="2400" dirty="0" err="1"/>
                        <a:t>a+i</a:t>
                      </a:r>
                      <a:r>
                        <a:rPr lang="en-US" altLang="zh-CN" sz="2400" dirty="0"/>
                        <a:t>)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第</a:t>
                      </a:r>
                      <a:r>
                        <a:rPr lang="en-US" altLang="zh-CN" sz="2400" dirty="0" err="1"/>
                        <a:t>i</a:t>
                      </a:r>
                      <a:r>
                        <a:rPr lang="zh-CN" altLang="en-US" sz="2400" dirty="0"/>
                        <a:t>行第</a:t>
                      </a:r>
                      <a:r>
                        <a:rPr lang="en-US" altLang="zh-CN" sz="2400" dirty="0"/>
                        <a:t>0</a:t>
                      </a:r>
                      <a:r>
                        <a:rPr lang="zh-CN" altLang="en-US" sz="2400" dirty="0"/>
                        <a:t>列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</a:rPr>
                        <a:t>元素</a:t>
                      </a:r>
                      <a:r>
                        <a:rPr lang="zh-CN" altLang="en-US" sz="2400" dirty="0"/>
                        <a:t>的地址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元素指针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584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zh-CN" sz="2400" dirty="0"/>
                        <a:t>a[i]+j</a:t>
                      </a:r>
                    </a:p>
                    <a:p>
                      <a:pPr algn="ctr"/>
                      <a:r>
                        <a:rPr lang="pt-BR" altLang="zh-CN" sz="2400" dirty="0"/>
                        <a:t>*(a+i)+j</a:t>
                      </a:r>
                    </a:p>
                    <a:p>
                      <a:pPr algn="ctr"/>
                      <a:r>
                        <a:rPr lang="pt-BR" altLang="zh-CN" sz="2400" dirty="0"/>
                        <a:t>&amp;a[i][j]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pt-BR" sz="2400" dirty="0"/>
                        <a:t>第</a:t>
                      </a:r>
                      <a:r>
                        <a:rPr lang="pt-BR" altLang="zh-CN" sz="2400" dirty="0"/>
                        <a:t>i</a:t>
                      </a:r>
                      <a:r>
                        <a:rPr lang="zh-CN" altLang="pt-BR" sz="2400" dirty="0"/>
                        <a:t>行第</a:t>
                      </a:r>
                      <a:r>
                        <a:rPr lang="pt-BR" altLang="zh-CN" sz="2400" dirty="0"/>
                        <a:t>j</a:t>
                      </a:r>
                      <a:r>
                        <a:rPr lang="zh-CN" altLang="pt-BR" sz="2400" dirty="0"/>
                        <a:t>列</a:t>
                      </a:r>
                      <a:r>
                        <a:rPr lang="zh-CN" altLang="pt-BR" sz="2400" dirty="0">
                          <a:solidFill>
                            <a:srgbClr val="FF0000"/>
                          </a:solidFill>
                        </a:rPr>
                        <a:t>元素</a:t>
                      </a:r>
                      <a:r>
                        <a:rPr lang="zh-CN" altLang="pt-BR" sz="2400" dirty="0"/>
                        <a:t>的</a:t>
                      </a:r>
                      <a:r>
                        <a:rPr lang="zh-CN" altLang="en-US" sz="2400" dirty="0"/>
                        <a:t>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/>
                        <a:t>元素指针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215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altLang="zh-CN" sz="2400" dirty="0"/>
                        <a:t>*(a[i]+j)</a:t>
                      </a:r>
                    </a:p>
                    <a:p>
                      <a:pPr algn="ctr"/>
                      <a:r>
                        <a:rPr lang="zh-CN" altLang="pt-BR" sz="2400" dirty="0"/>
                        <a:t>*</a:t>
                      </a:r>
                      <a:r>
                        <a:rPr lang="pt-BR" altLang="zh-CN" sz="2400" dirty="0"/>
                        <a:t>(*(a+i)+j)</a:t>
                      </a:r>
                    </a:p>
                    <a:p>
                      <a:pPr algn="ctr"/>
                      <a:r>
                        <a:rPr lang="pt-BR" altLang="zh-CN" sz="2400" dirty="0"/>
                        <a:t>a[i][j]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pt-BR" sz="2400" dirty="0"/>
                        <a:t>第</a:t>
                      </a:r>
                      <a:r>
                        <a:rPr lang="en-US" altLang="zh-CN" sz="2400" dirty="0" err="1"/>
                        <a:t>i</a:t>
                      </a:r>
                      <a:r>
                        <a:rPr lang="zh-CN" altLang="pt-BR" sz="2400" dirty="0"/>
                        <a:t>行第</a:t>
                      </a:r>
                      <a:r>
                        <a:rPr lang="pt-BR" altLang="zh-CN" sz="2400" dirty="0"/>
                        <a:t>j</a:t>
                      </a:r>
                      <a:r>
                        <a:rPr lang="zh-CN" altLang="pt-BR" sz="2400" dirty="0"/>
                        <a:t>列</a:t>
                      </a:r>
                      <a:r>
                        <a:rPr lang="zh-CN" altLang="en-US" sz="2400" dirty="0"/>
                        <a:t>的</a:t>
                      </a:r>
                      <a:r>
                        <a:rPr lang="zh-CN" altLang="pt-BR" sz="2400" dirty="0"/>
                        <a:t>元素　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元素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88556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831077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69FAE-1CEB-461C-A170-55BE2E70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指针与二维数组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535C18-F1A6-435F-8963-99E5A8AFC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行指针变量的定义与使用</a:t>
            </a:r>
            <a:endParaRPr lang="en-US" altLang="zh-CN" dirty="0"/>
          </a:p>
          <a:p>
            <a:pPr lvl="1"/>
            <a:r>
              <a:rPr lang="zh-CN" altLang="en-US" dirty="0"/>
              <a:t>含义：该指针所指的是包含</a:t>
            </a:r>
            <a:r>
              <a:rPr lang="en-US" altLang="zh-CN" dirty="0"/>
              <a:t>m</a:t>
            </a:r>
            <a:r>
              <a:rPr lang="zh-CN" altLang="en-US" dirty="0"/>
              <a:t>个元素的一维数组，即指向二维数组行的指针。</a:t>
            </a:r>
            <a:endParaRPr lang="en-US" altLang="zh-CN" dirty="0"/>
          </a:p>
          <a:p>
            <a:pPr lvl="1"/>
            <a:r>
              <a:rPr lang="zh-CN" altLang="en-US" dirty="0"/>
              <a:t>定义方法：</a:t>
            </a:r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zh-CN" altLang="en-US" dirty="0">
                <a:solidFill>
                  <a:srgbClr val="00B0FF"/>
                </a:solidFill>
              </a:rPr>
              <a:t>数据类型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00B050"/>
                </a:solidFill>
              </a:rPr>
              <a:t>（*指针变量）</a:t>
            </a:r>
            <a:r>
              <a:rPr lang="en-US" altLang="zh-CN" dirty="0">
                <a:solidFill>
                  <a:srgbClr val="7030A0"/>
                </a:solidFill>
              </a:rPr>
              <a:t>[</a:t>
            </a:r>
            <a:r>
              <a:rPr lang="zh-CN" altLang="en-US" dirty="0">
                <a:solidFill>
                  <a:srgbClr val="7030A0"/>
                </a:solidFill>
              </a:rPr>
              <a:t>每行的列数</a:t>
            </a:r>
            <a:r>
              <a:rPr lang="en-US" altLang="zh-CN" dirty="0">
                <a:solidFill>
                  <a:srgbClr val="7030A0"/>
                </a:solidFill>
              </a:rPr>
              <a:t>]</a:t>
            </a:r>
            <a:r>
              <a:rPr lang="en-US" altLang="zh-CN" dirty="0"/>
              <a:t>;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B0F0"/>
                </a:solidFill>
              </a:rPr>
              <a:t>	int</a:t>
            </a:r>
            <a:r>
              <a:rPr lang="en-US" altLang="zh-CN" dirty="0">
                <a:solidFill>
                  <a:srgbClr val="00B050"/>
                </a:solidFill>
              </a:rPr>
              <a:t>(*p)</a:t>
            </a:r>
            <a:r>
              <a:rPr lang="en-US" altLang="zh-CN" dirty="0">
                <a:solidFill>
                  <a:srgbClr val="7030A0"/>
                </a:solidFill>
              </a:rPr>
              <a:t>[4]</a:t>
            </a:r>
            <a:r>
              <a:rPr lang="en-US" altLang="zh-CN" dirty="0"/>
              <a:t>;</a:t>
            </a:r>
          </a:p>
          <a:p>
            <a:pPr lvl="1"/>
            <a:r>
              <a:rPr lang="zh-CN" altLang="en-US" dirty="0"/>
              <a:t>表示</a:t>
            </a:r>
            <a:r>
              <a:rPr lang="en-US" altLang="zh-CN" dirty="0"/>
              <a:t>p</a:t>
            </a:r>
            <a:r>
              <a:rPr lang="zh-CN" altLang="en-US" dirty="0"/>
              <a:t>是一个指向二维数组行的指针，该二维数组每行共有</a:t>
            </a:r>
            <a:r>
              <a:rPr lang="en-US" altLang="zh-CN" dirty="0"/>
              <a:t>4</a:t>
            </a:r>
            <a:r>
              <a:rPr lang="zh-CN" altLang="en-US" dirty="0"/>
              <a:t>列。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541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69FAE-1CEB-461C-A170-55BE2E70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指针与二维数组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535C18-F1A6-435F-8963-99E5A8AFC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925" y="1033145"/>
            <a:ext cx="10852150" cy="5203190"/>
          </a:xfrm>
        </p:spPr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行指针的定义与使用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CFD72E7B-C4B6-46EE-B482-894263114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80" y="1635881"/>
            <a:ext cx="5868146" cy="4576324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【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例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6.5】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使用行指针，进行二维数组求和。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#include &lt;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itchFamily="18" charset="0"/>
              </a:rPr>
              <a:t>stdio.h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&gt;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int main(void)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    int a[3][4] = { {1,  3,  5,  7}, {9, 11, 13, 15},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       {17, 19, 21, 23} };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    </a:t>
            </a:r>
            <a:r>
              <a:rPr lang="en-US" altLang="zh-CN" sz="2400" kern="0" dirty="0">
                <a:solidFill>
                  <a:srgbClr val="00B0FF"/>
                </a:solidFill>
                <a:cs typeface="Times New Roman" pitchFamily="18" charset="0"/>
              </a:rPr>
              <a:t>int (*p)[4] 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= a,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, j, k = 0;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    for (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= 0;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&lt; 3;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++)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           for (j = 0; j &lt; 4;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itchFamily="18" charset="0"/>
              </a:rPr>
              <a:t>j++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)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                  k = k + </a:t>
            </a:r>
            <a:r>
              <a:rPr lang="en-US" altLang="zh-CN" sz="2400" kern="0" dirty="0">
                <a:solidFill>
                  <a:srgbClr val="FF0000"/>
                </a:solidFill>
                <a:cs typeface="Times New Roman" pitchFamily="18" charset="0"/>
              </a:rPr>
              <a:t>*(*(p + </a:t>
            </a:r>
            <a:r>
              <a:rPr lang="en-US" altLang="zh-CN" sz="2400" kern="0" dirty="0" err="1">
                <a:solidFill>
                  <a:srgbClr val="FF0000"/>
                </a:solidFill>
                <a:cs typeface="Times New Roman" pitchFamily="18" charset="0"/>
              </a:rPr>
              <a:t>i</a:t>
            </a:r>
            <a:r>
              <a:rPr lang="en-US" altLang="zh-CN" sz="2400" kern="0" dirty="0">
                <a:solidFill>
                  <a:srgbClr val="FF0000"/>
                </a:solidFill>
                <a:cs typeface="Times New Roman" pitchFamily="18" charset="0"/>
              </a:rPr>
              <a:t>) + j)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   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itchFamily="18" charset="0"/>
              </a:rPr>
              <a:t>printf</a:t>
            </a: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("%d\n", k);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     return 0;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itchFamily="18" charset="0"/>
              </a:rPr>
              <a:t>}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66A8F692-AA0E-41E9-85BC-4DC5A1E6F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634595"/>
              </p:ext>
            </p:extLst>
          </p:nvPr>
        </p:nvGraphicFramePr>
        <p:xfrm>
          <a:off x="6657976" y="1775203"/>
          <a:ext cx="538162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074">
                  <a:extLst>
                    <a:ext uri="{9D8B030D-6E8A-4147-A177-3AD203B41FA5}">
                      <a16:colId xmlns:a16="http://schemas.microsoft.com/office/drawing/2014/main" val="3384189558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2071747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表示形式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/>
                        <a:t>含义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0263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p+i </a:t>
                      </a: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数组</a:t>
                      </a:r>
                      <a:r>
                        <a:rPr lang="en-US" altLang="zh-CN" sz="2800" dirty="0"/>
                        <a:t>a</a:t>
                      </a:r>
                      <a:r>
                        <a:rPr lang="zh-CN" altLang="en-US" sz="2800" dirty="0"/>
                        <a:t>的第</a:t>
                      </a:r>
                      <a:r>
                        <a:rPr lang="en-US" altLang="zh-CN" sz="2800" dirty="0" err="1"/>
                        <a:t>i</a:t>
                      </a:r>
                      <a:r>
                        <a:rPr lang="zh-CN" altLang="en-US" sz="2800" dirty="0"/>
                        <a:t>行的地址</a:t>
                      </a:r>
                      <a:endParaRPr lang="en-US" altLang="zh-CN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1954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*(p+i)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数组</a:t>
                      </a:r>
                      <a:r>
                        <a:rPr lang="en-US" altLang="zh-CN" sz="2800" dirty="0"/>
                        <a:t>a</a:t>
                      </a:r>
                      <a:r>
                        <a:rPr lang="zh-CN" altLang="en-US" sz="2800" dirty="0"/>
                        <a:t>的第</a:t>
                      </a:r>
                      <a:r>
                        <a:rPr lang="en-US" altLang="zh-CN" sz="2800" dirty="0" err="1"/>
                        <a:t>i</a:t>
                      </a:r>
                      <a:r>
                        <a:rPr lang="zh-CN" altLang="en-US" sz="2800" dirty="0"/>
                        <a:t>行第</a:t>
                      </a:r>
                      <a:r>
                        <a:rPr lang="en-US" altLang="zh-CN" sz="2800" dirty="0"/>
                        <a:t>0</a:t>
                      </a:r>
                      <a:r>
                        <a:rPr lang="zh-CN" altLang="en-US" sz="2800" dirty="0"/>
                        <a:t>列元素的地址，等价于</a:t>
                      </a:r>
                      <a:r>
                        <a:rPr lang="en-US" altLang="zh-CN" sz="2800" dirty="0"/>
                        <a:t>a[</a:t>
                      </a:r>
                      <a:r>
                        <a:rPr lang="en-US" altLang="zh-CN" sz="2800" dirty="0" err="1"/>
                        <a:t>i</a:t>
                      </a:r>
                      <a:r>
                        <a:rPr lang="en-US" altLang="zh-CN" sz="28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981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*(p+i)+j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数组</a:t>
                      </a:r>
                      <a:r>
                        <a:rPr lang="en-US" altLang="zh-CN" sz="2800" dirty="0"/>
                        <a:t>a</a:t>
                      </a:r>
                      <a:r>
                        <a:rPr lang="zh-CN" altLang="en-US" sz="2800" dirty="0"/>
                        <a:t>第</a:t>
                      </a:r>
                      <a:r>
                        <a:rPr lang="en-US" altLang="zh-CN" sz="2800" dirty="0" err="1"/>
                        <a:t>i</a:t>
                      </a:r>
                      <a:r>
                        <a:rPr lang="zh-CN" altLang="en-US" sz="2800" dirty="0"/>
                        <a:t>行第</a:t>
                      </a:r>
                      <a:r>
                        <a:rPr lang="en-US" altLang="zh-CN" sz="2800" dirty="0"/>
                        <a:t>j</a:t>
                      </a:r>
                      <a:r>
                        <a:rPr lang="zh-CN" altLang="en-US" sz="2800" dirty="0"/>
                        <a:t>列的元素的地址，等价于</a:t>
                      </a:r>
                      <a:r>
                        <a:rPr lang="en-US" altLang="zh-CN" sz="2800" dirty="0"/>
                        <a:t>&amp;a[</a:t>
                      </a:r>
                      <a:r>
                        <a:rPr lang="en-US" altLang="zh-CN" sz="2800" dirty="0" err="1"/>
                        <a:t>i</a:t>
                      </a:r>
                      <a:r>
                        <a:rPr lang="en-US" altLang="zh-CN" sz="2800" dirty="0"/>
                        <a:t>][j]</a:t>
                      </a:r>
                      <a:r>
                        <a:rPr lang="zh-CN" altLang="en-US" sz="2800" dirty="0"/>
                        <a:t>，</a:t>
                      </a:r>
                      <a:r>
                        <a:rPr lang="en-US" altLang="zh-CN" sz="2800" dirty="0"/>
                        <a:t>p[</a:t>
                      </a:r>
                      <a:r>
                        <a:rPr lang="en-US" altLang="zh-CN" sz="2800" dirty="0" err="1"/>
                        <a:t>i</a:t>
                      </a:r>
                      <a:r>
                        <a:rPr lang="en-US" altLang="zh-CN" sz="2800" dirty="0"/>
                        <a:t>]+j</a:t>
                      </a:r>
                      <a:r>
                        <a:rPr lang="zh-CN" altLang="en-US" sz="2800" dirty="0"/>
                        <a:t>，</a:t>
                      </a:r>
                      <a:r>
                        <a:rPr lang="en-US" altLang="zh-CN" sz="2800" dirty="0"/>
                        <a:t>a[</a:t>
                      </a:r>
                      <a:r>
                        <a:rPr lang="en-US" altLang="zh-CN" sz="2800" dirty="0" err="1"/>
                        <a:t>i</a:t>
                      </a:r>
                      <a:r>
                        <a:rPr lang="en-US" altLang="zh-CN" sz="2800" dirty="0"/>
                        <a:t>]+j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584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*(*(p+i)+j)</a:t>
                      </a:r>
                      <a:endParaRPr lang="zh-CN" alt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dirty="0"/>
                        <a:t>数组</a:t>
                      </a:r>
                      <a:r>
                        <a:rPr lang="en-US" altLang="zh-CN" sz="2800" dirty="0"/>
                        <a:t>a</a:t>
                      </a:r>
                      <a:r>
                        <a:rPr lang="zh-CN" altLang="pt-BR" sz="2800" dirty="0"/>
                        <a:t>第</a:t>
                      </a:r>
                      <a:r>
                        <a:rPr lang="en-US" altLang="zh-CN" sz="2800" dirty="0" err="1"/>
                        <a:t>i</a:t>
                      </a:r>
                      <a:r>
                        <a:rPr lang="zh-CN" altLang="pt-BR" sz="2800" dirty="0"/>
                        <a:t>行第</a:t>
                      </a:r>
                      <a:r>
                        <a:rPr lang="pt-BR" altLang="zh-CN" sz="2800" dirty="0"/>
                        <a:t>j</a:t>
                      </a:r>
                      <a:r>
                        <a:rPr lang="zh-CN" altLang="pt-BR" sz="2800" dirty="0"/>
                        <a:t>列</a:t>
                      </a:r>
                      <a:r>
                        <a:rPr lang="zh-CN" altLang="en-US" sz="2800" dirty="0"/>
                        <a:t>的</a:t>
                      </a:r>
                      <a:r>
                        <a:rPr lang="zh-CN" altLang="pt-BR" sz="2800" dirty="0"/>
                        <a:t>元素</a:t>
                      </a:r>
                      <a:r>
                        <a:rPr lang="zh-CN" altLang="en-US" sz="2800" dirty="0"/>
                        <a:t>，等价于</a:t>
                      </a:r>
                      <a:r>
                        <a:rPr lang="en-US" altLang="zh-CN" sz="2800" dirty="0"/>
                        <a:t>a[</a:t>
                      </a:r>
                      <a:r>
                        <a:rPr lang="en-US" altLang="zh-CN" sz="2800" dirty="0" err="1"/>
                        <a:t>i</a:t>
                      </a:r>
                      <a:r>
                        <a:rPr lang="en-US" altLang="zh-CN" sz="2800" dirty="0"/>
                        <a:t>][j]</a:t>
                      </a:r>
                      <a:endParaRPr lang="zh-CN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215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966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69FAE-1CEB-461C-A170-55BE2E70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指针与二维数组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535C18-F1A6-435F-8963-99E5A8AFC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925" y="1033145"/>
            <a:ext cx="10852150" cy="5203190"/>
          </a:xfrm>
        </p:spPr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行指针的定义与使用</a:t>
            </a:r>
            <a:endParaRPr lang="en-US" altLang="zh-CN" dirty="0"/>
          </a:p>
          <a:p>
            <a:pPr lvl="1"/>
            <a:r>
              <a:rPr lang="zh-CN" altLang="en-US" dirty="0"/>
              <a:t>行指针作为函数参数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CFD72E7B-C4B6-46EE-B482-894263114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664581"/>
            <a:ext cx="11744325" cy="3226949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2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#include &lt;</a:t>
            </a:r>
            <a:r>
              <a:rPr lang="en-US" altLang="zh-CN" sz="2800" kern="0" dirty="0" err="1">
                <a:solidFill>
                  <a:srgbClr val="000000"/>
                </a:solidFill>
                <a:cs typeface="Times New Roman" pitchFamily="18" charset="0"/>
              </a:rPr>
              <a:t>stdio.h</a:t>
            </a: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&gt;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void fun(</a:t>
            </a:r>
            <a:r>
              <a:rPr lang="en-US" altLang="zh-CN" sz="2800" kern="0" dirty="0">
                <a:solidFill>
                  <a:srgbClr val="00B0FF"/>
                </a:solidFill>
                <a:cs typeface="Times New Roman" pitchFamily="18" charset="0"/>
              </a:rPr>
              <a:t>int (*p)[3]</a:t>
            </a: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, int n)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      int </a:t>
            </a:r>
            <a:r>
              <a:rPr lang="en-US" altLang="zh-CN" sz="28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, j;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      for (</a:t>
            </a:r>
            <a:r>
              <a:rPr lang="en-US" altLang="zh-CN" sz="28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 = 0; </a:t>
            </a:r>
            <a:r>
              <a:rPr lang="en-US" altLang="zh-CN" sz="28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 &lt; n; </a:t>
            </a:r>
            <a:r>
              <a:rPr lang="en-US" altLang="zh-CN" sz="28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++)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             for (j = 0; j &lt; 3; </a:t>
            </a:r>
            <a:r>
              <a:rPr lang="en-US" altLang="zh-CN" sz="2800" kern="0" dirty="0" err="1">
                <a:solidFill>
                  <a:srgbClr val="000000"/>
                </a:solidFill>
                <a:cs typeface="Times New Roman" pitchFamily="18" charset="0"/>
              </a:rPr>
              <a:t>j++</a:t>
            </a: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                 </a:t>
            </a:r>
            <a:r>
              <a:rPr lang="en-US" altLang="zh-CN" sz="2800" kern="0" dirty="0">
                <a:solidFill>
                  <a:srgbClr val="00B0FF"/>
                </a:solidFill>
                <a:cs typeface="Times New Roman" pitchFamily="18" charset="0"/>
              </a:rPr>
              <a:t>*(p[</a:t>
            </a:r>
            <a:r>
              <a:rPr lang="en-US" altLang="zh-CN" sz="2800" kern="0" dirty="0" err="1">
                <a:solidFill>
                  <a:srgbClr val="00B0FF"/>
                </a:solidFill>
                <a:cs typeface="Times New Roman" pitchFamily="18" charset="0"/>
              </a:rPr>
              <a:t>i</a:t>
            </a:r>
            <a:r>
              <a:rPr lang="en-US" altLang="zh-CN" sz="2800" kern="0" dirty="0">
                <a:solidFill>
                  <a:srgbClr val="00B0FF"/>
                </a:solidFill>
                <a:cs typeface="Times New Roman" pitchFamily="18" charset="0"/>
              </a:rPr>
              <a:t>] + j)</a:t>
            </a: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 = (</a:t>
            </a:r>
            <a:r>
              <a:rPr lang="en-US" altLang="zh-CN" sz="2800" kern="0" dirty="0" err="1">
                <a:solidFill>
                  <a:srgbClr val="000000"/>
                </a:solidFill>
                <a:cs typeface="Times New Roman" pitchFamily="18" charset="0"/>
              </a:rPr>
              <a:t>i</a:t>
            </a: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 + 1) * (j + 1);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             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     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zh-CN" sz="2800" kern="0" dirty="0">
              <a:solidFill>
                <a:srgbClr val="000000"/>
              </a:solidFill>
              <a:cs typeface="Times New Roman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int main(void)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      int a[2][3], (*p)[3];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      p = a;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      fun(</a:t>
            </a:r>
            <a:r>
              <a:rPr lang="en-US" altLang="zh-CN" sz="2800" kern="0" dirty="0">
                <a:solidFill>
                  <a:srgbClr val="00B0FF"/>
                </a:solidFill>
                <a:cs typeface="Times New Roman" pitchFamily="18" charset="0"/>
              </a:rPr>
              <a:t>p</a:t>
            </a: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, 2);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      </a:t>
            </a:r>
            <a:r>
              <a:rPr lang="en-US" altLang="zh-CN" sz="2800" kern="0" dirty="0" err="1">
                <a:solidFill>
                  <a:srgbClr val="000000"/>
                </a:solidFill>
                <a:cs typeface="Times New Roman" pitchFamily="18" charset="0"/>
              </a:rPr>
              <a:t>printf</a:t>
            </a: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("%d\n", *(p[1] + 2));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      return 0;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800" kern="0" dirty="0">
                <a:solidFill>
                  <a:srgbClr val="000000"/>
                </a:solidFill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57984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11306-5344-4092-819F-FC546163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6.2.3 </a:t>
            </a:r>
            <a:r>
              <a:rPr lang="zh-CN" altLang="en-US" dirty="0"/>
              <a:t>指针数组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2A5F81-FA3C-4E80-95B8-AA2449A84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指针数组的概念与定义</a:t>
            </a:r>
            <a:endParaRPr lang="en-US" altLang="zh-CN" dirty="0"/>
          </a:p>
          <a:p>
            <a:pPr lvl="1"/>
            <a:r>
              <a:rPr lang="zh-CN" altLang="en-US" dirty="0"/>
              <a:t>指针数组是由指针构成的数组。换句话说，指针数组中的每个元素都是一个指针。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指针数组的声明形式为：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数据类型</a:t>
            </a:r>
            <a:r>
              <a:rPr lang="en-US" altLang="zh-CN" dirty="0"/>
              <a:t> *</a:t>
            </a:r>
            <a:r>
              <a:rPr lang="zh-CN" altLang="en-US" dirty="0"/>
              <a:t>数组名</a:t>
            </a:r>
            <a:r>
              <a:rPr lang="en-US" altLang="zh-CN" dirty="0"/>
              <a:t>[</a:t>
            </a:r>
            <a:r>
              <a:rPr lang="zh-CN" altLang="en-US" dirty="0"/>
              <a:t>数组大小</a:t>
            </a:r>
            <a:r>
              <a:rPr lang="en-US" altLang="zh-CN" dirty="0"/>
              <a:t>];</a:t>
            </a:r>
          </a:p>
          <a:p>
            <a:pPr marL="457200" lvl="1" indent="0">
              <a:buNone/>
            </a:pPr>
            <a:r>
              <a:rPr lang="zh-CN" altLang="en-US" dirty="0"/>
              <a:t>例：</a:t>
            </a:r>
            <a:r>
              <a:rPr lang="en-US" altLang="zh-CN" dirty="0"/>
              <a:t>	</a:t>
            </a:r>
            <a:r>
              <a:rPr lang="en-US" altLang="zh-CN" dirty="0">
                <a:solidFill>
                  <a:srgbClr val="00B0FF"/>
                </a:solidFill>
              </a:rPr>
              <a:t>int *</a:t>
            </a:r>
            <a:r>
              <a:rPr lang="en-US" altLang="zh-CN" dirty="0" err="1">
                <a:solidFill>
                  <a:srgbClr val="00B0FF"/>
                </a:solidFill>
              </a:rPr>
              <a:t>ptrArr</a:t>
            </a:r>
            <a:r>
              <a:rPr lang="en-US" altLang="zh-CN" dirty="0">
                <a:solidFill>
                  <a:srgbClr val="00B0FF"/>
                </a:solidFill>
              </a:rPr>
              <a:t>[3];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B0FF"/>
                </a:solidFill>
              </a:rPr>
              <a:t>	char *names[3]</a:t>
            </a:r>
            <a:r>
              <a:rPr lang="zh-CN" altLang="en-US" dirty="0">
                <a:solidFill>
                  <a:srgbClr val="00B0FF"/>
                </a:solidFill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991418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11306-5344-4092-819F-FC546163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指针数组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2A5F81-FA3C-4E80-95B8-AA2449A84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指针数组的应用</a:t>
            </a:r>
            <a:endParaRPr lang="en-US" altLang="zh-CN" dirty="0"/>
          </a:p>
          <a:p>
            <a:pPr lvl="1"/>
            <a:r>
              <a:rPr lang="zh-CN" altLang="en-US" dirty="0"/>
              <a:t>使用指针数组管理多个字符串并遍历输出。</a:t>
            </a:r>
            <a:endParaRPr lang="zh-CN" altLang="en-US" dirty="0">
              <a:solidFill>
                <a:srgbClr val="00B0FF"/>
              </a:solidFill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FD5F77B6-5AE3-4EEF-BA57-AD6A0D72A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680" y="2597906"/>
            <a:ext cx="6781799" cy="3450469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#include &lt;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stdio.h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int main(void)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int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char *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names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[3] = {"Alice", "Bob", "Charlie"};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for (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= 0;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&lt; 3;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++)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puts(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names[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]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return 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}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B1538D89-4379-49D1-BCC5-035DFC689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0078" y="4961605"/>
            <a:ext cx="1647824" cy="1639449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itchFamily="2" charset="2"/>
              <a:buChar char="n"/>
              <a:defRPr kumimoji="1" sz="32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运行结果：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Alice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Bob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Charlie</a:t>
            </a:r>
          </a:p>
        </p:txBody>
      </p:sp>
      <p:graphicFrame>
        <p:nvGraphicFramePr>
          <p:cNvPr id="82" name="表格 82">
            <a:extLst>
              <a:ext uri="{FF2B5EF4-FFF2-40B4-BE49-F238E27FC236}">
                <a16:creationId xmlns:a16="http://schemas.microsoft.com/office/drawing/2014/main" id="{7D85013A-3DDE-451B-8CB8-5AB06C509724}"/>
              </a:ext>
            </a:extLst>
          </p:cNvPr>
          <p:cNvGraphicFramePr>
            <a:graphicFrameLocks noGrp="1"/>
          </p:cNvGraphicFramePr>
          <p:nvPr/>
        </p:nvGraphicFramePr>
        <p:xfrm>
          <a:off x="7060078" y="3263489"/>
          <a:ext cx="146145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450">
                  <a:extLst>
                    <a:ext uri="{9D8B030D-6E8A-4147-A177-3AD203B41FA5}">
                      <a16:colId xmlns:a16="http://schemas.microsoft.com/office/drawing/2014/main" val="327268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kern="1200" dirty="0">
                          <a:solidFill>
                            <a:srgbClr val="00B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names[0]</a:t>
                      </a:r>
                      <a:endParaRPr lang="zh-CN" altLang="en-US" sz="2400" b="0" kern="1200" dirty="0">
                        <a:solidFill>
                          <a:srgbClr val="00B0FF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955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00B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names[1]</a:t>
                      </a:r>
                      <a:endParaRPr lang="zh-CN" altLang="en-US" sz="2400" kern="1200" dirty="0">
                        <a:solidFill>
                          <a:srgbClr val="00B0FF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287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rgbClr val="00B0FF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names[2]</a:t>
                      </a:r>
                      <a:endParaRPr lang="zh-CN" altLang="en-US" sz="2400" kern="1200" dirty="0">
                        <a:solidFill>
                          <a:srgbClr val="00B0FF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652422"/>
                  </a:ext>
                </a:extLst>
              </a:tr>
            </a:tbl>
          </a:graphicData>
        </a:graphic>
      </p:graphicFrame>
      <p:sp>
        <p:nvSpPr>
          <p:cNvPr id="84" name="文本框 83">
            <a:extLst>
              <a:ext uri="{FF2B5EF4-FFF2-40B4-BE49-F238E27FC236}">
                <a16:creationId xmlns:a16="http://schemas.microsoft.com/office/drawing/2014/main" id="{E378AA34-103B-4B6F-9B62-F91E1777D2E0}"/>
              </a:ext>
            </a:extLst>
          </p:cNvPr>
          <p:cNvSpPr txBox="1"/>
          <p:nvPr/>
        </p:nvSpPr>
        <p:spPr>
          <a:xfrm>
            <a:off x="7002927" y="2685619"/>
            <a:ext cx="15757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names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数组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楷体" panose="02010609060101010101" pitchFamily="49" charset="-122"/>
              <a:cs typeface="+mn-cs"/>
            </a:endParaRPr>
          </a:p>
        </p:txBody>
      </p:sp>
      <p:graphicFrame>
        <p:nvGraphicFramePr>
          <p:cNvPr id="87" name="表格 87">
            <a:extLst>
              <a:ext uri="{FF2B5EF4-FFF2-40B4-BE49-F238E27FC236}">
                <a16:creationId xmlns:a16="http://schemas.microsoft.com/office/drawing/2014/main" id="{0965DEDE-4F67-4D60-9B1B-157F042EEB61}"/>
              </a:ext>
            </a:extLst>
          </p:cNvPr>
          <p:cNvGraphicFramePr>
            <a:graphicFrameLocks noGrp="1"/>
          </p:cNvGraphicFramePr>
          <p:nvPr/>
        </p:nvGraphicFramePr>
        <p:xfrm>
          <a:off x="9130721" y="3298272"/>
          <a:ext cx="218624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374">
                  <a:extLst>
                    <a:ext uri="{9D8B030D-6E8A-4147-A177-3AD203B41FA5}">
                      <a16:colId xmlns:a16="http://schemas.microsoft.com/office/drawing/2014/main" val="1895685501"/>
                    </a:ext>
                  </a:extLst>
                </a:gridCol>
                <a:gridCol w="364374">
                  <a:extLst>
                    <a:ext uri="{9D8B030D-6E8A-4147-A177-3AD203B41FA5}">
                      <a16:colId xmlns:a16="http://schemas.microsoft.com/office/drawing/2014/main" val="876136591"/>
                    </a:ext>
                  </a:extLst>
                </a:gridCol>
                <a:gridCol w="364374">
                  <a:extLst>
                    <a:ext uri="{9D8B030D-6E8A-4147-A177-3AD203B41FA5}">
                      <a16:colId xmlns:a16="http://schemas.microsoft.com/office/drawing/2014/main" val="2521295267"/>
                    </a:ext>
                  </a:extLst>
                </a:gridCol>
                <a:gridCol w="364374">
                  <a:extLst>
                    <a:ext uri="{9D8B030D-6E8A-4147-A177-3AD203B41FA5}">
                      <a16:colId xmlns:a16="http://schemas.microsoft.com/office/drawing/2014/main" val="2292152595"/>
                    </a:ext>
                  </a:extLst>
                </a:gridCol>
                <a:gridCol w="364374">
                  <a:extLst>
                    <a:ext uri="{9D8B030D-6E8A-4147-A177-3AD203B41FA5}">
                      <a16:colId xmlns:a16="http://schemas.microsoft.com/office/drawing/2014/main" val="1009502557"/>
                    </a:ext>
                  </a:extLst>
                </a:gridCol>
                <a:gridCol w="364374">
                  <a:extLst>
                    <a:ext uri="{9D8B030D-6E8A-4147-A177-3AD203B41FA5}">
                      <a16:colId xmlns:a16="http://schemas.microsoft.com/office/drawing/2014/main" val="28423475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145182"/>
                  </a:ext>
                </a:extLst>
              </a:tr>
            </a:tbl>
          </a:graphicData>
        </a:graphic>
      </p:graphicFrame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6FA43DD9-B13A-46B6-8EBC-33E4A481A18C}"/>
              </a:ext>
            </a:extLst>
          </p:cNvPr>
          <p:cNvGraphicFramePr>
            <a:graphicFrameLocks noGrp="1"/>
          </p:cNvGraphicFramePr>
          <p:nvPr/>
        </p:nvGraphicFramePr>
        <p:xfrm>
          <a:off x="9130721" y="3819785"/>
          <a:ext cx="144356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91">
                  <a:extLst>
                    <a:ext uri="{9D8B030D-6E8A-4147-A177-3AD203B41FA5}">
                      <a16:colId xmlns:a16="http://schemas.microsoft.com/office/drawing/2014/main" val="1895685501"/>
                    </a:ext>
                  </a:extLst>
                </a:gridCol>
                <a:gridCol w="360891">
                  <a:extLst>
                    <a:ext uri="{9D8B030D-6E8A-4147-A177-3AD203B41FA5}">
                      <a16:colId xmlns:a16="http://schemas.microsoft.com/office/drawing/2014/main" val="876136591"/>
                    </a:ext>
                  </a:extLst>
                </a:gridCol>
                <a:gridCol w="360891">
                  <a:extLst>
                    <a:ext uri="{9D8B030D-6E8A-4147-A177-3AD203B41FA5}">
                      <a16:colId xmlns:a16="http://schemas.microsoft.com/office/drawing/2014/main" val="2521295267"/>
                    </a:ext>
                  </a:extLst>
                </a:gridCol>
                <a:gridCol w="360891">
                  <a:extLst>
                    <a:ext uri="{9D8B030D-6E8A-4147-A177-3AD203B41FA5}">
                      <a16:colId xmlns:a16="http://schemas.microsoft.com/office/drawing/2014/main" val="22921525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145182"/>
                  </a:ext>
                </a:extLst>
              </a:tr>
            </a:tbl>
          </a:graphicData>
        </a:graphic>
      </p:graphicFrame>
      <p:graphicFrame>
        <p:nvGraphicFramePr>
          <p:cNvPr id="89" name="表格 87">
            <a:extLst>
              <a:ext uri="{FF2B5EF4-FFF2-40B4-BE49-F238E27FC236}">
                <a16:creationId xmlns:a16="http://schemas.microsoft.com/office/drawing/2014/main" id="{3301CB49-866F-4242-A22C-488DB113C67E}"/>
              </a:ext>
            </a:extLst>
          </p:cNvPr>
          <p:cNvGraphicFramePr>
            <a:graphicFrameLocks noGrp="1"/>
          </p:cNvGraphicFramePr>
          <p:nvPr/>
        </p:nvGraphicFramePr>
        <p:xfrm>
          <a:off x="9130721" y="4310561"/>
          <a:ext cx="29109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867">
                  <a:extLst>
                    <a:ext uri="{9D8B030D-6E8A-4147-A177-3AD203B41FA5}">
                      <a16:colId xmlns:a16="http://schemas.microsoft.com/office/drawing/2014/main" val="1895685501"/>
                    </a:ext>
                  </a:extLst>
                </a:gridCol>
                <a:gridCol w="363867">
                  <a:extLst>
                    <a:ext uri="{9D8B030D-6E8A-4147-A177-3AD203B41FA5}">
                      <a16:colId xmlns:a16="http://schemas.microsoft.com/office/drawing/2014/main" val="876136591"/>
                    </a:ext>
                  </a:extLst>
                </a:gridCol>
                <a:gridCol w="363867">
                  <a:extLst>
                    <a:ext uri="{9D8B030D-6E8A-4147-A177-3AD203B41FA5}">
                      <a16:colId xmlns:a16="http://schemas.microsoft.com/office/drawing/2014/main" val="2521295267"/>
                    </a:ext>
                  </a:extLst>
                </a:gridCol>
                <a:gridCol w="363867">
                  <a:extLst>
                    <a:ext uri="{9D8B030D-6E8A-4147-A177-3AD203B41FA5}">
                      <a16:colId xmlns:a16="http://schemas.microsoft.com/office/drawing/2014/main" val="2292152595"/>
                    </a:ext>
                  </a:extLst>
                </a:gridCol>
                <a:gridCol w="363867">
                  <a:extLst>
                    <a:ext uri="{9D8B030D-6E8A-4147-A177-3AD203B41FA5}">
                      <a16:colId xmlns:a16="http://schemas.microsoft.com/office/drawing/2014/main" val="1009502557"/>
                    </a:ext>
                  </a:extLst>
                </a:gridCol>
                <a:gridCol w="363867">
                  <a:extLst>
                    <a:ext uri="{9D8B030D-6E8A-4147-A177-3AD203B41FA5}">
                      <a16:colId xmlns:a16="http://schemas.microsoft.com/office/drawing/2014/main" val="2186595058"/>
                    </a:ext>
                  </a:extLst>
                </a:gridCol>
                <a:gridCol w="363867">
                  <a:extLst>
                    <a:ext uri="{9D8B030D-6E8A-4147-A177-3AD203B41FA5}">
                      <a16:colId xmlns:a16="http://schemas.microsoft.com/office/drawing/2014/main" val="36910983"/>
                    </a:ext>
                  </a:extLst>
                </a:gridCol>
                <a:gridCol w="363867">
                  <a:extLst>
                    <a:ext uri="{9D8B030D-6E8A-4147-A177-3AD203B41FA5}">
                      <a16:colId xmlns:a16="http://schemas.microsoft.com/office/drawing/2014/main" val="28423475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145182"/>
                  </a:ext>
                </a:extLst>
              </a:tr>
            </a:tbl>
          </a:graphicData>
        </a:graphic>
      </p:graphicFrame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84C8B797-1E2D-4D03-BFB8-4AD8EDF1B0B3}"/>
              </a:ext>
            </a:extLst>
          </p:cNvPr>
          <p:cNvCxnSpPr>
            <a:cxnSpLocks/>
            <a:endCxn id="88" idx="1"/>
          </p:cNvCxnSpPr>
          <p:nvPr/>
        </p:nvCxnSpPr>
        <p:spPr>
          <a:xfrm>
            <a:off x="8455745" y="4002665"/>
            <a:ext cx="6749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7C455C79-924B-4184-9227-653A0E4366F1}"/>
              </a:ext>
            </a:extLst>
          </p:cNvPr>
          <p:cNvCxnSpPr>
            <a:cxnSpLocks/>
          </p:cNvCxnSpPr>
          <p:nvPr/>
        </p:nvCxnSpPr>
        <p:spPr>
          <a:xfrm>
            <a:off x="8455745" y="4468392"/>
            <a:ext cx="6749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2490DC0B-D14F-4B8A-8E59-C3149A5ED307}"/>
              </a:ext>
            </a:extLst>
          </p:cNvPr>
          <p:cNvCxnSpPr>
            <a:cxnSpLocks/>
          </p:cNvCxnSpPr>
          <p:nvPr/>
        </p:nvCxnSpPr>
        <p:spPr>
          <a:xfrm>
            <a:off x="8455745" y="3493425"/>
            <a:ext cx="6749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2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36914" y="1389743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指针</a:t>
            </a:r>
            <a:b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4900" dirty="0">
                <a:latin typeface="微软雅黑" panose="020B0503020204020204" charset="-122"/>
              </a:rPr>
              <a:t>6.3 </a:t>
            </a:r>
            <a:r>
              <a:rPr lang="zh-CN" altLang="en-US" sz="4900" dirty="0">
                <a:latin typeface="微软雅黑" panose="020B0503020204020204" charset="-122"/>
                <a:ea typeface="微软雅黑" panose="020B0503020204020204" charset="-122"/>
              </a:rPr>
              <a:t>指针与字符串、指针与函数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436609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中国计量大学  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语言程序设计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6A48D-B8D4-430A-AE1C-E921A6F75A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6A48D-B8D4-430A-AE1C-E921A6F75A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7EDA8FB-423E-EEF3-5A34-33D50FFF44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636" y="1717992"/>
            <a:ext cx="7267874" cy="342201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42365"/>
            <a:ext cx="10636704" cy="5203190"/>
          </a:xfrm>
        </p:spPr>
        <p:txBody>
          <a:bodyPr>
            <a:normAutofit/>
          </a:bodyPr>
          <a:lstStyle/>
          <a:p>
            <a:r>
              <a:rPr lang="zh-CN" altLang="en-US" dirty="0"/>
              <a:t>指针与字符数组</a:t>
            </a:r>
            <a:endParaRPr lang="en-US" altLang="zh-CN" dirty="0"/>
          </a:p>
          <a:p>
            <a:pPr lvl="1"/>
            <a:r>
              <a:rPr lang="zh-CN" altLang="en-US" dirty="0"/>
              <a:t>指针可以访问存储字符串的字符数组。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指针与字符串常量</a:t>
            </a:r>
            <a:endParaRPr lang="en-US" altLang="zh-CN" dirty="0"/>
          </a:p>
          <a:p>
            <a:pPr lvl="1"/>
            <a:r>
              <a:rPr lang="zh-CN" altLang="en-US" dirty="0"/>
              <a:t>指针可以指向字符串常量的起始地址，对字符串常量进行访问。</a:t>
            </a:r>
            <a:endParaRPr lang="en-US" altLang="zh-CN" dirty="0"/>
          </a:p>
          <a:p>
            <a:pPr lvl="2"/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42365"/>
            <a:ext cx="10636704" cy="5203190"/>
          </a:xfrm>
        </p:spPr>
        <p:txBody>
          <a:bodyPr>
            <a:normAutofit/>
          </a:bodyPr>
          <a:lstStyle/>
          <a:p>
            <a:r>
              <a:rPr lang="zh-CN" altLang="en-US" dirty="0"/>
              <a:t>指针与函数参数</a:t>
            </a:r>
            <a:endParaRPr lang="en-US" altLang="zh-CN" dirty="0"/>
          </a:p>
          <a:p>
            <a:pPr lvl="1"/>
            <a:r>
              <a:rPr lang="zh-CN" altLang="en-US" dirty="0"/>
              <a:t>指针作为函数参数，可以在函数内修改函数外的变量。</a:t>
            </a:r>
            <a:endParaRPr lang="en-US" altLang="zh-CN" dirty="0"/>
          </a:p>
          <a:p>
            <a:r>
              <a:rPr lang="zh-CN" altLang="en-US" dirty="0"/>
              <a:t>指向函数的指针</a:t>
            </a:r>
            <a:endParaRPr lang="en-US" altLang="zh-CN" dirty="0"/>
          </a:p>
          <a:p>
            <a:pPr lvl="1"/>
            <a:r>
              <a:rPr lang="zh-CN" altLang="en-US" dirty="0"/>
              <a:t>存储函数的地址，并允许通过指针调用该函数。</a:t>
            </a:r>
            <a:endParaRPr lang="en-US" dirty="0"/>
          </a:p>
          <a:p>
            <a:r>
              <a:rPr lang="zh-CN" altLang="en-US" dirty="0"/>
              <a:t>指针函数</a:t>
            </a:r>
            <a:endParaRPr lang="en-US" altLang="zh-CN" dirty="0"/>
          </a:p>
          <a:p>
            <a:pPr lvl="1"/>
            <a:r>
              <a:rPr lang="zh-CN" altLang="en-US" dirty="0"/>
              <a:t>以指针作为返回值的函数。</a:t>
            </a:r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语言程序设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未标题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695" y="600710"/>
            <a:ext cx="5625465" cy="12090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078736" y="926118"/>
            <a:ext cx="6034528" cy="6924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锐字潮牌真言简2.0免费 大粗" panose="02020300000000000000" charset="-122"/>
                <a:ea typeface="锐字潮牌真言简2.0免费 大粗" panose="02020300000000000000" charset="-122"/>
                <a:cs typeface="锐字潮牌真言简2.0免费 大粗" panose="02020300000000000000" charset="-122"/>
              </a:rPr>
              <a:t>指针与字符串和函数</a:t>
            </a:r>
          </a:p>
        </p:txBody>
      </p:sp>
      <p:pic>
        <p:nvPicPr>
          <p:cNvPr id="7" name="图片 6" descr="未标1题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45" y="1618615"/>
            <a:ext cx="802640" cy="600075"/>
          </a:xfrm>
          <a:prstGeom prst="rect">
            <a:avLst/>
          </a:prstGeom>
        </p:spPr>
      </p:pic>
      <p:sp>
        <p:nvSpPr>
          <p:cNvPr id="8" name="内容占位符 2"/>
          <p:cNvSpPr txBox="1"/>
          <p:nvPr/>
        </p:nvSpPr>
        <p:spPr>
          <a:xfrm>
            <a:off x="1243584" y="1618615"/>
            <a:ext cx="10643616" cy="4917652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25000" lnSpcReduction="2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3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3200" b="1" i="0" u="none" strike="noStrike" kern="1200" cap="none" spc="150" normalizeH="0" baseline="0" noProof="1" dirty="0">
                <a:solidFill>
                  <a:schemeClr val="accent2">
                    <a:lumMod val="50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80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【</a:t>
            </a:r>
            <a:r>
              <a:rPr kumimoji="0" lang="zh-CN" altLang="en-US" sz="80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指针与字符串和函数实例</a:t>
            </a:r>
            <a:r>
              <a:rPr kumimoji="0" lang="en-US" altLang="zh-CN" sz="80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6.13】</a:t>
            </a:r>
            <a:r>
              <a:rPr kumimoji="0" lang="zh-CN" altLang="en-US" sz="80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编写一个</a:t>
            </a:r>
            <a:r>
              <a:rPr kumimoji="0" lang="en-US" altLang="zh-CN" sz="80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mystrlen()</a:t>
            </a:r>
            <a:r>
              <a:rPr kumimoji="0" lang="zh-CN" altLang="en-US" sz="80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函数，用于求字符串长度。</a:t>
            </a:r>
            <a:endParaRPr kumimoji="0" lang="en-US" altLang="zh-CN" sz="8000" b="0" i="0" u="none" strike="noStrike" kern="1200" cap="none" spc="15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+mn-ea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#include &lt;</a:t>
            </a:r>
            <a:r>
              <a:rPr lang="en-US" altLang="zh-CN" sz="8000" b="1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stdio.h</a:t>
            </a: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int </a:t>
            </a:r>
            <a:r>
              <a:rPr lang="en-US" altLang="zh-CN" sz="8000" b="1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mystrlen</a:t>
            </a: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(char *str) { // </a:t>
            </a:r>
            <a:r>
              <a:rPr lang="zh-CN" altLang="en-US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指针作为函数参数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zh-CN" altLang="en-US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char *p;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for (p = str; *p != '\0'; p++)  {} // </a:t>
            </a:r>
            <a:r>
              <a:rPr lang="zh-CN" altLang="en-US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用指针查找字符串结束符位置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return p - str;  // </a:t>
            </a:r>
            <a:r>
              <a:rPr lang="zh-CN" altLang="en-US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字符串结束符与字符串首地址的偏移量就是字符串长度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int main(void)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char *str1 = "Hello CJLU"; // </a:t>
            </a:r>
            <a:r>
              <a:rPr lang="zh-CN" altLang="en-US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指针指向字符串常量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zh-CN" altLang="en-US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char *str2 = "I love CJLU"; // </a:t>
            </a:r>
            <a:r>
              <a:rPr lang="zh-CN" altLang="en-US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指针指向字符串常量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zh-CN" altLang="en-US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int len1 = </a:t>
            </a:r>
            <a:r>
              <a:rPr lang="en-US" altLang="zh-CN" sz="8000" b="1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mystrlen</a:t>
            </a: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(str1);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int len2 = </a:t>
            </a:r>
            <a:r>
              <a:rPr lang="en-US" altLang="zh-CN" sz="8000" b="1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mystrlen</a:t>
            </a: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(str2);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8000" b="1" dirty="0" err="1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("len1: %d, len2: %d\n", len1, len2);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return 0;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8000" b="1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6.3.1 </a:t>
            </a:r>
            <a:r>
              <a:rPr lang="zh-CN" altLang="en-US" dirty="0"/>
              <a:t>指针与字符串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8618" y="1022175"/>
            <a:ext cx="7164096" cy="5546301"/>
          </a:xfrm>
        </p:spPr>
        <p:txBody>
          <a:bodyPr>
            <a:norm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指针与字符数组</a:t>
            </a:r>
          </a:p>
          <a:p>
            <a:pPr lvl="1"/>
            <a:r>
              <a:rPr lang="zh-CN" altLang="en-US" dirty="0"/>
              <a:t>若字符串存于字符数组，则数组名就是表示字符串首地址的指针。</a:t>
            </a:r>
            <a:endParaRPr lang="en-US" altLang="zh-CN" dirty="0"/>
          </a:p>
          <a:p>
            <a:pPr lvl="1"/>
            <a:endParaRPr dirty="0"/>
          </a:p>
        </p:txBody>
      </p:sp>
      <p:sp>
        <p:nvSpPr>
          <p:cNvPr id="33" name="Text Box 6"/>
          <p:cNvSpPr txBox="1">
            <a:spLocks noChangeArrowheads="1"/>
          </p:cNvSpPr>
          <p:nvPr/>
        </p:nvSpPr>
        <p:spPr bwMode="auto">
          <a:xfrm>
            <a:off x="563992" y="3078692"/>
            <a:ext cx="4643765" cy="3083983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main(void)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char string[] = "I love China!";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puts(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string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*(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string + 12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= '\0';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puts(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string + 7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return 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Text Box 6"/>
          <p:cNvSpPr txBox="1">
            <a:spLocks noChangeArrowheads="1"/>
          </p:cNvSpPr>
          <p:nvPr/>
        </p:nvSpPr>
        <p:spPr bwMode="auto">
          <a:xfrm>
            <a:off x="5335997" y="3084337"/>
            <a:ext cx="1811977" cy="1201914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运行结果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it-IT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love China!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it-IT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China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Text Box 5"/>
          <p:cNvSpPr txBox="1">
            <a:spLocks noChangeArrowheads="1"/>
          </p:cNvSpPr>
          <p:nvPr/>
        </p:nvSpPr>
        <p:spPr bwMode="auto">
          <a:xfrm>
            <a:off x="9222355" y="1243013"/>
            <a:ext cx="2840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</a:p>
        </p:txBody>
      </p:sp>
      <p:sp>
        <p:nvSpPr>
          <p:cNvPr id="40" name="Text Box 6"/>
          <p:cNvSpPr txBox="1">
            <a:spLocks noChangeArrowheads="1"/>
          </p:cNvSpPr>
          <p:nvPr/>
        </p:nvSpPr>
        <p:spPr bwMode="auto">
          <a:xfrm>
            <a:off x="9222355" y="1909763"/>
            <a:ext cx="25399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</a:t>
            </a:r>
          </a:p>
        </p:txBody>
      </p:sp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9222355" y="2241550"/>
            <a:ext cx="31114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</a:p>
        </p:txBody>
      </p:sp>
      <p:sp>
        <p:nvSpPr>
          <p:cNvPr id="42" name="Text Box 8"/>
          <p:cNvSpPr txBox="1">
            <a:spLocks noChangeArrowheads="1"/>
          </p:cNvSpPr>
          <p:nvPr/>
        </p:nvSpPr>
        <p:spPr bwMode="auto">
          <a:xfrm>
            <a:off x="9222355" y="2574925"/>
            <a:ext cx="31114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9222355" y="2906713"/>
            <a:ext cx="296856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</a:p>
        </p:txBody>
      </p:sp>
      <p:sp>
        <p:nvSpPr>
          <p:cNvPr id="44" name="Text Box 10"/>
          <p:cNvSpPr txBox="1">
            <a:spLocks noChangeArrowheads="1"/>
          </p:cNvSpPr>
          <p:nvPr/>
        </p:nvSpPr>
        <p:spPr bwMode="auto">
          <a:xfrm>
            <a:off x="9222355" y="3571875"/>
            <a:ext cx="3706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9222355" y="390525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</a:p>
        </p:txBody>
      </p:sp>
      <p:sp>
        <p:nvSpPr>
          <p:cNvPr id="46" name="Text Box 12"/>
          <p:cNvSpPr txBox="1">
            <a:spLocks noChangeArrowheads="1"/>
          </p:cNvSpPr>
          <p:nvPr/>
        </p:nvSpPr>
        <p:spPr bwMode="auto">
          <a:xfrm>
            <a:off x="9222355" y="4237038"/>
            <a:ext cx="25399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</a:p>
        </p:txBody>
      </p:sp>
      <p:sp>
        <p:nvSpPr>
          <p:cNvPr id="47" name="Text Box 13"/>
          <p:cNvSpPr txBox="1">
            <a:spLocks noChangeArrowheads="1"/>
          </p:cNvSpPr>
          <p:nvPr/>
        </p:nvSpPr>
        <p:spPr bwMode="auto">
          <a:xfrm>
            <a:off x="9870041" y="1225550"/>
            <a:ext cx="11224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string[0]</a:t>
            </a:r>
          </a:p>
        </p:txBody>
      </p:sp>
      <p:sp>
        <p:nvSpPr>
          <p:cNvPr id="48" name="Text Box 14"/>
          <p:cNvSpPr txBox="1">
            <a:spLocks noChangeArrowheads="1"/>
          </p:cNvSpPr>
          <p:nvPr/>
        </p:nvSpPr>
        <p:spPr bwMode="auto">
          <a:xfrm>
            <a:off x="9870041" y="1558925"/>
            <a:ext cx="11224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string[1]</a:t>
            </a:r>
          </a:p>
        </p:txBody>
      </p:sp>
      <p:sp>
        <p:nvSpPr>
          <p:cNvPr id="49" name="Text Box 15"/>
          <p:cNvSpPr txBox="1">
            <a:spLocks noChangeArrowheads="1"/>
          </p:cNvSpPr>
          <p:nvPr/>
        </p:nvSpPr>
        <p:spPr bwMode="auto">
          <a:xfrm>
            <a:off x="9870041" y="1892300"/>
            <a:ext cx="11224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string[2]</a:t>
            </a:r>
          </a:p>
        </p:txBody>
      </p:sp>
      <p:sp>
        <p:nvSpPr>
          <p:cNvPr id="50" name="Text Box 16"/>
          <p:cNvSpPr txBox="1">
            <a:spLocks noChangeArrowheads="1"/>
          </p:cNvSpPr>
          <p:nvPr/>
        </p:nvSpPr>
        <p:spPr bwMode="auto">
          <a:xfrm>
            <a:off x="9870041" y="2225675"/>
            <a:ext cx="11224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string[3]</a:t>
            </a:r>
          </a:p>
        </p:txBody>
      </p:sp>
      <p:sp>
        <p:nvSpPr>
          <p:cNvPr id="51" name="Text Box 17"/>
          <p:cNvSpPr txBox="1">
            <a:spLocks noChangeArrowheads="1"/>
          </p:cNvSpPr>
          <p:nvPr/>
        </p:nvSpPr>
        <p:spPr bwMode="auto">
          <a:xfrm>
            <a:off x="9870041" y="2559050"/>
            <a:ext cx="11224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string[4]</a:t>
            </a:r>
          </a:p>
        </p:txBody>
      </p:sp>
      <p:sp>
        <p:nvSpPr>
          <p:cNvPr id="52" name="Text Box 18"/>
          <p:cNvSpPr txBox="1">
            <a:spLocks noChangeArrowheads="1"/>
          </p:cNvSpPr>
          <p:nvPr/>
        </p:nvSpPr>
        <p:spPr bwMode="auto">
          <a:xfrm>
            <a:off x="9870041" y="2892425"/>
            <a:ext cx="11224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string[5]</a:t>
            </a:r>
          </a:p>
        </p:txBody>
      </p:sp>
      <p:sp>
        <p:nvSpPr>
          <p:cNvPr id="53" name="Text Box 19"/>
          <p:cNvSpPr txBox="1">
            <a:spLocks noChangeArrowheads="1"/>
          </p:cNvSpPr>
          <p:nvPr/>
        </p:nvSpPr>
        <p:spPr bwMode="auto">
          <a:xfrm>
            <a:off x="9870041" y="3225800"/>
            <a:ext cx="11224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string[6]</a:t>
            </a:r>
          </a:p>
        </p:txBody>
      </p:sp>
      <p:sp>
        <p:nvSpPr>
          <p:cNvPr id="54" name="Text Box 20"/>
          <p:cNvSpPr txBox="1">
            <a:spLocks noChangeArrowheads="1"/>
          </p:cNvSpPr>
          <p:nvPr/>
        </p:nvSpPr>
        <p:spPr bwMode="auto">
          <a:xfrm>
            <a:off x="9870041" y="3559175"/>
            <a:ext cx="11224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string[7]</a:t>
            </a:r>
          </a:p>
        </p:txBody>
      </p:sp>
      <p:sp>
        <p:nvSpPr>
          <p:cNvPr id="55" name="Text Box 21"/>
          <p:cNvSpPr txBox="1">
            <a:spLocks noChangeArrowheads="1"/>
          </p:cNvSpPr>
          <p:nvPr/>
        </p:nvSpPr>
        <p:spPr bwMode="auto">
          <a:xfrm>
            <a:off x="9870041" y="3892550"/>
            <a:ext cx="11224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string[8]</a:t>
            </a:r>
          </a:p>
        </p:txBody>
      </p:sp>
      <p:sp>
        <p:nvSpPr>
          <p:cNvPr id="56" name="Text Box 22"/>
          <p:cNvSpPr txBox="1">
            <a:spLocks noChangeArrowheads="1"/>
          </p:cNvSpPr>
          <p:nvPr/>
        </p:nvSpPr>
        <p:spPr bwMode="auto">
          <a:xfrm>
            <a:off x="9870041" y="4225925"/>
            <a:ext cx="11224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string[9]</a:t>
            </a:r>
          </a:p>
        </p:txBody>
      </p:sp>
      <p:sp>
        <p:nvSpPr>
          <p:cNvPr id="57" name="Line 23"/>
          <p:cNvSpPr>
            <a:spLocks noChangeShapeType="1"/>
          </p:cNvSpPr>
          <p:nvPr/>
        </p:nvSpPr>
        <p:spPr bwMode="auto">
          <a:xfrm>
            <a:off x="8404809" y="1285875"/>
            <a:ext cx="52862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8" name="Text Box 24"/>
          <p:cNvSpPr txBox="1">
            <a:spLocks noChangeArrowheads="1"/>
          </p:cNvSpPr>
          <p:nvPr/>
        </p:nvSpPr>
        <p:spPr bwMode="auto">
          <a:xfrm>
            <a:off x="7517410" y="1066800"/>
            <a:ext cx="8242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</a:t>
            </a:r>
          </a:p>
        </p:txBody>
      </p:sp>
      <p:grpSp>
        <p:nvGrpSpPr>
          <p:cNvPr id="59" name="Group 25"/>
          <p:cNvGrpSpPr/>
          <p:nvPr/>
        </p:nvGrpSpPr>
        <p:grpSpPr bwMode="auto">
          <a:xfrm>
            <a:off x="8933436" y="1268413"/>
            <a:ext cx="971530" cy="4710113"/>
            <a:chOff x="4134" y="1211"/>
            <a:chExt cx="834" cy="2967"/>
          </a:xfrm>
        </p:grpSpPr>
        <p:sp>
          <p:nvSpPr>
            <p:cNvPr id="68" name="Rectangle 26"/>
            <p:cNvSpPr>
              <a:spLocks noChangeArrowheads="1"/>
            </p:cNvSpPr>
            <p:nvPr/>
          </p:nvSpPr>
          <p:spPr bwMode="auto">
            <a:xfrm>
              <a:off x="4134" y="1211"/>
              <a:ext cx="834" cy="296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Line 27"/>
            <p:cNvSpPr>
              <a:spLocks noChangeShapeType="1"/>
            </p:cNvSpPr>
            <p:nvPr/>
          </p:nvSpPr>
          <p:spPr bwMode="auto">
            <a:xfrm>
              <a:off x="4134" y="1411"/>
              <a:ext cx="8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0" name="Line 28"/>
            <p:cNvSpPr>
              <a:spLocks noChangeShapeType="1"/>
            </p:cNvSpPr>
            <p:nvPr/>
          </p:nvSpPr>
          <p:spPr bwMode="auto">
            <a:xfrm>
              <a:off x="4134" y="1623"/>
              <a:ext cx="8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1" name="Line 29"/>
            <p:cNvSpPr>
              <a:spLocks noChangeShapeType="1"/>
            </p:cNvSpPr>
            <p:nvPr/>
          </p:nvSpPr>
          <p:spPr bwMode="auto">
            <a:xfrm>
              <a:off x="4134" y="1836"/>
              <a:ext cx="8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2" name="Line 30"/>
            <p:cNvSpPr>
              <a:spLocks noChangeShapeType="1"/>
            </p:cNvSpPr>
            <p:nvPr/>
          </p:nvSpPr>
          <p:spPr bwMode="auto">
            <a:xfrm>
              <a:off x="4134" y="2048"/>
              <a:ext cx="8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3" name="Line 31"/>
            <p:cNvSpPr>
              <a:spLocks noChangeShapeType="1"/>
            </p:cNvSpPr>
            <p:nvPr/>
          </p:nvSpPr>
          <p:spPr bwMode="auto">
            <a:xfrm>
              <a:off x="4134" y="2261"/>
              <a:ext cx="8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4" name="Line 32"/>
            <p:cNvSpPr>
              <a:spLocks noChangeShapeType="1"/>
            </p:cNvSpPr>
            <p:nvPr/>
          </p:nvSpPr>
          <p:spPr bwMode="auto">
            <a:xfrm>
              <a:off x="4134" y="2474"/>
              <a:ext cx="8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5" name="Line 33"/>
            <p:cNvSpPr>
              <a:spLocks noChangeShapeType="1"/>
            </p:cNvSpPr>
            <p:nvPr/>
          </p:nvSpPr>
          <p:spPr bwMode="auto">
            <a:xfrm>
              <a:off x="4134" y="2686"/>
              <a:ext cx="8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6" name="Line 34"/>
            <p:cNvSpPr>
              <a:spLocks noChangeShapeType="1"/>
            </p:cNvSpPr>
            <p:nvPr/>
          </p:nvSpPr>
          <p:spPr bwMode="auto">
            <a:xfrm>
              <a:off x="4134" y="2899"/>
              <a:ext cx="8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7" name="Line 35"/>
            <p:cNvSpPr>
              <a:spLocks noChangeShapeType="1"/>
            </p:cNvSpPr>
            <p:nvPr/>
          </p:nvSpPr>
          <p:spPr bwMode="auto">
            <a:xfrm>
              <a:off x="4134" y="3112"/>
              <a:ext cx="8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8" name="Line 36"/>
            <p:cNvSpPr>
              <a:spLocks noChangeShapeType="1"/>
            </p:cNvSpPr>
            <p:nvPr/>
          </p:nvSpPr>
          <p:spPr bwMode="auto">
            <a:xfrm>
              <a:off x="4145" y="3333"/>
              <a:ext cx="8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9" name="Line 37"/>
            <p:cNvSpPr>
              <a:spLocks noChangeShapeType="1"/>
            </p:cNvSpPr>
            <p:nvPr/>
          </p:nvSpPr>
          <p:spPr bwMode="auto">
            <a:xfrm>
              <a:off x="4141" y="3540"/>
              <a:ext cx="8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0" name="Line 38"/>
            <p:cNvSpPr>
              <a:spLocks noChangeShapeType="1"/>
            </p:cNvSpPr>
            <p:nvPr/>
          </p:nvSpPr>
          <p:spPr bwMode="auto">
            <a:xfrm>
              <a:off x="4141" y="3762"/>
              <a:ext cx="8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1" name="Line 39"/>
            <p:cNvSpPr>
              <a:spLocks noChangeShapeType="1"/>
            </p:cNvSpPr>
            <p:nvPr/>
          </p:nvSpPr>
          <p:spPr bwMode="auto">
            <a:xfrm>
              <a:off x="4141" y="3973"/>
              <a:ext cx="8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60" name="Text Box 40"/>
          <p:cNvSpPr txBox="1">
            <a:spLocks noChangeArrowheads="1"/>
          </p:cNvSpPr>
          <p:nvPr/>
        </p:nvSpPr>
        <p:spPr bwMode="auto">
          <a:xfrm>
            <a:off x="9870041" y="4559300"/>
            <a:ext cx="12506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string[10]</a:t>
            </a:r>
          </a:p>
        </p:txBody>
      </p:sp>
      <p:sp>
        <p:nvSpPr>
          <p:cNvPr id="61" name="Text Box 41"/>
          <p:cNvSpPr txBox="1">
            <a:spLocks noChangeArrowheads="1"/>
          </p:cNvSpPr>
          <p:nvPr/>
        </p:nvSpPr>
        <p:spPr bwMode="auto">
          <a:xfrm>
            <a:off x="9870041" y="4892675"/>
            <a:ext cx="12364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string[11]</a:t>
            </a:r>
          </a:p>
        </p:txBody>
      </p:sp>
      <p:sp>
        <p:nvSpPr>
          <p:cNvPr id="62" name="Text Box 42"/>
          <p:cNvSpPr txBox="1">
            <a:spLocks noChangeArrowheads="1"/>
          </p:cNvSpPr>
          <p:nvPr/>
        </p:nvSpPr>
        <p:spPr bwMode="auto">
          <a:xfrm>
            <a:off x="9870041" y="5226050"/>
            <a:ext cx="12506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string[12]</a:t>
            </a:r>
          </a:p>
        </p:txBody>
      </p:sp>
      <p:sp>
        <p:nvSpPr>
          <p:cNvPr id="63" name="Text Box 43"/>
          <p:cNvSpPr txBox="1">
            <a:spLocks noChangeArrowheads="1"/>
          </p:cNvSpPr>
          <p:nvPr/>
        </p:nvSpPr>
        <p:spPr bwMode="auto">
          <a:xfrm>
            <a:off x="9870041" y="5559425"/>
            <a:ext cx="12506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string[13]</a:t>
            </a:r>
          </a:p>
        </p:txBody>
      </p:sp>
      <p:sp>
        <p:nvSpPr>
          <p:cNvPr id="64" name="Text Box 44"/>
          <p:cNvSpPr txBox="1">
            <a:spLocks noChangeArrowheads="1"/>
          </p:cNvSpPr>
          <p:nvPr/>
        </p:nvSpPr>
        <p:spPr bwMode="auto">
          <a:xfrm>
            <a:off x="9222355" y="457200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</a:p>
        </p:txBody>
      </p:sp>
      <p:sp>
        <p:nvSpPr>
          <p:cNvPr id="65" name="Text Box 45"/>
          <p:cNvSpPr txBox="1">
            <a:spLocks noChangeArrowheads="1"/>
          </p:cNvSpPr>
          <p:nvPr/>
        </p:nvSpPr>
        <p:spPr bwMode="auto">
          <a:xfrm>
            <a:off x="9203305" y="5241925"/>
            <a:ext cx="7889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! 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→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\0</a:t>
            </a:r>
          </a:p>
        </p:txBody>
      </p:sp>
      <p:sp>
        <p:nvSpPr>
          <p:cNvPr id="66" name="Text Box 46"/>
          <p:cNvSpPr txBox="1">
            <a:spLocks noChangeArrowheads="1"/>
          </p:cNvSpPr>
          <p:nvPr/>
        </p:nvSpPr>
        <p:spPr bwMode="auto">
          <a:xfrm>
            <a:off x="9222355" y="4906963"/>
            <a:ext cx="3129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sp>
        <p:nvSpPr>
          <p:cNvPr id="67" name="Text Box 47"/>
          <p:cNvSpPr txBox="1">
            <a:spLocks noChangeArrowheads="1"/>
          </p:cNvSpPr>
          <p:nvPr/>
        </p:nvSpPr>
        <p:spPr bwMode="auto">
          <a:xfrm>
            <a:off x="9222355" y="5576888"/>
            <a:ext cx="38099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\0</a:t>
            </a:r>
          </a:p>
        </p:txBody>
      </p:sp>
      <p:sp>
        <p:nvSpPr>
          <p:cNvPr id="37" name="Line 23"/>
          <p:cNvSpPr>
            <a:spLocks noChangeShapeType="1"/>
          </p:cNvSpPr>
          <p:nvPr/>
        </p:nvSpPr>
        <p:spPr bwMode="auto">
          <a:xfrm>
            <a:off x="8417732" y="3614291"/>
            <a:ext cx="52862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8" name="Text Box 24"/>
          <p:cNvSpPr txBox="1">
            <a:spLocks noChangeArrowheads="1"/>
          </p:cNvSpPr>
          <p:nvPr/>
        </p:nvSpPr>
        <p:spPr bwMode="auto">
          <a:xfrm>
            <a:off x="7372879" y="3395216"/>
            <a:ext cx="109837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string+7</a:t>
            </a:r>
          </a:p>
        </p:txBody>
      </p:sp>
      <p:sp>
        <p:nvSpPr>
          <p:cNvPr id="82" name="Text Box 24"/>
          <p:cNvSpPr txBox="1">
            <a:spLocks noChangeArrowheads="1"/>
          </p:cNvSpPr>
          <p:nvPr/>
        </p:nvSpPr>
        <p:spPr bwMode="auto">
          <a:xfrm>
            <a:off x="8794063" y="761971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字符数组</a:t>
            </a:r>
            <a:endParaRPr kumimoji="1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Line 23"/>
          <p:cNvSpPr>
            <a:spLocks noChangeShapeType="1"/>
          </p:cNvSpPr>
          <p:nvPr/>
        </p:nvSpPr>
        <p:spPr bwMode="auto">
          <a:xfrm>
            <a:off x="8409262" y="5426160"/>
            <a:ext cx="52862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4" name="Text Box 24"/>
          <p:cNvSpPr txBox="1">
            <a:spLocks noChangeArrowheads="1"/>
          </p:cNvSpPr>
          <p:nvPr/>
        </p:nvSpPr>
        <p:spPr bwMode="auto">
          <a:xfrm>
            <a:off x="7281857" y="5207085"/>
            <a:ext cx="12266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string+12</a:t>
            </a: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42365"/>
            <a:ext cx="11022542" cy="5647902"/>
          </a:xfrm>
        </p:spPr>
        <p:txBody>
          <a:bodyPr>
            <a:norm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指针与字符串常量</a:t>
            </a:r>
            <a:endParaRPr lang="en-US" altLang="zh-CN" dirty="0"/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语言会为每个字符串常量分配一个内存地址，指针可以指向字符串常量的起始地址，从而访问字符串。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00B0F0"/>
                </a:solidFill>
              </a:rPr>
              <a:t>char *name = "CJLU";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字符串常量被分配在内存的常量区，</a:t>
            </a:r>
            <a:r>
              <a:rPr lang="zh-CN" altLang="en-US" dirty="0">
                <a:solidFill>
                  <a:srgbClr val="FF0000"/>
                </a:solidFill>
              </a:rPr>
              <a:t>不可修改字符串常量中的任何字符。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kumimoji="0" lang="en-US" altLang="zh-CN" sz="3200" b="0" i="0" u="none" strike="noStrike" kern="1200" cap="none" spc="150" normalizeH="0" baseline="0" noProof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	*(name + 1) = 'A';	</a:t>
            </a:r>
            <a:r>
              <a:rPr kumimoji="0" lang="en-US" altLang="zh-CN" sz="3200" b="0" i="0" u="none" strike="noStrike" kern="1200" cap="none" spc="15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❌</a:t>
            </a:r>
          </a:p>
          <a:p>
            <a:pPr marL="457200" lvl="1" indent="0">
              <a:buNone/>
            </a:pPr>
            <a:r>
              <a:rPr lang="en-US" altLang="zh-CN" b="0" dirty="0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charset="-122"/>
              </a:rPr>
              <a:t>	name[1]</a:t>
            </a:r>
            <a:r>
              <a:rPr kumimoji="0" lang="en-US" altLang="zh-CN" sz="3200" b="0" i="0" u="none" strike="noStrike" kern="1200" cap="none" spc="150" normalizeH="0" baseline="0" noProof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 = 'A';		</a:t>
            </a:r>
            <a:r>
              <a:rPr kumimoji="0" lang="en-US" altLang="zh-CN" sz="3200" b="0" i="0" u="none" strike="noStrike" kern="1200" cap="none" spc="15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❌</a:t>
            </a:r>
          </a:p>
          <a:p>
            <a:pPr marL="457200" lvl="1" indent="0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42365"/>
            <a:ext cx="7331075" cy="5647902"/>
          </a:xfrm>
        </p:spPr>
        <p:txBody>
          <a:bodyPr>
            <a:norm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指针与字符串常量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  <p:sp>
        <p:nvSpPr>
          <p:cNvPr id="33" name="Text Box 6"/>
          <p:cNvSpPr txBox="1">
            <a:spLocks noChangeArrowheads="1"/>
          </p:cNvSpPr>
          <p:nvPr/>
        </p:nvSpPr>
        <p:spPr bwMode="auto">
          <a:xfrm>
            <a:off x="760733" y="2159451"/>
            <a:ext cx="5043118" cy="3381813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main(void)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char *string = "I love China!";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puts(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string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不可运行 *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(string + 12) = '\0';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puts(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string + 7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("%c\n", *string);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return 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Text Box 6"/>
          <p:cNvSpPr txBox="1">
            <a:spLocks noChangeArrowheads="1"/>
          </p:cNvSpPr>
          <p:nvPr/>
        </p:nvSpPr>
        <p:spPr bwMode="auto">
          <a:xfrm>
            <a:off x="6057681" y="2159452"/>
            <a:ext cx="1811977" cy="1484584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运行结果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love China!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China!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158577" y="400685"/>
            <a:ext cx="3848497" cy="5249892"/>
            <a:chOff x="7339396" y="728634"/>
            <a:chExt cx="3848497" cy="5249892"/>
          </a:xfrm>
        </p:grpSpPr>
        <p:sp>
          <p:nvSpPr>
            <p:cNvPr id="83" name="Text Box 5"/>
            <p:cNvSpPr txBox="1">
              <a:spLocks noChangeArrowheads="1"/>
            </p:cNvSpPr>
            <p:nvPr/>
          </p:nvSpPr>
          <p:spPr bwMode="auto">
            <a:xfrm>
              <a:off x="9222355" y="1243013"/>
              <a:ext cx="28405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  <p:sp>
          <p:nvSpPr>
            <p:cNvPr id="84" name="Text Box 6"/>
            <p:cNvSpPr txBox="1">
              <a:spLocks noChangeArrowheads="1"/>
            </p:cNvSpPr>
            <p:nvPr/>
          </p:nvSpPr>
          <p:spPr bwMode="auto">
            <a:xfrm>
              <a:off x="9222355" y="1909763"/>
              <a:ext cx="25399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</a:t>
              </a:r>
            </a:p>
          </p:txBody>
        </p:sp>
        <p:sp>
          <p:nvSpPr>
            <p:cNvPr id="85" name="Text Box 7"/>
            <p:cNvSpPr txBox="1">
              <a:spLocks noChangeArrowheads="1"/>
            </p:cNvSpPr>
            <p:nvPr/>
          </p:nvSpPr>
          <p:spPr bwMode="auto">
            <a:xfrm>
              <a:off x="9222355" y="2241550"/>
              <a:ext cx="31114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</a:t>
              </a:r>
            </a:p>
          </p:txBody>
        </p:sp>
        <p:sp>
          <p:nvSpPr>
            <p:cNvPr id="86" name="Text Box 8"/>
            <p:cNvSpPr txBox="1">
              <a:spLocks noChangeArrowheads="1"/>
            </p:cNvSpPr>
            <p:nvPr/>
          </p:nvSpPr>
          <p:spPr bwMode="auto">
            <a:xfrm>
              <a:off x="9222355" y="2574925"/>
              <a:ext cx="31114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</a:p>
          </p:txBody>
        </p:sp>
        <p:sp>
          <p:nvSpPr>
            <p:cNvPr id="87" name="Text Box 9"/>
            <p:cNvSpPr txBox="1">
              <a:spLocks noChangeArrowheads="1"/>
            </p:cNvSpPr>
            <p:nvPr/>
          </p:nvSpPr>
          <p:spPr bwMode="auto">
            <a:xfrm>
              <a:off x="9222355" y="2906713"/>
              <a:ext cx="296856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</a:t>
              </a:r>
            </a:p>
          </p:txBody>
        </p:sp>
        <p:sp>
          <p:nvSpPr>
            <p:cNvPr id="88" name="Text Box 10"/>
            <p:cNvSpPr txBox="1">
              <a:spLocks noChangeArrowheads="1"/>
            </p:cNvSpPr>
            <p:nvPr/>
          </p:nvSpPr>
          <p:spPr bwMode="auto">
            <a:xfrm>
              <a:off x="9222355" y="3571875"/>
              <a:ext cx="37061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89" name="Text Box 11"/>
            <p:cNvSpPr txBox="1">
              <a:spLocks noChangeArrowheads="1"/>
            </p:cNvSpPr>
            <p:nvPr/>
          </p:nvSpPr>
          <p:spPr bwMode="auto">
            <a:xfrm>
              <a:off x="9222355" y="3905250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h</a:t>
              </a:r>
            </a:p>
          </p:txBody>
        </p:sp>
        <p:sp>
          <p:nvSpPr>
            <p:cNvPr id="90" name="Text Box 12"/>
            <p:cNvSpPr txBox="1">
              <a:spLocks noChangeArrowheads="1"/>
            </p:cNvSpPr>
            <p:nvPr/>
          </p:nvSpPr>
          <p:spPr bwMode="auto">
            <a:xfrm>
              <a:off x="9222355" y="4237038"/>
              <a:ext cx="25399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  <p:sp>
          <p:nvSpPr>
            <p:cNvPr id="101" name="Line 23"/>
            <p:cNvSpPr>
              <a:spLocks noChangeShapeType="1"/>
            </p:cNvSpPr>
            <p:nvPr/>
          </p:nvSpPr>
          <p:spPr bwMode="auto">
            <a:xfrm>
              <a:off x="8404809" y="1285875"/>
              <a:ext cx="5286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02" name="Text Box 24"/>
            <p:cNvSpPr txBox="1">
              <a:spLocks noChangeArrowheads="1"/>
            </p:cNvSpPr>
            <p:nvPr/>
          </p:nvSpPr>
          <p:spPr bwMode="auto">
            <a:xfrm>
              <a:off x="7507677" y="1081664"/>
              <a:ext cx="82426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00B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string</a:t>
              </a:r>
            </a:p>
          </p:txBody>
        </p:sp>
        <p:grpSp>
          <p:nvGrpSpPr>
            <p:cNvPr id="103" name="Group 25"/>
            <p:cNvGrpSpPr/>
            <p:nvPr/>
          </p:nvGrpSpPr>
          <p:grpSpPr bwMode="auto">
            <a:xfrm>
              <a:off x="8933436" y="1268413"/>
              <a:ext cx="971530" cy="4710113"/>
              <a:chOff x="4134" y="1211"/>
              <a:chExt cx="834" cy="2967"/>
            </a:xfrm>
          </p:grpSpPr>
          <p:sp>
            <p:nvSpPr>
              <p:cNvPr id="115" name="Rectangle 26"/>
              <p:cNvSpPr>
                <a:spLocks noChangeArrowheads="1"/>
              </p:cNvSpPr>
              <p:nvPr/>
            </p:nvSpPr>
            <p:spPr bwMode="auto">
              <a:xfrm>
                <a:off x="4134" y="1211"/>
                <a:ext cx="834" cy="296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6" name="Line 27"/>
              <p:cNvSpPr>
                <a:spLocks noChangeShapeType="1"/>
              </p:cNvSpPr>
              <p:nvPr/>
            </p:nvSpPr>
            <p:spPr bwMode="auto">
              <a:xfrm>
                <a:off x="4134" y="1411"/>
                <a:ext cx="8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117" name="Line 28"/>
              <p:cNvSpPr>
                <a:spLocks noChangeShapeType="1"/>
              </p:cNvSpPr>
              <p:nvPr/>
            </p:nvSpPr>
            <p:spPr bwMode="auto">
              <a:xfrm>
                <a:off x="4134" y="1623"/>
                <a:ext cx="8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118" name="Line 29"/>
              <p:cNvSpPr>
                <a:spLocks noChangeShapeType="1"/>
              </p:cNvSpPr>
              <p:nvPr/>
            </p:nvSpPr>
            <p:spPr bwMode="auto">
              <a:xfrm>
                <a:off x="4134" y="1836"/>
                <a:ext cx="8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119" name="Line 30"/>
              <p:cNvSpPr>
                <a:spLocks noChangeShapeType="1"/>
              </p:cNvSpPr>
              <p:nvPr/>
            </p:nvSpPr>
            <p:spPr bwMode="auto">
              <a:xfrm>
                <a:off x="4134" y="2048"/>
                <a:ext cx="8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120" name="Line 31"/>
              <p:cNvSpPr>
                <a:spLocks noChangeShapeType="1"/>
              </p:cNvSpPr>
              <p:nvPr/>
            </p:nvSpPr>
            <p:spPr bwMode="auto">
              <a:xfrm>
                <a:off x="4134" y="2261"/>
                <a:ext cx="8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121" name="Line 32"/>
              <p:cNvSpPr>
                <a:spLocks noChangeShapeType="1"/>
              </p:cNvSpPr>
              <p:nvPr/>
            </p:nvSpPr>
            <p:spPr bwMode="auto">
              <a:xfrm>
                <a:off x="4134" y="2474"/>
                <a:ext cx="8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122" name="Line 33"/>
              <p:cNvSpPr>
                <a:spLocks noChangeShapeType="1"/>
              </p:cNvSpPr>
              <p:nvPr/>
            </p:nvSpPr>
            <p:spPr bwMode="auto">
              <a:xfrm>
                <a:off x="4134" y="2686"/>
                <a:ext cx="8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123" name="Line 34"/>
              <p:cNvSpPr>
                <a:spLocks noChangeShapeType="1"/>
              </p:cNvSpPr>
              <p:nvPr/>
            </p:nvSpPr>
            <p:spPr bwMode="auto">
              <a:xfrm>
                <a:off x="4134" y="2899"/>
                <a:ext cx="8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124" name="Line 35"/>
              <p:cNvSpPr>
                <a:spLocks noChangeShapeType="1"/>
              </p:cNvSpPr>
              <p:nvPr/>
            </p:nvSpPr>
            <p:spPr bwMode="auto">
              <a:xfrm>
                <a:off x="4134" y="3112"/>
                <a:ext cx="8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125" name="Line 36"/>
              <p:cNvSpPr>
                <a:spLocks noChangeShapeType="1"/>
              </p:cNvSpPr>
              <p:nvPr/>
            </p:nvSpPr>
            <p:spPr bwMode="auto">
              <a:xfrm>
                <a:off x="4145" y="3333"/>
                <a:ext cx="8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126" name="Line 37"/>
              <p:cNvSpPr>
                <a:spLocks noChangeShapeType="1"/>
              </p:cNvSpPr>
              <p:nvPr/>
            </p:nvSpPr>
            <p:spPr bwMode="auto">
              <a:xfrm>
                <a:off x="4141" y="3540"/>
                <a:ext cx="8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127" name="Line 38"/>
              <p:cNvSpPr>
                <a:spLocks noChangeShapeType="1"/>
              </p:cNvSpPr>
              <p:nvPr/>
            </p:nvSpPr>
            <p:spPr bwMode="auto">
              <a:xfrm>
                <a:off x="4141" y="3762"/>
                <a:ext cx="8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128" name="Line 39"/>
              <p:cNvSpPr>
                <a:spLocks noChangeShapeType="1"/>
              </p:cNvSpPr>
              <p:nvPr/>
            </p:nvSpPr>
            <p:spPr bwMode="auto">
              <a:xfrm>
                <a:off x="4141" y="3973"/>
                <a:ext cx="8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sp>
          <p:nvSpPr>
            <p:cNvPr id="108" name="Text Box 44"/>
            <p:cNvSpPr txBox="1">
              <a:spLocks noChangeArrowheads="1"/>
            </p:cNvSpPr>
            <p:nvPr/>
          </p:nvSpPr>
          <p:spPr bwMode="auto">
            <a:xfrm>
              <a:off x="9222355" y="4572000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</p:txBody>
        </p:sp>
        <p:sp>
          <p:nvSpPr>
            <p:cNvPr id="109" name="Text Box 45"/>
            <p:cNvSpPr txBox="1">
              <a:spLocks noChangeArrowheads="1"/>
            </p:cNvSpPr>
            <p:nvPr/>
          </p:nvSpPr>
          <p:spPr bwMode="auto">
            <a:xfrm>
              <a:off x="9222355" y="5241925"/>
              <a:ext cx="26828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!</a:t>
              </a:r>
            </a:p>
          </p:txBody>
        </p:sp>
        <p:sp>
          <p:nvSpPr>
            <p:cNvPr id="110" name="Text Box 46"/>
            <p:cNvSpPr txBox="1">
              <a:spLocks noChangeArrowheads="1"/>
            </p:cNvSpPr>
            <p:nvPr/>
          </p:nvSpPr>
          <p:spPr bwMode="auto">
            <a:xfrm>
              <a:off x="9222355" y="4906963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111" name="Text Box 47"/>
            <p:cNvSpPr txBox="1">
              <a:spLocks noChangeArrowheads="1"/>
            </p:cNvSpPr>
            <p:nvPr/>
          </p:nvSpPr>
          <p:spPr bwMode="auto">
            <a:xfrm>
              <a:off x="9222355" y="5576888"/>
              <a:ext cx="38099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\0</a:t>
              </a:r>
            </a:p>
          </p:txBody>
        </p:sp>
        <p:sp>
          <p:nvSpPr>
            <p:cNvPr id="112" name="Line 23"/>
            <p:cNvSpPr>
              <a:spLocks noChangeShapeType="1"/>
            </p:cNvSpPr>
            <p:nvPr/>
          </p:nvSpPr>
          <p:spPr bwMode="auto">
            <a:xfrm>
              <a:off x="8417732" y="3614291"/>
              <a:ext cx="5286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3" name="Text Box 24"/>
            <p:cNvSpPr txBox="1">
              <a:spLocks noChangeArrowheads="1"/>
            </p:cNvSpPr>
            <p:nvPr/>
          </p:nvSpPr>
          <p:spPr bwMode="auto">
            <a:xfrm>
              <a:off x="7339396" y="3409921"/>
              <a:ext cx="109837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string+7</a:t>
              </a:r>
            </a:p>
          </p:txBody>
        </p:sp>
        <p:sp>
          <p:nvSpPr>
            <p:cNvPr id="114" name="Text Box 24"/>
            <p:cNvSpPr txBox="1">
              <a:spLocks noChangeArrowheads="1"/>
            </p:cNvSpPr>
            <p:nvPr/>
          </p:nvSpPr>
          <p:spPr bwMode="auto">
            <a:xfrm>
              <a:off x="8164308" y="728634"/>
              <a:ext cx="302358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2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Verdana" panose="020B060403050404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字符串常量（不可修改）</a:t>
              </a:r>
              <a:endPara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23831"/>
            <a:ext cx="11141075" cy="5647902"/>
          </a:xfrm>
        </p:spPr>
        <p:txBody>
          <a:bodyPr>
            <a:norm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使用指针遍历字符串</a:t>
            </a:r>
            <a:endParaRPr lang="en-US" altLang="zh-CN" dirty="0"/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6.9</a:t>
            </a:r>
            <a:r>
              <a:rPr lang="zh-CN" altLang="en-US" dirty="0"/>
              <a:t>：使用指针遍历字符串，将字符串修改为全小写。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  <p:sp>
        <p:nvSpPr>
          <p:cNvPr id="33" name="Text Box 6"/>
          <p:cNvSpPr txBox="1">
            <a:spLocks noChangeArrowheads="1"/>
          </p:cNvSpPr>
          <p:nvPr/>
        </p:nvSpPr>
        <p:spPr bwMode="auto">
          <a:xfrm>
            <a:off x="1070356" y="2261983"/>
            <a:ext cx="5738442" cy="4596017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stdio.h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ctype.h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int main(void)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      char *p;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      char string[] = "I love China!";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      puts(string);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      for (p = string; *p != '\0'; p++)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             *p = </a:t>
            </a:r>
            <a:r>
              <a:rPr kumimoji="1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tolower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(*p);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       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      puts(string);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      return 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9" name="Text Box 6"/>
          <p:cNvSpPr txBox="1">
            <a:spLocks noChangeArrowheads="1"/>
          </p:cNvSpPr>
          <p:nvPr/>
        </p:nvSpPr>
        <p:spPr bwMode="auto">
          <a:xfrm>
            <a:off x="7337417" y="2340088"/>
            <a:ext cx="2727725" cy="1235497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运行结果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it-IT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love China!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it-IT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love china!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6.3.2 </a:t>
            </a:r>
            <a:r>
              <a:rPr lang="zh-CN" altLang="en-US" dirty="0"/>
              <a:t>指针与函数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23831"/>
            <a:ext cx="11141075" cy="5647902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指针作为函数参数的特点</a:t>
            </a:r>
          </a:p>
          <a:p>
            <a:pPr lvl="1"/>
            <a:r>
              <a:rPr lang="zh-CN" altLang="en-US" dirty="0"/>
              <a:t>指针作为函数参数是传地址调用。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可直接修改函数外变量：由于函数接受的是变量的内存地址，可以直接通过指针修改函数外变量的值。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可用于传递数组：指针作为函数参数还可以用于传递数组。数组作为函数参数将会被转换为指针，因此传递数组实际上是传递数组的首元素地址。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可用于处理字符串：字符串一般以字符指针的形式作为函数参数传入函数。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指针与函数参数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指针作为函数参数的应用</a:t>
            </a:r>
          </a:p>
          <a:p>
            <a:endParaRPr lang="zh-CN" altLang="en-US" dirty="0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887662" y="1800175"/>
            <a:ext cx="5363123" cy="4905425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编写一个能修改函数外变量的函数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#include &lt;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stdio.h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modifyValue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(int *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ptr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ptr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100;   //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等价于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num = 100;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main(void) {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int num = 10;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("num: %d\n", num);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modifyValue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&amp;num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("num: %d\n", num);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return 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697122" y="1809650"/>
            <a:ext cx="1716689" cy="1096648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运行结果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num: 10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num: 100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指针与函数参数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指针作为函数参数的应用</a:t>
            </a:r>
          </a:p>
          <a:p>
            <a:endParaRPr lang="zh-CN" altLang="en-US" dirty="0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19075" y="1773112"/>
            <a:ext cx="11591925" cy="5084887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2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6.11】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编写冒泡排序的函数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#include &lt;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stdio.h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&gt;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void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bubble_sort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(int *</a:t>
            </a:r>
            <a:r>
              <a:rPr lang="en-US" altLang="zh-CN" sz="2400" kern="0" dirty="0" err="1">
                <a:solidFill>
                  <a:srgbClr val="FF0000"/>
                </a:solidFill>
                <a:cs typeface="Times New Roman" panose="02020603050405020304" pitchFamily="18" charset="0"/>
              </a:rPr>
              <a:t>arr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, int </a:t>
            </a:r>
            <a:r>
              <a:rPr lang="en-US" altLang="zh-CN" sz="2400" kern="0" dirty="0">
                <a:solidFill>
                  <a:srgbClr val="0000FF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int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, *p, temp;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for (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= 0;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&lt; n;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++){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for (p =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arr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; p &lt;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arr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+ n -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- 1; p++){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       if (*p &gt; *(p + 1))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             temp = *p;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            *p = *(p + 1);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            *(p + 1) = temp;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      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int main(void)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int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int_arr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[3], *p;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int n =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sizeof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int_arr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) /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sizeof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int_arr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[0]);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for (p =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int_arr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; p &lt;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int_arr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+ n; p++){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 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scanf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("%d", p);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bubble_sort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int_arr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, n);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for (p =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int_arr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; p &lt;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int_arr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+ n; p++){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printf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("%d ", *p);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putchar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('\n');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return 0;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8601197" y="578167"/>
            <a:ext cx="1716689" cy="1096648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运行结果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num: 10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num: 100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指针与函数参数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指针作为函数参数的应用</a:t>
            </a:r>
          </a:p>
          <a:p>
            <a:endParaRPr lang="zh-CN" altLang="en-US" dirty="0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43236" y="2088001"/>
            <a:ext cx="11520164" cy="4550543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2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【</a:t>
            </a:r>
            <a:r>
              <a:rPr lang="zh-CN" altLang="en-US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例 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6.12】</a:t>
            </a:r>
            <a:r>
              <a:rPr lang="zh-CN" altLang="en-US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编写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mystrcat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()</a:t>
            </a:r>
            <a:r>
              <a:rPr lang="zh-CN" altLang="en-US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函数用于字符串连接。</a:t>
            </a:r>
            <a:endParaRPr lang="en-US" altLang="zh-CN" sz="2400" kern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#include &lt;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stdio.h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&gt;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char *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mystrcat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(char *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dest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, char *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src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char *p;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for (p =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dest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; *p; p++) </a:t>
            </a:r>
            <a:r>
              <a:rPr lang="zh-CN" altLang="en-US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{ 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for (; *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src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!= '\0'; p++,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src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++)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   *p = *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src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*p = '\0';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return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dest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zh-CN" sz="2400" kern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int main(void)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char str1[50] = "Hello, ";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char str2[] = "world!";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mystrcat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(str1, str2);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puts(str1);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return 0;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8363072" y="677227"/>
            <a:ext cx="2181103" cy="915060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运行结果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Hello, world!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指向函数的指针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23831"/>
            <a:ext cx="11141075" cy="5647902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 定义</a:t>
            </a:r>
          </a:p>
          <a:p>
            <a:pPr lvl="1"/>
            <a:r>
              <a:rPr lang="zh-CN" altLang="en-US" dirty="0"/>
              <a:t>指向函数的指针可以存储函数的地址，并且可以用于在程序运行时调用相应的函数。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通过传递函数指针作为函数参数，可以实现函数回调的机制。这种机制允许将一个函数作为参数传递给另一个函数，并在后者中调用传递的函数，实现更加灵活和动态的函数调用方式。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指向函数的指针的定义格式：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solidFill>
                  <a:srgbClr val="00B0FF"/>
                </a:solidFill>
              </a:rPr>
              <a:t>返回值</a:t>
            </a:r>
            <a:r>
              <a:rPr lang="en-US" altLang="zh-CN" dirty="0">
                <a:solidFill>
                  <a:srgbClr val="00B0FF"/>
                </a:solidFill>
              </a:rPr>
              <a:t> (*</a:t>
            </a:r>
            <a:r>
              <a:rPr lang="zh-CN" altLang="en-US" dirty="0">
                <a:solidFill>
                  <a:srgbClr val="00B0FF"/>
                </a:solidFill>
              </a:rPr>
              <a:t>函数指针名</a:t>
            </a:r>
            <a:r>
              <a:rPr lang="en-US" altLang="zh-CN" dirty="0">
                <a:solidFill>
                  <a:srgbClr val="00B0FF"/>
                </a:solidFill>
              </a:rPr>
              <a:t>)(</a:t>
            </a:r>
            <a:r>
              <a:rPr lang="zh-CN" altLang="en-US" dirty="0">
                <a:solidFill>
                  <a:srgbClr val="00B0FF"/>
                </a:solidFill>
              </a:rPr>
              <a:t>形参</a:t>
            </a:r>
            <a:r>
              <a:rPr lang="en-US" altLang="zh-CN" dirty="0">
                <a:solidFill>
                  <a:srgbClr val="00B0FF"/>
                </a:solidFill>
              </a:rPr>
              <a:t>1</a:t>
            </a:r>
            <a:r>
              <a:rPr lang="zh-CN" altLang="en-US" dirty="0">
                <a:solidFill>
                  <a:srgbClr val="00B0FF"/>
                </a:solidFill>
              </a:rPr>
              <a:t>类型</a:t>
            </a:r>
            <a:r>
              <a:rPr lang="en-US" altLang="zh-CN" dirty="0">
                <a:solidFill>
                  <a:srgbClr val="00B0FF"/>
                </a:solidFill>
              </a:rPr>
              <a:t>, </a:t>
            </a:r>
            <a:r>
              <a:rPr lang="zh-CN" altLang="en-US" dirty="0">
                <a:solidFill>
                  <a:srgbClr val="00B0FF"/>
                </a:solidFill>
              </a:rPr>
              <a:t>形参</a:t>
            </a:r>
            <a:r>
              <a:rPr lang="en-US" altLang="zh-CN" dirty="0">
                <a:solidFill>
                  <a:srgbClr val="00B0FF"/>
                </a:solidFill>
              </a:rPr>
              <a:t>2</a:t>
            </a:r>
            <a:r>
              <a:rPr lang="zh-CN" altLang="en-US" dirty="0">
                <a:solidFill>
                  <a:srgbClr val="00B0FF"/>
                </a:solidFill>
              </a:rPr>
              <a:t>类型</a:t>
            </a:r>
            <a:r>
              <a:rPr lang="en-US" altLang="zh-CN" dirty="0">
                <a:solidFill>
                  <a:srgbClr val="00B0FF"/>
                </a:solidFill>
              </a:rPr>
              <a:t>, ...)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B0FF"/>
                </a:solidFill>
              </a:rPr>
              <a:t>int (*op)(int, int)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指向函数的指针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23831"/>
            <a:ext cx="11141075" cy="5647902"/>
          </a:xfrm>
        </p:spPr>
        <p:txBody>
          <a:bodyPr>
            <a:norm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指向函数的指针应用于函数回调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00980" y="1866534"/>
            <a:ext cx="11770989" cy="4590781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2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6.14】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使用指向函数的指针，通过函数的回调机制实现加法和减法。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#include &lt;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stdio.h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&gt;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zh-CN" sz="2400" kern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int </a:t>
            </a:r>
            <a:r>
              <a:rPr lang="en-US" altLang="zh-CN" sz="2400" kern="0" dirty="0">
                <a:solidFill>
                  <a:srgbClr val="00B0F0"/>
                </a:solidFill>
                <a:cs typeface="Times New Roman" panose="02020603050405020304" pitchFamily="18" charset="0"/>
              </a:rPr>
              <a:t>add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(int a, int b)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return a + b;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zh-CN" sz="2400" kern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int </a:t>
            </a:r>
            <a:r>
              <a:rPr lang="en-US" altLang="zh-CN" sz="2400" kern="0" dirty="0">
                <a:solidFill>
                  <a:srgbClr val="00B050"/>
                </a:solidFill>
                <a:cs typeface="Times New Roman" panose="02020603050405020304" pitchFamily="18" charset="0"/>
              </a:rPr>
              <a:t>sub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(int a, int b)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return a - b;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zh-CN" sz="2400" kern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int calculate(int a, int b, </a:t>
            </a:r>
            <a:r>
              <a:rPr lang="en-US" altLang="zh-CN" sz="2400" kern="0" dirty="0">
                <a:solidFill>
                  <a:srgbClr val="FF0000"/>
                </a:solidFill>
                <a:cs typeface="Times New Roman" panose="02020603050405020304" pitchFamily="18" charset="0"/>
              </a:rPr>
              <a:t>int (*op)(int, int)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return </a:t>
            </a:r>
            <a:r>
              <a:rPr lang="en-US" altLang="zh-CN" sz="2400" kern="0" dirty="0">
                <a:solidFill>
                  <a:srgbClr val="FF0000"/>
                </a:solidFill>
                <a:cs typeface="Times New Roman" panose="02020603050405020304" pitchFamily="18" charset="0"/>
              </a:rPr>
              <a:t>(*op)(a, b)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zh-CN" sz="2400" kern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int main(void)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int num1 = 10, num2 = 5, result;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result = calculate(num1, num2, &amp;</a:t>
            </a:r>
            <a:r>
              <a:rPr lang="en-US" altLang="zh-CN" sz="2400" kern="0" dirty="0">
                <a:solidFill>
                  <a:srgbClr val="00B0F0"/>
                </a:solidFill>
                <a:cs typeface="Times New Roman" panose="02020603050405020304" pitchFamily="18" charset="0"/>
              </a:rPr>
              <a:t>add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printf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("Result of add: %d\n", result);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result = calculate(num1, num2, &amp;</a:t>
            </a:r>
            <a:r>
              <a:rPr lang="en-US" altLang="zh-CN" sz="2400" kern="0" dirty="0">
                <a:solidFill>
                  <a:srgbClr val="00B050"/>
                </a:solidFill>
                <a:cs typeface="Times New Roman" panose="02020603050405020304" pitchFamily="18" charset="0"/>
              </a:rPr>
              <a:t>sub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</a:t>
            </a:r>
            <a:r>
              <a:rPr lang="en-US" altLang="zh-CN" sz="24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printf</a:t>
            </a: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("Result of sub: %d\n", result);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return 0;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4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8439272" y="452838"/>
            <a:ext cx="2701803" cy="1176352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运行结果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Result of add: 15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Result of sub: 5</a:t>
            </a:r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32709"/>
            <a:ext cx="11141075" cy="5433484"/>
          </a:xfrm>
        </p:spPr>
        <p:txBody>
          <a:bodyPr>
            <a:norm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指针函数的定义</a:t>
            </a:r>
          </a:p>
          <a:p>
            <a:pPr lvl="1"/>
            <a:r>
              <a:rPr lang="zh-CN" altLang="en-US" sz="2400" dirty="0"/>
              <a:t>返回一个指针作为返回值的函数称为指针函数。</a:t>
            </a:r>
            <a:endParaRPr lang="en-US" altLang="zh-CN" sz="2400" dirty="0"/>
          </a:p>
          <a:p>
            <a:pPr lvl="1"/>
            <a:r>
              <a:rPr lang="zh-CN" altLang="en-US" sz="2400" dirty="0"/>
              <a:t>指针函数的一般形式：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zh-CN" altLang="en-US" sz="2400" dirty="0">
                <a:solidFill>
                  <a:srgbClr val="00B0FF"/>
                </a:solidFill>
              </a:rPr>
              <a:t>返回类型</a:t>
            </a:r>
            <a:r>
              <a:rPr lang="en-US" altLang="zh-CN" sz="2400" dirty="0">
                <a:solidFill>
                  <a:srgbClr val="00B0FF"/>
                </a:solidFill>
              </a:rPr>
              <a:t> *</a:t>
            </a:r>
            <a:r>
              <a:rPr lang="zh-CN" altLang="en-US" sz="2400" dirty="0">
                <a:solidFill>
                  <a:srgbClr val="00B0FF"/>
                </a:solidFill>
              </a:rPr>
              <a:t>函数名</a:t>
            </a:r>
            <a:r>
              <a:rPr lang="en-US" altLang="zh-CN" sz="2400" dirty="0">
                <a:solidFill>
                  <a:srgbClr val="00B0FF"/>
                </a:solidFill>
              </a:rPr>
              <a:t>(</a:t>
            </a:r>
            <a:r>
              <a:rPr lang="zh-CN" altLang="en-US" sz="2400" dirty="0">
                <a:solidFill>
                  <a:srgbClr val="00B0FF"/>
                </a:solidFill>
              </a:rPr>
              <a:t>形参表</a:t>
            </a:r>
            <a:r>
              <a:rPr lang="en-US" altLang="zh-CN" sz="2400" dirty="0">
                <a:solidFill>
                  <a:srgbClr val="00B0FF"/>
                </a:solidFill>
              </a:rPr>
              <a:t>){</a:t>
            </a:r>
          </a:p>
          <a:p>
            <a:pPr marL="457200" lvl="1" indent="0">
              <a:buNone/>
            </a:pPr>
            <a:r>
              <a:rPr lang="en-US" altLang="zh-CN" sz="2400" dirty="0">
                <a:solidFill>
                  <a:srgbClr val="00B0FF"/>
                </a:solidFill>
              </a:rPr>
              <a:t>	…</a:t>
            </a:r>
          </a:p>
          <a:p>
            <a:pPr marL="457200" lvl="1" indent="0">
              <a:buNone/>
            </a:pPr>
            <a:r>
              <a:rPr lang="en-US" altLang="zh-CN" sz="2400" dirty="0">
                <a:solidFill>
                  <a:srgbClr val="00B0FF"/>
                </a:solidFill>
              </a:rPr>
              <a:t>}</a:t>
            </a:r>
          </a:p>
          <a:p>
            <a:pPr marL="457200" lvl="1" indent="0">
              <a:buNone/>
            </a:pPr>
            <a:r>
              <a:rPr lang="en-US" altLang="zh-CN" sz="2400" dirty="0">
                <a:solidFill>
                  <a:srgbClr val="00B0FF"/>
                </a:solidFill>
              </a:rPr>
              <a:t>char *</a:t>
            </a:r>
            <a:r>
              <a:rPr lang="en-US" altLang="zh-CN" sz="2400" dirty="0" err="1">
                <a:solidFill>
                  <a:srgbClr val="00B0FF"/>
                </a:solidFill>
              </a:rPr>
              <a:t>mystrcat</a:t>
            </a:r>
            <a:r>
              <a:rPr lang="en-US" altLang="zh-CN" sz="2400" dirty="0">
                <a:solidFill>
                  <a:srgbClr val="00B0FF"/>
                </a:solidFill>
              </a:rPr>
              <a:t>(char *</a:t>
            </a:r>
            <a:r>
              <a:rPr lang="en-US" altLang="zh-CN" sz="2400" dirty="0" err="1">
                <a:solidFill>
                  <a:srgbClr val="00B0FF"/>
                </a:solidFill>
              </a:rPr>
              <a:t>dest</a:t>
            </a:r>
            <a:r>
              <a:rPr lang="en-US" altLang="zh-CN" sz="2400" dirty="0">
                <a:solidFill>
                  <a:srgbClr val="00B0FF"/>
                </a:solidFill>
              </a:rPr>
              <a:t>, char *</a:t>
            </a:r>
            <a:r>
              <a:rPr lang="en-US" altLang="zh-CN" sz="2400" dirty="0" err="1">
                <a:solidFill>
                  <a:srgbClr val="00B0FF"/>
                </a:solidFill>
              </a:rPr>
              <a:t>src</a:t>
            </a:r>
            <a:r>
              <a:rPr lang="en-US" altLang="zh-CN" sz="2400" dirty="0">
                <a:solidFill>
                  <a:srgbClr val="00B0FF"/>
                </a:solidFill>
              </a:rPr>
              <a:t>){</a:t>
            </a:r>
          </a:p>
          <a:p>
            <a:pPr marL="457200" lvl="1" indent="0">
              <a:buNone/>
            </a:pPr>
            <a:r>
              <a:rPr lang="en-US" altLang="zh-CN" sz="2400" dirty="0">
                <a:solidFill>
                  <a:srgbClr val="00B0FF"/>
                </a:solidFill>
              </a:rPr>
              <a:t>	…</a:t>
            </a:r>
          </a:p>
          <a:p>
            <a:pPr marL="457200" lvl="1" indent="0">
              <a:buNone/>
            </a:pPr>
            <a:r>
              <a:rPr lang="en-US" altLang="zh-CN" sz="2400" dirty="0">
                <a:solidFill>
                  <a:srgbClr val="00B0FF"/>
                </a:solidFill>
              </a:rPr>
              <a:t>}</a:t>
            </a:r>
          </a:p>
          <a:p>
            <a:pPr lvl="1"/>
            <a:r>
              <a:rPr lang="zh-CN" altLang="en-US" sz="2400" dirty="0"/>
              <a:t>注意：不能返回自动局部变量的地址。当函数结束运行，自动局部变量将消失，其地址将成为野指针。</a:t>
            </a:r>
            <a:endParaRPr lang="en-US" altLang="zh-CN" sz="2400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23831"/>
            <a:ext cx="11141075" cy="5647902"/>
          </a:xfrm>
        </p:spPr>
        <p:txBody>
          <a:bodyPr>
            <a:norm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指针函数实例</a:t>
            </a: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927007" y="1673537"/>
            <a:ext cx="8645618" cy="5068257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 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6.15】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编写一个</a:t>
            </a:r>
            <a:r>
              <a:rPr kumimoji="1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right_half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函数，返回一个字符串右半边的子串。当字符串长度为奇数时，该子串应包含正中间的字符。</a:t>
            </a:r>
            <a:endParaRPr kumimoji="1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#include &lt;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stdio.h</a:t>
            </a:r>
            <a:r>
              <a:rPr lang="en-US" altLang="zh-CN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&gt;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char *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right_half</a:t>
            </a:r>
            <a:r>
              <a:rPr lang="en-US" altLang="zh-CN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(char *str)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char *p;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for (p = str; *p != '\0'; p++)  { } // </a:t>
            </a:r>
            <a:r>
              <a:rPr lang="zh-CN" altLang="en-US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找到字符串结尾的</a:t>
            </a:r>
            <a:r>
              <a:rPr lang="en-US" altLang="zh-CN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'\0’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return str + (p - str) / 2;       // </a:t>
            </a:r>
            <a:r>
              <a:rPr lang="zh-CN" altLang="en-US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返回字符串中间位置指针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zh-CN" sz="2200" kern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int main(void)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char *s = </a:t>
            </a:r>
            <a:r>
              <a:rPr lang="en-US" altLang="zh-CN" sz="22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right_half</a:t>
            </a:r>
            <a:r>
              <a:rPr lang="en-US" altLang="zh-CN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("CJLU!");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puts(s);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return 0;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2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  <a:endParaRPr kumimoji="1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9829707" y="1673537"/>
            <a:ext cx="1556892" cy="747449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运行结果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LU!</a:t>
            </a:r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动态内存管理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23831"/>
            <a:ext cx="11141075" cy="5647902"/>
          </a:xfrm>
        </p:spPr>
        <p:txBody>
          <a:bodyPr>
            <a:normAutofit/>
          </a:bodyPr>
          <a:lstStyle/>
          <a:p>
            <a:pPr lvl="1"/>
            <a:r>
              <a:rPr lang="en-US" altLang="zh-CN" dirty="0"/>
              <a:t>C</a:t>
            </a:r>
            <a:r>
              <a:rPr lang="zh-CN" altLang="en-US" dirty="0"/>
              <a:t>语言中，动态内存管理允许程序在运行时动态地分配和释放内存。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这种灵活性使得程序能够根据需要动态地管理内存，而不是在编译时固定分配内存空间。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若使用动态内存管理，程序在运行时通过</a:t>
            </a:r>
            <a:r>
              <a:rPr lang="en-US" altLang="zh-CN" dirty="0"/>
              <a:t>malloc</a:t>
            </a:r>
            <a:r>
              <a:rPr lang="zh-CN" altLang="en-US" dirty="0"/>
              <a:t>、</a:t>
            </a:r>
            <a:r>
              <a:rPr lang="en-US" altLang="zh-CN" dirty="0" err="1"/>
              <a:t>calloc</a:t>
            </a:r>
            <a:r>
              <a:rPr lang="zh-CN" altLang="en-US" dirty="0"/>
              <a:t>或</a:t>
            </a:r>
            <a:r>
              <a:rPr lang="en-US" altLang="zh-CN" dirty="0" err="1"/>
              <a:t>realloc</a:t>
            </a:r>
            <a:r>
              <a:rPr lang="zh-CN" altLang="en-US" dirty="0"/>
              <a:t>函数请求分配内存，并在不再需要时通过</a:t>
            </a:r>
            <a:r>
              <a:rPr lang="en-US" altLang="zh-CN" dirty="0"/>
              <a:t>free</a:t>
            </a:r>
            <a:r>
              <a:rPr lang="zh-CN" altLang="en-US" dirty="0"/>
              <a:t>函数释放内存。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693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动态内存管理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23831"/>
            <a:ext cx="11141075" cy="5647902"/>
          </a:xfrm>
        </p:spPr>
        <p:txBody>
          <a:bodyPr>
            <a:normAutofit/>
          </a:bodyPr>
          <a:lstStyle/>
          <a:p>
            <a:pPr lvl="1"/>
            <a:r>
              <a:rPr lang="en-US" altLang="zh-CN" sz="2600" dirty="0">
                <a:solidFill>
                  <a:srgbClr val="00B0F0"/>
                </a:solidFill>
              </a:rPr>
              <a:t>void *malloc(</a:t>
            </a:r>
            <a:r>
              <a:rPr lang="en-US" altLang="zh-CN" sz="2600" dirty="0" err="1">
                <a:solidFill>
                  <a:srgbClr val="00B0F0"/>
                </a:solidFill>
              </a:rPr>
              <a:t>size_t</a:t>
            </a:r>
            <a:r>
              <a:rPr lang="en-US" altLang="zh-CN" sz="2600" dirty="0">
                <a:solidFill>
                  <a:srgbClr val="00B0F0"/>
                </a:solidFill>
              </a:rPr>
              <a:t> size); </a:t>
            </a:r>
          </a:p>
          <a:p>
            <a:pPr marL="457200" lvl="1" indent="0">
              <a:buNone/>
            </a:pPr>
            <a:r>
              <a:rPr lang="zh-CN" altLang="en-US" sz="2600" dirty="0"/>
              <a:t>分配</a:t>
            </a:r>
            <a:r>
              <a:rPr lang="en-US" altLang="zh-CN" sz="2600" dirty="0"/>
              <a:t>size</a:t>
            </a:r>
            <a:r>
              <a:rPr lang="zh-CN" altLang="en-US" sz="2600" dirty="0"/>
              <a:t>字节的内存，返回指向该内存的指针。申请失败返回</a:t>
            </a:r>
            <a:r>
              <a:rPr lang="en-US" altLang="zh-CN" sz="2600" dirty="0"/>
              <a:t>NULL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457200" lvl="1" indent="0">
              <a:buNone/>
            </a:pPr>
            <a:endParaRPr lang="zh-CN" altLang="en-US" sz="2600" dirty="0"/>
          </a:p>
          <a:p>
            <a:pPr lvl="1"/>
            <a:r>
              <a:rPr lang="en-US" altLang="zh-CN" sz="2600" dirty="0">
                <a:solidFill>
                  <a:srgbClr val="00B0F0"/>
                </a:solidFill>
              </a:rPr>
              <a:t>void *</a:t>
            </a:r>
            <a:r>
              <a:rPr lang="en-US" altLang="zh-CN" sz="2600" dirty="0" err="1">
                <a:solidFill>
                  <a:srgbClr val="00B0F0"/>
                </a:solidFill>
              </a:rPr>
              <a:t>calloc</a:t>
            </a:r>
            <a:r>
              <a:rPr lang="en-US" altLang="zh-CN" sz="2600" dirty="0">
                <a:solidFill>
                  <a:srgbClr val="00B0F0"/>
                </a:solidFill>
              </a:rPr>
              <a:t>(</a:t>
            </a:r>
            <a:r>
              <a:rPr lang="en-US" altLang="zh-CN" sz="2600" dirty="0" err="1">
                <a:solidFill>
                  <a:srgbClr val="00B0F0"/>
                </a:solidFill>
              </a:rPr>
              <a:t>size_t</a:t>
            </a:r>
            <a:r>
              <a:rPr lang="en-US" altLang="zh-CN" sz="2600" dirty="0">
                <a:solidFill>
                  <a:srgbClr val="00B0F0"/>
                </a:solidFill>
              </a:rPr>
              <a:t> num, </a:t>
            </a:r>
            <a:r>
              <a:rPr lang="en-US" altLang="zh-CN" sz="2600" dirty="0" err="1">
                <a:solidFill>
                  <a:srgbClr val="00B0F0"/>
                </a:solidFill>
              </a:rPr>
              <a:t>size_t</a:t>
            </a:r>
            <a:r>
              <a:rPr lang="en-US" altLang="zh-CN" sz="2600" dirty="0">
                <a:solidFill>
                  <a:srgbClr val="00B0F0"/>
                </a:solidFill>
              </a:rPr>
              <a:t> size); </a:t>
            </a:r>
          </a:p>
          <a:p>
            <a:pPr marL="457200" lvl="1" indent="0">
              <a:buNone/>
            </a:pPr>
            <a:r>
              <a:rPr lang="zh-CN" altLang="en-US" sz="2600" dirty="0"/>
              <a:t>分配</a:t>
            </a:r>
            <a:r>
              <a:rPr lang="en-US" altLang="zh-CN" sz="2600" dirty="0"/>
              <a:t>num</a:t>
            </a:r>
            <a:r>
              <a:rPr lang="zh-CN" altLang="en-US" sz="2600" dirty="0"/>
              <a:t>个</a:t>
            </a:r>
            <a:r>
              <a:rPr lang="en-US" altLang="zh-CN" sz="2600" dirty="0"/>
              <a:t>size</a:t>
            </a:r>
            <a:r>
              <a:rPr lang="zh-CN" altLang="en-US" sz="2600" dirty="0"/>
              <a:t>字节的内存块，初始化为</a:t>
            </a:r>
            <a:r>
              <a:rPr lang="en-US" altLang="zh-CN" sz="2600" dirty="0"/>
              <a:t>0</a:t>
            </a:r>
            <a:r>
              <a:rPr lang="zh-CN" altLang="en-US" sz="2600" dirty="0"/>
              <a:t>，返回指向首块的指针。申请失败返回</a:t>
            </a:r>
            <a:r>
              <a:rPr lang="en-US" altLang="zh-CN" sz="2600" dirty="0"/>
              <a:t>NULL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457200" lvl="1" indent="0">
              <a:buNone/>
            </a:pPr>
            <a:endParaRPr lang="zh-CN" altLang="en-US" sz="2600" dirty="0"/>
          </a:p>
          <a:p>
            <a:pPr lvl="1"/>
            <a:r>
              <a:rPr lang="en-US" altLang="zh-CN" sz="2600" dirty="0">
                <a:solidFill>
                  <a:srgbClr val="00B0F0"/>
                </a:solidFill>
              </a:rPr>
              <a:t>void *</a:t>
            </a:r>
            <a:r>
              <a:rPr lang="en-US" altLang="zh-CN" sz="2600" dirty="0" err="1">
                <a:solidFill>
                  <a:srgbClr val="00B0F0"/>
                </a:solidFill>
              </a:rPr>
              <a:t>realloc</a:t>
            </a:r>
            <a:r>
              <a:rPr lang="en-US" altLang="zh-CN" sz="2600" dirty="0">
                <a:solidFill>
                  <a:srgbClr val="00B0F0"/>
                </a:solidFill>
              </a:rPr>
              <a:t>(void *</a:t>
            </a:r>
            <a:r>
              <a:rPr lang="en-US" altLang="zh-CN" sz="2600" dirty="0" err="1">
                <a:solidFill>
                  <a:srgbClr val="00B0F0"/>
                </a:solidFill>
              </a:rPr>
              <a:t>ptr</a:t>
            </a:r>
            <a:r>
              <a:rPr lang="en-US" altLang="zh-CN" sz="2600" dirty="0">
                <a:solidFill>
                  <a:srgbClr val="00B0F0"/>
                </a:solidFill>
              </a:rPr>
              <a:t>, </a:t>
            </a:r>
            <a:r>
              <a:rPr lang="en-US" altLang="zh-CN" sz="2600" dirty="0" err="1">
                <a:solidFill>
                  <a:srgbClr val="00B0F0"/>
                </a:solidFill>
              </a:rPr>
              <a:t>size_t</a:t>
            </a:r>
            <a:r>
              <a:rPr lang="en-US" altLang="zh-CN" sz="2600" dirty="0">
                <a:solidFill>
                  <a:srgbClr val="00B0F0"/>
                </a:solidFill>
              </a:rPr>
              <a:t> size); </a:t>
            </a:r>
          </a:p>
          <a:p>
            <a:pPr marL="457200" lvl="1" indent="0">
              <a:buNone/>
            </a:pPr>
            <a:r>
              <a:rPr lang="zh-CN" altLang="en-US" sz="2600" dirty="0"/>
              <a:t>重新分配</a:t>
            </a:r>
            <a:r>
              <a:rPr lang="en-US" altLang="zh-CN" sz="2600" dirty="0" err="1"/>
              <a:t>ptr</a:t>
            </a:r>
            <a:r>
              <a:rPr lang="zh-CN" altLang="en-US" sz="2600" dirty="0"/>
              <a:t>指向的内存为</a:t>
            </a:r>
            <a:r>
              <a:rPr lang="en-US" altLang="zh-CN" sz="2600" dirty="0"/>
              <a:t>size</a:t>
            </a:r>
            <a:r>
              <a:rPr lang="zh-CN" altLang="en-US" sz="2600" dirty="0"/>
              <a:t>字节，返回新内存块的指针。申请失败返回</a:t>
            </a:r>
            <a:r>
              <a:rPr lang="en-US" altLang="zh-CN" sz="2600" dirty="0"/>
              <a:t>NULL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457200" lvl="1" indent="0">
              <a:buNone/>
            </a:pPr>
            <a:endParaRPr lang="zh-CN" altLang="en-US" sz="2600" dirty="0"/>
          </a:p>
          <a:p>
            <a:pPr lvl="1"/>
            <a:r>
              <a:rPr lang="en-US" altLang="zh-CN" sz="2600" dirty="0">
                <a:solidFill>
                  <a:srgbClr val="00B0F0"/>
                </a:solidFill>
              </a:rPr>
              <a:t>void free(void *</a:t>
            </a:r>
            <a:r>
              <a:rPr lang="en-US" altLang="zh-CN" sz="2600" dirty="0" err="1">
                <a:solidFill>
                  <a:srgbClr val="00B0F0"/>
                </a:solidFill>
              </a:rPr>
              <a:t>ptr</a:t>
            </a:r>
            <a:r>
              <a:rPr lang="en-US" altLang="zh-CN" sz="2600" dirty="0">
                <a:solidFill>
                  <a:srgbClr val="00B0F0"/>
                </a:solidFill>
              </a:rPr>
              <a:t>); </a:t>
            </a:r>
          </a:p>
          <a:p>
            <a:pPr marL="457200" lvl="1" indent="0">
              <a:buNone/>
            </a:pPr>
            <a:r>
              <a:rPr lang="zh-CN" altLang="en-US" sz="2600" dirty="0"/>
              <a:t>释放</a:t>
            </a:r>
            <a:r>
              <a:rPr lang="en-US" altLang="zh-CN" sz="2600" dirty="0" err="1"/>
              <a:t>ptr</a:t>
            </a:r>
            <a:r>
              <a:rPr lang="zh-CN" altLang="en-US" sz="2600" dirty="0"/>
              <a:t>指向的内存。释放后，</a:t>
            </a:r>
            <a:r>
              <a:rPr lang="en-US" altLang="zh-CN" sz="2600" dirty="0" err="1"/>
              <a:t>ptr</a:t>
            </a:r>
            <a:r>
              <a:rPr lang="zh-CN" altLang="en-US" sz="2600" dirty="0"/>
              <a:t>不再有效。</a:t>
            </a:r>
            <a:endParaRPr lang="en-US" altLang="zh-CN" sz="2600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53315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动态内存管理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14300" y="1648247"/>
            <a:ext cx="11963400" cy="4792133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2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编写一个程序，使用动态内存创建变量和数组，并访问它们。</a:t>
            </a:r>
            <a:endParaRPr lang="en-US" altLang="zh-CN" sz="2000" kern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#include &lt;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stdio.h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&gt;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#include &lt;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stdlib.h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&gt;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int main(void) {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int size, 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, *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dynamicVar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, *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dynamicArray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// </a:t>
            </a:r>
            <a:r>
              <a:rPr lang="zh-CN" altLang="en-US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动态分配一个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int</a:t>
            </a:r>
            <a:r>
              <a:rPr lang="zh-CN" altLang="en-US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型变量的内存空间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dynamicVar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= </a:t>
            </a:r>
            <a:r>
              <a:rPr lang="en-US" altLang="zh-CN" sz="2000" kern="0" dirty="0">
                <a:solidFill>
                  <a:srgbClr val="00B0F0"/>
                </a:solidFill>
                <a:cs typeface="Times New Roman" panose="02020603050405020304" pitchFamily="18" charset="0"/>
              </a:rPr>
              <a:t>malloc(</a:t>
            </a:r>
            <a:r>
              <a:rPr lang="en-US" altLang="zh-CN" sz="2000" kern="0" dirty="0" err="1">
                <a:solidFill>
                  <a:srgbClr val="00B0F0"/>
                </a:solidFill>
                <a:cs typeface="Times New Roman" panose="02020603050405020304" pitchFamily="18" charset="0"/>
              </a:rPr>
              <a:t>sizeof</a:t>
            </a:r>
            <a:r>
              <a:rPr lang="en-US" altLang="zh-CN" sz="2000" kern="0" dirty="0">
                <a:solidFill>
                  <a:srgbClr val="00B0F0"/>
                </a:solidFill>
                <a:cs typeface="Times New Roman" panose="02020603050405020304" pitchFamily="18" charset="0"/>
              </a:rPr>
              <a:t>(int))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if (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dynamicVar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== NULL)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 exit(1);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*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dynamicVar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= 20;  // </a:t>
            </a:r>
            <a:r>
              <a:rPr lang="zh-CN" altLang="en-US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使用指针间接访问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printf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("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dynamicVar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: %d\n", *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dynamicVar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000" kern="0" dirty="0">
                <a:solidFill>
                  <a:srgbClr val="00B0F0"/>
                </a:solidFill>
                <a:cs typeface="Times New Roman" panose="02020603050405020304" pitchFamily="18" charset="0"/>
              </a:rPr>
              <a:t>free(</a:t>
            </a:r>
            <a:r>
              <a:rPr lang="en-US" altLang="zh-CN" sz="2000" kern="0" dirty="0" err="1">
                <a:solidFill>
                  <a:srgbClr val="00B0F0"/>
                </a:solidFill>
                <a:cs typeface="Times New Roman" panose="02020603050405020304" pitchFamily="18" charset="0"/>
              </a:rPr>
              <a:t>dynamicVar</a:t>
            </a:r>
            <a:r>
              <a:rPr lang="en-US" altLang="zh-CN" sz="2000" kern="0" dirty="0">
                <a:solidFill>
                  <a:srgbClr val="00B0F0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;  // </a:t>
            </a:r>
            <a:r>
              <a:rPr lang="zh-CN" altLang="en-US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释放动态变量的内存空间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zh-CN" sz="2000" kern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zh-CN" sz="2000" kern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zh-CN" sz="2000" kern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en-US" altLang="zh-CN" sz="2000" kern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size = 5;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// </a:t>
            </a:r>
            <a:r>
              <a:rPr lang="zh-CN" altLang="en-US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动态分配一个长度为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size</a:t>
            </a:r>
            <a:r>
              <a:rPr lang="zh-CN" altLang="en-US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的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int</a:t>
            </a:r>
            <a:r>
              <a:rPr lang="zh-CN" altLang="en-US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数组的内存空间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dynamicArray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= </a:t>
            </a:r>
            <a:r>
              <a:rPr lang="en-US" altLang="zh-CN" sz="2000" kern="0" dirty="0">
                <a:solidFill>
                  <a:srgbClr val="00B0F0"/>
                </a:solidFill>
                <a:cs typeface="Times New Roman" panose="02020603050405020304" pitchFamily="18" charset="0"/>
              </a:rPr>
              <a:t>malloc(size * </a:t>
            </a:r>
            <a:r>
              <a:rPr lang="en-US" altLang="zh-CN" sz="2000" kern="0" dirty="0" err="1">
                <a:solidFill>
                  <a:srgbClr val="00B0F0"/>
                </a:solidFill>
                <a:cs typeface="Times New Roman" panose="02020603050405020304" pitchFamily="18" charset="0"/>
              </a:rPr>
              <a:t>sizeof</a:t>
            </a:r>
            <a:r>
              <a:rPr lang="en-US" altLang="zh-CN" sz="2000" kern="0" dirty="0">
                <a:solidFill>
                  <a:srgbClr val="00B0F0"/>
                </a:solidFill>
                <a:cs typeface="Times New Roman" panose="02020603050405020304" pitchFamily="18" charset="0"/>
              </a:rPr>
              <a:t>(int))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if (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dynamicArray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== NULL)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 exit(1);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for (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= 0; 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&lt; size; 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++)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 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dynamicArray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] = 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printf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("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dynamicArray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: ");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for (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= 0; 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&lt; size; 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++)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       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printf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("%d ", 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dynamicArray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]);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printf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("\n");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000" kern="0" dirty="0">
                <a:solidFill>
                  <a:srgbClr val="00B0F0"/>
                </a:solidFill>
                <a:cs typeface="Times New Roman" panose="02020603050405020304" pitchFamily="18" charset="0"/>
              </a:rPr>
              <a:t>free(</a:t>
            </a:r>
            <a:r>
              <a:rPr lang="en-US" altLang="zh-CN" sz="2000" kern="0" dirty="0" err="1">
                <a:solidFill>
                  <a:srgbClr val="00B0F0"/>
                </a:solidFill>
                <a:cs typeface="Times New Roman" panose="02020603050405020304" pitchFamily="18" charset="0"/>
              </a:rPr>
              <a:t>dynamicArray</a:t>
            </a:r>
            <a:r>
              <a:rPr lang="en-US" altLang="zh-CN" sz="2000" kern="0" dirty="0">
                <a:solidFill>
                  <a:srgbClr val="00B0F0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;  // </a:t>
            </a:r>
            <a:r>
              <a:rPr lang="zh-CN" altLang="en-US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释放动态数组的内存空间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zh-CN" altLang="en-US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return 0;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8175751" y="451379"/>
            <a:ext cx="3110319" cy="1004782"/>
          </a:xfrm>
          <a:prstGeom prst="rect">
            <a:avLst/>
          </a:prstGeom>
          <a:noFill/>
          <a:ln w="12700" cap="sq">
            <a:solidFill>
              <a:srgbClr val="0066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>
            <a:noAutofit/>
          </a:bodyPr>
          <a:lstStyle>
            <a:lvl1pPr eaLnBrk="0" hangingPunct="0">
              <a:spcBef>
                <a:spcPct val="20000"/>
              </a:spcBef>
              <a:buClr>
                <a:schemeClr val="bg1"/>
              </a:buClr>
              <a:buSzPct val="75000"/>
              <a:buFont typeface="Wingdings" panose="05000000000000000000" pitchFamily="2" charset="2"/>
              <a:buChar char="n"/>
              <a:defRPr kumimoji="1" sz="32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00CC"/>
              </a:buClr>
              <a:buFont typeface="Times New Roman" panose="02020603050405020304" pitchFamily="18" charset="0"/>
              <a:buChar char="–"/>
              <a:defRPr kumimoji="1" sz="28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1"/>
              </a:buClr>
              <a:buFont typeface="Times New Roman" panose="02020603050405020304" pitchFamily="18" charset="0"/>
              <a:buChar char="»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 b="1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运行结果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nn-NO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dynamicVar: 20</a:t>
            </a:r>
          </a:p>
          <a:p>
            <a:pPr lvl="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nn-NO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dynamicArray: 0 1 2 3 4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59811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谢谢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U5YWU2YzllNGZmZTViNjUwYjAxYWNhZmY5MDU0M2QifQ=="/>
  <p:tag name="KSO_WPP_MARK_KEY" val="c34bcdfb-13dc-4e7f-b54f-4cde71d08e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1503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1503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18;28;2"/>
  <p:tag name="KSO_WM_UNIT_BLOCK" val="0"/>
  <p:tag name="KSO_WM_UNIT_ISCONTENTSTITLE" val="0"/>
  <p:tag name="KSO_WM_UNIT_ISNUMDGMTITLE" val="0"/>
  <p:tag name="KSO_WM_UNIT_PRESET_TEXT" val="单/击/此/处/添/加/副/标/题/内/容"/>
  <p:tag name="KSO_WM_UNIT_NOCLEAR" val="0"/>
  <p:tag name="KSO_WM_UNIT_VALUE" val="5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5035_1*b*1"/>
  <p:tag name="KSO_WM_TEMPLATE_CATEGORY" val="custom"/>
  <p:tag name="KSO_WM_TEMPLATE_INDEX" val="20215035"/>
  <p:tag name="KSO_WM_UNIT_LAYERLEVEL" val="1"/>
  <p:tag name="KSO_WM_TAG_VERSION" val="1.0"/>
  <p:tag name="KSO_WM_BEAUTIFY_FLAG" val="#wm#"/>
  <p:tag name="KSO_WM_CHIP_GROUPID" val="5ebd04330ac41c4a0a525403"/>
  <p:tag name="KSO_WM_CHIP_XID" val="5ebd04330ac41c4a0a525404"/>
  <p:tag name="KSO_WM_UNIT_DEC_AREA_ID" val="a7eab4dc5908499b838b73a1fa3b2bb1"/>
  <p:tag name="KSO_WM_CHIP_FILLAREA_FILL_RULE" val="{&quot;fill_align&quot;:&quot;cm&quot;,&quot;fill_mode&quot;:&quot;adaptive&quot;,&quot;sacle_strategy&quot;:&quot;smart&quot;}"/>
  <p:tag name="KSO_WM_ASSEMBLE_CHIP_INDEX" val="ffbcb33553e5437999be5be7b3e28129"/>
  <p:tag name="KSO_WM_UNIT_TEXT_FILL_FORE_SCHEMECOLOR_INDEX_BRIGHTNESS" val="0.35"/>
  <p:tag name="KSO_WM_UNIT_TEXT_FILL_FORE_SCHEMECOLOR_INDEX" val="13"/>
  <p:tag name="KSO_WM_UNIT_TEXT_FILL_TYPE" val="1"/>
  <p:tag name="KSO_WM_TEMPLATE_ASSEMBLE_XID" val="5fab4958b46e6ebd9907b66b"/>
  <p:tag name="KSO_WM_TEMPLATE_ASSEMBLE_GROUPID" val="5faa52dd0ad14824cac57d3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60;74;4"/>
  <p:tag name="KSO_WM_UNIT_BLOCK" val="0"/>
  <p:tag name="KSO_WM_UNIT_ISCONTENTSTITLE" val="0"/>
  <p:tag name="KSO_WM_UNIT_ISNUMDGMTITLE" val="0"/>
  <p:tag name="KSO_WM_UNIT_PRESET_TEXT" val="大数据产品发布会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5035_1*a*1"/>
  <p:tag name="KSO_WM_TEMPLATE_CATEGORY" val="custom"/>
  <p:tag name="KSO_WM_TEMPLATE_INDEX" val="20215035"/>
  <p:tag name="KSO_WM_UNIT_LAYERLEVEL" val="1"/>
  <p:tag name="KSO_WM_TAG_VERSION" val="1.0"/>
  <p:tag name="KSO_WM_BEAUTIFY_FLAG" val="#wm#"/>
  <p:tag name="KSO_WM_CHIP_GROUPID" val="5ebd04330ac41c4a0a525403"/>
  <p:tag name="KSO_WM_CHIP_XID" val="5ebd04330ac41c4a0a525404"/>
  <p:tag name="KSO_WM_UNIT_DEC_AREA_ID" val="74e0bb5f67554d5ba3310756f96c4957"/>
  <p:tag name="KSO_WM_CHIP_FILLAREA_FILL_RULE" val="{&quot;fill_align&quot;:&quot;cm&quot;,&quot;fill_mode&quot;:&quot;adaptive&quot;,&quot;sacle_strategy&quot;:&quot;smart&quot;}"/>
  <p:tag name="KSO_WM_ASSEMBLE_CHIP_INDEX" val="ffbcb33553e5437999be5be7b3e28129"/>
  <p:tag name="KSO_WM_UNIT_TEXT_FILL_FORE_SCHEMECOLOR_INDEX_BRIGHTNESS" val="0.15"/>
  <p:tag name="KSO_WM_UNIT_TEXT_FILL_FORE_SCHEMECOLOR_INDEX" val="13"/>
  <p:tag name="KSO_WM_UNIT_TEXT_FILL_TYPE" val="1"/>
  <p:tag name="KSO_WM_TEMPLATE_ASSEMBLE_XID" val="5fab4958b46e6ebd9907b66b"/>
  <p:tag name="KSO_WM_TEMPLATE_ASSEMBLE_GROUPID" val="5faa52dd0ad14824cac57d3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0bfbdce0d6494e6fa218892f3a20235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521845bfda0c4d7f9e81721b313fda6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3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d"/>
  <p:tag name="KSO_WM_UNIT_DEC_AREA_ID" val="dee9a792411d45f58c6e5b99eb87e92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c69729ceb794182b0b48671241df94a"/>
  <p:tag name="KSO_WM_SLIDE_BACKGROUND_TYPE" val="belt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b1da29c00c7f45aeb3e2a6197fbd5a6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98ba860c38645fbbad577258b122222"/>
  <p:tag name="KSO_WM_SLIDE_BACKGROUND_TYPE" val="belt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3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d"/>
  <p:tag name="KSO_WM_UNIT_DEC_AREA_ID" val="dee9a792411d45f58c6e5b99eb87e92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c69729ceb794182b0b48671241df94a"/>
  <p:tag name="KSO_WM_SLIDE_BACKGROUND_TYPE" val="belt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b1da29c00c7f45aeb3e2a6197fbd5a6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98ba860c38645fbbad577258b122222"/>
  <p:tag name="KSO_WM_SLIDE_BACKGROUND_TYPE" val="bel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1503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35_4*i*1"/>
  <p:tag name="KSO_WM_TEMPLATE_CATEGORY" val="chip"/>
  <p:tag name="KSO_WM_TEMPLATE_INDEX" val="20215035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52dd0ad14824cac57d3a"/>
  <p:tag name="KSO_WM_CHIP_XID" val="5faa52dd0ad14824cac57d3e"/>
  <p:tag name="KSO_WM_UNIT_DEC_AREA_ID" val="e54d0f326d7646ff8277c3ae65b9c71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fbcbfeee8e4487a97074207f33ce67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heme/theme1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54A5BF"/>
      </a:accent1>
      <a:accent2>
        <a:srgbClr val="5596CD"/>
      </a:accent2>
      <a:accent3>
        <a:srgbClr val="6784CF"/>
      </a:accent3>
      <a:accent4>
        <a:srgbClr val="8571BD"/>
      </a:accent4>
      <a:accent5>
        <a:srgbClr val="A7609B"/>
      </a:accent5>
      <a:accent6>
        <a:srgbClr val="BE5370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9525" algn="ctr">
          <a:solidFill>
            <a:srgbClr val="0070C0"/>
          </a:solidFill>
          <a:miter lim="800000"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lIns="0" tIns="0" rIns="0" bIns="0"/>
      <a:lstStyle>
        <a:defPPr algn="ctr">
          <a:spcBef>
            <a:spcPct val="0"/>
          </a:spcBef>
          <a:buClrTx/>
          <a:buSzTx/>
          <a:buFontTx/>
          <a:buNone/>
          <a:defRPr kumimoji="0" sz="2000">
            <a:solidFill>
              <a:srgbClr val="000000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7846</TotalTime>
  <Words>5559</Words>
  <Application>Microsoft Office PowerPoint</Application>
  <PresentationFormat>宽屏</PresentationFormat>
  <Paragraphs>871</Paragraphs>
  <Slides>51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51</vt:i4>
      </vt:variant>
    </vt:vector>
  </HeadingPairs>
  <TitlesOfParts>
    <vt:vector size="65" baseType="lpstr">
      <vt:lpstr>Söhne</vt:lpstr>
      <vt:lpstr>等线</vt:lpstr>
      <vt:lpstr>等线 Light</vt:lpstr>
      <vt:lpstr>楷体</vt:lpstr>
      <vt:lpstr>锐字潮牌真言简2.0免费 大粗</vt:lpstr>
      <vt:lpstr>宋体</vt:lpstr>
      <vt:lpstr>微软雅黑</vt:lpstr>
      <vt:lpstr>Arial</vt:lpstr>
      <vt:lpstr>Calibri</vt:lpstr>
      <vt:lpstr>Times New Roman</vt:lpstr>
      <vt:lpstr>Wingdings</vt:lpstr>
      <vt:lpstr>1_Office 主题​​</vt:lpstr>
      <vt:lpstr>5_Office 主题​​</vt:lpstr>
      <vt:lpstr>3_Office 主题​​</vt:lpstr>
      <vt:lpstr>指针</vt:lpstr>
      <vt:lpstr>PowerPoint 演示文稿</vt:lpstr>
      <vt:lpstr>指针 6.1 指针的定义与使用</vt:lpstr>
      <vt:lpstr>PowerPoint 演示文稿</vt:lpstr>
      <vt:lpstr>PowerPoint 演示文稿</vt:lpstr>
      <vt:lpstr>6.1.1 指针类型</vt:lpstr>
      <vt:lpstr>PowerPoint 演示文稿</vt:lpstr>
      <vt:lpstr>6.1.2 指针与地址</vt:lpstr>
      <vt:lpstr>指针与地址</vt:lpstr>
      <vt:lpstr>6.1.3 指针的定义</vt:lpstr>
      <vt:lpstr>6.1.4 指针的运算</vt:lpstr>
      <vt:lpstr>指针的运算</vt:lpstr>
      <vt:lpstr>6.1.4 指针的运算</vt:lpstr>
      <vt:lpstr>指针的运算</vt:lpstr>
      <vt:lpstr>指针 6.2 指针与数组</vt:lpstr>
      <vt:lpstr>PowerPoint 演示文稿</vt:lpstr>
      <vt:lpstr>指针与数组的关系</vt:lpstr>
      <vt:lpstr>PowerPoint 演示文稿</vt:lpstr>
      <vt:lpstr>6.2.1 指针与一维数组</vt:lpstr>
      <vt:lpstr>指针与一维数组</vt:lpstr>
      <vt:lpstr>指针与一维数组</vt:lpstr>
      <vt:lpstr>指针与一维数组</vt:lpstr>
      <vt:lpstr>指针与一维数组</vt:lpstr>
      <vt:lpstr>6.2.2 指针与二维数组</vt:lpstr>
      <vt:lpstr>指针与二维数组</vt:lpstr>
      <vt:lpstr>指针与二维数组</vt:lpstr>
      <vt:lpstr>指针与二维数组</vt:lpstr>
      <vt:lpstr>指针与二维数组</vt:lpstr>
      <vt:lpstr>6.2.3 指针数组</vt:lpstr>
      <vt:lpstr>指针数组</vt:lpstr>
      <vt:lpstr>指针 6.3 指针与字符串、指针与函数</vt:lpstr>
      <vt:lpstr>PowerPoint 演示文稿</vt:lpstr>
      <vt:lpstr>指针与字符串</vt:lpstr>
      <vt:lpstr>指针与函数</vt:lpstr>
      <vt:lpstr>PowerPoint 演示文稿</vt:lpstr>
      <vt:lpstr>6.3.1 指针与字符串</vt:lpstr>
      <vt:lpstr>指针与字符串</vt:lpstr>
      <vt:lpstr>指针与字符串</vt:lpstr>
      <vt:lpstr>指针与字符串</vt:lpstr>
      <vt:lpstr>6.3.2 指针与函数</vt:lpstr>
      <vt:lpstr>指针与函数参数</vt:lpstr>
      <vt:lpstr>指针与函数参数</vt:lpstr>
      <vt:lpstr>指针与函数参数</vt:lpstr>
      <vt:lpstr>指向函数的指针</vt:lpstr>
      <vt:lpstr>指向函数的指针</vt:lpstr>
      <vt:lpstr>指针函数</vt:lpstr>
      <vt:lpstr>指针函数</vt:lpstr>
      <vt:lpstr>6.4 动态内存管理</vt:lpstr>
      <vt:lpstr>6.4 动态内存管理</vt:lpstr>
      <vt:lpstr>6.4 动态内存管理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《C语言程序设计》</dc:title>
  <dc:creator>Administrator</dc:creator>
  <cp:lastModifiedBy>燕敏 陈</cp:lastModifiedBy>
  <cp:revision>365</cp:revision>
  <dcterms:created xsi:type="dcterms:W3CDTF">2022-07-08T03:32:00Z</dcterms:created>
  <dcterms:modified xsi:type="dcterms:W3CDTF">2025-09-03T15:16:51Z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BFD466564B3A47D89E7AF80165FC8B71</vt:lpwstr>
  </property>
  <property fmtid="{D5CDD505-2E9C-101B-9397-08002B2CF9AE}" pid="3" name="KSOProductBuildVer">
    <vt:lpwstr>2052-11.1.0.11875</vt:lpwstr>
  </property>
</Properties>
</file>